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erverZoom="0">
  <p:sldMasterIdLst>
    <p:sldMasterId id="2147483709" r:id="rId1"/>
  </p:sldMasterIdLst>
  <p:notesMasterIdLst>
    <p:notesMasterId r:id="rId137"/>
  </p:notesMasterIdLst>
  <p:handoutMasterIdLst>
    <p:handoutMasterId r:id="rId138"/>
  </p:handoutMasterIdLst>
  <p:sldIdLst>
    <p:sldId id="863"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928" r:id="rId28"/>
    <p:sldId id="283" r:id="rId29"/>
    <p:sldId id="284" r:id="rId30"/>
    <p:sldId id="285" r:id="rId31"/>
    <p:sldId id="929" r:id="rId32"/>
    <p:sldId id="287" r:id="rId33"/>
    <p:sldId id="288" r:id="rId34"/>
    <p:sldId id="289" r:id="rId35"/>
    <p:sldId id="291" r:id="rId36"/>
    <p:sldId id="292" r:id="rId37"/>
    <p:sldId id="293" r:id="rId38"/>
    <p:sldId id="294" r:id="rId39"/>
    <p:sldId id="930"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931"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932" r:id="rId76"/>
    <p:sldId id="332" r:id="rId77"/>
    <p:sldId id="333" r:id="rId78"/>
    <p:sldId id="334" r:id="rId79"/>
    <p:sldId id="335" r:id="rId80"/>
    <p:sldId id="336" r:id="rId81"/>
    <p:sldId id="337" r:id="rId82"/>
    <p:sldId id="338" r:id="rId83"/>
    <p:sldId id="339" r:id="rId84"/>
    <p:sldId id="340" r:id="rId85"/>
    <p:sldId id="341" r:id="rId86"/>
    <p:sldId id="342" r:id="rId87"/>
    <p:sldId id="343" r:id="rId88"/>
    <p:sldId id="344" r:id="rId89"/>
    <p:sldId id="345" r:id="rId90"/>
    <p:sldId id="346" r:id="rId91"/>
    <p:sldId id="347" r:id="rId92"/>
    <p:sldId id="348" r:id="rId93"/>
    <p:sldId id="349" r:id="rId94"/>
    <p:sldId id="350" r:id="rId95"/>
    <p:sldId id="351" r:id="rId96"/>
    <p:sldId id="352" r:id="rId97"/>
    <p:sldId id="353" r:id="rId98"/>
    <p:sldId id="354" r:id="rId99"/>
    <p:sldId id="355" r:id="rId100"/>
    <p:sldId id="356" r:id="rId101"/>
    <p:sldId id="357" r:id="rId102"/>
    <p:sldId id="358" r:id="rId103"/>
    <p:sldId id="359" r:id="rId104"/>
    <p:sldId id="360" r:id="rId105"/>
    <p:sldId id="361" r:id="rId106"/>
    <p:sldId id="362" r:id="rId107"/>
    <p:sldId id="363" r:id="rId108"/>
    <p:sldId id="364" r:id="rId109"/>
    <p:sldId id="365" r:id="rId110"/>
    <p:sldId id="366" r:id="rId111"/>
    <p:sldId id="367" r:id="rId112"/>
    <p:sldId id="368" r:id="rId113"/>
    <p:sldId id="369" r:id="rId114"/>
    <p:sldId id="370" r:id="rId115"/>
    <p:sldId id="371" r:id="rId116"/>
    <p:sldId id="372" r:id="rId117"/>
    <p:sldId id="373" r:id="rId118"/>
    <p:sldId id="933" r:id="rId119"/>
    <p:sldId id="375" r:id="rId120"/>
    <p:sldId id="376" r:id="rId121"/>
    <p:sldId id="377" r:id="rId122"/>
    <p:sldId id="378" r:id="rId123"/>
    <p:sldId id="379" r:id="rId124"/>
    <p:sldId id="380" r:id="rId125"/>
    <p:sldId id="381" r:id="rId126"/>
    <p:sldId id="382" r:id="rId127"/>
    <p:sldId id="383" r:id="rId128"/>
    <p:sldId id="384" r:id="rId129"/>
    <p:sldId id="385" r:id="rId130"/>
    <p:sldId id="386" r:id="rId131"/>
    <p:sldId id="387" r:id="rId132"/>
    <p:sldId id="388" r:id="rId133"/>
    <p:sldId id="389" r:id="rId134"/>
    <p:sldId id="390" r:id="rId135"/>
    <p:sldId id="391" r:id="rId136"/>
  </p:sldIdLst>
  <p:sldSz cx="12192000" cy="6858000"/>
  <p:notesSz cx="6858000" cy="9144000"/>
  <p:defaultTex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p:defaultTextStyle>
  <p:extLst>
    <p:ext uri="{EFAFB233-063F-42B5-8137-9DF3F51BA10A}">
      <p15:sldGuideLst xmlns:p15="http://schemas.microsoft.com/office/powerpoint/2012/main">
        <p15:guide id="1" orient="horz" pos="288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666" autoAdjust="0"/>
    <p:restoredTop sz="88838" autoAdjust="0"/>
  </p:normalViewPr>
  <p:slideViewPr>
    <p:cSldViewPr>
      <p:cViewPr varScale="1">
        <p:scale>
          <a:sx n="118" d="100"/>
          <a:sy n="118" d="100"/>
        </p:scale>
        <p:origin x="222" y="54"/>
      </p:cViewPr>
      <p:guideLst>
        <p:guide orient="horz" pos="288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handoutMaster" Target="handoutMasters/handoutMaster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049792" name="页眉占位符 1"/>
          <p:cNvSpPr>
            <a:spLocks noGrp="1"/>
          </p:cNvSpPr>
          <p:nvPr>
            <p:ph type="hdr" sz="quarter"/>
          </p:nvPr>
        </p:nvSpPr>
        <p:spPr>
          <a:xfrm>
            <a:off x="0" y="0"/>
            <a:ext cx="2971800" cy="458787"/>
          </a:xfrm>
          <a:prstGeom prst="rect">
            <a:avLst/>
          </a:prstGeom>
          <a:noFill/>
          <a:ln>
            <a:noFill/>
          </a:ln>
        </p:spPr>
        <p:txBody>
          <a:bodyPr vert="horz" lIns="91440" tIns="45720" rIns="91440" bIns="45720" anchor="t"/>
          <a:lstStyle/>
          <a:p>
            <a:pPr lvl="0" eaLnBrk="1" latinLnBrk="1" hangingPunct="1"/>
            <a:endParaRPr lang="zh-CN" altLang="en-US" sz="1200"/>
          </a:p>
        </p:txBody>
      </p:sp>
      <p:sp>
        <p:nvSpPr>
          <p:cNvPr id="1049793" name="日期占位符 2"/>
          <p:cNvSpPr>
            <a:spLocks noGrp="1"/>
          </p:cNvSpPr>
          <p:nvPr>
            <p:ph type="dt" sz="quarter" idx="1"/>
          </p:nvPr>
        </p:nvSpPr>
        <p:spPr>
          <a:xfrm>
            <a:off x="3884612" y="0"/>
            <a:ext cx="2971800" cy="458787"/>
          </a:xfrm>
          <a:prstGeom prst="rect">
            <a:avLst/>
          </a:prstGeom>
          <a:noFill/>
          <a:ln>
            <a:noFill/>
          </a:ln>
        </p:spPr>
        <p:txBody>
          <a:bodyPr vert="horz" lIns="91440" tIns="45720" rIns="91440" bIns="45720" anchor="t"/>
          <a:lstStyle/>
          <a:p>
            <a:pPr lvl="0" algn="r" eaLnBrk="1" latinLnBrk="1" hangingPunct="1"/>
            <a:fld id="{566ABCEB-ACFC-4714-9973-3DA970169C29}" type="datetime1">
              <a:rPr lang="zh-CN" altLang="en-US" sz="1200">
                <a:ea typeface="宋体" pitchFamily="2" charset="-122"/>
              </a:rPr>
              <a:pPr lvl="0" algn="r" eaLnBrk="1" latinLnBrk="1" hangingPunct="1"/>
              <a:t>2025/12/27</a:t>
            </a:fld>
            <a:endParaRPr lang="zh-CN" altLang="en-US" sz="1200">
              <a:ea typeface="宋体" pitchFamily="2" charset="-122"/>
            </a:endParaRPr>
          </a:p>
        </p:txBody>
      </p:sp>
      <p:sp>
        <p:nvSpPr>
          <p:cNvPr id="1049794" name="页脚占位符 3"/>
          <p:cNvSpPr>
            <a:spLocks noGrp="1"/>
          </p:cNvSpPr>
          <p:nvPr>
            <p:ph type="ftr" sz="quarter" idx="2"/>
          </p:nvPr>
        </p:nvSpPr>
        <p:spPr>
          <a:xfrm>
            <a:off x="0" y="8685212"/>
            <a:ext cx="2971800" cy="458787"/>
          </a:xfrm>
          <a:prstGeom prst="rect">
            <a:avLst/>
          </a:prstGeom>
          <a:noFill/>
          <a:ln>
            <a:noFill/>
          </a:ln>
        </p:spPr>
        <p:txBody>
          <a:bodyPr vert="horz" lIns="91440" tIns="45720" rIns="91440" bIns="45720" anchor="b"/>
          <a:lstStyle/>
          <a:p>
            <a:pPr lvl="0" eaLnBrk="1" latinLnBrk="1" hangingPunct="1"/>
            <a:endParaRPr lang="zh-CN" altLang="en-US" sz="1200"/>
          </a:p>
        </p:txBody>
      </p:sp>
      <p:sp>
        <p:nvSpPr>
          <p:cNvPr id="1049795" name="灯片编号占位符 4"/>
          <p:cNvSpPr>
            <a:spLocks noGrp="1"/>
          </p:cNvSpPr>
          <p:nvPr>
            <p:ph type="sldNum" sz="quarter" idx="3"/>
          </p:nvPr>
        </p:nvSpPr>
        <p:spPr>
          <a:xfrm>
            <a:off x="3884612" y="8685212"/>
            <a:ext cx="2971800" cy="458787"/>
          </a:xfrm>
          <a:prstGeom prst="rect">
            <a:avLst/>
          </a:prstGeom>
          <a:noFill/>
          <a:ln>
            <a:noFill/>
          </a:ln>
        </p:spPr>
        <p:txBody>
          <a:bodyPr vert="horz" lIns="91440" tIns="45720" rIns="91440" bIns="45720" anchor="b"/>
          <a:lstStyle/>
          <a:p>
            <a:pPr lvl="0" algn="r" eaLnBrk="1" latinLnBrk="1" hangingPunct="1"/>
            <a:fld id="{566ABCEB-ACFC-4714-9973-3DA970169C29}" type="slidenum">
              <a:rPr lang="zh-CN" altLang="en-US" sz="1200"/>
              <a:pPr lvl="0" algn="r" eaLnBrk="1" latinLnBrk="1" hangingPunct="1"/>
              <a:t>‹#›</a:t>
            </a:fld>
            <a:endParaRPr lang="zh-CN" altLang="en-US" sz="1200"/>
          </a:p>
        </p:txBody>
      </p:sp>
    </p:spTree>
    <p:extLst>
      <p:ext uri="{BB962C8B-B14F-4D97-AF65-F5344CB8AC3E}">
        <p14:creationId xmlns:p14="http://schemas.microsoft.com/office/powerpoint/2010/main" val="1"/>
      </p:ext>
    </p:extLst>
  </p:cSld>
  <p:clrMap bg1="dk1" tx1="dk1" bg2="dk1" tx2="dk1" accent1="dk1" accent2="dk1" accent3="dk1" accent4="dk1" accent5="dk1" accent6="dk1" hlink="dk1" folHlink="dk1"/>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9786" name="Rectangle 2"/>
          <p:cNvSpPr>
            <a:spLocks noGrp="1"/>
          </p:cNvSpPr>
          <p:nvPr>
            <p:ph type="hdr" sz="quarter"/>
          </p:nvPr>
        </p:nvSpPr>
        <p:spPr>
          <a:xfrm>
            <a:off x="0" y="0"/>
            <a:ext cx="2971800" cy="457200"/>
          </a:xfrm>
          <a:prstGeom prst="rect">
            <a:avLst/>
          </a:prstGeom>
          <a:noFill/>
          <a:ln>
            <a:noFill/>
          </a:ln>
        </p:spPr>
        <p:txBody>
          <a:bodyPr vert="horz" lIns="91440" tIns="45720" rIns="91440" bIns="45720" anchor="t"/>
          <a:lstStyle/>
          <a:p>
            <a:pPr lvl="0" eaLnBrk="1" latinLnBrk="1" hangingPunct="1">
              <a:buFontTx/>
              <a:buNone/>
            </a:pPr>
            <a:endParaRPr lang="en-US" altLang="zh-CN" sz="1200">
              <a:latin typeface="Arial" pitchFamily="34" charset="0"/>
            </a:endParaRPr>
          </a:p>
        </p:txBody>
      </p:sp>
      <p:sp>
        <p:nvSpPr>
          <p:cNvPr id="1049787" name="Rectangle 3"/>
          <p:cNvSpPr>
            <a:spLocks noGrp="1"/>
          </p:cNvSpPr>
          <p:nvPr>
            <p:ph type="dt" idx="1"/>
          </p:nvPr>
        </p:nvSpPr>
        <p:spPr>
          <a:xfrm>
            <a:off x="3884612" y="0"/>
            <a:ext cx="2971800" cy="457200"/>
          </a:xfrm>
          <a:prstGeom prst="rect">
            <a:avLst/>
          </a:prstGeom>
          <a:noFill/>
          <a:ln>
            <a:noFill/>
          </a:ln>
        </p:spPr>
        <p:txBody>
          <a:bodyPr vert="horz" lIns="91440" tIns="45720" rIns="91440" bIns="45720" anchor="t"/>
          <a:lstStyle/>
          <a:p>
            <a:pPr lvl="0" algn="r" eaLnBrk="1" latinLnBrk="1" hangingPunct="1">
              <a:buFontTx/>
              <a:buNone/>
            </a:pPr>
            <a:endParaRPr lang="en-US" altLang="zh-CN" sz="1200">
              <a:latin typeface="Arial" pitchFamily="34" charset="0"/>
            </a:endParaRPr>
          </a:p>
        </p:txBody>
      </p:sp>
      <p:sp>
        <p:nvSpPr>
          <p:cNvPr id="1049788" name="Rectangle 4"/>
          <p:cNvSpPr>
            <a:spLocks noGrp="1" noRot="1" noChangeAspect="1"/>
          </p:cNvSpPr>
          <p:nvPr>
            <p:ph type="sldImg" idx="4294967295"/>
          </p:nvPr>
        </p:nvSpPr>
        <p:spPr>
          <a:xfrm>
            <a:off x="381000" y="685800"/>
            <a:ext cx="6096000" cy="3429000"/>
          </a:xfrm>
          <a:prstGeom prst="rect">
            <a:avLst/>
          </a:prstGeom>
          <a:noFill/>
          <a:ln w="9525" cap="flat" cmpd="sng">
            <a:solidFill>
              <a:srgbClr val="000000">
                <a:alpha val="100000"/>
              </a:srgbClr>
            </a:solidFill>
            <a:prstDash val="solid"/>
            <a:round/>
          </a:ln>
        </p:spPr>
        <p:txBody>
          <a:bodyPr vert="horz" lIns="91440" tIns="45720" rIns="91440" bIns="45720" anchor="t"/>
          <a:lstStyle/>
          <a:p>
            <a:endParaRPr/>
          </a:p>
        </p:txBody>
      </p:sp>
      <p:sp>
        <p:nvSpPr>
          <p:cNvPr id="1049789" name="Rectangle 5"/>
          <p:cNvSpPr>
            <a:spLocks noGrp="1"/>
          </p:cNvSpPr>
          <p:nvPr>
            <p:ph type="body" sz="quarter" idx="3"/>
          </p:nvPr>
        </p:nvSpPr>
        <p:spPr>
          <a:xfrm>
            <a:off x="685800" y="4343400"/>
            <a:ext cx="5486400" cy="4114800"/>
          </a:xfrm>
          <a:prstGeom prst="rect">
            <a:avLst/>
          </a:prstGeom>
          <a:noFill/>
          <a:ln>
            <a:noFill/>
          </a:ln>
        </p:spPr>
        <p:txBody>
          <a:bodyPr vert="horz" lIns="91440" tIns="45720" rIns="91440" bIns="45720" ancho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9790" name="Rectangle 6"/>
          <p:cNvSpPr>
            <a:spLocks noGrp="1"/>
          </p:cNvSpPr>
          <p:nvPr>
            <p:ph type="ftr" sz="quarter" idx="4"/>
          </p:nvPr>
        </p:nvSpPr>
        <p:spPr>
          <a:xfrm>
            <a:off x="0" y="8685212"/>
            <a:ext cx="2971800" cy="457200"/>
          </a:xfrm>
          <a:prstGeom prst="rect">
            <a:avLst/>
          </a:prstGeom>
          <a:noFill/>
          <a:ln>
            <a:noFill/>
          </a:ln>
        </p:spPr>
        <p:txBody>
          <a:bodyPr vert="horz" lIns="91440" tIns="45720" rIns="91440" bIns="45720" anchor="b"/>
          <a:lstStyle/>
          <a:p>
            <a:pPr lvl="0" eaLnBrk="1" latinLnBrk="1" hangingPunct="1">
              <a:buFontTx/>
              <a:buNone/>
            </a:pPr>
            <a:endParaRPr lang="en-US" altLang="zh-CN" sz="1200">
              <a:latin typeface="Arial" pitchFamily="34" charset="0"/>
            </a:endParaRPr>
          </a:p>
        </p:txBody>
      </p:sp>
      <p:sp>
        <p:nvSpPr>
          <p:cNvPr id="1049791" name="Rectangle 7"/>
          <p:cNvSpPr>
            <a:spLocks noGrp="1"/>
          </p:cNvSpPr>
          <p:nvPr>
            <p:ph type="sldNum" sz="quarter" idx="5"/>
          </p:nvPr>
        </p:nvSpPr>
        <p:spPr>
          <a:xfrm>
            <a:off x="3884612" y="8685212"/>
            <a:ext cx="2971800" cy="457200"/>
          </a:xfrm>
          <a:prstGeom prst="rect">
            <a:avLst/>
          </a:prstGeom>
          <a:noFill/>
          <a:ln>
            <a:noFill/>
          </a:ln>
        </p:spPr>
        <p:txBody>
          <a:bodyPr vert="horz" lIns="91440" tIns="45720" rIns="91440" bIns="45720" anchor="b"/>
          <a:lstStyle/>
          <a:p>
            <a:pPr lvl="0" algn="r" eaLnBrk="1" latinLnBrk="1" hangingPunct="1"/>
            <a:fld id="{566ABCEB-ACFC-4714-9973-3DA970169C29}" type="slidenum">
              <a:rPr lang="en-US" altLang="zh-CN" sz="1200">
                <a:latin typeface="Arial" pitchFamily="34" charset="0"/>
              </a:rPr>
              <a:pPr lvl="0" algn="r" eaLnBrk="1" latinLnBrk="1" hangingPunct="1"/>
              <a:t>‹#›</a:t>
            </a:fld>
            <a:endParaRPr lang="en-US" altLang="zh-CN" sz="1200">
              <a:latin typeface="Arial" pitchFamily="34" charset="0"/>
            </a:endParaRPr>
          </a:p>
        </p:txBody>
      </p:sp>
    </p:spTree>
  </p:cSld>
  <p:clrMap bg1="dk1" tx1="dk1" bg2="dk1" tx2="dk1" accent1="dk1" accent2="dk1" accent3="dk1" accent4="dk1" accent5="dk1" accent6="dk1" hlink="dk1" folHlink="dk1"/>
  <p:notesStyle>
    <a:lvl1pPr marL="0" indent="0" algn="l" rtl="0" fontAlgn="base" latinLnBrk="1">
      <a:lnSpc>
        <a:spcPct val="100000"/>
      </a:lnSpc>
      <a:spcBef>
        <a:spcPct val="30000"/>
      </a:spcBef>
      <a:spcAft>
        <a:spcPct val="0"/>
      </a:spcAft>
      <a:buFontTx/>
      <a:buNone/>
      <a:defRPr sz="1200" b="0" i="0" u="none" baseline="0">
        <a:solidFill>
          <a:schemeClr val="dk1"/>
        </a:solidFill>
        <a:latin typeface="Arial" pitchFamily="34" charset="0"/>
        <a:ea typeface="宋体" pitchFamily="2" charset="-122"/>
        <a:sym typeface="Times New Roman" pitchFamily="18" charset="0"/>
      </a:defRPr>
    </a:lvl1pPr>
    <a:lvl2pPr marL="457200" indent="0" algn="l" rtl="0" fontAlgn="base" latinLnBrk="1">
      <a:lnSpc>
        <a:spcPct val="100000"/>
      </a:lnSpc>
      <a:spcBef>
        <a:spcPct val="30000"/>
      </a:spcBef>
      <a:spcAft>
        <a:spcPct val="0"/>
      </a:spcAft>
      <a:buFontTx/>
      <a:buNone/>
      <a:defRPr sz="1200" b="0" i="0" u="none" baseline="0">
        <a:solidFill>
          <a:schemeClr val="dk1"/>
        </a:solidFill>
        <a:latin typeface="Arial" pitchFamily="34" charset="0"/>
        <a:ea typeface="宋体" pitchFamily="2" charset="-122"/>
        <a:sym typeface="Times New Roman" pitchFamily="18" charset="0"/>
      </a:defRPr>
    </a:lvl2pPr>
    <a:lvl3pPr marL="914400" indent="0" algn="l" rtl="0" fontAlgn="base" latinLnBrk="1">
      <a:lnSpc>
        <a:spcPct val="100000"/>
      </a:lnSpc>
      <a:spcBef>
        <a:spcPct val="30000"/>
      </a:spcBef>
      <a:spcAft>
        <a:spcPct val="0"/>
      </a:spcAft>
      <a:buFontTx/>
      <a:buNone/>
      <a:defRPr sz="1200" b="0" i="0" u="none" baseline="0">
        <a:solidFill>
          <a:schemeClr val="dk1"/>
        </a:solidFill>
        <a:latin typeface="Arial" pitchFamily="34" charset="0"/>
        <a:ea typeface="宋体" pitchFamily="2" charset="-122"/>
        <a:sym typeface="Times New Roman" pitchFamily="18" charset="0"/>
      </a:defRPr>
    </a:lvl3pPr>
    <a:lvl4pPr marL="1371600" indent="0" algn="l" rtl="0" fontAlgn="base" latinLnBrk="1">
      <a:lnSpc>
        <a:spcPct val="100000"/>
      </a:lnSpc>
      <a:spcBef>
        <a:spcPct val="30000"/>
      </a:spcBef>
      <a:spcAft>
        <a:spcPct val="0"/>
      </a:spcAft>
      <a:buFontTx/>
      <a:buNone/>
      <a:defRPr sz="1200" b="0" i="0" u="none" baseline="0">
        <a:solidFill>
          <a:schemeClr val="dk1"/>
        </a:solidFill>
        <a:latin typeface="Arial" pitchFamily="34" charset="0"/>
        <a:ea typeface="宋体" pitchFamily="2" charset="-122"/>
        <a:sym typeface="Times New Roman" pitchFamily="18" charset="0"/>
      </a:defRPr>
    </a:lvl4pPr>
    <a:lvl5pPr marL="1828800" indent="0" algn="l" rtl="0" fontAlgn="base" latinLnBrk="1">
      <a:lnSpc>
        <a:spcPct val="100000"/>
      </a:lnSpc>
      <a:spcBef>
        <a:spcPct val="30000"/>
      </a:spcBef>
      <a:spcAft>
        <a:spcPct val="0"/>
      </a:spcAft>
      <a:buFontTx/>
      <a:buNone/>
      <a:defRPr sz="1200" b="0" i="0" u="none" baseline="0">
        <a:solidFill>
          <a:schemeClr val="dk1"/>
        </a:solidFill>
        <a:latin typeface="Arial" pitchFamily="34" charset="0"/>
        <a:ea typeface="宋体" pitchFamily="2" charset="-122"/>
        <a:sym typeface="Times New Roman" pitchFamily="18" charset="0"/>
      </a:defRPr>
    </a:lvl5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2" name="幻灯片图像占位符 521217"/>
          <p:cNvSpPr>
            <a:spLocks noGrp="1" noRot="1" noChangeAspect="1"/>
          </p:cNvSpPr>
          <p:nvPr>
            <p:ph type="sldImg" idx="4294967295"/>
          </p:nvPr>
        </p:nvSpPr>
        <p:spPr>
          <a:xfrm>
            <a:off x="381000" y="685800"/>
            <a:ext cx="6096000" cy="3429000"/>
          </a:xfrm>
          <a:prstGeom prst="rect">
            <a:avLst/>
          </a:prstGeom>
        </p:spPr>
        <p:txBody>
          <a:bodyPr vert="horz" lIns="91440" tIns="45720" rIns="91440" bIns="45720" anchor="t"/>
          <a:lstStyle/>
          <a:p>
            <a:endParaRPr/>
          </a:p>
        </p:txBody>
      </p:sp>
      <p:sp>
        <p:nvSpPr>
          <p:cNvPr id="1048633" name="文本占位符 521218"/>
          <p:cNvSpPr>
            <a:spLocks noGrp="1"/>
          </p:cNvSpPr>
          <p:nvPr>
            <p:ph type="body" idx="4294967295"/>
          </p:nvPr>
        </p:nvSpPr>
        <p:spPr>
          <a:xfrm>
            <a:off x="914400" y="4343400"/>
            <a:ext cx="5029200" cy="4114800"/>
          </a:xfrm>
          <a:prstGeom prst="rect">
            <a:avLst/>
          </a:prstGeom>
          <a:noFill/>
          <a:ln>
            <a:noFill/>
          </a:ln>
        </p:spPr>
        <p:txBody>
          <a:bodyPr vert="horz" lIns="91440" tIns="45720" rIns="91440" bIns="45720" anchor="t"/>
          <a:lstStyle/>
          <a:p>
            <a:endParaRPr lang="zh-CN" altLang="en-US"/>
          </a:p>
        </p:txBody>
      </p:sp>
      <p:sp>
        <p:nvSpPr>
          <p:cNvPr id="1048634" name="灯片编号占位符 1"/>
          <p:cNvSpPr/>
          <p:nvPr/>
        </p:nvSpPr>
        <p:spPr>
          <a:xfrm>
            <a:off x="3886200" y="8686800"/>
            <a:ext cx="2971800" cy="457200"/>
          </a:xfrm>
          <a:prstGeom prst="rect">
            <a:avLst/>
          </a:prstGeom>
          <a:noFill/>
          <a:ln>
            <a:noFill/>
          </a:ln>
        </p:spPr>
        <p:txBody>
          <a:bodyPr vert="horz" lIns="91440" tIns="45720" rIns="91440" bIns="45720" anchor="b"/>
          <a:lstStyle/>
          <a:p>
            <a:pPr lvl="0" algn="r"/>
            <a:fld id="{566ABCEB-ACFC-4714-9973-3DA970169C29}" type="slidenum">
              <a:rPr lang="zh-CN" altLang="en-US" sz="1200"/>
              <a:pPr lvl="0" algn="r"/>
              <a:t>8</a:t>
            </a:fld>
            <a:endParaRPr lang="zh-CN" alt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lvl="0" algn="r" eaLnBrk="1" latinLnBrk="1" hangingPunct="1"/>
            <a:fld id="{566ABCEB-ACFC-4714-9973-3DA970169C29}" type="slidenum">
              <a:rPr lang="en-US" altLang="zh-CN" sz="1200" smtClean="0">
                <a:latin typeface="Arial" pitchFamily="34" charset="0"/>
              </a:rPr>
              <a:pPr lvl="0" algn="r" eaLnBrk="1" latinLnBrk="1" hangingPunct="1"/>
              <a:t>10</a:t>
            </a:fld>
            <a:endParaRPr lang="en-US" altLang="zh-CN" sz="1200">
              <a:latin typeface="Arial" pitchFamily="34" charset="0"/>
            </a:endParaRPr>
          </a:p>
        </p:txBody>
      </p:sp>
    </p:spTree>
    <p:extLst>
      <p:ext uri="{BB962C8B-B14F-4D97-AF65-F5344CB8AC3E}">
        <p14:creationId xmlns:p14="http://schemas.microsoft.com/office/powerpoint/2010/main" val="11155101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fontAlgn="base"/>
            <a:r>
              <a:rPr lang="zh-CN" altLang="en-US" sz="1200" b="0" i="0" u="none" baseline="0" dirty="0">
                <a:solidFill>
                  <a:schemeClr val="dk1"/>
                </a:solidFill>
                <a:effectLst/>
                <a:latin typeface="Arial" pitchFamily="34" charset="0"/>
                <a:ea typeface="宋体" pitchFamily="2" charset="-122"/>
                <a:sym typeface="Times New Roman" pitchFamily="18" charset="0"/>
              </a:rPr>
              <a:t>网络工程师的专业知识结构是广度优先好还是深度优先好？</a:t>
            </a:r>
          </a:p>
          <a:p>
            <a:pPr fontAlgn="base"/>
            <a:r>
              <a:rPr lang="zh-CN" altLang="en-US" sz="1200" b="0" i="0" u="none" baseline="0" dirty="0">
                <a:solidFill>
                  <a:schemeClr val="dk1"/>
                </a:solidFill>
                <a:effectLst/>
                <a:latin typeface="Arial" pitchFamily="34" charset="0"/>
                <a:ea typeface="宋体" pitchFamily="2" charset="-122"/>
                <a:sym typeface="Times New Roman" pitchFamily="18" charset="0"/>
              </a:rPr>
              <a:t>解：先开始时进行广度优先，当有一定积累沉淀后在广度的基础上进行深度的挖掘选择一项自己最好的来突破发展，即深度优先。</a:t>
            </a:r>
          </a:p>
          <a:p>
            <a:pPr fontAlgn="base"/>
            <a:r>
              <a:rPr lang="zh-CN" altLang="en-US" sz="1200" b="0" i="0" u="none" baseline="0" dirty="0">
                <a:solidFill>
                  <a:schemeClr val="dk1"/>
                </a:solidFill>
                <a:effectLst/>
                <a:latin typeface="Arial" pitchFamily="34" charset="0"/>
                <a:ea typeface="宋体" pitchFamily="2" charset="-122"/>
                <a:sym typeface="Times New Roman" pitchFamily="18" charset="0"/>
              </a:rPr>
              <a:t>这里的广度优先应该是指网络工程师对专业知识的广泛了解并掌握，而深度优</a:t>
            </a:r>
            <a:endParaRPr lang="en-US" altLang="zh-CN" sz="1200" b="0" i="0" u="none" baseline="0" dirty="0">
              <a:solidFill>
                <a:schemeClr val="dk1"/>
              </a:solidFill>
              <a:effectLst/>
              <a:latin typeface="Arial" pitchFamily="34" charset="0"/>
              <a:ea typeface="宋体" pitchFamily="2" charset="-122"/>
              <a:sym typeface="Times New Roman" pitchFamily="18" charset="0"/>
            </a:endParaRPr>
          </a:p>
          <a:p>
            <a:pPr fontAlgn="base"/>
            <a:r>
              <a:rPr lang="zh-CN" altLang="en-US" sz="1200" b="0" i="0" u="none" baseline="0" dirty="0">
                <a:solidFill>
                  <a:schemeClr val="dk1"/>
                </a:solidFill>
                <a:effectLst/>
                <a:latin typeface="Arial" pitchFamily="34" charset="0"/>
                <a:ea typeface="宋体" pitchFamily="2" charset="-122"/>
                <a:sym typeface="Times New Roman" pitchFamily="18" charset="0"/>
              </a:rPr>
              <a:t>网络标准的制定应当基于现有技术还是应当超越现有技术？</a:t>
            </a:r>
          </a:p>
          <a:p>
            <a:pPr fontAlgn="base"/>
            <a:r>
              <a:rPr lang="zh-CN" altLang="en-US" sz="1200" b="0" i="0" u="none" baseline="0" dirty="0">
                <a:solidFill>
                  <a:schemeClr val="dk1"/>
                </a:solidFill>
                <a:effectLst/>
                <a:latin typeface="Arial" pitchFamily="34" charset="0"/>
                <a:ea typeface="宋体" pitchFamily="2" charset="-122"/>
                <a:sym typeface="Times New Roman" pitchFamily="18" charset="0"/>
              </a:rPr>
              <a:t>解：</a:t>
            </a:r>
            <a:r>
              <a:rPr lang="en-US" altLang="zh-CN" sz="1200" b="0" i="0" u="none" baseline="0" dirty="0">
                <a:solidFill>
                  <a:schemeClr val="dk1"/>
                </a:solidFill>
                <a:effectLst/>
                <a:latin typeface="Arial" pitchFamily="34" charset="0"/>
                <a:ea typeface="宋体" pitchFamily="2" charset="-122"/>
                <a:sym typeface="Times New Roman" pitchFamily="18" charset="0"/>
              </a:rPr>
              <a:t>A</a:t>
            </a:r>
            <a:r>
              <a:rPr lang="zh-CN" altLang="en-US" sz="1200" b="0" i="0" u="none" baseline="0" dirty="0">
                <a:solidFill>
                  <a:schemeClr val="dk1"/>
                </a:solidFill>
                <a:effectLst/>
                <a:latin typeface="Arial" pitchFamily="34" charset="0"/>
                <a:ea typeface="宋体" pitchFamily="2" charset="-122"/>
                <a:sym typeface="Times New Roman" pitchFamily="18" charset="0"/>
              </a:rPr>
              <a:t>、基于现有技术的优势：（</a:t>
            </a:r>
            <a:r>
              <a:rPr lang="en-US" altLang="zh-CN" sz="1200" b="0" i="0" u="none" baseline="0" dirty="0">
                <a:solidFill>
                  <a:schemeClr val="dk1"/>
                </a:solidFill>
                <a:effectLst/>
                <a:latin typeface="Arial" pitchFamily="34" charset="0"/>
                <a:ea typeface="宋体" pitchFamily="2" charset="-122"/>
                <a:sym typeface="Times New Roman" pitchFamily="18" charset="0"/>
              </a:rPr>
              <a:t>1</a:t>
            </a:r>
            <a:r>
              <a:rPr lang="zh-CN" altLang="en-US" sz="1200" b="0" i="0" u="none" baseline="0" dirty="0">
                <a:solidFill>
                  <a:schemeClr val="dk1"/>
                </a:solidFill>
                <a:effectLst/>
                <a:latin typeface="Arial" pitchFamily="34" charset="0"/>
                <a:ea typeface="宋体" pitchFamily="2" charset="-122"/>
                <a:sym typeface="Times New Roman" pitchFamily="18" charset="0"/>
              </a:rPr>
              <a:t>）技术风险小；（</a:t>
            </a:r>
            <a:r>
              <a:rPr lang="en-US" altLang="zh-CN" sz="1200" b="0" i="0" u="none" baseline="0" dirty="0">
                <a:solidFill>
                  <a:schemeClr val="dk1"/>
                </a:solidFill>
                <a:effectLst/>
                <a:latin typeface="Arial" pitchFamily="34" charset="0"/>
                <a:ea typeface="宋体" pitchFamily="2" charset="-122"/>
                <a:sym typeface="Times New Roman" pitchFamily="18" charset="0"/>
              </a:rPr>
              <a:t>2</a:t>
            </a:r>
            <a:r>
              <a:rPr lang="zh-CN" altLang="en-US" sz="1200" b="0" i="0" u="none" baseline="0" dirty="0">
                <a:solidFill>
                  <a:schemeClr val="dk1"/>
                </a:solidFill>
                <a:effectLst/>
                <a:latin typeface="Arial" pitchFamily="34" charset="0"/>
                <a:ea typeface="宋体" pitchFamily="2" charset="-122"/>
                <a:sym typeface="Times New Roman" pitchFamily="18" charset="0"/>
              </a:rPr>
              <a:t>）系统兼容性较好；（</a:t>
            </a:r>
            <a:r>
              <a:rPr lang="en-US" altLang="zh-CN" sz="1200" b="0" i="0" u="none" baseline="0" dirty="0">
                <a:solidFill>
                  <a:schemeClr val="dk1"/>
                </a:solidFill>
                <a:effectLst/>
                <a:latin typeface="Arial" pitchFamily="34" charset="0"/>
                <a:ea typeface="宋体" pitchFamily="2" charset="-122"/>
                <a:sym typeface="Times New Roman" pitchFamily="18" charset="0"/>
              </a:rPr>
              <a:t>3</a:t>
            </a:r>
            <a:r>
              <a:rPr lang="zh-CN" altLang="en-US" sz="1200" b="0" i="0" u="none" baseline="0" dirty="0">
                <a:solidFill>
                  <a:schemeClr val="dk1"/>
                </a:solidFill>
                <a:effectLst/>
                <a:latin typeface="Arial" pitchFamily="34" charset="0"/>
                <a:ea typeface="宋体" pitchFamily="2" charset="-122"/>
                <a:sym typeface="Times New Roman" pitchFamily="18" charset="0"/>
              </a:rPr>
              <a:t>）近期投资较小</a:t>
            </a:r>
          </a:p>
          <a:p>
            <a:pPr fontAlgn="base"/>
            <a:r>
              <a:rPr lang="en-US" altLang="zh-CN" sz="1200" b="0" i="0" u="none" baseline="0" dirty="0">
                <a:solidFill>
                  <a:schemeClr val="dk1"/>
                </a:solidFill>
                <a:effectLst/>
                <a:latin typeface="Arial" pitchFamily="34" charset="0"/>
                <a:ea typeface="宋体" pitchFamily="2" charset="-122"/>
                <a:sym typeface="Times New Roman" pitchFamily="18" charset="0"/>
              </a:rPr>
              <a:t>B</a:t>
            </a:r>
            <a:r>
              <a:rPr lang="zh-CN" altLang="en-US" sz="1200" b="0" i="0" u="none" baseline="0" dirty="0">
                <a:solidFill>
                  <a:schemeClr val="dk1"/>
                </a:solidFill>
                <a:effectLst/>
                <a:latin typeface="Arial" pitchFamily="34" charset="0"/>
                <a:ea typeface="宋体" pitchFamily="2" charset="-122"/>
                <a:sym typeface="Times New Roman" pitchFamily="18" charset="0"/>
              </a:rPr>
              <a:t>、基于新技术的优势：（</a:t>
            </a:r>
            <a:r>
              <a:rPr lang="en-US" altLang="zh-CN" sz="1200" b="0" i="0" u="none" baseline="0" dirty="0">
                <a:solidFill>
                  <a:schemeClr val="dk1"/>
                </a:solidFill>
                <a:effectLst/>
                <a:latin typeface="Arial" pitchFamily="34" charset="0"/>
                <a:ea typeface="宋体" pitchFamily="2" charset="-122"/>
                <a:sym typeface="Times New Roman" pitchFamily="18" charset="0"/>
              </a:rPr>
              <a:t>1</a:t>
            </a:r>
            <a:r>
              <a:rPr lang="zh-CN" altLang="en-US" sz="1200" b="0" i="0" u="none" baseline="0" dirty="0">
                <a:solidFill>
                  <a:schemeClr val="dk1"/>
                </a:solidFill>
                <a:effectLst/>
                <a:latin typeface="Arial" pitchFamily="34" charset="0"/>
                <a:ea typeface="宋体" pitchFamily="2" charset="-122"/>
                <a:sym typeface="Times New Roman" pitchFamily="18" charset="0"/>
              </a:rPr>
              <a:t>）系统性能较高；（</a:t>
            </a:r>
            <a:r>
              <a:rPr lang="en-US" altLang="zh-CN" sz="1200" b="0" i="0" u="none" baseline="0" dirty="0">
                <a:solidFill>
                  <a:schemeClr val="dk1"/>
                </a:solidFill>
                <a:effectLst/>
                <a:latin typeface="Arial" pitchFamily="34" charset="0"/>
                <a:ea typeface="宋体" pitchFamily="2" charset="-122"/>
                <a:sym typeface="Times New Roman" pitchFamily="18" charset="0"/>
              </a:rPr>
              <a:t>2</a:t>
            </a:r>
            <a:r>
              <a:rPr lang="zh-CN" altLang="en-US" sz="1200" b="0" i="0" u="none" baseline="0" dirty="0">
                <a:solidFill>
                  <a:schemeClr val="dk1"/>
                </a:solidFill>
                <a:effectLst/>
                <a:latin typeface="Arial" pitchFamily="34" charset="0"/>
                <a:ea typeface="宋体" pitchFamily="2" charset="-122"/>
                <a:sym typeface="Times New Roman" pitchFamily="18" charset="0"/>
              </a:rPr>
              <a:t>）满足某些特殊要求；（</a:t>
            </a:r>
            <a:r>
              <a:rPr lang="en-US" altLang="zh-CN" sz="1200" b="0" i="0" u="none" baseline="0" dirty="0">
                <a:solidFill>
                  <a:schemeClr val="dk1"/>
                </a:solidFill>
                <a:effectLst/>
                <a:latin typeface="Arial" pitchFamily="34" charset="0"/>
                <a:ea typeface="宋体" pitchFamily="2" charset="-122"/>
                <a:sym typeface="Times New Roman" pitchFamily="18" charset="0"/>
              </a:rPr>
              <a:t>3</a:t>
            </a:r>
            <a:r>
              <a:rPr lang="zh-CN" altLang="en-US" sz="1200" b="0" i="0" u="none" baseline="0" dirty="0">
                <a:solidFill>
                  <a:schemeClr val="dk1"/>
                </a:solidFill>
                <a:effectLst/>
                <a:latin typeface="Arial" pitchFamily="34" charset="0"/>
                <a:ea typeface="宋体" pitchFamily="2" charset="-122"/>
                <a:sym typeface="Times New Roman" pitchFamily="18" charset="0"/>
              </a:rPr>
              <a:t>）长期投资较小</a:t>
            </a:r>
          </a:p>
          <a:p>
            <a:pPr fontAlgn="base"/>
            <a:r>
              <a:rPr lang="zh-CN" altLang="en-US" sz="1200" b="0" i="0" u="none" baseline="0" dirty="0">
                <a:solidFill>
                  <a:schemeClr val="dk1"/>
                </a:solidFill>
                <a:effectLst/>
                <a:latin typeface="Arial" pitchFamily="34" charset="0"/>
                <a:ea typeface="宋体" pitchFamily="2" charset="-122"/>
                <a:sym typeface="Times New Roman" pitchFamily="18" charset="0"/>
              </a:rPr>
              <a:t>因此，采用什么技术实际上取决于用户需求。</a:t>
            </a:r>
          </a:p>
          <a:p>
            <a:pPr fontAlgn="base"/>
            <a:r>
              <a:rPr lang="zh-CN" altLang="en-US" sz="1200" b="0" i="0" u="none" baseline="0" dirty="0">
                <a:solidFill>
                  <a:schemeClr val="dk1"/>
                </a:solidFill>
                <a:effectLst/>
                <a:latin typeface="Arial" pitchFamily="34" charset="0"/>
                <a:ea typeface="宋体" pitchFamily="2" charset="-122"/>
                <a:sym typeface="Times New Roman" pitchFamily="18" charset="0"/>
              </a:rPr>
              <a:t>网络工程验收时合格，使用一段时间后网络性能下降很快，讨论原因何在</a:t>
            </a:r>
          </a:p>
          <a:p>
            <a:pPr fontAlgn="base"/>
            <a:r>
              <a:rPr lang="en-US" altLang="zh-CN" sz="1200" b="0" i="0" u="none" baseline="0" dirty="0">
                <a:solidFill>
                  <a:schemeClr val="dk1"/>
                </a:solidFill>
                <a:effectLst/>
                <a:latin typeface="Arial" pitchFamily="34" charset="0"/>
                <a:ea typeface="宋体" pitchFamily="2" charset="-122"/>
                <a:sym typeface="Times New Roman" pitchFamily="18" charset="0"/>
              </a:rPr>
              <a:t>Word </a:t>
            </a:r>
            <a:r>
              <a:rPr lang="zh-CN" altLang="en-US" sz="1200" b="0" i="0" u="none" baseline="0" dirty="0">
                <a:solidFill>
                  <a:schemeClr val="dk1"/>
                </a:solidFill>
                <a:effectLst/>
                <a:latin typeface="Arial" pitchFamily="34" charset="0"/>
                <a:ea typeface="宋体" pitchFamily="2" charset="-122"/>
                <a:sym typeface="Times New Roman" pitchFamily="18" charset="0"/>
              </a:rPr>
              <a:t>资料</a:t>
            </a:r>
          </a:p>
          <a:p>
            <a:pPr fontAlgn="base"/>
            <a:r>
              <a:rPr lang="en-US" altLang="zh-CN" sz="1200" b="0" i="0" u="none" baseline="0" dirty="0">
                <a:solidFill>
                  <a:schemeClr val="dk1"/>
                </a:solidFill>
                <a:effectLst/>
                <a:latin typeface="Arial" pitchFamily="34" charset="0"/>
                <a:ea typeface="宋体" pitchFamily="2" charset="-122"/>
                <a:sym typeface="Times New Roman" pitchFamily="18" charset="0"/>
              </a:rPr>
              <a:t>.</a:t>
            </a:r>
          </a:p>
          <a:p>
            <a:pPr fontAlgn="base"/>
            <a:r>
              <a:rPr lang="zh-CN" altLang="en-US" sz="1200" b="0" i="0" u="none" baseline="0" dirty="0">
                <a:solidFill>
                  <a:schemeClr val="dk1"/>
                </a:solidFill>
                <a:effectLst/>
                <a:latin typeface="Arial" pitchFamily="34" charset="0"/>
                <a:ea typeface="宋体" pitchFamily="2" charset="-122"/>
                <a:sym typeface="Times New Roman" pitchFamily="18" charset="0"/>
              </a:rPr>
              <a:t>答：几个比较重要的原因：</a:t>
            </a:r>
          </a:p>
          <a:p>
            <a:pPr fontAlgn="base"/>
            <a:r>
              <a:rPr lang="en-US" altLang="zh-CN" sz="1200" b="0" i="0" u="none" baseline="0" dirty="0">
                <a:solidFill>
                  <a:schemeClr val="dk1"/>
                </a:solidFill>
                <a:effectLst/>
                <a:latin typeface="Arial" pitchFamily="34" charset="0"/>
                <a:ea typeface="宋体" pitchFamily="2" charset="-122"/>
                <a:sym typeface="Times New Roman" pitchFamily="18" charset="0"/>
              </a:rPr>
              <a:t>1</a:t>
            </a:r>
            <a:r>
              <a:rPr lang="zh-CN" altLang="en-US" sz="1200" b="0" i="0" u="none" baseline="0" dirty="0">
                <a:solidFill>
                  <a:schemeClr val="dk1"/>
                </a:solidFill>
                <a:effectLst/>
                <a:latin typeface="Arial" pitchFamily="34" charset="0"/>
                <a:ea typeface="宋体" pitchFamily="2" charset="-122"/>
                <a:sym typeface="Times New Roman" pitchFamily="18" charset="0"/>
              </a:rPr>
              <a:t>． 网络设备的问题，刚开始在搭建网络的时候用的路由器和交换机一般都是新的，但是当使用到一定年限的时候，就会出现不少的设备老化问题，比如信息插座、水晶头、网线、接口等出现老化，导致到网络性能的下降。</a:t>
            </a:r>
          </a:p>
          <a:p>
            <a:pPr fontAlgn="base"/>
            <a:r>
              <a:rPr lang="en-US" altLang="zh-CN" sz="1200" b="0" i="0" u="none" baseline="0" dirty="0">
                <a:solidFill>
                  <a:schemeClr val="dk1"/>
                </a:solidFill>
                <a:effectLst/>
                <a:latin typeface="Arial" pitchFamily="34" charset="0"/>
                <a:ea typeface="宋体" pitchFamily="2" charset="-122"/>
                <a:sym typeface="Times New Roman" pitchFamily="18" charset="0"/>
              </a:rPr>
              <a:t>2</a:t>
            </a:r>
            <a:r>
              <a:rPr lang="zh-CN" altLang="en-US" sz="1200" b="0" i="0" u="none" baseline="0" dirty="0">
                <a:solidFill>
                  <a:schemeClr val="dk1"/>
                </a:solidFill>
                <a:effectLst/>
                <a:latin typeface="Arial" pitchFamily="34" charset="0"/>
                <a:ea typeface="宋体" pitchFamily="2" charset="-122"/>
                <a:sym typeface="Times New Roman" pitchFamily="18" charset="0"/>
              </a:rPr>
              <a:t>． 大流量应用突然增大，我们都知道一个网络都是有它的负载的，如果说突然一条链路的流量突然剧增，会给整个网络带来较大的流量压力，也有导致网络性能下降的情况出现</a:t>
            </a:r>
          </a:p>
          <a:p>
            <a:pPr fontAlgn="base"/>
            <a:r>
              <a:rPr lang="en-US" altLang="zh-CN" sz="1200" b="0" i="0" u="none" baseline="0" dirty="0">
                <a:solidFill>
                  <a:schemeClr val="dk1"/>
                </a:solidFill>
                <a:effectLst/>
                <a:latin typeface="Arial" pitchFamily="34" charset="0"/>
                <a:ea typeface="宋体" pitchFamily="2" charset="-122"/>
                <a:sym typeface="Times New Roman" pitchFamily="18" charset="0"/>
              </a:rPr>
              <a:t>3</a:t>
            </a:r>
            <a:r>
              <a:rPr lang="zh-CN" altLang="en-US" sz="1200" b="0" i="0" u="none" baseline="0" dirty="0">
                <a:solidFill>
                  <a:schemeClr val="dk1"/>
                </a:solidFill>
                <a:effectLst/>
                <a:latin typeface="Arial" pitchFamily="34" charset="0"/>
                <a:ea typeface="宋体" pitchFamily="2" charset="-122"/>
                <a:sym typeface="Times New Roman" pitchFamily="18" charset="0"/>
              </a:rPr>
              <a:t>． 病毒攻击，网络上存在着各种各样的攻击，如果你的网络没有设置好应该有的防护措施，比如防火墙，那么网络很有可能在未来的一段时间内遭受到各种攻击，比如局域网的</a:t>
            </a:r>
            <a:r>
              <a:rPr lang="en-US" altLang="zh-CN" sz="1200" b="0" i="0" u="none" baseline="0" dirty="0" err="1">
                <a:solidFill>
                  <a:schemeClr val="dk1"/>
                </a:solidFill>
                <a:effectLst/>
                <a:latin typeface="Arial" pitchFamily="34" charset="0"/>
                <a:ea typeface="宋体" pitchFamily="2" charset="-122"/>
                <a:sym typeface="Times New Roman" pitchFamily="18" charset="0"/>
              </a:rPr>
              <a:t>arp</a:t>
            </a:r>
            <a:r>
              <a:rPr lang="zh-CN" altLang="en-US" sz="1200" b="0" i="0" u="none" baseline="0" dirty="0">
                <a:solidFill>
                  <a:schemeClr val="dk1"/>
                </a:solidFill>
                <a:effectLst/>
                <a:latin typeface="Arial" pitchFamily="34" charset="0"/>
                <a:ea typeface="宋体" pitchFamily="2" charset="-122"/>
                <a:sym typeface="Times New Roman" pitchFamily="18" charset="0"/>
              </a:rPr>
              <a:t>攻击，还有分布式拒绝服务</a:t>
            </a:r>
            <a:r>
              <a:rPr lang="en-US" altLang="zh-CN" sz="1200" b="0" i="0" u="none" baseline="0" dirty="0">
                <a:solidFill>
                  <a:schemeClr val="dk1"/>
                </a:solidFill>
                <a:effectLst/>
                <a:latin typeface="Arial" pitchFamily="34" charset="0"/>
                <a:ea typeface="宋体" pitchFamily="2" charset="-122"/>
                <a:sym typeface="Times New Roman" pitchFamily="18" charset="0"/>
              </a:rPr>
              <a:t>DDOS</a:t>
            </a:r>
            <a:r>
              <a:rPr lang="zh-CN" altLang="en-US" sz="1200" b="0" i="0" u="none" baseline="0" dirty="0">
                <a:solidFill>
                  <a:schemeClr val="dk1"/>
                </a:solidFill>
                <a:effectLst/>
                <a:latin typeface="Arial" pitchFamily="34" charset="0"/>
                <a:ea typeface="宋体" pitchFamily="2" charset="-122"/>
                <a:sym typeface="Times New Roman" pitchFamily="18" charset="0"/>
              </a:rPr>
              <a:t>，利用</a:t>
            </a:r>
            <a:r>
              <a:rPr lang="en-US" altLang="zh-CN" sz="1200" b="0" i="0" u="none" baseline="0" dirty="0">
                <a:solidFill>
                  <a:schemeClr val="dk1"/>
                </a:solidFill>
                <a:effectLst/>
                <a:latin typeface="Arial" pitchFamily="34" charset="0"/>
                <a:ea typeface="宋体" pitchFamily="2" charset="-122"/>
                <a:sym typeface="Times New Roman" pitchFamily="18" charset="0"/>
              </a:rPr>
              <a:t>TCP</a:t>
            </a:r>
            <a:r>
              <a:rPr lang="zh-CN" altLang="en-US" sz="1200" b="0" i="0" u="none" baseline="0" dirty="0">
                <a:solidFill>
                  <a:schemeClr val="dk1"/>
                </a:solidFill>
                <a:effectLst/>
                <a:latin typeface="Arial" pitchFamily="34" charset="0"/>
                <a:ea typeface="宋体" pitchFamily="2" charset="-122"/>
                <a:sym typeface="Times New Roman" pitchFamily="18" charset="0"/>
              </a:rPr>
              <a:t>协议缺陷，通过发送大量的半连接请求，耗费</a:t>
            </a:r>
            <a:r>
              <a:rPr lang="en-US" altLang="zh-CN" sz="1200" b="0" i="0" u="none" baseline="0" dirty="0">
                <a:solidFill>
                  <a:schemeClr val="dk1"/>
                </a:solidFill>
                <a:effectLst/>
                <a:latin typeface="Arial" pitchFamily="34" charset="0"/>
                <a:ea typeface="宋体" pitchFamily="2" charset="-122"/>
                <a:sym typeface="Times New Roman" pitchFamily="18" charset="0"/>
              </a:rPr>
              <a:t>CPU</a:t>
            </a:r>
            <a:r>
              <a:rPr lang="zh-CN" altLang="en-US" sz="1200" b="0" i="0" u="none" baseline="0" dirty="0">
                <a:solidFill>
                  <a:schemeClr val="dk1"/>
                </a:solidFill>
                <a:effectLst/>
                <a:latin typeface="Arial" pitchFamily="34" charset="0"/>
                <a:ea typeface="宋体" pitchFamily="2" charset="-122"/>
                <a:sym typeface="Times New Roman" pitchFamily="18" charset="0"/>
              </a:rPr>
              <a:t>和内存资源的</a:t>
            </a:r>
            <a:r>
              <a:rPr lang="en-US" altLang="zh-CN" sz="1200" b="0" i="0" u="none" baseline="0" dirty="0">
                <a:solidFill>
                  <a:schemeClr val="dk1"/>
                </a:solidFill>
                <a:effectLst/>
                <a:latin typeface="Arial" pitchFamily="34" charset="0"/>
                <a:ea typeface="宋体" pitchFamily="2" charset="-122"/>
                <a:sym typeface="Times New Roman" pitchFamily="18" charset="0"/>
              </a:rPr>
              <a:t>SYN</a:t>
            </a:r>
            <a:r>
              <a:rPr lang="zh-CN" altLang="en-US" sz="1200" b="0" i="0" u="none" baseline="0" dirty="0">
                <a:solidFill>
                  <a:schemeClr val="dk1"/>
                </a:solidFill>
                <a:effectLst/>
                <a:latin typeface="Arial" pitchFamily="34" charset="0"/>
                <a:ea typeface="宋体" pitchFamily="2" charset="-122"/>
                <a:sym typeface="Times New Roman" pitchFamily="18" charset="0"/>
              </a:rPr>
              <a:t>攻击等等，这些攻击都无时无刻地在威胁整个网络的安全和性能</a:t>
            </a:r>
          </a:p>
          <a:p>
            <a:pPr fontAlgn="base"/>
            <a:r>
              <a:rPr lang="en-US" altLang="zh-CN" sz="1200" b="0" i="0" u="none" baseline="0" dirty="0">
                <a:solidFill>
                  <a:schemeClr val="dk1"/>
                </a:solidFill>
                <a:effectLst/>
                <a:latin typeface="Arial" pitchFamily="34" charset="0"/>
                <a:ea typeface="宋体" pitchFamily="2" charset="-122"/>
                <a:sym typeface="Times New Roman" pitchFamily="18" charset="0"/>
              </a:rPr>
              <a:t>4</a:t>
            </a:r>
            <a:r>
              <a:rPr lang="zh-CN" altLang="en-US" sz="1200" b="0" i="0" u="none" baseline="0" dirty="0">
                <a:solidFill>
                  <a:schemeClr val="dk1"/>
                </a:solidFill>
                <a:effectLst/>
                <a:latin typeface="Arial" pitchFamily="34" charset="0"/>
                <a:ea typeface="宋体" pitchFamily="2" charset="-122"/>
                <a:sym typeface="Times New Roman" pitchFamily="18" charset="0"/>
              </a:rPr>
              <a:t>． 随着网络的不断应用，网络的用户也就越来越多，带宽会出现负载问题，所以网络的性能也会出现下降</a:t>
            </a:r>
          </a:p>
          <a:p>
            <a:pPr fontAlgn="base"/>
            <a:endParaRPr lang="zh-CN" altLang="en-US" sz="1200" b="0" i="0" u="none" baseline="0" dirty="0">
              <a:solidFill>
                <a:schemeClr val="dk1"/>
              </a:solidFill>
              <a:effectLst/>
              <a:latin typeface="Arial" pitchFamily="34" charset="0"/>
              <a:ea typeface="宋体" pitchFamily="2" charset="-122"/>
              <a:sym typeface="Times New Roman" pitchFamily="18" charset="0"/>
            </a:endParaRPr>
          </a:p>
          <a:p>
            <a:endParaRPr lang="zh-CN" altLang="en-US" dirty="0"/>
          </a:p>
        </p:txBody>
      </p:sp>
      <p:sp>
        <p:nvSpPr>
          <p:cNvPr id="4" name="灯片编号占位符 3"/>
          <p:cNvSpPr>
            <a:spLocks noGrp="1"/>
          </p:cNvSpPr>
          <p:nvPr>
            <p:ph type="sldNum" sz="quarter" idx="5"/>
          </p:nvPr>
        </p:nvSpPr>
        <p:spPr/>
        <p:txBody>
          <a:bodyPr/>
          <a:lstStyle/>
          <a:p>
            <a:pPr lvl="0" algn="r" eaLnBrk="1" latinLnBrk="1" hangingPunct="1"/>
            <a:fld id="{566ABCEB-ACFC-4714-9973-3DA970169C29}" type="slidenum">
              <a:rPr lang="en-US" altLang="zh-CN" sz="1200" smtClean="0">
                <a:latin typeface="Arial" pitchFamily="34" charset="0"/>
              </a:rPr>
              <a:pPr lvl="0" algn="r" eaLnBrk="1" latinLnBrk="1" hangingPunct="1"/>
              <a:t>134</a:t>
            </a:fld>
            <a:endParaRPr lang="en-US" altLang="zh-CN" sz="1200">
              <a:latin typeface="Arial" pitchFamily="34" charset="0"/>
            </a:endParaRPr>
          </a:p>
        </p:txBody>
      </p:sp>
    </p:spTree>
    <p:extLst>
      <p:ext uri="{BB962C8B-B14F-4D97-AF65-F5344CB8AC3E}">
        <p14:creationId xmlns:p14="http://schemas.microsoft.com/office/powerpoint/2010/main" val="38665379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30520A38-C711-45E0-B602-910B77E12502}" type="datetimeFigureOut">
              <a:rPr lang="zh-CN" altLang="en-US" smtClean="0"/>
              <a:t>2025/12/27</a:t>
            </a:fld>
            <a:endParaRPr lang="zh-CN" alt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96DBB465-DEAA-4812-9C23-3B4F8DEDCCD2}" type="slidenum">
              <a:rPr lang="zh-CN" altLang="en-US" smtClean="0"/>
              <a:t>‹#›</a:t>
            </a:fld>
            <a:endParaRPr lang="zh-CN" altLang="en-US"/>
          </a:p>
        </p:txBody>
      </p:sp>
    </p:spTree>
    <p:extLst>
      <p:ext uri="{BB962C8B-B14F-4D97-AF65-F5344CB8AC3E}">
        <p14:creationId xmlns:p14="http://schemas.microsoft.com/office/powerpoint/2010/main" val="33386145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en-US" dirty="0"/>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30520A38-C711-45E0-B602-910B77E12502}" type="datetimeFigureOut">
              <a:rPr lang="zh-CN" altLang="en-US" smtClean="0"/>
              <a:t>2025/12/27</a:t>
            </a:fld>
            <a:endParaRPr lang="zh-CN" alt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96DBB465-DEAA-4812-9C23-3B4F8DEDCCD2}" type="slidenum">
              <a:rPr lang="zh-CN" altLang="en-US" smtClean="0"/>
              <a:t>‹#›</a:t>
            </a:fld>
            <a:endParaRPr lang="zh-CN" altLang="en-US"/>
          </a:p>
        </p:txBody>
      </p:sp>
    </p:spTree>
    <p:extLst>
      <p:ext uri="{BB962C8B-B14F-4D97-AF65-F5344CB8AC3E}">
        <p14:creationId xmlns:p14="http://schemas.microsoft.com/office/powerpoint/2010/main" val="817392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30520A38-C711-45E0-B602-910B77E12502}" type="datetimeFigureOut">
              <a:rPr lang="zh-CN" altLang="en-US" smtClean="0"/>
              <a:t>2025/12/27</a:t>
            </a:fld>
            <a:endParaRPr lang="zh-CN" alt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96DBB465-DEAA-4812-9C23-3B4F8DEDCCD2}" type="slidenum">
              <a:rPr lang="zh-CN" altLang="en-US" smtClean="0"/>
              <a:t>‹#›</a:t>
            </a:fld>
            <a:endParaRPr lang="zh-CN" altLang="en-US"/>
          </a:p>
        </p:txBody>
      </p:sp>
    </p:spTree>
    <p:extLst>
      <p:ext uri="{BB962C8B-B14F-4D97-AF65-F5344CB8AC3E}">
        <p14:creationId xmlns:p14="http://schemas.microsoft.com/office/powerpoint/2010/main" val="17643543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30520A38-C711-45E0-B602-910B77E12502}" type="datetimeFigureOut">
              <a:rPr lang="zh-CN" altLang="en-US" smtClean="0"/>
              <a:t>2025/12/27</a:t>
            </a:fld>
            <a:endParaRPr lang="zh-CN" alt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96DBB465-DEAA-4812-9C23-3B4F8DEDCCD2}" type="slidenum">
              <a:rPr lang="zh-CN" altLang="en-US" smtClean="0"/>
              <a:t>‹#›</a:t>
            </a:fld>
            <a:endParaRPr lang="zh-CN" altLang="en-US"/>
          </a:p>
        </p:txBody>
      </p:sp>
    </p:spTree>
    <p:extLst>
      <p:ext uri="{BB962C8B-B14F-4D97-AF65-F5344CB8AC3E}">
        <p14:creationId xmlns:p14="http://schemas.microsoft.com/office/powerpoint/2010/main" val="32282269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30520A38-C711-45E0-B602-910B77E12502}" type="datetimeFigureOut">
              <a:rPr lang="zh-CN" altLang="en-US" smtClean="0"/>
              <a:t>2025/12/27</a:t>
            </a:fld>
            <a:endParaRPr lang="zh-CN" alt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96DBB465-DEAA-4812-9C23-3B4F8DEDCCD2}" type="slidenum">
              <a:rPr lang="zh-CN" altLang="en-US" smtClean="0"/>
              <a:t>‹#›</a:t>
            </a:fld>
            <a:endParaRPr lang="zh-CN" altLang="en-US"/>
          </a:p>
        </p:txBody>
      </p:sp>
    </p:spTree>
    <p:extLst>
      <p:ext uri="{BB962C8B-B14F-4D97-AF65-F5344CB8AC3E}">
        <p14:creationId xmlns:p14="http://schemas.microsoft.com/office/powerpoint/2010/main" val="10693973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30520A38-C711-45E0-B602-910B77E12502}" type="datetimeFigureOut">
              <a:rPr lang="zh-CN" altLang="en-US" smtClean="0"/>
              <a:t>2025/12/27</a:t>
            </a:fld>
            <a:endParaRPr lang="zh-CN" alt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96DBB465-DEAA-4812-9C23-3B4F8DEDCCD2}" type="slidenum">
              <a:rPr lang="zh-CN" altLang="en-US" smtClean="0"/>
              <a:t>‹#›</a:t>
            </a:fld>
            <a:endParaRPr lang="zh-CN" altLang="en-US"/>
          </a:p>
        </p:txBody>
      </p:sp>
    </p:spTree>
    <p:extLst>
      <p:ext uri="{BB962C8B-B14F-4D97-AF65-F5344CB8AC3E}">
        <p14:creationId xmlns:p14="http://schemas.microsoft.com/office/powerpoint/2010/main" val="873942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30520A38-C711-45E0-B602-910B77E12502}" type="datetimeFigureOut">
              <a:rPr lang="zh-CN" altLang="en-US" smtClean="0"/>
              <a:t>2025/12/27</a:t>
            </a:fld>
            <a:endParaRPr lang="zh-CN" alt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96DBB465-DEAA-4812-9C23-3B4F8DEDCCD2}" type="slidenum">
              <a:rPr lang="zh-CN" altLang="en-US" smtClean="0"/>
              <a:t>‹#›</a:t>
            </a:fld>
            <a:endParaRPr lang="zh-CN" altLang="en-US"/>
          </a:p>
        </p:txBody>
      </p:sp>
    </p:spTree>
    <p:extLst>
      <p:ext uri="{BB962C8B-B14F-4D97-AF65-F5344CB8AC3E}">
        <p14:creationId xmlns:p14="http://schemas.microsoft.com/office/powerpoint/2010/main" val="27754052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30520A38-C711-45E0-B602-910B77E12502}" type="datetimeFigureOut">
              <a:rPr lang="zh-CN" altLang="en-US" smtClean="0"/>
              <a:t>2025/12/27</a:t>
            </a:fld>
            <a:endParaRPr lang="zh-CN" alt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96DBB465-DEAA-4812-9C23-3B4F8DEDCCD2}" type="slidenum">
              <a:rPr lang="zh-CN" altLang="en-US" smtClean="0"/>
              <a:t>‹#›</a:t>
            </a:fld>
            <a:endParaRPr lang="zh-CN" altLang="en-US"/>
          </a:p>
        </p:txBody>
      </p:sp>
    </p:spTree>
    <p:extLst>
      <p:ext uri="{BB962C8B-B14F-4D97-AF65-F5344CB8AC3E}">
        <p14:creationId xmlns:p14="http://schemas.microsoft.com/office/powerpoint/2010/main" val="15679944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30520A38-C711-45E0-B602-910B77E12502}" type="datetimeFigureOut">
              <a:rPr lang="zh-CN" altLang="en-US" smtClean="0"/>
              <a:t>2025/12/27</a:t>
            </a:fld>
            <a:endParaRPr lang="zh-CN" alt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96DBB465-DEAA-4812-9C23-3B4F8DEDCCD2}" type="slidenum">
              <a:rPr lang="zh-CN" altLang="en-US" smtClean="0"/>
              <a:t>‹#›</a:t>
            </a:fld>
            <a:endParaRPr lang="zh-CN" altLang="en-US"/>
          </a:p>
        </p:txBody>
      </p:sp>
    </p:spTree>
    <p:extLst>
      <p:ext uri="{BB962C8B-B14F-4D97-AF65-F5344CB8AC3E}">
        <p14:creationId xmlns:p14="http://schemas.microsoft.com/office/powerpoint/2010/main" val="16872724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30520A38-C711-45E0-B602-910B77E12502}" type="datetimeFigureOut">
              <a:rPr lang="zh-CN" altLang="en-US" smtClean="0"/>
              <a:t>2025/12/27</a:t>
            </a:fld>
            <a:endParaRPr lang="zh-CN" alt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96DBB465-DEAA-4812-9C23-3B4F8DEDCCD2}" type="slidenum">
              <a:rPr lang="zh-CN" altLang="en-US" smtClean="0"/>
              <a:t>‹#›</a:t>
            </a:fld>
            <a:endParaRPr lang="zh-CN" altLang="en-US"/>
          </a:p>
        </p:txBody>
      </p:sp>
    </p:spTree>
    <p:extLst>
      <p:ext uri="{BB962C8B-B14F-4D97-AF65-F5344CB8AC3E}">
        <p14:creationId xmlns:p14="http://schemas.microsoft.com/office/powerpoint/2010/main" val="2764175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30520A38-C711-45E0-B602-910B77E12502}" type="datetimeFigureOut">
              <a:rPr lang="zh-CN" altLang="en-US" smtClean="0"/>
              <a:t>2025/12/27</a:t>
            </a:fld>
            <a:endParaRPr lang="zh-CN" alt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96DBB465-DEAA-4812-9C23-3B4F8DEDCCD2}" type="slidenum">
              <a:rPr lang="zh-CN" altLang="en-US" smtClean="0"/>
              <a:t>‹#›</a:t>
            </a:fld>
            <a:endParaRPr lang="zh-CN" altLang="en-US"/>
          </a:p>
        </p:txBody>
      </p:sp>
    </p:spTree>
    <p:extLst>
      <p:ext uri="{BB962C8B-B14F-4D97-AF65-F5344CB8AC3E}">
        <p14:creationId xmlns:p14="http://schemas.microsoft.com/office/powerpoint/2010/main" val="9109817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01" name="内容占位符 2"/>
          <p:cNvSpPr>
            <a:spLocks noGrp="1"/>
          </p:cNvSpPr>
          <p:nvPr>
            <p:ph idx="1"/>
          </p:nvPr>
        </p:nvSpPr>
        <p:spPr>
          <a:xfrm>
            <a:off x="838200" y="1825625"/>
            <a:ext cx="10515600" cy="4351338"/>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1048600" name="标题 1"/>
          <p:cNvSpPr>
            <a:spLocks noGrp="1"/>
          </p:cNvSpPr>
          <p:nvPr>
            <p:ph type="title"/>
          </p:nvPr>
        </p:nvSpPr>
        <p:spPr>
          <a:xfrm>
            <a:off x="838200" y="365126"/>
            <a:ext cx="10515600" cy="1325563"/>
          </a:xfrm>
          <a:prstGeom prst="rect">
            <a:avLst/>
          </a:prstGeom>
        </p:spPr>
        <p:txBody>
          <a:bodyPr/>
          <a:lstStyle/>
          <a:p>
            <a:r>
              <a:rPr lang="zh-CN" altLang="en-US" noProof="1"/>
              <a:t>单击此处编辑母版标题样式</a:t>
            </a:r>
          </a:p>
        </p:txBody>
      </p:sp>
    </p:spTree>
    <p:extLst>
      <p:ext uri="{BB962C8B-B14F-4D97-AF65-F5344CB8AC3E}">
        <p14:creationId xmlns:p14="http://schemas.microsoft.com/office/powerpoint/2010/main" val="1578747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_">
    <p:spTree>
      <p:nvGrpSpPr>
        <p:cNvPr id="1" name=""/>
        <p:cNvGrpSpPr/>
        <p:nvPr/>
      </p:nvGrpSpPr>
      <p:grpSpPr>
        <a:xfrm>
          <a:off x="0" y="0"/>
          <a:ext cx="0" cy="0"/>
          <a:chOff x="0" y="0"/>
          <a:chExt cx="0" cy="0"/>
        </a:xfrm>
      </p:grpSpPr>
      <p:sp>
        <p:nvSpPr>
          <p:cNvPr id="8" name="标题占位符 1">
            <a:extLst>
              <a:ext uri="{FF2B5EF4-FFF2-40B4-BE49-F238E27FC236}">
                <a16:creationId xmlns:a16="http://schemas.microsoft.com/office/drawing/2014/main" id="{C171E04D-9D71-4525-BEB8-E98668B459A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9" name="文本占位符 2">
            <a:extLst>
              <a:ext uri="{FF2B5EF4-FFF2-40B4-BE49-F238E27FC236}">
                <a16:creationId xmlns:a16="http://schemas.microsoft.com/office/drawing/2014/main" id="{7E3CA720-81D7-407B-A2AB-240506153219}"/>
              </a:ext>
            </a:extLst>
          </p:cNvPr>
          <p:cNvSpPr>
            <a:spLocks noGrp="1"/>
          </p:cNvSpPr>
          <p:nvPr>
            <p:ph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a:extLst>
              <a:ext uri="{FF2B5EF4-FFF2-40B4-BE49-F238E27FC236}">
                <a16:creationId xmlns:a16="http://schemas.microsoft.com/office/drawing/2014/main" id="{FE4C5E72-E239-4272-B3EA-4CEB349992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690189-E352-4D4C-BEB5-CFAED1FC6F1F}" type="datetimeFigureOut">
              <a:rPr lang="zh-CN" altLang="en-US" smtClean="0"/>
              <a:t>2025/12/27</a:t>
            </a:fld>
            <a:endParaRPr lang="zh-CN" altLang="en-US"/>
          </a:p>
        </p:txBody>
      </p:sp>
      <p:sp>
        <p:nvSpPr>
          <p:cNvPr id="11" name="页脚占位符 4">
            <a:extLst>
              <a:ext uri="{FF2B5EF4-FFF2-40B4-BE49-F238E27FC236}">
                <a16:creationId xmlns:a16="http://schemas.microsoft.com/office/drawing/2014/main" id="{6E6060E0-A213-4A17-BC6C-E4939A446E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12" name="灯片编号占位符 5">
            <a:extLst>
              <a:ext uri="{FF2B5EF4-FFF2-40B4-BE49-F238E27FC236}">
                <a16:creationId xmlns:a16="http://schemas.microsoft.com/office/drawing/2014/main" id="{D753B2AC-20D6-4A23-B0BA-FEDC8B2C0D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B60AC0-AAD6-4DCA-ABB0-C92DF4BA6EC8}" type="slidenum">
              <a:rPr lang="zh-CN" altLang="en-US" smtClean="0"/>
              <a:t>‹#›</a:t>
            </a:fld>
            <a:endParaRPr lang="zh-CN" altLang="en-US"/>
          </a:p>
        </p:txBody>
      </p:sp>
      <p:sp>
        <p:nvSpPr>
          <p:cNvPr id="13" name="矩形 12">
            <a:extLst>
              <a:ext uri="{FF2B5EF4-FFF2-40B4-BE49-F238E27FC236}">
                <a16:creationId xmlns:a16="http://schemas.microsoft.com/office/drawing/2014/main" id="{542036CF-7541-46C2-ABF0-0F43A5384878}"/>
              </a:ext>
            </a:extLst>
          </p:cNvPr>
          <p:cNvSpPr/>
          <p:nvPr userDrawn="1"/>
        </p:nvSpPr>
        <p:spPr>
          <a:xfrm>
            <a:off x="0" y="6721475"/>
            <a:ext cx="12192000" cy="16341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37">
            <a:extLst>
              <a:ext uri="{FF2B5EF4-FFF2-40B4-BE49-F238E27FC236}">
                <a16:creationId xmlns:a16="http://schemas.microsoft.com/office/drawing/2014/main" id="{8139A3A9-0E7C-4B37-AB5F-C628D7FA5892}"/>
              </a:ext>
            </a:extLst>
          </p:cNvPr>
          <p:cNvSpPr/>
          <p:nvPr userDrawn="1"/>
        </p:nvSpPr>
        <p:spPr>
          <a:xfrm>
            <a:off x="10414000" y="6607346"/>
            <a:ext cx="1778000" cy="267166"/>
          </a:xfrm>
          <a:custGeom>
            <a:avLst/>
            <a:gdLst>
              <a:gd name="connsiteX0" fmla="*/ 0 w 1689100"/>
              <a:gd name="connsiteY0" fmla="*/ 0 h 241300"/>
              <a:gd name="connsiteX1" fmla="*/ 1689100 w 1689100"/>
              <a:gd name="connsiteY1" fmla="*/ 0 h 241300"/>
              <a:gd name="connsiteX2" fmla="*/ 1689100 w 1689100"/>
              <a:gd name="connsiteY2" fmla="*/ 241300 h 241300"/>
              <a:gd name="connsiteX3" fmla="*/ 0 w 1689100"/>
              <a:gd name="connsiteY3" fmla="*/ 241300 h 241300"/>
              <a:gd name="connsiteX4" fmla="*/ 0 w 1689100"/>
              <a:gd name="connsiteY4" fmla="*/ 0 h 241300"/>
              <a:gd name="connsiteX0" fmla="*/ 88900 w 1778000"/>
              <a:gd name="connsiteY0" fmla="*/ 0 h 241300"/>
              <a:gd name="connsiteX1" fmla="*/ 1778000 w 1778000"/>
              <a:gd name="connsiteY1" fmla="*/ 0 h 241300"/>
              <a:gd name="connsiteX2" fmla="*/ 1778000 w 1778000"/>
              <a:gd name="connsiteY2" fmla="*/ 241300 h 241300"/>
              <a:gd name="connsiteX3" fmla="*/ 0 w 1778000"/>
              <a:gd name="connsiteY3" fmla="*/ 228600 h 241300"/>
              <a:gd name="connsiteX4" fmla="*/ 88900 w 1778000"/>
              <a:gd name="connsiteY4" fmla="*/ 0 h 241300"/>
              <a:gd name="connsiteX0" fmla="*/ 88900 w 1778000"/>
              <a:gd name="connsiteY0" fmla="*/ 0 h 248055"/>
              <a:gd name="connsiteX1" fmla="*/ 1778000 w 1778000"/>
              <a:gd name="connsiteY1" fmla="*/ 0 h 248055"/>
              <a:gd name="connsiteX2" fmla="*/ 1778000 w 1778000"/>
              <a:gd name="connsiteY2" fmla="*/ 241300 h 248055"/>
              <a:gd name="connsiteX3" fmla="*/ 0 w 1778000"/>
              <a:gd name="connsiteY3" fmla="*/ 248055 h 248055"/>
              <a:gd name="connsiteX4" fmla="*/ 88900 w 1778000"/>
              <a:gd name="connsiteY4" fmla="*/ 0 h 248055"/>
              <a:gd name="connsiteX0" fmla="*/ 88900 w 1778000"/>
              <a:gd name="connsiteY0" fmla="*/ 0 h 248055"/>
              <a:gd name="connsiteX1" fmla="*/ 1778000 w 1778000"/>
              <a:gd name="connsiteY1" fmla="*/ 0 h 248055"/>
              <a:gd name="connsiteX2" fmla="*/ 1778000 w 1778000"/>
              <a:gd name="connsiteY2" fmla="*/ 241300 h 248055"/>
              <a:gd name="connsiteX3" fmla="*/ 0 w 1778000"/>
              <a:gd name="connsiteY3" fmla="*/ 248055 h 248055"/>
              <a:gd name="connsiteX4" fmla="*/ 88900 w 1778000"/>
              <a:gd name="connsiteY4" fmla="*/ 0 h 248055"/>
              <a:gd name="connsiteX0" fmla="*/ 88900 w 1778000"/>
              <a:gd name="connsiteY0" fmla="*/ 0 h 255891"/>
              <a:gd name="connsiteX1" fmla="*/ 1778000 w 1778000"/>
              <a:gd name="connsiteY1" fmla="*/ 0 h 255891"/>
              <a:gd name="connsiteX2" fmla="*/ 1778000 w 1778000"/>
              <a:gd name="connsiteY2" fmla="*/ 255891 h 255891"/>
              <a:gd name="connsiteX3" fmla="*/ 0 w 1778000"/>
              <a:gd name="connsiteY3" fmla="*/ 248055 h 255891"/>
              <a:gd name="connsiteX4" fmla="*/ 88900 w 1778000"/>
              <a:gd name="connsiteY4" fmla="*/ 0 h 2558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8000" h="255891">
                <a:moveTo>
                  <a:pt x="88900" y="0"/>
                </a:moveTo>
                <a:lnTo>
                  <a:pt x="1778000" y="0"/>
                </a:lnTo>
                <a:lnTo>
                  <a:pt x="1778000" y="255891"/>
                </a:lnTo>
                <a:lnTo>
                  <a:pt x="0" y="248055"/>
                </a:lnTo>
                <a:lnTo>
                  <a:pt x="88900" y="0"/>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4">
            <a:extLst>
              <a:ext uri="{FF2B5EF4-FFF2-40B4-BE49-F238E27FC236}">
                <a16:creationId xmlns:a16="http://schemas.microsoft.com/office/drawing/2014/main" id="{3651621F-8E00-42D2-A721-855520BFF6C5}"/>
              </a:ext>
            </a:extLst>
          </p:cNvPr>
          <p:cNvSpPr txBox="1"/>
          <p:nvPr userDrawn="1"/>
        </p:nvSpPr>
        <p:spPr>
          <a:xfrm>
            <a:off x="10988299" y="6614704"/>
            <a:ext cx="718466" cy="246221"/>
          </a:xfrm>
          <a:prstGeom prst="rect">
            <a:avLst/>
          </a:prstGeom>
          <a:noFill/>
        </p:spPr>
        <p:txBody>
          <a:bodyPr wrap="none" rtlCol="0">
            <a:spAutoFit/>
          </a:bodyPr>
          <a:lstStyle/>
          <a:p>
            <a:pPr algn="ctr" fontAlgn="base">
              <a:spcBef>
                <a:spcPct val="0"/>
              </a:spcBef>
              <a:spcAft>
                <a:spcPct val="0"/>
              </a:spcAft>
              <a:buFont typeface="Arial" pitchFamily="34" charset="0"/>
              <a:buNone/>
            </a:pPr>
            <a:r>
              <a:rPr lang="en-US" altLang="zh-CN" sz="1000" dirty="0">
                <a:solidFill>
                  <a:schemeClr val="bg1"/>
                </a:solidFill>
                <a:latin typeface="冬青黑体简体中文 W3" panose="020B0300000000000000" pitchFamily="34" charset="-122"/>
                <a:ea typeface="冬青黑体简体中文 W3" panose="020B0300000000000000" pitchFamily="34" charset="-122"/>
              </a:rPr>
              <a:t>PAGE  </a:t>
            </a:r>
            <a:fld id="{80FBF818-38A7-4F77-93E6-B3A777432DD2}" type="slidenum">
              <a:rPr lang="zh-CN" altLang="en-US" sz="1000" smtClean="0">
                <a:solidFill>
                  <a:schemeClr val="bg1"/>
                </a:solidFill>
                <a:latin typeface="冬青黑体简体中文 W3" panose="020B0300000000000000" pitchFamily="34" charset="-122"/>
                <a:ea typeface="冬青黑体简体中文 W3" panose="020B0300000000000000" pitchFamily="34" charset="-122"/>
              </a:rPr>
              <a:pPr algn="ctr" fontAlgn="base">
                <a:spcBef>
                  <a:spcPct val="0"/>
                </a:spcBef>
                <a:spcAft>
                  <a:spcPct val="0"/>
                </a:spcAft>
                <a:buFont typeface="Arial" pitchFamily="34" charset="0"/>
                <a:buNone/>
              </a:pPr>
              <a:t>‹#›</a:t>
            </a:fld>
            <a:endParaRPr lang="zh-CN" altLang="en-US" sz="1000" dirty="0">
              <a:solidFill>
                <a:schemeClr val="bg1"/>
              </a:solidFill>
              <a:latin typeface="冬青黑体简体中文 W3" panose="020B0300000000000000" pitchFamily="34" charset="-122"/>
              <a:ea typeface="冬青黑体简体中文 W3" panose="020B0300000000000000" pitchFamily="34" charset="-122"/>
            </a:endParaRPr>
          </a:p>
        </p:txBody>
      </p:sp>
      <p:sp>
        <p:nvSpPr>
          <p:cNvPr id="16" name="矩形 15">
            <a:extLst>
              <a:ext uri="{FF2B5EF4-FFF2-40B4-BE49-F238E27FC236}">
                <a16:creationId xmlns:a16="http://schemas.microsoft.com/office/drawing/2014/main" id="{775C168A-37EC-4439-90B8-20A7FE163CC5}"/>
              </a:ext>
            </a:extLst>
          </p:cNvPr>
          <p:cNvSpPr/>
          <p:nvPr userDrawn="1"/>
        </p:nvSpPr>
        <p:spPr>
          <a:xfrm>
            <a:off x="8336" y="116114"/>
            <a:ext cx="12183664" cy="6386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zh-CN" altLang="zh-CN" sz="2400" dirty="0">
              <a:solidFill>
                <a:schemeClr val="bg1"/>
              </a:solidFill>
            </a:endParaRPr>
          </a:p>
        </p:txBody>
      </p:sp>
      <p:sp>
        <p:nvSpPr>
          <p:cNvPr id="17" name="等腰三角形 16">
            <a:extLst>
              <a:ext uri="{FF2B5EF4-FFF2-40B4-BE49-F238E27FC236}">
                <a16:creationId xmlns:a16="http://schemas.microsoft.com/office/drawing/2014/main" id="{D6605D6D-69A3-43B2-AD2C-9C2D1B51206B}"/>
              </a:ext>
            </a:extLst>
          </p:cNvPr>
          <p:cNvSpPr/>
          <p:nvPr userDrawn="1"/>
        </p:nvSpPr>
        <p:spPr>
          <a:xfrm flipH="1">
            <a:off x="11066928" y="134830"/>
            <a:ext cx="1125071" cy="619913"/>
          </a:xfrm>
          <a:prstGeom prst="triangle">
            <a:avLst>
              <a:gd name="adj" fmla="val 0"/>
            </a:avLst>
          </a:prstGeom>
          <a:solidFill>
            <a:schemeClr val="accent1">
              <a:lumMod val="60000"/>
              <a:lumOff val="40000"/>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a:extLst>
              <a:ext uri="{FF2B5EF4-FFF2-40B4-BE49-F238E27FC236}">
                <a16:creationId xmlns:a16="http://schemas.microsoft.com/office/drawing/2014/main" id="{F7498CC8-099C-457B-A6CB-52DF8C1ACF2F}"/>
              </a:ext>
            </a:extLst>
          </p:cNvPr>
          <p:cNvSpPr/>
          <p:nvPr userDrawn="1"/>
        </p:nvSpPr>
        <p:spPr>
          <a:xfrm flipH="1" flipV="1">
            <a:off x="11518857" y="125471"/>
            <a:ext cx="673142" cy="440586"/>
          </a:xfrm>
          <a:prstGeom prst="triangle">
            <a:avLst>
              <a:gd name="adj" fmla="val 0"/>
            </a:avLst>
          </a:prstGeom>
          <a:solidFill>
            <a:schemeClr val="accent5">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a:extLst>
              <a:ext uri="{FF2B5EF4-FFF2-40B4-BE49-F238E27FC236}">
                <a16:creationId xmlns:a16="http://schemas.microsoft.com/office/drawing/2014/main" id="{BDD9C6CB-3477-4CFD-BA22-FFAD230B2A3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95689" y="138090"/>
            <a:ext cx="571769" cy="581515"/>
          </a:xfrm>
          <a:prstGeom prst="rect">
            <a:avLst/>
          </a:prstGeom>
        </p:spPr>
      </p:pic>
    </p:spTree>
    <p:extLst>
      <p:ext uri="{BB962C8B-B14F-4D97-AF65-F5344CB8AC3E}">
        <p14:creationId xmlns:p14="http://schemas.microsoft.com/office/powerpoint/2010/main" val="6519233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标题占位符 1">
            <a:extLst>
              <a:ext uri="{FF2B5EF4-FFF2-40B4-BE49-F238E27FC236}">
                <a16:creationId xmlns:a16="http://schemas.microsoft.com/office/drawing/2014/main" id="{8D08DF27-AE2E-4E8A-92F0-C97F805736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8" name="文本占位符 2">
            <a:extLst>
              <a:ext uri="{FF2B5EF4-FFF2-40B4-BE49-F238E27FC236}">
                <a16:creationId xmlns:a16="http://schemas.microsoft.com/office/drawing/2014/main" id="{E31B45DD-FFEF-4B73-83B5-2CB40BF552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日期占位符 3">
            <a:extLst>
              <a:ext uri="{FF2B5EF4-FFF2-40B4-BE49-F238E27FC236}">
                <a16:creationId xmlns:a16="http://schemas.microsoft.com/office/drawing/2014/main" id="{818024C7-5DF9-4E6F-8F54-8AE7EA4C10D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690189-E352-4D4C-BEB5-CFAED1FC6F1F}" type="datetimeFigureOut">
              <a:rPr lang="zh-CN" altLang="en-US" smtClean="0"/>
              <a:t>2025/12/27</a:t>
            </a:fld>
            <a:endParaRPr lang="zh-CN" altLang="en-US" dirty="0"/>
          </a:p>
        </p:txBody>
      </p:sp>
      <p:sp>
        <p:nvSpPr>
          <p:cNvPr id="10" name="页脚占位符 4">
            <a:extLst>
              <a:ext uri="{FF2B5EF4-FFF2-40B4-BE49-F238E27FC236}">
                <a16:creationId xmlns:a16="http://schemas.microsoft.com/office/drawing/2014/main" id="{5CE7C21F-2A6E-4F05-A442-6D601FE3CD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11" name="灯片编号占位符 5">
            <a:extLst>
              <a:ext uri="{FF2B5EF4-FFF2-40B4-BE49-F238E27FC236}">
                <a16:creationId xmlns:a16="http://schemas.microsoft.com/office/drawing/2014/main" id="{CC2D10E3-6B7A-410B-8247-F2D4727C88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B60AC0-AAD6-4DCA-ABB0-C92DF4BA6EC8}" type="slidenum">
              <a:rPr lang="zh-CN" altLang="en-US" smtClean="0"/>
              <a:t>‹#›</a:t>
            </a:fld>
            <a:endParaRPr lang="zh-CN" altLang="en-US"/>
          </a:p>
        </p:txBody>
      </p:sp>
      <p:sp>
        <p:nvSpPr>
          <p:cNvPr id="12" name="矩形 11">
            <a:extLst>
              <a:ext uri="{FF2B5EF4-FFF2-40B4-BE49-F238E27FC236}">
                <a16:creationId xmlns:a16="http://schemas.microsoft.com/office/drawing/2014/main" id="{578068E8-5BBF-4718-92E7-15C62D2390BC}"/>
              </a:ext>
            </a:extLst>
          </p:cNvPr>
          <p:cNvSpPr/>
          <p:nvPr userDrawn="1"/>
        </p:nvSpPr>
        <p:spPr>
          <a:xfrm>
            <a:off x="0" y="6721475"/>
            <a:ext cx="12192000" cy="16341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37">
            <a:extLst>
              <a:ext uri="{FF2B5EF4-FFF2-40B4-BE49-F238E27FC236}">
                <a16:creationId xmlns:a16="http://schemas.microsoft.com/office/drawing/2014/main" id="{E952C0F0-6E14-4ECB-820D-4BFD7F990CA1}"/>
              </a:ext>
            </a:extLst>
          </p:cNvPr>
          <p:cNvSpPr/>
          <p:nvPr userDrawn="1"/>
        </p:nvSpPr>
        <p:spPr>
          <a:xfrm>
            <a:off x="10414000" y="6607346"/>
            <a:ext cx="1778000" cy="267166"/>
          </a:xfrm>
          <a:custGeom>
            <a:avLst/>
            <a:gdLst>
              <a:gd name="connsiteX0" fmla="*/ 0 w 1689100"/>
              <a:gd name="connsiteY0" fmla="*/ 0 h 241300"/>
              <a:gd name="connsiteX1" fmla="*/ 1689100 w 1689100"/>
              <a:gd name="connsiteY1" fmla="*/ 0 h 241300"/>
              <a:gd name="connsiteX2" fmla="*/ 1689100 w 1689100"/>
              <a:gd name="connsiteY2" fmla="*/ 241300 h 241300"/>
              <a:gd name="connsiteX3" fmla="*/ 0 w 1689100"/>
              <a:gd name="connsiteY3" fmla="*/ 241300 h 241300"/>
              <a:gd name="connsiteX4" fmla="*/ 0 w 1689100"/>
              <a:gd name="connsiteY4" fmla="*/ 0 h 241300"/>
              <a:gd name="connsiteX0" fmla="*/ 88900 w 1778000"/>
              <a:gd name="connsiteY0" fmla="*/ 0 h 241300"/>
              <a:gd name="connsiteX1" fmla="*/ 1778000 w 1778000"/>
              <a:gd name="connsiteY1" fmla="*/ 0 h 241300"/>
              <a:gd name="connsiteX2" fmla="*/ 1778000 w 1778000"/>
              <a:gd name="connsiteY2" fmla="*/ 241300 h 241300"/>
              <a:gd name="connsiteX3" fmla="*/ 0 w 1778000"/>
              <a:gd name="connsiteY3" fmla="*/ 228600 h 241300"/>
              <a:gd name="connsiteX4" fmla="*/ 88900 w 1778000"/>
              <a:gd name="connsiteY4" fmla="*/ 0 h 241300"/>
              <a:gd name="connsiteX0" fmla="*/ 88900 w 1778000"/>
              <a:gd name="connsiteY0" fmla="*/ 0 h 248055"/>
              <a:gd name="connsiteX1" fmla="*/ 1778000 w 1778000"/>
              <a:gd name="connsiteY1" fmla="*/ 0 h 248055"/>
              <a:gd name="connsiteX2" fmla="*/ 1778000 w 1778000"/>
              <a:gd name="connsiteY2" fmla="*/ 241300 h 248055"/>
              <a:gd name="connsiteX3" fmla="*/ 0 w 1778000"/>
              <a:gd name="connsiteY3" fmla="*/ 248055 h 248055"/>
              <a:gd name="connsiteX4" fmla="*/ 88900 w 1778000"/>
              <a:gd name="connsiteY4" fmla="*/ 0 h 248055"/>
              <a:gd name="connsiteX0" fmla="*/ 88900 w 1778000"/>
              <a:gd name="connsiteY0" fmla="*/ 0 h 248055"/>
              <a:gd name="connsiteX1" fmla="*/ 1778000 w 1778000"/>
              <a:gd name="connsiteY1" fmla="*/ 0 h 248055"/>
              <a:gd name="connsiteX2" fmla="*/ 1778000 w 1778000"/>
              <a:gd name="connsiteY2" fmla="*/ 241300 h 248055"/>
              <a:gd name="connsiteX3" fmla="*/ 0 w 1778000"/>
              <a:gd name="connsiteY3" fmla="*/ 248055 h 248055"/>
              <a:gd name="connsiteX4" fmla="*/ 88900 w 1778000"/>
              <a:gd name="connsiteY4" fmla="*/ 0 h 248055"/>
              <a:gd name="connsiteX0" fmla="*/ 88900 w 1778000"/>
              <a:gd name="connsiteY0" fmla="*/ 0 h 255891"/>
              <a:gd name="connsiteX1" fmla="*/ 1778000 w 1778000"/>
              <a:gd name="connsiteY1" fmla="*/ 0 h 255891"/>
              <a:gd name="connsiteX2" fmla="*/ 1778000 w 1778000"/>
              <a:gd name="connsiteY2" fmla="*/ 255891 h 255891"/>
              <a:gd name="connsiteX3" fmla="*/ 0 w 1778000"/>
              <a:gd name="connsiteY3" fmla="*/ 248055 h 255891"/>
              <a:gd name="connsiteX4" fmla="*/ 88900 w 1778000"/>
              <a:gd name="connsiteY4" fmla="*/ 0 h 2558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8000" h="255891">
                <a:moveTo>
                  <a:pt x="88900" y="0"/>
                </a:moveTo>
                <a:lnTo>
                  <a:pt x="1778000" y="0"/>
                </a:lnTo>
                <a:lnTo>
                  <a:pt x="1778000" y="255891"/>
                </a:lnTo>
                <a:lnTo>
                  <a:pt x="0" y="248055"/>
                </a:lnTo>
                <a:lnTo>
                  <a:pt x="88900" y="0"/>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TextBox 4">
            <a:extLst>
              <a:ext uri="{FF2B5EF4-FFF2-40B4-BE49-F238E27FC236}">
                <a16:creationId xmlns:a16="http://schemas.microsoft.com/office/drawing/2014/main" id="{5C2858C7-6B5F-4799-8901-49C3B3E29A3C}"/>
              </a:ext>
            </a:extLst>
          </p:cNvPr>
          <p:cNvSpPr txBox="1"/>
          <p:nvPr userDrawn="1"/>
        </p:nvSpPr>
        <p:spPr>
          <a:xfrm>
            <a:off x="10988299" y="6614704"/>
            <a:ext cx="718466" cy="246221"/>
          </a:xfrm>
          <a:prstGeom prst="rect">
            <a:avLst/>
          </a:prstGeom>
          <a:noFill/>
        </p:spPr>
        <p:txBody>
          <a:bodyPr wrap="none" rtlCol="0">
            <a:spAutoFit/>
          </a:bodyPr>
          <a:lstStyle/>
          <a:p>
            <a:pPr algn="ctr" fontAlgn="base">
              <a:spcBef>
                <a:spcPct val="0"/>
              </a:spcBef>
              <a:spcAft>
                <a:spcPct val="0"/>
              </a:spcAft>
              <a:buFont typeface="Arial" pitchFamily="34" charset="0"/>
              <a:buNone/>
            </a:pPr>
            <a:r>
              <a:rPr lang="en-US" altLang="zh-CN" sz="1000" dirty="0">
                <a:solidFill>
                  <a:schemeClr val="bg1"/>
                </a:solidFill>
                <a:latin typeface="冬青黑体简体中文 W3" panose="020B0300000000000000" pitchFamily="34" charset="-122"/>
                <a:ea typeface="冬青黑体简体中文 W3" panose="020B0300000000000000" pitchFamily="34" charset="-122"/>
              </a:rPr>
              <a:t>PAGE  </a:t>
            </a:r>
            <a:fld id="{80FBF818-38A7-4F77-93E6-B3A777432DD2}" type="slidenum">
              <a:rPr lang="zh-CN" altLang="en-US" sz="1000" smtClean="0">
                <a:solidFill>
                  <a:schemeClr val="bg1"/>
                </a:solidFill>
                <a:latin typeface="冬青黑体简体中文 W3" panose="020B0300000000000000" pitchFamily="34" charset="-122"/>
                <a:ea typeface="冬青黑体简体中文 W3" panose="020B0300000000000000" pitchFamily="34" charset="-122"/>
              </a:rPr>
              <a:pPr algn="ctr" fontAlgn="base">
                <a:spcBef>
                  <a:spcPct val="0"/>
                </a:spcBef>
                <a:spcAft>
                  <a:spcPct val="0"/>
                </a:spcAft>
                <a:buFont typeface="Arial" pitchFamily="34" charset="0"/>
                <a:buNone/>
              </a:pPr>
              <a:t>‹#›</a:t>
            </a:fld>
            <a:endParaRPr lang="zh-CN" altLang="en-US" sz="1000" dirty="0">
              <a:solidFill>
                <a:schemeClr val="bg1"/>
              </a:solidFill>
              <a:latin typeface="冬青黑体简体中文 W3" panose="020B0300000000000000" pitchFamily="34" charset="-122"/>
              <a:ea typeface="冬青黑体简体中文 W3" panose="020B0300000000000000" pitchFamily="34" charset="-122"/>
            </a:endParaRPr>
          </a:p>
        </p:txBody>
      </p:sp>
      <p:sp>
        <p:nvSpPr>
          <p:cNvPr id="15" name="矩形 14">
            <a:extLst>
              <a:ext uri="{FF2B5EF4-FFF2-40B4-BE49-F238E27FC236}">
                <a16:creationId xmlns:a16="http://schemas.microsoft.com/office/drawing/2014/main" id="{8324FA6B-D8EE-4631-A062-6E485C438459}"/>
              </a:ext>
            </a:extLst>
          </p:cNvPr>
          <p:cNvSpPr/>
          <p:nvPr userDrawn="1"/>
        </p:nvSpPr>
        <p:spPr>
          <a:xfrm>
            <a:off x="8336" y="116114"/>
            <a:ext cx="12183664" cy="6386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zh-CN" altLang="zh-CN" sz="2400" dirty="0">
              <a:solidFill>
                <a:schemeClr val="bg1"/>
              </a:solidFill>
            </a:endParaRPr>
          </a:p>
        </p:txBody>
      </p:sp>
      <p:sp>
        <p:nvSpPr>
          <p:cNvPr id="16" name="等腰三角形 15">
            <a:extLst>
              <a:ext uri="{FF2B5EF4-FFF2-40B4-BE49-F238E27FC236}">
                <a16:creationId xmlns:a16="http://schemas.microsoft.com/office/drawing/2014/main" id="{A6768CD8-306A-4BAB-A379-D2D5004D25D1}"/>
              </a:ext>
            </a:extLst>
          </p:cNvPr>
          <p:cNvSpPr/>
          <p:nvPr userDrawn="1"/>
        </p:nvSpPr>
        <p:spPr>
          <a:xfrm flipH="1">
            <a:off x="11066928" y="134830"/>
            <a:ext cx="1125071" cy="619913"/>
          </a:xfrm>
          <a:prstGeom prst="triangle">
            <a:avLst>
              <a:gd name="adj" fmla="val 0"/>
            </a:avLst>
          </a:prstGeom>
          <a:solidFill>
            <a:schemeClr val="accent1">
              <a:lumMod val="60000"/>
              <a:lumOff val="40000"/>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a:extLst>
              <a:ext uri="{FF2B5EF4-FFF2-40B4-BE49-F238E27FC236}">
                <a16:creationId xmlns:a16="http://schemas.microsoft.com/office/drawing/2014/main" id="{CE577346-DDB9-40FF-BB8F-FDEF8191B10E}"/>
              </a:ext>
            </a:extLst>
          </p:cNvPr>
          <p:cNvSpPr/>
          <p:nvPr userDrawn="1"/>
        </p:nvSpPr>
        <p:spPr>
          <a:xfrm flipH="1" flipV="1">
            <a:off x="11518857" y="125471"/>
            <a:ext cx="673142" cy="440586"/>
          </a:xfrm>
          <a:prstGeom prst="triangle">
            <a:avLst>
              <a:gd name="adj" fmla="val 0"/>
            </a:avLst>
          </a:prstGeom>
          <a:solidFill>
            <a:schemeClr val="accent5">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8" name="图片 17">
            <a:extLst>
              <a:ext uri="{FF2B5EF4-FFF2-40B4-BE49-F238E27FC236}">
                <a16:creationId xmlns:a16="http://schemas.microsoft.com/office/drawing/2014/main" id="{16A8A579-829C-4740-815B-F5E28F09C46A}"/>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11395689" y="138090"/>
            <a:ext cx="571769" cy="581515"/>
          </a:xfrm>
          <a:prstGeom prst="rect">
            <a:avLst/>
          </a:prstGeom>
        </p:spPr>
      </p:pic>
    </p:spTree>
    <p:extLst>
      <p:ext uri="{BB962C8B-B14F-4D97-AF65-F5344CB8AC3E}">
        <p14:creationId xmlns:p14="http://schemas.microsoft.com/office/powerpoint/2010/main" val="2005676807"/>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2" r:id="rId12"/>
    <p:sldLayoutId id="214748372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image" Target="../media/image8.emf"/><Relationship Id="rId5" Type="http://schemas.openxmlformats.org/officeDocument/2006/relationships/oleObject" Target="../embeddings/oleObject1.bin"/><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5" Type="http://schemas.openxmlformats.org/officeDocument/2006/relationships/image" Target="../media/image9.jpeg"/><Relationship Id="rId4" Type="http://schemas.openxmlformats.org/officeDocument/2006/relationships/image" Target="../media/image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5" Type="http://schemas.openxmlformats.org/officeDocument/2006/relationships/image" Target="../media/image10.jpeg"/><Relationship Id="rId4" Type="http://schemas.openxmlformats.org/officeDocument/2006/relationships/image" Target="../media/image6.png"/></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5" Type="http://schemas.openxmlformats.org/officeDocument/2006/relationships/image" Target="../media/image11.jpeg"/><Relationship Id="rId4" Type="http://schemas.openxmlformats.org/officeDocument/2006/relationships/image" Target="../media/image6.png"/></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5" Type="http://schemas.openxmlformats.org/officeDocument/2006/relationships/image" Target="../media/image12.jpeg"/><Relationship Id="rId4" Type="http://schemas.openxmlformats.org/officeDocument/2006/relationships/image" Target="../media/image6.png"/></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5" Type="http://schemas.openxmlformats.org/officeDocument/2006/relationships/image" Target="../media/image13.jpeg"/><Relationship Id="rId4" Type="http://schemas.openxmlformats.org/officeDocument/2006/relationships/image" Target="../media/image6.png"/></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5" Type="http://schemas.openxmlformats.org/officeDocument/2006/relationships/image" Target="../media/image14.jpeg"/><Relationship Id="rId4" Type="http://schemas.openxmlformats.org/officeDocument/2006/relationships/image" Target="../media/image6.png"/></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5" Type="http://schemas.openxmlformats.org/officeDocument/2006/relationships/image" Target="../media/image15.jpeg"/><Relationship Id="rId4" Type="http://schemas.openxmlformats.org/officeDocument/2006/relationships/image" Target="../media/image6.png"/></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5" Type="http://schemas.openxmlformats.org/officeDocument/2006/relationships/image" Target="../media/image16.jpeg"/><Relationship Id="rId4" Type="http://schemas.openxmlformats.org/officeDocument/2006/relationships/image" Target="../media/image6.png"/></Relationships>
</file>

<file path=ppt/slides/_rels/slide4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5" Type="http://schemas.openxmlformats.org/officeDocument/2006/relationships/image" Target="../media/image17.jpeg"/><Relationship Id="rId4" Type="http://schemas.openxmlformats.org/officeDocument/2006/relationships/image" Target="../media/image6.png"/></Relationships>
</file>

<file path=ppt/slides/_rels/slide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 Id="rId5" Type="http://schemas.openxmlformats.org/officeDocument/2006/relationships/image" Target="../media/image18.jpeg"/><Relationship Id="rId4" Type="http://schemas.openxmlformats.org/officeDocument/2006/relationships/image" Target="../media/image6.png"/></Relationships>
</file>

<file path=ppt/slides/_rels/slide4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 Id="rId5" Type="http://schemas.openxmlformats.org/officeDocument/2006/relationships/image" Target="../media/image19.jpeg"/><Relationship Id="rId4" Type="http://schemas.openxmlformats.org/officeDocument/2006/relationships/image" Target="../media/image6.png"/></Relationships>
</file>

<file path=ppt/slides/_rels/slide4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5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 Id="rId5" Type="http://schemas.openxmlformats.org/officeDocument/2006/relationships/image" Target="../media/image23.jpeg"/><Relationship Id="rId4" Type="http://schemas.openxmlformats.org/officeDocument/2006/relationships/image" Target="../media/image6.png"/></Relationships>
</file>

<file path=ppt/slides/_rels/slide5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5" Type="http://schemas.openxmlformats.org/officeDocument/2006/relationships/image" Target="../media/image24.png"/><Relationship Id="rId4" Type="http://schemas.openxmlformats.org/officeDocument/2006/relationships/image" Target="../media/image6.png"/></Relationships>
</file>

<file path=ppt/slides/_rels/slide5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 Id="rId5" Type="http://schemas.openxmlformats.org/officeDocument/2006/relationships/image" Target="../media/image25.png"/><Relationship Id="rId4" Type="http://schemas.openxmlformats.org/officeDocument/2006/relationships/image" Target="../media/image6.png"/></Relationships>
</file>

<file path=ppt/slides/_rels/slide5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5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 Id="rId5" Type="http://schemas.openxmlformats.org/officeDocument/2006/relationships/image" Target="../media/image26.jpeg"/><Relationship Id="rId4" Type="http://schemas.openxmlformats.org/officeDocument/2006/relationships/image" Target="../media/image6.png"/></Relationships>
</file>

<file path=ppt/slides/_rels/slide5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 Id="rId5" Type="http://schemas.openxmlformats.org/officeDocument/2006/relationships/image" Target="../media/image27.jpeg"/><Relationship Id="rId4" Type="http://schemas.openxmlformats.org/officeDocument/2006/relationships/image" Target="../media/image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6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6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6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6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5" Type="http://schemas.openxmlformats.org/officeDocument/2006/relationships/image" Target="../media/image28.jpeg"/><Relationship Id="rId4" Type="http://schemas.openxmlformats.org/officeDocument/2006/relationships/image" Target="../media/image6.png"/></Relationships>
</file>

<file path=ppt/slides/_rels/slide6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6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5" Type="http://schemas.openxmlformats.org/officeDocument/2006/relationships/image" Target="../media/image29.jpeg"/><Relationship Id="rId4" Type="http://schemas.openxmlformats.org/officeDocument/2006/relationships/image" Target="../media/image6.png"/></Relationships>
</file>

<file path=ppt/slides/_rels/slide6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6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 Id="rId5" Type="http://schemas.openxmlformats.org/officeDocument/2006/relationships/image" Target="../media/image30.png"/><Relationship Id="rId4" Type="http://schemas.openxmlformats.org/officeDocument/2006/relationships/image" Target="../media/image6.png"/></Relationships>
</file>

<file path=ppt/slides/_rels/slide6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image" Target="../media/image32.jpeg"/><Relationship Id="rId5" Type="http://schemas.openxmlformats.org/officeDocument/2006/relationships/image" Target="../media/image31.jpeg"/><Relationship Id="rId4" Type="http://schemas.openxmlformats.org/officeDocument/2006/relationships/image" Target="../media/image6.png"/></Relationships>
</file>

<file path=ppt/slides/_rels/slide69.xml.rels><?xml version="1.0" encoding="UTF-8" standalone="yes"?>
<Relationships xmlns="http://schemas.openxmlformats.org/package/2006/relationships"><Relationship Id="rId3" Type="http://schemas.openxmlformats.org/officeDocument/2006/relationships/hyperlink" Target="https://www.rfc-editor.org/rfc-index-100d.html" TargetMode="External"/><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7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 Id="rId5" Type="http://schemas.openxmlformats.org/officeDocument/2006/relationships/image" Target="../media/image35.jpeg"/><Relationship Id="rId4" Type="http://schemas.openxmlformats.org/officeDocument/2006/relationships/image" Target="../media/image6.png"/></Relationships>
</file>

<file path=ppt/slides/_rels/slide7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image" Target="../media/image37.jpeg"/><Relationship Id="rId5" Type="http://schemas.openxmlformats.org/officeDocument/2006/relationships/image" Target="../media/image36.jpeg"/><Relationship Id="rId4" Type="http://schemas.openxmlformats.org/officeDocument/2006/relationships/image" Target="../media/image6.png"/></Relationships>
</file>

<file path=ppt/slides/_rels/slide7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5" Type="http://schemas.openxmlformats.org/officeDocument/2006/relationships/hyperlink" Target="https://www.itu.int/zh/ITU-T/about/groups/Pages/sg15.aspx?utm_source=ITU+News+Newsletter&amp;utm_campaign=8eb79dd544-EMAIL_CAMPAIGN_14_05_2024_ITU-NEWSLETTER&amp;utm_medium=email&amp;utm_term=0_-2f420cccc6-%5BLIST_EMAIL_ID%5D&amp;ct=t(EMAIL_CAMPAIGN_14_05_2024_ITU-NEWSLETTER)&amp;mc_cid=8eb79dd544&amp;mc_eid=012ab7ee65" TargetMode="External"/><Relationship Id="rId4" Type="http://schemas.openxmlformats.org/officeDocument/2006/relationships/image" Target="../media/image6.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7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7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7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oleObject" Target="../embeddings/oleObject2.bin"/><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oleObject" Target="../embeddings/oleObject3.bin"/><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5" Type="http://schemas.openxmlformats.org/officeDocument/2006/relationships/image" Target="../media/image41.jpeg"/><Relationship Id="rId4" Type="http://schemas.openxmlformats.org/officeDocument/2006/relationships/image" Target="../media/image6.png"/></Relationships>
</file>

<file path=ppt/slides/_rels/slide8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8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8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8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8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8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9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9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5" Type="http://schemas.openxmlformats.org/officeDocument/2006/relationships/image" Target="../media/image42.jpeg"/><Relationship Id="rId4" Type="http://schemas.openxmlformats.org/officeDocument/2006/relationships/image" Target="../media/image6.png"/></Relationships>
</file>

<file path=ppt/slides/_rels/slide9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5" Type="http://schemas.openxmlformats.org/officeDocument/2006/relationships/image" Target="../media/image43.jpeg"/><Relationship Id="rId4" Type="http://schemas.openxmlformats.org/officeDocument/2006/relationships/image" Target="../media/image6.png"/></Relationships>
</file>

<file path=ppt/slides/_rels/slide9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9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9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9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5" Type="http://schemas.openxmlformats.org/officeDocument/2006/relationships/image" Target="../media/image44.jpeg"/><Relationship Id="rId4" Type="http://schemas.openxmlformats.org/officeDocument/2006/relationships/image" Target="../media/image6.png"/></Relationships>
</file>

<file path=ppt/slides/_rels/slide9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5" Type="http://schemas.openxmlformats.org/officeDocument/2006/relationships/image" Target="../media/image45.png"/><Relationship Id="rId4" Type="http://schemas.openxmlformats.org/officeDocument/2006/relationships/image" Target="../media/image6.png"/></Relationships>
</file>

<file path=ppt/slides/_rels/slide9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5" Type="http://schemas.openxmlformats.org/officeDocument/2006/relationships/image" Target="../media/image46.jpeg"/><Relationship Id="rId4" Type="http://schemas.openxmlformats.org/officeDocument/2006/relationships/image" Target="../media/image6.png"/></Relationships>
</file>

<file path=ppt/slides/_rels/slide9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5" Type="http://schemas.openxmlformats.org/officeDocument/2006/relationships/image" Target="../media/image47.jpeg"/><Relationship Id="rId4" Type="http://schemas.openxmlformats.org/officeDocument/2006/relationships/image" Target="../media/image6.png"/></Relationships>
</file>

<file path=ppt/slides/_rels/slide10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image" Target="../media/image49.jpeg"/><Relationship Id="rId5" Type="http://schemas.openxmlformats.org/officeDocument/2006/relationships/image" Target="../media/image48.jpeg"/><Relationship Id="rId4" Type="http://schemas.openxmlformats.org/officeDocument/2006/relationships/image" Target="../media/image6.png"/></Relationships>
</file>

<file path=ppt/slides/_rels/slide10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5" Type="http://schemas.openxmlformats.org/officeDocument/2006/relationships/image" Target="../media/image50.jpeg"/><Relationship Id="rId4" Type="http://schemas.openxmlformats.org/officeDocument/2006/relationships/image" Target="../media/image6.png"/></Relationships>
</file>

<file path=ppt/slides/_rels/slide10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5" Type="http://schemas.openxmlformats.org/officeDocument/2006/relationships/image" Target="../media/image51.jpeg"/><Relationship Id="rId4" Type="http://schemas.openxmlformats.org/officeDocument/2006/relationships/image" Target="../media/image6.png"/></Relationships>
</file>

<file path=ppt/slides/_rels/slide10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5" Type="http://schemas.openxmlformats.org/officeDocument/2006/relationships/image" Target="../media/image52.jpeg"/><Relationship Id="rId4" Type="http://schemas.openxmlformats.org/officeDocument/2006/relationships/image" Target="../media/image6.png"/></Relationships>
</file>

<file path=ppt/slides/_rels/slide10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5" Type="http://schemas.openxmlformats.org/officeDocument/2006/relationships/image" Target="../media/image53.jpeg"/><Relationship Id="rId4" Type="http://schemas.openxmlformats.org/officeDocument/2006/relationships/image" Target="../media/image6.png"/></Relationships>
</file>

<file path=ppt/slides/_rels/slide10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5" Type="http://schemas.openxmlformats.org/officeDocument/2006/relationships/image" Target="../media/image54.jpeg"/><Relationship Id="rId4" Type="http://schemas.openxmlformats.org/officeDocument/2006/relationships/image" Target="../media/image6.png"/></Relationships>
</file>

<file path=ppt/slides/_rels/slide10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5" Type="http://schemas.openxmlformats.org/officeDocument/2006/relationships/image" Target="../media/image55.jpeg"/><Relationship Id="rId4" Type="http://schemas.openxmlformats.org/officeDocument/2006/relationships/image" Target="../media/image6.png"/></Relationships>
</file>

<file path=ppt/slides/_rels/slide10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0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image" Target="../media/image56.emf"/><Relationship Id="rId5" Type="http://schemas.openxmlformats.org/officeDocument/2006/relationships/oleObject" Target="../embeddings/oleObject4.bin"/><Relationship Id="rId4" Type="http://schemas.openxmlformats.org/officeDocument/2006/relationships/image" Target="../media/image6.png"/></Relationships>
</file>

<file path=ppt/slides/_rels/slide10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10.x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oleObject" Target="../embeddings/oleObject5.bin"/><Relationship Id="rId1" Type="http://schemas.openxmlformats.org/officeDocument/2006/relationships/slideLayout" Target="../slideLayouts/slideLayout12.xml"/></Relationships>
</file>

<file path=ppt/slides/_rels/slide1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5" Type="http://schemas.openxmlformats.org/officeDocument/2006/relationships/image" Target="../media/image58.png"/><Relationship Id="rId4" Type="http://schemas.openxmlformats.org/officeDocument/2006/relationships/image" Target="../media/image6.png"/></Relationships>
</file>

<file path=ppt/slides/_rels/slide1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5" Type="http://schemas.openxmlformats.org/officeDocument/2006/relationships/image" Target="../media/image59.png"/><Relationship Id="rId4" Type="http://schemas.openxmlformats.org/officeDocument/2006/relationships/image" Target="../media/image6.png"/></Relationships>
</file>

<file path=ppt/slides/_rels/slide1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5" Type="http://schemas.openxmlformats.org/officeDocument/2006/relationships/image" Target="../media/image60.png"/><Relationship Id="rId4" Type="http://schemas.openxmlformats.org/officeDocument/2006/relationships/image" Target="../media/image6.png"/></Relationships>
</file>

<file path=ppt/slides/_rels/slide1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5" Type="http://schemas.openxmlformats.org/officeDocument/2006/relationships/image" Target="../media/image63.jpeg"/><Relationship Id="rId4" Type="http://schemas.openxmlformats.org/officeDocument/2006/relationships/image" Target="../media/image6.png"/></Relationships>
</file>

<file path=ppt/slides/_rels/slide1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5" Type="http://schemas.openxmlformats.org/officeDocument/2006/relationships/image" Target="../media/image64.jpeg"/><Relationship Id="rId4" Type="http://schemas.openxmlformats.org/officeDocument/2006/relationships/image" Target="../media/image6.png"/></Relationships>
</file>

<file path=ppt/slides/_rels/slide1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png"/></Relationships>
</file>

<file path=ppt/slides/_rels/slide1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6010" y="0"/>
            <a:ext cx="12192000" cy="6988629"/>
            <a:chOff x="0" y="0"/>
            <a:chExt cx="12206514" cy="6988629"/>
          </a:xfrm>
        </p:grpSpPr>
        <p:sp>
          <p:nvSpPr>
            <p:cNvPr id="9" name="矩形 8"/>
            <p:cNvSpPr/>
            <p:nvPr/>
          </p:nvSpPr>
          <p:spPr>
            <a:xfrm>
              <a:off x="0" y="0"/>
              <a:ext cx="12206514"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p:cNvGrpSpPr/>
            <p:nvPr/>
          </p:nvGrpSpPr>
          <p:grpSpPr>
            <a:xfrm>
              <a:off x="0" y="2873828"/>
              <a:ext cx="12206514" cy="4114801"/>
              <a:chOff x="0" y="3771900"/>
              <a:chExt cx="9144000" cy="3086100"/>
            </a:xfrm>
          </p:grpSpPr>
          <p:pic>
            <p:nvPicPr>
              <p:cNvPr id="3" name="Picture 2" descr="C:\Users\SY\Desktop\JHW_4041.png"/>
              <p:cNvPicPr>
                <a:picLocks noChangeAspect="1" noChangeArrowheads="1"/>
              </p:cNvPicPr>
              <p:nvPr/>
            </p:nvPicPr>
            <p:blipFill>
              <a:blip r:embed="rId2"/>
              <a:srcRect/>
              <a:stretch>
                <a:fillRect/>
              </a:stretch>
            </p:blipFill>
            <p:spPr bwMode="auto">
              <a:xfrm>
                <a:off x="1" y="3771900"/>
                <a:ext cx="3674996" cy="2287842"/>
              </a:xfrm>
              <a:prstGeom prst="rect">
                <a:avLst/>
              </a:prstGeom>
              <a:noFill/>
              <a:ln w="9525">
                <a:noFill/>
                <a:miter lim="800000"/>
                <a:headEnd/>
                <a:tailEnd/>
              </a:ln>
            </p:spPr>
          </p:pic>
          <p:grpSp>
            <p:nvGrpSpPr>
              <p:cNvPr id="4" name="组合 6"/>
              <p:cNvGrpSpPr>
                <a:grpSpLocks/>
              </p:cNvGrpSpPr>
              <p:nvPr/>
            </p:nvGrpSpPr>
            <p:grpSpPr bwMode="auto">
              <a:xfrm>
                <a:off x="0" y="4580500"/>
                <a:ext cx="9144000" cy="2277500"/>
                <a:chOff x="0" y="4289753"/>
                <a:chExt cx="12202851" cy="2568247"/>
              </a:xfrm>
            </p:grpSpPr>
            <p:sp>
              <p:nvSpPr>
                <p:cNvPr id="5" name="矩形 1"/>
                <p:cNvSpPr/>
                <p:nvPr/>
              </p:nvSpPr>
              <p:spPr>
                <a:xfrm>
                  <a:off x="0" y="4322581"/>
                  <a:ext cx="12202851" cy="2057389"/>
                </a:xfrm>
                <a:custGeom>
                  <a:avLst/>
                  <a:gdLst>
                    <a:gd name="connsiteX0" fmla="*/ 0 w 12192000"/>
                    <a:gd name="connsiteY0" fmla="*/ 0 h 2639291"/>
                    <a:gd name="connsiteX1" fmla="*/ 12192000 w 12192000"/>
                    <a:gd name="connsiteY1" fmla="*/ 0 h 2639291"/>
                    <a:gd name="connsiteX2" fmla="*/ 12192000 w 12192000"/>
                    <a:gd name="connsiteY2" fmla="*/ 2639291 h 2639291"/>
                    <a:gd name="connsiteX3" fmla="*/ 0 w 12192000"/>
                    <a:gd name="connsiteY3" fmla="*/ 2639291 h 2639291"/>
                    <a:gd name="connsiteX4" fmla="*/ 0 w 12192000"/>
                    <a:gd name="connsiteY4" fmla="*/ 0 h 2639291"/>
                    <a:gd name="connsiteX0-1" fmla="*/ 0 w 12192000"/>
                    <a:gd name="connsiteY0-2" fmla="*/ 0 h 2639291"/>
                    <a:gd name="connsiteX1-3" fmla="*/ 12192000 w 12192000"/>
                    <a:gd name="connsiteY1-4" fmla="*/ 0 h 2639291"/>
                    <a:gd name="connsiteX2-5" fmla="*/ 12192000 w 12192000"/>
                    <a:gd name="connsiteY2-6" fmla="*/ 2639291 h 2639291"/>
                    <a:gd name="connsiteX3-7" fmla="*/ 0 w 12192000"/>
                    <a:gd name="connsiteY3-8" fmla="*/ 2639291 h 2639291"/>
                    <a:gd name="connsiteX4-9" fmla="*/ 0 w 12192000"/>
                    <a:gd name="connsiteY4-10" fmla="*/ 0 h 2639291"/>
                    <a:gd name="connsiteX0-11" fmla="*/ 0 w 12192000"/>
                    <a:gd name="connsiteY0-12" fmla="*/ 0 h 2639291"/>
                    <a:gd name="connsiteX1-13" fmla="*/ 12192000 w 12192000"/>
                    <a:gd name="connsiteY1-14" fmla="*/ 0 h 2639291"/>
                    <a:gd name="connsiteX2-15" fmla="*/ 12192000 w 12192000"/>
                    <a:gd name="connsiteY2-16" fmla="*/ 2639291 h 2639291"/>
                    <a:gd name="connsiteX3-17" fmla="*/ 0 w 12192000"/>
                    <a:gd name="connsiteY3-18" fmla="*/ 2639291 h 2639291"/>
                    <a:gd name="connsiteX4-19" fmla="*/ 0 w 12192000"/>
                    <a:gd name="connsiteY4-20" fmla="*/ 0 h 2639291"/>
                    <a:gd name="connsiteX0-21" fmla="*/ 0 w 12192000"/>
                    <a:gd name="connsiteY0-22" fmla="*/ 0 h 2639291"/>
                    <a:gd name="connsiteX1-23" fmla="*/ 12192000 w 12192000"/>
                    <a:gd name="connsiteY1-24" fmla="*/ 0 h 2639291"/>
                    <a:gd name="connsiteX2-25" fmla="*/ 12192000 w 12192000"/>
                    <a:gd name="connsiteY2-26" fmla="*/ 2639291 h 2639291"/>
                    <a:gd name="connsiteX3-27" fmla="*/ 0 w 12192000"/>
                    <a:gd name="connsiteY3-28" fmla="*/ 2639291 h 2639291"/>
                    <a:gd name="connsiteX4-29" fmla="*/ 0 w 12192000"/>
                    <a:gd name="connsiteY4-30" fmla="*/ 0 h 2639291"/>
                    <a:gd name="connsiteX0-31" fmla="*/ 0 w 12192000"/>
                    <a:gd name="connsiteY0-32" fmla="*/ 0 h 2639291"/>
                    <a:gd name="connsiteX1-33" fmla="*/ 12181609 w 12192000"/>
                    <a:gd name="connsiteY1-34" fmla="*/ 1517073 h 2639291"/>
                    <a:gd name="connsiteX2-35" fmla="*/ 12192000 w 12192000"/>
                    <a:gd name="connsiteY2-36" fmla="*/ 2639291 h 2639291"/>
                    <a:gd name="connsiteX3-37" fmla="*/ 0 w 12192000"/>
                    <a:gd name="connsiteY3-38" fmla="*/ 2639291 h 2639291"/>
                    <a:gd name="connsiteX4-39" fmla="*/ 0 w 12192000"/>
                    <a:gd name="connsiteY4-40" fmla="*/ 0 h 2639291"/>
                    <a:gd name="connsiteX0-41" fmla="*/ 0 w 12202851"/>
                    <a:gd name="connsiteY0-42" fmla="*/ 0 h 2639291"/>
                    <a:gd name="connsiteX1-43" fmla="*/ 12202391 w 12202851"/>
                    <a:gd name="connsiteY1-44" fmla="*/ 1517073 h 2639291"/>
                    <a:gd name="connsiteX2-45" fmla="*/ 12192000 w 12202851"/>
                    <a:gd name="connsiteY2-46" fmla="*/ 2639291 h 2639291"/>
                    <a:gd name="connsiteX3-47" fmla="*/ 0 w 12202851"/>
                    <a:gd name="connsiteY3-48" fmla="*/ 2639291 h 2639291"/>
                    <a:gd name="connsiteX4-49" fmla="*/ 0 w 12202851"/>
                    <a:gd name="connsiteY4-50" fmla="*/ 0 h 2639291"/>
                    <a:gd name="connsiteX0-51" fmla="*/ 0 w 12202851"/>
                    <a:gd name="connsiteY0-52" fmla="*/ 0 h 2639291"/>
                    <a:gd name="connsiteX1-53" fmla="*/ 12202391 w 12202851"/>
                    <a:gd name="connsiteY1-54" fmla="*/ 1361209 h 2639291"/>
                    <a:gd name="connsiteX2-55" fmla="*/ 12192000 w 12202851"/>
                    <a:gd name="connsiteY2-56" fmla="*/ 2639291 h 2639291"/>
                    <a:gd name="connsiteX3-57" fmla="*/ 0 w 12202851"/>
                    <a:gd name="connsiteY3-58" fmla="*/ 2639291 h 2639291"/>
                    <a:gd name="connsiteX4-59" fmla="*/ 0 w 12202851"/>
                    <a:gd name="connsiteY4-60" fmla="*/ 0 h 2639291"/>
                    <a:gd name="connsiteX0-61" fmla="*/ 0 w 12202851"/>
                    <a:gd name="connsiteY0-62" fmla="*/ 0 h 2330681"/>
                    <a:gd name="connsiteX1-63" fmla="*/ 12202391 w 12202851"/>
                    <a:gd name="connsiteY1-64" fmla="*/ 1052599 h 2330681"/>
                    <a:gd name="connsiteX2-65" fmla="*/ 12192000 w 12202851"/>
                    <a:gd name="connsiteY2-66" fmla="*/ 2330681 h 2330681"/>
                    <a:gd name="connsiteX3-67" fmla="*/ 0 w 12202851"/>
                    <a:gd name="connsiteY3-68" fmla="*/ 2330681 h 2330681"/>
                    <a:gd name="connsiteX4-69" fmla="*/ 0 w 12202851"/>
                    <a:gd name="connsiteY4-70" fmla="*/ 0 h 2330681"/>
                    <a:gd name="connsiteX0-71" fmla="*/ 0 w 12202851"/>
                    <a:gd name="connsiteY0-72" fmla="*/ 0 h 2330681"/>
                    <a:gd name="connsiteX1-73" fmla="*/ 12202391 w 12202851"/>
                    <a:gd name="connsiteY1-74" fmla="*/ 1052599 h 2330681"/>
                    <a:gd name="connsiteX2-75" fmla="*/ 12192000 w 12202851"/>
                    <a:gd name="connsiteY2-76" fmla="*/ 2330681 h 2330681"/>
                    <a:gd name="connsiteX3-77" fmla="*/ 0 w 12202851"/>
                    <a:gd name="connsiteY3-78" fmla="*/ 2330681 h 2330681"/>
                    <a:gd name="connsiteX4-79" fmla="*/ 0 w 12202851"/>
                    <a:gd name="connsiteY4-80" fmla="*/ 0 h 2330681"/>
                    <a:gd name="connsiteX0-81" fmla="*/ 0 w 12202851"/>
                    <a:gd name="connsiteY0-82" fmla="*/ 0 h 2330681"/>
                    <a:gd name="connsiteX1-83" fmla="*/ 12202391 w 12202851"/>
                    <a:gd name="connsiteY1-84" fmla="*/ 1029739 h 2330681"/>
                    <a:gd name="connsiteX2-85" fmla="*/ 12192000 w 12202851"/>
                    <a:gd name="connsiteY2-86" fmla="*/ 2330681 h 2330681"/>
                    <a:gd name="connsiteX3-87" fmla="*/ 0 w 12202851"/>
                    <a:gd name="connsiteY3-88" fmla="*/ 2330681 h 2330681"/>
                    <a:gd name="connsiteX4-89" fmla="*/ 0 w 12202851"/>
                    <a:gd name="connsiteY4-90" fmla="*/ 0 h 233068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202851" h="2330681">
                      <a:moveTo>
                        <a:pt x="0" y="0"/>
                      </a:moveTo>
                      <a:cubicBezTo>
                        <a:pt x="3502891" y="1818409"/>
                        <a:pt x="8046951" y="2097925"/>
                        <a:pt x="12202391" y="1029739"/>
                      </a:cubicBezTo>
                      <a:cubicBezTo>
                        <a:pt x="12205855" y="1403812"/>
                        <a:pt x="12188536" y="1956608"/>
                        <a:pt x="12192000" y="2330681"/>
                      </a:cubicBezTo>
                      <a:lnTo>
                        <a:pt x="0" y="2330681"/>
                      </a:lnTo>
                      <a:lnTo>
                        <a:pt x="0" y="0"/>
                      </a:ln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itchFamily="34" charset="0"/>
                    <a:buNone/>
                    <a:defRPr/>
                  </a:pPr>
                  <a:endParaRPr lang="zh-CN" altLang="en-US" sz="1585" noProof="1">
                    <a:ea typeface="微软雅黑" pitchFamily="34" charset="-122"/>
                  </a:endParaRPr>
                </a:p>
              </p:txBody>
            </p:sp>
            <p:sp>
              <p:nvSpPr>
                <p:cNvPr id="6" name="矩形 1"/>
                <p:cNvSpPr/>
                <p:nvPr/>
              </p:nvSpPr>
              <p:spPr>
                <a:xfrm>
                  <a:off x="0" y="4289753"/>
                  <a:ext cx="12202851" cy="2329231"/>
                </a:xfrm>
                <a:custGeom>
                  <a:avLst/>
                  <a:gdLst>
                    <a:gd name="connsiteX0" fmla="*/ 0 w 12192000"/>
                    <a:gd name="connsiteY0" fmla="*/ 0 h 2639291"/>
                    <a:gd name="connsiteX1" fmla="*/ 12192000 w 12192000"/>
                    <a:gd name="connsiteY1" fmla="*/ 0 h 2639291"/>
                    <a:gd name="connsiteX2" fmla="*/ 12192000 w 12192000"/>
                    <a:gd name="connsiteY2" fmla="*/ 2639291 h 2639291"/>
                    <a:gd name="connsiteX3" fmla="*/ 0 w 12192000"/>
                    <a:gd name="connsiteY3" fmla="*/ 2639291 h 2639291"/>
                    <a:gd name="connsiteX4" fmla="*/ 0 w 12192000"/>
                    <a:gd name="connsiteY4" fmla="*/ 0 h 2639291"/>
                    <a:gd name="connsiteX0-1" fmla="*/ 0 w 12192000"/>
                    <a:gd name="connsiteY0-2" fmla="*/ 0 h 2639291"/>
                    <a:gd name="connsiteX1-3" fmla="*/ 12192000 w 12192000"/>
                    <a:gd name="connsiteY1-4" fmla="*/ 0 h 2639291"/>
                    <a:gd name="connsiteX2-5" fmla="*/ 12192000 w 12192000"/>
                    <a:gd name="connsiteY2-6" fmla="*/ 2639291 h 2639291"/>
                    <a:gd name="connsiteX3-7" fmla="*/ 0 w 12192000"/>
                    <a:gd name="connsiteY3-8" fmla="*/ 2639291 h 2639291"/>
                    <a:gd name="connsiteX4-9" fmla="*/ 0 w 12192000"/>
                    <a:gd name="connsiteY4-10" fmla="*/ 0 h 2639291"/>
                    <a:gd name="connsiteX0-11" fmla="*/ 0 w 12192000"/>
                    <a:gd name="connsiteY0-12" fmla="*/ 0 h 2639291"/>
                    <a:gd name="connsiteX1-13" fmla="*/ 12192000 w 12192000"/>
                    <a:gd name="connsiteY1-14" fmla="*/ 0 h 2639291"/>
                    <a:gd name="connsiteX2-15" fmla="*/ 12192000 w 12192000"/>
                    <a:gd name="connsiteY2-16" fmla="*/ 2639291 h 2639291"/>
                    <a:gd name="connsiteX3-17" fmla="*/ 0 w 12192000"/>
                    <a:gd name="connsiteY3-18" fmla="*/ 2639291 h 2639291"/>
                    <a:gd name="connsiteX4-19" fmla="*/ 0 w 12192000"/>
                    <a:gd name="connsiteY4-20" fmla="*/ 0 h 2639291"/>
                    <a:gd name="connsiteX0-21" fmla="*/ 0 w 12192000"/>
                    <a:gd name="connsiteY0-22" fmla="*/ 0 h 2639291"/>
                    <a:gd name="connsiteX1-23" fmla="*/ 12192000 w 12192000"/>
                    <a:gd name="connsiteY1-24" fmla="*/ 0 h 2639291"/>
                    <a:gd name="connsiteX2-25" fmla="*/ 12192000 w 12192000"/>
                    <a:gd name="connsiteY2-26" fmla="*/ 2639291 h 2639291"/>
                    <a:gd name="connsiteX3-27" fmla="*/ 0 w 12192000"/>
                    <a:gd name="connsiteY3-28" fmla="*/ 2639291 h 2639291"/>
                    <a:gd name="connsiteX4-29" fmla="*/ 0 w 12192000"/>
                    <a:gd name="connsiteY4-30" fmla="*/ 0 h 2639291"/>
                    <a:gd name="connsiteX0-31" fmla="*/ 0 w 12192000"/>
                    <a:gd name="connsiteY0-32" fmla="*/ 0 h 2639291"/>
                    <a:gd name="connsiteX1-33" fmla="*/ 12181609 w 12192000"/>
                    <a:gd name="connsiteY1-34" fmla="*/ 1517073 h 2639291"/>
                    <a:gd name="connsiteX2-35" fmla="*/ 12192000 w 12192000"/>
                    <a:gd name="connsiteY2-36" fmla="*/ 2639291 h 2639291"/>
                    <a:gd name="connsiteX3-37" fmla="*/ 0 w 12192000"/>
                    <a:gd name="connsiteY3-38" fmla="*/ 2639291 h 2639291"/>
                    <a:gd name="connsiteX4-39" fmla="*/ 0 w 12192000"/>
                    <a:gd name="connsiteY4-40" fmla="*/ 0 h 2639291"/>
                    <a:gd name="connsiteX0-41" fmla="*/ 0 w 12202851"/>
                    <a:gd name="connsiteY0-42" fmla="*/ 0 h 2639291"/>
                    <a:gd name="connsiteX1-43" fmla="*/ 12202391 w 12202851"/>
                    <a:gd name="connsiteY1-44" fmla="*/ 1517073 h 2639291"/>
                    <a:gd name="connsiteX2-45" fmla="*/ 12192000 w 12202851"/>
                    <a:gd name="connsiteY2-46" fmla="*/ 2639291 h 2639291"/>
                    <a:gd name="connsiteX3-47" fmla="*/ 0 w 12202851"/>
                    <a:gd name="connsiteY3-48" fmla="*/ 2639291 h 2639291"/>
                    <a:gd name="connsiteX4-49" fmla="*/ 0 w 12202851"/>
                    <a:gd name="connsiteY4-50" fmla="*/ 0 h 2639291"/>
                    <a:gd name="connsiteX0-51" fmla="*/ 0 w 12202851"/>
                    <a:gd name="connsiteY0-52" fmla="*/ 0 h 2639291"/>
                    <a:gd name="connsiteX1-53" fmla="*/ 12202391 w 12202851"/>
                    <a:gd name="connsiteY1-54" fmla="*/ 1361209 h 2639291"/>
                    <a:gd name="connsiteX2-55" fmla="*/ 12192000 w 12202851"/>
                    <a:gd name="connsiteY2-56" fmla="*/ 2639291 h 2639291"/>
                    <a:gd name="connsiteX3-57" fmla="*/ 0 w 12202851"/>
                    <a:gd name="connsiteY3-58" fmla="*/ 2639291 h 2639291"/>
                    <a:gd name="connsiteX4-59" fmla="*/ 0 w 12202851"/>
                    <a:gd name="connsiteY4-60" fmla="*/ 0 h 2639291"/>
                    <a:gd name="connsiteX0-61" fmla="*/ 0 w 12202851"/>
                    <a:gd name="connsiteY0-62" fmla="*/ 0 h 2639291"/>
                    <a:gd name="connsiteX1-63" fmla="*/ 12202391 w 12202851"/>
                    <a:gd name="connsiteY1-64" fmla="*/ 1406929 h 2639291"/>
                    <a:gd name="connsiteX2-65" fmla="*/ 12192000 w 12202851"/>
                    <a:gd name="connsiteY2-66" fmla="*/ 2639291 h 2639291"/>
                    <a:gd name="connsiteX3-67" fmla="*/ 0 w 12202851"/>
                    <a:gd name="connsiteY3-68" fmla="*/ 2639291 h 2639291"/>
                    <a:gd name="connsiteX4-69" fmla="*/ 0 w 12202851"/>
                    <a:gd name="connsiteY4-70" fmla="*/ 0 h 263929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202851" h="2639291">
                      <a:moveTo>
                        <a:pt x="0" y="0"/>
                      </a:moveTo>
                      <a:cubicBezTo>
                        <a:pt x="3502891" y="1818409"/>
                        <a:pt x="8024091" y="2726575"/>
                        <a:pt x="12202391" y="1406929"/>
                      </a:cubicBezTo>
                      <a:cubicBezTo>
                        <a:pt x="12205855" y="1781002"/>
                        <a:pt x="12188536" y="2265218"/>
                        <a:pt x="12192000" y="2639291"/>
                      </a:cubicBezTo>
                      <a:lnTo>
                        <a:pt x="0" y="2639291"/>
                      </a:lnTo>
                      <a:lnTo>
                        <a:pt x="0" y="0"/>
                      </a:lnTo>
                      <a:close/>
                    </a:path>
                  </a:pathLst>
                </a:custGeom>
                <a:solidFill>
                  <a:srgbClr val="0495D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itchFamily="34" charset="0"/>
                    <a:buNone/>
                    <a:defRPr/>
                  </a:pPr>
                  <a:endParaRPr lang="zh-CN" altLang="en-US" sz="1585" noProof="1">
                    <a:ea typeface="微软雅黑" pitchFamily="34" charset="-122"/>
                  </a:endParaRPr>
                </a:p>
              </p:txBody>
            </p:sp>
            <p:sp>
              <p:nvSpPr>
                <p:cNvPr id="7" name="矩形 1"/>
                <p:cNvSpPr/>
                <p:nvPr/>
              </p:nvSpPr>
              <p:spPr>
                <a:xfrm>
                  <a:off x="0" y="4326743"/>
                  <a:ext cx="12193318" cy="2531257"/>
                </a:xfrm>
                <a:custGeom>
                  <a:avLst/>
                  <a:gdLst>
                    <a:gd name="connsiteX0" fmla="*/ 0 w 12192000"/>
                    <a:gd name="connsiteY0" fmla="*/ 0 h 2639291"/>
                    <a:gd name="connsiteX1" fmla="*/ 12192000 w 12192000"/>
                    <a:gd name="connsiteY1" fmla="*/ 0 h 2639291"/>
                    <a:gd name="connsiteX2" fmla="*/ 12192000 w 12192000"/>
                    <a:gd name="connsiteY2" fmla="*/ 2639291 h 2639291"/>
                    <a:gd name="connsiteX3" fmla="*/ 0 w 12192000"/>
                    <a:gd name="connsiteY3" fmla="*/ 2639291 h 2639291"/>
                    <a:gd name="connsiteX4" fmla="*/ 0 w 12192000"/>
                    <a:gd name="connsiteY4" fmla="*/ 0 h 2639291"/>
                    <a:gd name="connsiteX0-1" fmla="*/ 0 w 12192000"/>
                    <a:gd name="connsiteY0-2" fmla="*/ 0 h 2639291"/>
                    <a:gd name="connsiteX1-3" fmla="*/ 12192000 w 12192000"/>
                    <a:gd name="connsiteY1-4" fmla="*/ 0 h 2639291"/>
                    <a:gd name="connsiteX2-5" fmla="*/ 12192000 w 12192000"/>
                    <a:gd name="connsiteY2-6" fmla="*/ 2639291 h 2639291"/>
                    <a:gd name="connsiteX3-7" fmla="*/ 0 w 12192000"/>
                    <a:gd name="connsiteY3-8" fmla="*/ 2639291 h 2639291"/>
                    <a:gd name="connsiteX4-9" fmla="*/ 0 w 12192000"/>
                    <a:gd name="connsiteY4-10" fmla="*/ 0 h 2639291"/>
                    <a:gd name="connsiteX0-11" fmla="*/ 0 w 12192000"/>
                    <a:gd name="connsiteY0-12" fmla="*/ 0 h 2639291"/>
                    <a:gd name="connsiteX1-13" fmla="*/ 12192000 w 12192000"/>
                    <a:gd name="connsiteY1-14" fmla="*/ 0 h 2639291"/>
                    <a:gd name="connsiteX2-15" fmla="*/ 12192000 w 12192000"/>
                    <a:gd name="connsiteY2-16" fmla="*/ 2639291 h 2639291"/>
                    <a:gd name="connsiteX3-17" fmla="*/ 0 w 12192000"/>
                    <a:gd name="connsiteY3-18" fmla="*/ 2639291 h 2639291"/>
                    <a:gd name="connsiteX4-19" fmla="*/ 0 w 12192000"/>
                    <a:gd name="connsiteY4-20" fmla="*/ 0 h 2639291"/>
                    <a:gd name="connsiteX0-21" fmla="*/ 0 w 12192000"/>
                    <a:gd name="connsiteY0-22" fmla="*/ 0 h 2639291"/>
                    <a:gd name="connsiteX1-23" fmla="*/ 12192000 w 12192000"/>
                    <a:gd name="connsiteY1-24" fmla="*/ 0 h 2639291"/>
                    <a:gd name="connsiteX2-25" fmla="*/ 12192000 w 12192000"/>
                    <a:gd name="connsiteY2-26" fmla="*/ 2639291 h 2639291"/>
                    <a:gd name="connsiteX3-27" fmla="*/ 0 w 12192000"/>
                    <a:gd name="connsiteY3-28" fmla="*/ 2639291 h 2639291"/>
                    <a:gd name="connsiteX4-29" fmla="*/ 0 w 12192000"/>
                    <a:gd name="connsiteY4-30" fmla="*/ 0 h 2639291"/>
                    <a:gd name="connsiteX0-31" fmla="*/ 0 w 12192000"/>
                    <a:gd name="connsiteY0-32" fmla="*/ 0 h 2639291"/>
                    <a:gd name="connsiteX1-33" fmla="*/ 12181609 w 12192000"/>
                    <a:gd name="connsiteY1-34" fmla="*/ 1517073 h 2639291"/>
                    <a:gd name="connsiteX2-35" fmla="*/ 12192000 w 12192000"/>
                    <a:gd name="connsiteY2-36" fmla="*/ 2639291 h 2639291"/>
                    <a:gd name="connsiteX3-37" fmla="*/ 0 w 12192000"/>
                    <a:gd name="connsiteY3-38" fmla="*/ 2639291 h 2639291"/>
                    <a:gd name="connsiteX4-39" fmla="*/ 0 w 12192000"/>
                    <a:gd name="connsiteY4-40" fmla="*/ 0 h 2639291"/>
                    <a:gd name="connsiteX0-41" fmla="*/ 0 w 12192999"/>
                    <a:gd name="connsiteY0-42" fmla="*/ 0 h 2639291"/>
                    <a:gd name="connsiteX1-43" fmla="*/ 12192000 w 12192999"/>
                    <a:gd name="connsiteY1-44" fmla="*/ 1506682 h 2639291"/>
                    <a:gd name="connsiteX2-45" fmla="*/ 12192000 w 12192999"/>
                    <a:gd name="connsiteY2-46" fmla="*/ 2639291 h 2639291"/>
                    <a:gd name="connsiteX3-47" fmla="*/ 0 w 12192999"/>
                    <a:gd name="connsiteY3-48" fmla="*/ 2639291 h 2639291"/>
                    <a:gd name="connsiteX4-49" fmla="*/ 0 w 12192999"/>
                    <a:gd name="connsiteY4-50" fmla="*/ 0 h 2639291"/>
                    <a:gd name="connsiteX0-51" fmla="*/ 0 w 12192999"/>
                    <a:gd name="connsiteY0-52" fmla="*/ 0 h 2857500"/>
                    <a:gd name="connsiteX1-53" fmla="*/ 12192000 w 12192999"/>
                    <a:gd name="connsiteY1-54" fmla="*/ 1724891 h 2857500"/>
                    <a:gd name="connsiteX2-55" fmla="*/ 12192000 w 12192999"/>
                    <a:gd name="connsiteY2-56" fmla="*/ 2857500 h 2857500"/>
                    <a:gd name="connsiteX3-57" fmla="*/ 0 w 12192999"/>
                    <a:gd name="connsiteY3-58" fmla="*/ 2857500 h 2857500"/>
                    <a:gd name="connsiteX4-59" fmla="*/ 0 w 12192999"/>
                    <a:gd name="connsiteY4-60" fmla="*/ 0 h 2857500"/>
                    <a:gd name="connsiteX0-61" fmla="*/ 0 w 12192999"/>
                    <a:gd name="connsiteY0-62" fmla="*/ 0 h 2857500"/>
                    <a:gd name="connsiteX1-63" fmla="*/ 12192000 w 12192999"/>
                    <a:gd name="connsiteY1-64" fmla="*/ 1724891 h 2857500"/>
                    <a:gd name="connsiteX2-65" fmla="*/ 12192000 w 12192999"/>
                    <a:gd name="connsiteY2-66" fmla="*/ 2857500 h 2857500"/>
                    <a:gd name="connsiteX3-67" fmla="*/ 0 w 12192999"/>
                    <a:gd name="connsiteY3-68" fmla="*/ 2857500 h 2857500"/>
                    <a:gd name="connsiteX4-69" fmla="*/ 0 w 12192999"/>
                    <a:gd name="connsiteY4-70" fmla="*/ 0 h 2857500"/>
                    <a:gd name="connsiteX0-71" fmla="*/ 0 w 12192999"/>
                    <a:gd name="connsiteY0-72" fmla="*/ 0 h 2867891"/>
                    <a:gd name="connsiteX1-73" fmla="*/ 12192000 w 12192999"/>
                    <a:gd name="connsiteY1-74" fmla="*/ 1735282 h 2867891"/>
                    <a:gd name="connsiteX2-75" fmla="*/ 12192000 w 12192999"/>
                    <a:gd name="connsiteY2-76" fmla="*/ 2867891 h 2867891"/>
                    <a:gd name="connsiteX3-77" fmla="*/ 0 w 12192999"/>
                    <a:gd name="connsiteY3-78" fmla="*/ 2867891 h 2867891"/>
                    <a:gd name="connsiteX4-79" fmla="*/ 0 w 12192999"/>
                    <a:gd name="connsiteY4-80" fmla="*/ 0 h 286789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192999" h="2867891">
                      <a:moveTo>
                        <a:pt x="0" y="0"/>
                      </a:moveTo>
                      <a:cubicBezTo>
                        <a:pt x="3502891" y="1818409"/>
                        <a:pt x="8013700" y="3054928"/>
                        <a:pt x="12192000" y="1735282"/>
                      </a:cubicBezTo>
                      <a:cubicBezTo>
                        <a:pt x="12195464" y="2109355"/>
                        <a:pt x="12188536" y="2493818"/>
                        <a:pt x="12192000" y="2867891"/>
                      </a:cubicBezTo>
                      <a:lnTo>
                        <a:pt x="0" y="2867891"/>
                      </a:lnTo>
                      <a:lnTo>
                        <a:pt x="0" y="0"/>
                      </a:ln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itchFamily="34" charset="0"/>
                    <a:buNone/>
                    <a:defRPr/>
                  </a:pPr>
                  <a:endParaRPr lang="zh-CN" altLang="en-US" sz="1585" noProof="1">
                    <a:ea typeface="微软雅黑" pitchFamily="34" charset="-122"/>
                  </a:endParaRPr>
                </a:p>
              </p:txBody>
            </p:sp>
          </p:grpSp>
        </p:grpSp>
      </p:grpSp>
      <p:sp>
        <p:nvSpPr>
          <p:cNvPr id="11" name="文本框 10"/>
          <p:cNvSpPr txBox="1"/>
          <p:nvPr/>
        </p:nvSpPr>
        <p:spPr>
          <a:xfrm>
            <a:off x="0" y="1600238"/>
            <a:ext cx="12182474" cy="825419"/>
          </a:xfrm>
          <a:prstGeom prst="rect">
            <a:avLst/>
          </a:prstGeom>
          <a:noFill/>
        </p:spPr>
        <p:txBody>
          <a:bodyPr wrap="square" rtlCol="0">
            <a:spAutoFit/>
          </a:bodyPr>
          <a:lstStyle/>
          <a:p>
            <a:pPr algn="ctr">
              <a:lnSpc>
                <a:spcPct val="150000"/>
              </a:lnSpc>
            </a:pPr>
            <a:r>
              <a:rPr lang="zh-CN" altLang="en-US" sz="3600" b="1" dirty="0">
                <a:solidFill>
                  <a:schemeClr val="tx1"/>
                </a:solidFill>
                <a:latin typeface="微软雅黑" panose="020B0503020204020204" pitchFamily="34" charset="-122"/>
                <a:ea typeface="微软雅黑" panose="020B0503020204020204" pitchFamily="34" charset="-122"/>
              </a:rPr>
              <a:t>网络工程与设计</a:t>
            </a:r>
          </a:p>
        </p:txBody>
      </p:sp>
      <p:pic>
        <p:nvPicPr>
          <p:cNvPr id="12" name="Picture 2" descr="C:\Users\SY\Desktop\14.png"/>
          <p:cNvPicPr>
            <a:picLocks noChangeAspect="1" noChangeArrowheads="1"/>
          </p:cNvPicPr>
          <p:nvPr/>
        </p:nvPicPr>
        <p:blipFill>
          <a:blip r:embed="rId3"/>
          <a:srcRect/>
          <a:stretch>
            <a:fillRect/>
          </a:stretch>
        </p:blipFill>
        <p:spPr bwMode="auto">
          <a:xfrm>
            <a:off x="4458071" y="526825"/>
            <a:ext cx="3742500" cy="1073412"/>
          </a:xfrm>
          <a:prstGeom prst="rect">
            <a:avLst/>
          </a:prstGeom>
          <a:noFill/>
          <a:ln w="9525">
            <a:noFill/>
            <a:miter lim="800000"/>
            <a:headEnd/>
            <a:tailEnd/>
          </a:ln>
        </p:spPr>
      </p:pic>
      <p:sp>
        <p:nvSpPr>
          <p:cNvPr id="2" name="矩形 1">
            <a:extLst>
              <a:ext uri="{FF2B5EF4-FFF2-40B4-BE49-F238E27FC236}">
                <a16:creationId xmlns:a16="http://schemas.microsoft.com/office/drawing/2014/main" id="{AE99C92C-AF7B-45FF-B6B0-778EC4189054}"/>
              </a:ext>
            </a:extLst>
          </p:cNvPr>
          <p:cNvSpPr/>
          <p:nvPr/>
        </p:nvSpPr>
        <p:spPr>
          <a:xfrm>
            <a:off x="4763" y="2665904"/>
            <a:ext cx="12182474" cy="457276"/>
          </a:xfrm>
          <a:prstGeom prst="rect">
            <a:avLst/>
          </a:prstGeom>
        </p:spPr>
        <p:txBody>
          <a:bodyPr wrap="square">
            <a:spAutoFit/>
          </a:bodyPr>
          <a:lstStyle/>
          <a:p>
            <a:pPr lvl="0" algn="ctr">
              <a:lnSpc>
                <a:spcPct val="80000"/>
              </a:lnSpc>
            </a:pPr>
            <a:r>
              <a:rPr lang="en-US" altLang="zh-CN" dirty="0">
                <a:effectLst>
                  <a:outerShdw blurRad="38100" dist="38100" dir="2700000" algn="tl">
                    <a:srgbClr val="C0C0C0"/>
                  </a:outerShdw>
                </a:effectLst>
                <a:latin typeface="Comic Sans MS" pitchFamily="66" charset="0"/>
              </a:rPr>
              <a:t>Network Engineering &amp; Design</a:t>
            </a:r>
          </a:p>
        </p:txBody>
      </p:sp>
      <p:sp>
        <p:nvSpPr>
          <p:cNvPr id="14" name="矩形 13">
            <a:extLst>
              <a:ext uri="{FF2B5EF4-FFF2-40B4-BE49-F238E27FC236}">
                <a16:creationId xmlns:a16="http://schemas.microsoft.com/office/drawing/2014/main" id="{9FBC0771-5C25-4330-B36B-6A26695EA02B}"/>
              </a:ext>
            </a:extLst>
          </p:cNvPr>
          <p:cNvSpPr/>
          <p:nvPr/>
        </p:nvSpPr>
        <p:spPr>
          <a:xfrm>
            <a:off x="-9526" y="3363428"/>
            <a:ext cx="12192000" cy="461665"/>
          </a:xfrm>
          <a:prstGeom prst="rect">
            <a:avLst/>
          </a:prstGeom>
        </p:spPr>
        <p:txBody>
          <a:bodyPr wrap="square">
            <a:spAutoFit/>
          </a:bodyPr>
          <a:lstStyle/>
          <a:p>
            <a:pPr algn="ctr"/>
            <a:r>
              <a:rPr lang="zh-CN" altLang="en-US" sz="2400" b="1" dirty="0">
                <a:solidFill>
                  <a:schemeClr val="tx1"/>
                </a:solidFill>
                <a:latin typeface="楷体_GB2312" pitchFamily="49" charset="-122"/>
                <a:ea typeface="楷体_GB2312" pitchFamily="49" charset="-122"/>
              </a:rPr>
              <a:t>计算机与人工智能学院   朱石磊</a:t>
            </a:r>
            <a:endParaRPr lang="zh-CN" altLang="en-US" sz="2400" b="1" dirty="0">
              <a:solidFill>
                <a:schemeClr val="tx1"/>
              </a:solidFill>
            </a:endParaRPr>
          </a:p>
        </p:txBody>
      </p:sp>
    </p:spTree>
    <p:extLst>
      <p:ext uri="{BB962C8B-B14F-4D97-AF65-F5344CB8AC3E}">
        <p14:creationId xmlns:p14="http://schemas.microsoft.com/office/powerpoint/2010/main" val="1633550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2" name="灯片编号占位符 3"/>
          <p:cNvSpPr txBox="1"/>
          <p:nvPr/>
        </p:nvSpPr>
        <p:spPr>
          <a:xfrm>
            <a:off x="8077200" y="6453187"/>
            <a:ext cx="1905000" cy="252412"/>
          </a:xfrm>
          <a:prstGeom prst="rect">
            <a:avLst/>
          </a:prstGeom>
          <a:noFill/>
          <a:ln>
            <a:noFill/>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r" eaLnBrk="1" latinLnBrk="1" hangingPunct="1"/>
            <a:r>
              <a:rPr lang="zh-CN" altLang="en-US" sz="1400"/>
              <a:t>第</a:t>
            </a:r>
            <a:fld id="{566ABCEB-ACFC-4714-9973-3DA970169C29}" type="slidenum">
              <a:rPr lang="zh-CN" altLang="en-US" sz="1400"/>
              <a:pPr lvl="0" algn="r" eaLnBrk="1" latinLnBrk="1" hangingPunct="1"/>
              <a:t>2</a:t>
            </a:fld>
            <a:r>
              <a:rPr lang="zh-CN" altLang="en-US" sz="1400"/>
              <a:t>页 共</a:t>
            </a:r>
            <a:r>
              <a:rPr lang="en-US" altLang="zh-CN" sz="1400"/>
              <a:t>131</a:t>
            </a:r>
            <a:r>
              <a:rPr lang="zh-CN" altLang="en-US" sz="1400"/>
              <a:t>页</a:t>
            </a:r>
          </a:p>
        </p:txBody>
      </p:sp>
      <p:sp>
        <p:nvSpPr>
          <p:cNvPr id="1048593" name="标题 164865"/>
          <p:cNvSpPr>
            <a:spLocks noGrp="1"/>
          </p:cNvSpPr>
          <p:nvPr>
            <p:ph type="title" idx="4294967295"/>
          </p:nvPr>
        </p:nvSpPr>
        <p:spPr>
          <a:xfrm>
            <a:off x="12700" y="152400"/>
            <a:ext cx="6480175" cy="576263"/>
          </a:xfrm>
          <a:prstGeom prst="rect">
            <a:avLst/>
          </a:prstGeom>
          <a:noFill/>
          <a:ln>
            <a:noFill/>
          </a:ln>
        </p:spPr>
        <p:txBody>
          <a:bodyPr vert="horz" lIns="91440" tIns="45720" rIns="91440" bIns="45720" anchor="b"/>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r>
              <a:rPr lang="zh-CN" altLang="en-US" dirty="0">
                <a:solidFill>
                  <a:schemeClr val="bg1"/>
                </a:solidFill>
                <a:latin typeface="微软雅黑" panose="020B0503020204020204" pitchFamily="34" charset="-122"/>
                <a:ea typeface="微软雅黑" panose="020B0503020204020204" pitchFamily="34" charset="-122"/>
              </a:rPr>
              <a:t>课程说明</a:t>
            </a:r>
          </a:p>
        </p:txBody>
      </p:sp>
      <p:sp>
        <p:nvSpPr>
          <p:cNvPr id="1048594" name="文本占位符 164866"/>
          <p:cNvSpPr>
            <a:spLocks noGrp="1"/>
          </p:cNvSpPr>
          <p:nvPr>
            <p:ph type="body" idx="4294967295"/>
          </p:nvPr>
        </p:nvSpPr>
        <p:spPr>
          <a:xfrm>
            <a:off x="839416" y="1268760"/>
            <a:ext cx="11352584" cy="4608859"/>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a:r>
              <a:rPr lang="zh-CN" altLang="en-US" sz="1900" dirty="0"/>
              <a:t>本课程的先修课</a:t>
            </a:r>
          </a:p>
          <a:p>
            <a:pPr lvl="1"/>
            <a:r>
              <a:rPr lang="zh-CN" altLang="en-US" sz="2200" dirty="0">
                <a:latin typeface="宋体" pitchFamily="2" charset="-122"/>
              </a:rPr>
              <a:t>计算机组成原理，操作系统，程序设计语言，通信原理</a:t>
            </a:r>
          </a:p>
          <a:p>
            <a:pPr lvl="1"/>
            <a:r>
              <a:rPr lang="zh-CN" altLang="en-US" sz="2200" dirty="0">
                <a:latin typeface="宋体" pitchFamily="2" charset="-122"/>
              </a:rPr>
              <a:t>计算机网络，</a:t>
            </a:r>
            <a:r>
              <a:rPr lang="zh-CN" altLang="en-US" sz="2200" dirty="0">
                <a:latin typeface="楷体_GB2312" pitchFamily="49" charset="-122"/>
              </a:rPr>
              <a:t>计算机网络工程实验</a:t>
            </a:r>
          </a:p>
          <a:p>
            <a:pPr lvl="0"/>
            <a:r>
              <a:rPr lang="zh-CN" altLang="en-US" sz="1900" dirty="0"/>
              <a:t>后续课程</a:t>
            </a:r>
          </a:p>
          <a:p>
            <a:pPr lvl="1"/>
            <a:r>
              <a:rPr lang="zh-CN" altLang="en-US" sz="2200" dirty="0">
                <a:latin typeface="楷体_GB2312" pitchFamily="49" charset="-122"/>
              </a:rPr>
              <a:t>网络编程技术</a:t>
            </a:r>
          </a:p>
          <a:p>
            <a:pPr lvl="1"/>
            <a:r>
              <a:rPr lang="zh-CN" altLang="en-US" sz="2200" dirty="0">
                <a:latin typeface="楷体_GB2312" pitchFamily="49" charset="-122"/>
              </a:rPr>
              <a:t>移动计算</a:t>
            </a:r>
          </a:p>
          <a:p>
            <a:pPr lvl="1"/>
            <a:r>
              <a:rPr lang="zh-CN" altLang="en-US" sz="2200" dirty="0">
                <a:latin typeface="楷体_GB2312" pitchFamily="49" charset="-122"/>
              </a:rPr>
              <a:t>毕业设计</a:t>
            </a:r>
          </a:p>
          <a:p>
            <a:pPr lvl="0"/>
            <a:r>
              <a:rPr lang="zh-CN" altLang="en-US" sz="1900" dirty="0">
                <a:latin typeface="楷体_GB2312" pitchFamily="49" charset="-122"/>
              </a:rPr>
              <a:t>学习方法</a:t>
            </a:r>
          </a:p>
          <a:p>
            <a:pPr lvl="1"/>
            <a:r>
              <a:rPr lang="zh-CN" altLang="en-US" sz="2200" dirty="0">
                <a:effectLst>
                  <a:outerShdw blurRad="38100" dist="38100" dir="2700000" algn="tl">
                    <a:srgbClr val="C0C0C0"/>
                  </a:outerShdw>
                </a:effectLst>
                <a:latin typeface="楷体_GB2312" pitchFamily="49" charset="-122"/>
              </a:rPr>
              <a:t>以讲课内容为主</a:t>
            </a:r>
          </a:p>
          <a:p>
            <a:pPr lvl="1"/>
            <a:r>
              <a:rPr lang="en-US" altLang="zh-CN" sz="2200" dirty="0">
                <a:solidFill>
                  <a:srgbClr val="FF0000"/>
                </a:solidFill>
                <a:effectLst>
                  <a:outerShdw blurRad="38100" dist="38100" dir="2700000" algn="tl">
                    <a:srgbClr val="C0C0C0"/>
                  </a:outerShdw>
                </a:effectLst>
                <a:latin typeface="楷体_GB2312" pitchFamily="49" charset="-122"/>
              </a:rPr>
              <a:t>上机实验(</a:t>
            </a:r>
            <a:r>
              <a:rPr lang="zh-CN" altLang="en-US" sz="2200" dirty="0">
                <a:solidFill>
                  <a:srgbClr val="FF0000"/>
                </a:solidFill>
                <a:effectLst>
                  <a:outerShdw blurRad="38100" dist="38100" dir="2700000" algn="tl">
                    <a:srgbClr val="C0C0C0"/>
                  </a:outerShdw>
                </a:effectLst>
                <a:latin typeface="楷体_GB2312" pitchFamily="49" charset="-122"/>
              </a:rPr>
              <a:t>课程设计</a:t>
            </a:r>
            <a:r>
              <a:rPr lang="en-US" altLang="zh-CN" sz="2200" dirty="0">
                <a:solidFill>
                  <a:srgbClr val="FF0000"/>
                </a:solidFill>
                <a:effectLst>
                  <a:outerShdw blurRad="38100" dist="38100" dir="2700000" algn="tl">
                    <a:srgbClr val="C0C0C0"/>
                  </a:outerShdw>
                </a:effectLst>
                <a:latin typeface="楷体_GB2312" pitchFamily="49" charset="-122"/>
              </a:rPr>
              <a:t>)</a:t>
            </a:r>
            <a:r>
              <a:rPr lang="zh-CN" altLang="en-US" sz="2200" dirty="0">
                <a:solidFill>
                  <a:srgbClr val="FF0000"/>
                </a:solidFill>
                <a:effectLst>
                  <a:outerShdw blurRad="38100" dist="38100" dir="2700000" algn="tl">
                    <a:srgbClr val="C0C0C0"/>
                  </a:outerShdw>
                </a:effectLst>
                <a:latin typeface="楷体_GB2312" pitchFamily="49" charset="-122"/>
              </a:rPr>
              <a:t>结合</a:t>
            </a:r>
          </a:p>
          <a:p>
            <a:pPr lvl="1"/>
            <a:r>
              <a:rPr lang="zh-CN" altLang="en-US" sz="2200" dirty="0">
                <a:effectLst>
                  <a:outerShdw blurRad="38100" dist="38100" dir="2700000" algn="tl">
                    <a:srgbClr val="C0C0C0"/>
                  </a:outerShdw>
                </a:effectLst>
                <a:latin typeface="楷体_GB2312" pitchFamily="49" charset="-122"/>
              </a:rPr>
              <a:t>参阅教材相关内容</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内容占位符 2"/>
          <p:cNvSpPr>
            <a:spLocks noGrp="1"/>
          </p:cNvSpPr>
          <p:nvPr>
            <p:ph idx="1"/>
          </p:nvPr>
        </p:nvSpPr>
        <p:spPr>
          <a:xfrm>
            <a:off x="407368" y="836713"/>
            <a:ext cx="11377264" cy="4608512"/>
          </a:xfrm>
          <a:prstGeom prst="rect">
            <a:avLst/>
          </a:prstGeom>
          <a:noFill/>
          <a:ln>
            <a:noFill/>
          </a:ln>
        </p:spPr>
        <p:txBody>
          <a:bodyPr vert="horz" lIns="91440" tIns="45720" rIns="91440" bIns="45720" anchor="t">
            <a:noAutofit/>
          </a:bodyPr>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a:lnSpc>
                <a:spcPct val="100000"/>
              </a:lnSpc>
            </a:pPr>
            <a:r>
              <a:rPr lang="zh-CN" altLang="en-US" sz="2000" dirty="0">
                <a:solidFill>
                  <a:schemeClr val="tx1"/>
                </a:solidFill>
              </a:rPr>
              <a:t>通过本课程的学习，学生应当达到：</a:t>
            </a:r>
          </a:p>
          <a:p>
            <a:pPr marL="400050" lvl="1" indent="0">
              <a:lnSpc>
                <a:spcPct val="100000"/>
              </a:lnSpc>
              <a:buNone/>
            </a:pPr>
            <a:r>
              <a:rPr lang="en-US" altLang="zh-CN" sz="2000" dirty="0">
                <a:solidFill>
                  <a:schemeClr val="tx1"/>
                </a:solidFill>
              </a:rPr>
              <a:t>1</a:t>
            </a:r>
            <a:r>
              <a:rPr lang="zh-CN" altLang="en-US" sz="2000" dirty="0">
                <a:solidFill>
                  <a:schemeClr val="tx1"/>
                </a:solidFill>
              </a:rPr>
              <a:t>. 理解和掌握网络工程与设计基本知识、关键技术等基本原理</a:t>
            </a:r>
            <a:r>
              <a:rPr lang="en-US" altLang="zh-CN" sz="2000" dirty="0">
                <a:solidFill>
                  <a:schemeClr val="tx1"/>
                </a:solidFill>
              </a:rPr>
              <a:t>,</a:t>
            </a:r>
            <a:r>
              <a:rPr lang="zh-CN" altLang="en-US" sz="2000" dirty="0">
                <a:solidFill>
                  <a:schemeClr val="tx1"/>
                </a:solidFill>
              </a:rPr>
              <a:t>了解当前主流网络系统的基本架构设计及原理，具备自主学习新技术和新方法的能力（对应毕业要求指标点</a:t>
            </a:r>
            <a:r>
              <a:rPr lang="en-US" altLang="zh-CN" sz="2000" dirty="0">
                <a:solidFill>
                  <a:schemeClr val="tx1"/>
                </a:solidFill>
              </a:rPr>
              <a:t>12.2</a:t>
            </a:r>
            <a:r>
              <a:rPr lang="zh-CN" altLang="en-US" sz="2000" dirty="0">
                <a:solidFill>
                  <a:schemeClr val="tx1"/>
                </a:solidFill>
              </a:rPr>
              <a:t>）；</a:t>
            </a:r>
          </a:p>
          <a:p>
            <a:pPr marL="400050" lvl="1" indent="0">
              <a:lnSpc>
                <a:spcPct val="100000"/>
              </a:lnSpc>
              <a:buNone/>
            </a:pPr>
            <a:r>
              <a:rPr lang="en-US" altLang="zh-CN" sz="2000" dirty="0">
                <a:solidFill>
                  <a:schemeClr val="tx1"/>
                </a:solidFill>
              </a:rPr>
              <a:t>2. </a:t>
            </a:r>
            <a:r>
              <a:rPr lang="zh-CN" altLang="en-US" sz="2000" dirty="0">
                <a:solidFill>
                  <a:schemeClr val="tx1"/>
                </a:solidFill>
              </a:rPr>
              <a:t>通过课程设计，针对特定网络应用需求，利用网络工程技术进行系统设计给出解决方案，撰写产品设备选型及系统初步方案。使其具备查阅分析文献、为实际网络工程问题寻找设计方案的能力，并认识到方案具有多种可能的设计选择（对应毕业要求指标点</a:t>
            </a:r>
            <a:r>
              <a:rPr lang="en-US" altLang="zh-CN" sz="2000" dirty="0">
                <a:solidFill>
                  <a:schemeClr val="tx1"/>
                </a:solidFill>
              </a:rPr>
              <a:t>2.3</a:t>
            </a:r>
            <a:r>
              <a:rPr lang="zh-CN" altLang="en-US" sz="2000" dirty="0">
                <a:solidFill>
                  <a:schemeClr val="tx1"/>
                </a:solidFill>
              </a:rPr>
              <a:t>）；</a:t>
            </a:r>
          </a:p>
          <a:p>
            <a:pPr marL="400050" lvl="1" indent="0">
              <a:lnSpc>
                <a:spcPct val="100000"/>
              </a:lnSpc>
              <a:buNone/>
            </a:pPr>
            <a:r>
              <a:rPr lang="en-US" altLang="zh-CN" sz="2000" dirty="0">
                <a:solidFill>
                  <a:schemeClr val="tx1"/>
                </a:solidFill>
              </a:rPr>
              <a:t>3. </a:t>
            </a:r>
            <a:r>
              <a:rPr lang="zh-CN" altLang="en-US" sz="2000" dirty="0">
                <a:solidFill>
                  <a:schemeClr val="tx1"/>
                </a:solidFill>
              </a:rPr>
              <a:t>通过课程设计，参考实际工程案例，详细分析与设计特定需求的大中型网络工程系统关键技术方案，从多角度对设计方案的可行性进行评价和分析，并撰写课程设计报告。培养学生应用知识求解工程问题的能力，使其能够从技术及非技术方面，综合分析和解决网络工程技术问题（对应毕业要求指标点</a:t>
            </a:r>
            <a:r>
              <a:rPr lang="en-US" altLang="zh-CN" sz="2000" dirty="0">
                <a:solidFill>
                  <a:schemeClr val="tx1"/>
                </a:solidFill>
              </a:rPr>
              <a:t>3.4</a:t>
            </a:r>
            <a:r>
              <a:rPr lang="zh-CN" altLang="en-US" sz="2000" dirty="0">
                <a:solidFill>
                  <a:schemeClr val="tx1"/>
                </a:solidFill>
              </a:rPr>
              <a:t>）；</a:t>
            </a:r>
          </a:p>
          <a:p>
            <a:pPr marL="400050" lvl="1" indent="0">
              <a:lnSpc>
                <a:spcPct val="100000"/>
              </a:lnSpc>
              <a:buNone/>
            </a:pPr>
            <a:r>
              <a:rPr lang="en-US" altLang="zh-CN" sz="2000" dirty="0">
                <a:solidFill>
                  <a:schemeClr val="tx1"/>
                </a:solidFill>
              </a:rPr>
              <a:t>4. </a:t>
            </a:r>
            <a:r>
              <a:rPr lang="zh-CN" altLang="en-US" sz="2000" dirty="0">
                <a:solidFill>
                  <a:schemeClr val="tx1"/>
                </a:solidFill>
              </a:rPr>
              <a:t>学会从多学科角度出发，考虑成本、质量和效率等因素，优化系统方案设计，使其具有多学科分析解决复杂工程问题的基本能力（对应毕业要求指标点</a:t>
            </a:r>
            <a:r>
              <a:rPr lang="en-US" altLang="zh-CN" sz="2000" dirty="0">
                <a:solidFill>
                  <a:schemeClr val="tx1"/>
                </a:solidFill>
              </a:rPr>
              <a:t>11.2</a:t>
            </a:r>
            <a:r>
              <a:rPr lang="zh-CN" altLang="en-US" sz="2000" dirty="0">
                <a:solidFill>
                  <a:schemeClr val="tx1"/>
                </a:solidFill>
              </a:rPr>
              <a:t>）；</a:t>
            </a:r>
          </a:p>
          <a:p>
            <a:pPr marL="400050" lvl="1" indent="0">
              <a:lnSpc>
                <a:spcPct val="100000"/>
              </a:lnSpc>
              <a:buNone/>
            </a:pPr>
            <a:r>
              <a:rPr lang="en-US" altLang="zh-CN" sz="2000" dirty="0">
                <a:solidFill>
                  <a:schemeClr val="tx1"/>
                </a:solidFill>
              </a:rPr>
              <a:t>5. </a:t>
            </a:r>
            <a:r>
              <a:rPr lang="zh-CN" altLang="en-US" sz="2000" dirty="0">
                <a:solidFill>
                  <a:schemeClr val="tx1"/>
                </a:solidFill>
              </a:rPr>
              <a:t>学会从环境及社会可持续发展等方面，分析评价所设计的系统方案在开发、运行、维护等方面对环境和社会的影响（对应毕业要求指标点</a:t>
            </a:r>
            <a:r>
              <a:rPr lang="en-US" altLang="zh-CN" sz="2000" dirty="0">
                <a:solidFill>
                  <a:schemeClr val="tx1"/>
                </a:solidFill>
              </a:rPr>
              <a:t>7.2</a:t>
            </a:r>
            <a:r>
              <a:rPr lang="zh-CN" altLang="en-US" sz="2000" dirty="0">
                <a:solidFill>
                  <a:schemeClr val="tx1"/>
                </a:solidFill>
              </a:rPr>
              <a:t>）。</a:t>
            </a:r>
          </a:p>
          <a:p>
            <a:pPr lvl="0">
              <a:lnSpc>
                <a:spcPct val="70000"/>
              </a:lnSpc>
              <a:buFontTx/>
              <a:buNone/>
            </a:pPr>
            <a:endParaRPr lang="zh-CN" altLang="en-US" sz="2000" dirty="0">
              <a:solidFill>
                <a:schemeClr val="tx1"/>
              </a:solidFill>
            </a:endParaRPr>
          </a:p>
        </p:txBody>
      </p:sp>
      <p:sp>
        <p:nvSpPr>
          <p:cNvPr id="1048602" name="标题 1"/>
          <p:cNvSpPr>
            <a:spLocks noGrp="1"/>
          </p:cNvSpPr>
          <p:nvPr>
            <p:ph type="title"/>
          </p:nvPr>
        </p:nvSpPr>
        <p:spPr>
          <a:xfrm>
            <a:off x="47328" y="145776"/>
            <a:ext cx="10515600" cy="565945"/>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r>
              <a:rPr lang="zh-CN" altLang="en-US" dirty="0">
                <a:solidFill>
                  <a:schemeClr val="bg1"/>
                </a:solidFill>
                <a:latin typeface="微软雅黑" panose="020B0503020204020204" pitchFamily="34" charset="-122"/>
                <a:ea typeface="微软雅黑" panose="020B0503020204020204" pitchFamily="34" charset="-122"/>
              </a:rPr>
              <a:t>课程目标（</a:t>
            </a:r>
            <a:r>
              <a:rPr lang="en-US" altLang="zh-CN" dirty="0">
                <a:solidFill>
                  <a:schemeClr val="bg1"/>
                </a:solidFill>
                <a:latin typeface="微软雅黑" panose="020B0503020204020204" pitchFamily="34" charset="-122"/>
                <a:ea typeface="微软雅黑" panose="020B0503020204020204" pitchFamily="34" charset="-122"/>
              </a:rPr>
              <a:t>1</a:t>
            </a:r>
            <a:r>
              <a:rPr lang="zh-CN" altLang="en-US" dirty="0">
                <a:solidFill>
                  <a:schemeClr val="bg1"/>
                </a:solidFill>
                <a:latin typeface="微软雅黑" panose="020B0503020204020204" pitchFamily="34" charset="-122"/>
                <a:ea typeface="微软雅黑" panose="020B0503020204020204" pitchFamily="34" charset="-122"/>
              </a:rPr>
              <a:t>，</a:t>
            </a:r>
            <a:r>
              <a:rPr lang="en-US" altLang="zh-CN" dirty="0">
                <a:solidFill>
                  <a:schemeClr val="bg1"/>
                </a:solidFill>
                <a:latin typeface="微软雅黑" panose="020B0503020204020204" pitchFamily="34" charset="-122"/>
                <a:ea typeface="微软雅黑" panose="020B0503020204020204" pitchFamily="34" charset="-122"/>
              </a:rPr>
              <a:t>2</a:t>
            </a:r>
            <a:r>
              <a:rPr lang="zh-CN" altLang="en-US" dirty="0">
                <a:solidFill>
                  <a:schemeClr val="bg1"/>
                </a:solidFill>
                <a:latin typeface="微软雅黑" panose="020B0503020204020204" pitchFamily="34" charset="-122"/>
                <a:ea typeface="微软雅黑" panose="020B0503020204020204" pitchFamily="34" charset="-122"/>
              </a:rPr>
              <a:t>，</a:t>
            </a:r>
            <a:r>
              <a:rPr lang="en-US" altLang="zh-CN" dirty="0">
                <a:solidFill>
                  <a:schemeClr val="bg1"/>
                </a:solidFill>
                <a:latin typeface="微软雅黑" panose="020B0503020204020204" pitchFamily="34" charset="-122"/>
                <a:ea typeface="微软雅黑" panose="020B0503020204020204" pitchFamily="34" charset="-122"/>
              </a:rPr>
              <a:t>3</a:t>
            </a:r>
            <a:r>
              <a:rPr lang="zh-CN" altLang="en-US" dirty="0">
                <a:solidFill>
                  <a:schemeClr val="bg1"/>
                </a:solidFill>
                <a:latin typeface="微软雅黑" panose="020B0503020204020204" pitchFamily="34" charset="-122"/>
                <a:ea typeface="微软雅黑" panose="020B0503020204020204" pitchFamily="34" charset="-122"/>
              </a:rPr>
              <a:t>，</a:t>
            </a:r>
            <a:r>
              <a:rPr lang="en-US" altLang="zh-CN" dirty="0">
                <a:solidFill>
                  <a:schemeClr val="bg1"/>
                </a:solidFill>
                <a:latin typeface="微软雅黑" panose="020B0503020204020204" pitchFamily="34" charset="-122"/>
                <a:ea typeface="微软雅黑" panose="020B0503020204020204" pitchFamily="34" charset="-122"/>
              </a:rPr>
              <a:t>4</a:t>
            </a:r>
            <a:r>
              <a:rPr lang="zh-CN" altLang="en-US" dirty="0">
                <a:solidFill>
                  <a:schemeClr val="bg1"/>
                </a:solidFill>
                <a:latin typeface="微软雅黑" panose="020B0503020204020204" pitchFamily="34" charset="-122"/>
                <a:ea typeface="微软雅黑" panose="020B0503020204020204" pitchFamily="34" charset="-122"/>
              </a:rPr>
              <a:t>，</a:t>
            </a:r>
            <a:r>
              <a:rPr lang="en-US" altLang="zh-CN" dirty="0">
                <a:solidFill>
                  <a:schemeClr val="bg1"/>
                </a:solidFill>
                <a:latin typeface="微软雅黑" panose="020B0503020204020204" pitchFamily="34" charset="-122"/>
                <a:ea typeface="微软雅黑" panose="020B0503020204020204" pitchFamily="34" charset="-122"/>
              </a:rPr>
              <a:t>5</a:t>
            </a:r>
            <a:r>
              <a:rPr lang="zh-CN" altLang="en-US" dirty="0">
                <a:solidFill>
                  <a:schemeClr val="bg1"/>
                </a:solidFill>
                <a:latin typeface="微软雅黑" panose="020B0503020204020204" pitchFamily="34" charset="-122"/>
                <a:ea typeface="微软雅黑" panose="020B0503020204020204" pitchFamily="34" charset="-122"/>
              </a:rPr>
              <a:t>）</a:t>
            </a:r>
          </a:p>
        </p:txBody>
      </p:sp>
      <p:sp>
        <p:nvSpPr>
          <p:cNvPr id="1048606" name="灯片编号占位符 5"/>
          <p:cNvSpPr txBox="1"/>
          <p:nvPr/>
        </p:nvSpPr>
        <p:spPr>
          <a:xfrm>
            <a:off x="8077200" y="6453187"/>
            <a:ext cx="1905000" cy="252412"/>
          </a:xfrm>
          <a:prstGeom prst="rect">
            <a:avLst/>
          </a:prstGeom>
          <a:noFill/>
          <a:ln>
            <a:noFill/>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r" eaLnBrk="1" latinLnBrk="1" hangingPunct="1"/>
            <a:r>
              <a:rPr lang="zh-CN" altLang="en-US" sz="1400"/>
              <a:t>第</a:t>
            </a:r>
            <a:fld id="{566ABCEB-ACFC-4714-9973-3DA970169C29}" type="slidenum">
              <a:rPr lang="zh-CN" altLang="en-US" sz="1400"/>
              <a:pPr lvl="0" algn="r" eaLnBrk="1" latinLnBrk="1" hangingPunct="1"/>
              <a:t>3</a:t>
            </a:fld>
            <a:r>
              <a:rPr lang="zh-CN" altLang="en-US" sz="1400"/>
              <a:t>页 共</a:t>
            </a:r>
            <a:r>
              <a:rPr lang="en-US" altLang="zh-CN" sz="1400"/>
              <a:t>131</a:t>
            </a:r>
            <a:r>
              <a:rPr lang="zh-CN" altLang="en-US" sz="1400"/>
              <a:t>页</a:t>
            </a:r>
          </a:p>
        </p:txBody>
      </p:sp>
    </p:spTree>
  </p:cSld>
  <p:clrMapOvr>
    <a:masterClrMapping/>
  </p:clrMapOvr>
  <p:transition spd="slow">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8" name="内容占位符 2"/>
          <p:cNvSpPr>
            <a:spLocks noGrp="1"/>
          </p:cNvSpPr>
          <p:nvPr>
            <p:ph idx="1"/>
          </p:nvPr>
        </p:nvSpPr>
        <p:spPr>
          <a:xfrm>
            <a:off x="152398" y="789857"/>
            <a:ext cx="11992273" cy="5375448"/>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a:lnSpc>
                <a:spcPct val="100000"/>
              </a:lnSpc>
            </a:pPr>
            <a:r>
              <a:rPr lang="zh-CN" altLang="en-US" sz="2200" dirty="0">
                <a:solidFill>
                  <a:schemeClr val="tx1"/>
                </a:solidFill>
              </a:rPr>
              <a:t>通过本课程的学习，学生应当达到：</a:t>
            </a:r>
          </a:p>
          <a:p>
            <a:pPr marL="400050" lvl="1" indent="0">
              <a:lnSpc>
                <a:spcPct val="100000"/>
              </a:lnSpc>
              <a:buNone/>
            </a:pPr>
            <a:r>
              <a:rPr lang="en-US" altLang="zh-CN" sz="2200" dirty="0">
                <a:solidFill>
                  <a:schemeClr val="tx1"/>
                </a:solidFill>
              </a:rPr>
              <a:t>1</a:t>
            </a:r>
            <a:r>
              <a:rPr lang="zh-CN" altLang="en-US" sz="2200" dirty="0">
                <a:solidFill>
                  <a:schemeClr val="tx1"/>
                </a:solidFill>
              </a:rPr>
              <a:t>. 理解和掌握网络工程与设计基本知识、关键技术等基本原理</a:t>
            </a:r>
            <a:r>
              <a:rPr lang="en-US" altLang="zh-CN" sz="2200" dirty="0">
                <a:solidFill>
                  <a:schemeClr val="tx1"/>
                </a:solidFill>
              </a:rPr>
              <a:t>,</a:t>
            </a:r>
            <a:r>
              <a:rPr lang="zh-CN" altLang="en-US" sz="2200" dirty="0">
                <a:solidFill>
                  <a:schemeClr val="tx1"/>
                </a:solidFill>
              </a:rPr>
              <a:t>了解当前主流网络系统的基本架构设计及原理，具备自主学习新技术和新方法的能力（对应毕业要求指标点</a:t>
            </a:r>
            <a:r>
              <a:rPr lang="en-US" altLang="zh-CN" sz="2200" dirty="0">
                <a:solidFill>
                  <a:schemeClr val="tx1"/>
                </a:solidFill>
              </a:rPr>
              <a:t>12.2</a:t>
            </a:r>
            <a:r>
              <a:rPr lang="zh-CN" altLang="en-US" sz="2200" dirty="0">
                <a:solidFill>
                  <a:schemeClr val="tx1"/>
                </a:solidFill>
              </a:rPr>
              <a:t>）；</a:t>
            </a:r>
          </a:p>
          <a:p>
            <a:pPr marL="400050" lvl="1" indent="0">
              <a:lnSpc>
                <a:spcPct val="100000"/>
              </a:lnSpc>
              <a:buNone/>
            </a:pPr>
            <a:r>
              <a:rPr lang="en-US" altLang="zh-CN" sz="2200" dirty="0">
                <a:solidFill>
                  <a:schemeClr val="tx1"/>
                </a:solidFill>
              </a:rPr>
              <a:t>2. </a:t>
            </a:r>
            <a:r>
              <a:rPr lang="zh-CN" altLang="en-US" sz="2100" dirty="0">
                <a:solidFill>
                  <a:schemeClr val="tx1"/>
                </a:solidFill>
              </a:rPr>
              <a:t>通过课程设计，针对特定网络</a:t>
            </a:r>
            <a:r>
              <a:rPr lang="zh-CN" altLang="en-US" sz="2200" dirty="0">
                <a:solidFill>
                  <a:schemeClr val="tx1"/>
                </a:solidFill>
              </a:rPr>
              <a:t>应用需求，利用网络工程技术进行系统设计给出解决方案，撰写产品设备选型及系统</a:t>
            </a:r>
            <a:r>
              <a:rPr lang="zh-CN" altLang="en-US" sz="2100" dirty="0">
                <a:solidFill>
                  <a:schemeClr val="tx1"/>
                </a:solidFill>
              </a:rPr>
              <a:t>初步</a:t>
            </a:r>
            <a:r>
              <a:rPr lang="zh-CN" altLang="en-US" sz="2200" dirty="0">
                <a:solidFill>
                  <a:schemeClr val="tx1"/>
                </a:solidFill>
              </a:rPr>
              <a:t>方案。使其具备查阅分析文献、为实际网络工程问题寻找设计方案的能力，并认识到方案具有多种可能的设计选择（对应毕业要求指标点</a:t>
            </a:r>
            <a:r>
              <a:rPr lang="en-US" altLang="zh-CN" sz="2200" dirty="0">
                <a:solidFill>
                  <a:schemeClr val="tx1"/>
                </a:solidFill>
              </a:rPr>
              <a:t>2.3</a:t>
            </a:r>
            <a:r>
              <a:rPr lang="zh-CN" altLang="en-US" sz="2200" dirty="0">
                <a:solidFill>
                  <a:schemeClr val="tx1"/>
                </a:solidFill>
              </a:rPr>
              <a:t>）；</a:t>
            </a:r>
          </a:p>
          <a:p>
            <a:pPr marL="400050" lvl="1" indent="0">
              <a:lnSpc>
                <a:spcPct val="100000"/>
              </a:lnSpc>
              <a:buNone/>
            </a:pPr>
            <a:r>
              <a:rPr lang="en-US" altLang="zh-CN" sz="2200" dirty="0">
                <a:solidFill>
                  <a:schemeClr val="tx1"/>
                </a:solidFill>
              </a:rPr>
              <a:t>3. </a:t>
            </a:r>
            <a:r>
              <a:rPr lang="zh-CN" altLang="en-US" sz="2200" dirty="0">
                <a:solidFill>
                  <a:schemeClr val="tx1"/>
                </a:solidFill>
              </a:rPr>
              <a:t>通过课程设计，参考实际工程案例，详细分析与设计特定需求的大中型网络工程系统关键技术方案，从多角度对设计方案的可行性进行评价和分析，并撰写课程设计报告。培养学生应用知识求解工程问题的能力，使其能够从技术及非技术方面，综合分析和解决网络工程技术问题（对应毕业要求指标点</a:t>
            </a:r>
            <a:r>
              <a:rPr lang="en-US" altLang="zh-CN" sz="2200" dirty="0">
                <a:solidFill>
                  <a:schemeClr val="tx1"/>
                </a:solidFill>
              </a:rPr>
              <a:t>3.4</a:t>
            </a:r>
            <a:r>
              <a:rPr lang="zh-CN" altLang="en-US" sz="2200" dirty="0">
                <a:solidFill>
                  <a:schemeClr val="tx1"/>
                </a:solidFill>
              </a:rPr>
              <a:t>）；</a:t>
            </a:r>
          </a:p>
        </p:txBody>
      </p:sp>
      <p:sp>
        <p:nvSpPr>
          <p:cNvPr id="1048607" name="标题 1"/>
          <p:cNvSpPr>
            <a:spLocks noGrp="1"/>
          </p:cNvSpPr>
          <p:nvPr>
            <p:ph type="title"/>
          </p:nvPr>
        </p:nvSpPr>
        <p:spPr>
          <a:xfrm>
            <a:off x="47328" y="152400"/>
            <a:ext cx="10515600" cy="637456"/>
          </a:xfrm>
          <a:prstGeom prst="rect">
            <a:avLst/>
          </a:prstGeom>
          <a:noFill/>
          <a:ln>
            <a:noFill/>
          </a:ln>
        </p:spPr>
        <p:txBody>
          <a:bodyPr vert="horz" lIns="91440" tIns="45720" rIns="91440" bIns="45720" anchor="ctr">
            <a:normAutofit/>
          </a:bodyP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r>
              <a:rPr lang="zh-CN" altLang="en-US" dirty="0">
                <a:solidFill>
                  <a:schemeClr val="bg1"/>
                </a:solidFill>
              </a:rPr>
              <a:t>课程目标（</a:t>
            </a:r>
            <a:r>
              <a:rPr lang="en-US" altLang="zh-CN" dirty="0">
                <a:solidFill>
                  <a:schemeClr val="bg1"/>
                </a:solidFill>
              </a:rPr>
              <a:t>1</a:t>
            </a:r>
            <a:r>
              <a:rPr lang="zh-CN" altLang="en-US" dirty="0">
                <a:solidFill>
                  <a:schemeClr val="bg1"/>
                </a:solidFill>
              </a:rPr>
              <a:t>，</a:t>
            </a:r>
            <a:r>
              <a:rPr lang="en-US" altLang="zh-CN" dirty="0">
                <a:solidFill>
                  <a:schemeClr val="bg1"/>
                </a:solidFill>
              </a:rPr>
              <a:t>2</a:t>
            </a:r>
            <a:r>
              <a:rPr lang="zh-CN" altLang="en-US" dirty="0">
                <a:solidFill>
                  <a:schemeClr val="bg1"/>
                </a:solidFill>
              </a:rPr>
              <a:t>，</a:t>
            </a:r>
            <a:r>
              <a:rPr lang="en-US" altLang="zh-CN" dirty="0">
                <a:solidFill>
                  <a:schemeClr val="bg1"/>
                </a:solidFill>
              </a:rPr>
              <a:t>3</a:t>
            </a:r>
            <a:r>
              <a:rPr lang="zh-CN" altLang="en-US" dirty="0">
                <a:solidFill>
                  <a:schemeClr val="bg1"/>
                </a:solidFill>
              </a:rPr>
              <a:t>）</a:t>
            </a: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3" name="内容占位符 2"/>
          <p:cNvSpPr>
            <a:spLocks noGrp="1"/>
          </p:cNvSpPr>
          <p:nvPr>
            <p:ph idx="1"/>
          </p:nvPr>
        </p:nvSpPr>
        <p:spPr>
          <a:xfrm>
            <a:off x="152398" y="836713"/>
            <a:ext cx="11920265" cy="4320480"/>
          </a:xfrm>
          <a:prstGeom prst="rect">
            <a:avLst/>
          </a:prstGeom>
          <a:noFill/>
          <a:ln>
            <a:noFill/>
          </a:ln>
        </p:spPr>
        <p:txBody>
          <a:bodyPr vert="horz" lIns="91440" tIns="45720" rIns="91440" bIns="45720" anchor="t">
            <a:normAutofit/>
          </a:bodyPr>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a:lnSpc>
                <a:spcPct val="120000"/>
              </a:lnSpc>
            </a:pPr>
            <a:r>
              <a:rPr lang="zh-CN" altLang="en-US" sz="2400" dirty="0">
                <a:solidFill>
                  <a:schemeClr val="tx1"/>
                </a:solidFill>
              </a:rPr>
              <a:t>通过本课程的学习，学生应当达到：</a:t>
            </a:r>
          </a:p>
          <a:p>
            <a:pPr marL="400050" lvl="1" indent="0">
              <a:lnSpc>
                <a:spcPct val="120000"/>
              </a:lnSpc>
              <a:buNone/>
            </a:pPr>
            <a:r>
              <a:rPr lang="en-US" altLang="zh-CN" sz="2400" dirty="0">
                <a:solidFill>
                  <a:schemeClr val="tx1"/>
                </a:solidFill>
              </a:rPr>
              <a:t>4. </a:t>
            </a:r>
            <a:r>
              <a:rPr lang="zh-CN" altLang="en-US" sz="2400" dirty="0">
                <a:solidFill>
                  <a:schemeClr val="tx1"/>
                </a:solidFill>
              </a:rPr>
              <a:t>学会从多学科角度出发，考虑成本、质量和效率等因素，优化系统方案设计，使其具有多学科分析解决复杂工程问题的基本能力（对应毕业要求指标点</a:t>
            </a:r>
            <a:r>
              <a:rPr lang="en-US" altLang="zh-CN" sz="2400" dirty="0">
                <a:solidFill>
                  <a:schemeClr val="tx1"/>
                </a:solidFill>
              </a:rPr>
              <a:t>11.2</a:t>
            </a:r>
            <a:r>
              <a:rPr lang="zh-CN" altLang="en-US" sz="2400" dirty="0">
                <a:solidFill>
                  <a:schemeClr val="tx1"/>
                </a:solidFill>
              </a:rPr>
              <a:t>）；</a:t>
            </a:r>
          </a:p>
          <a:p>
            <a:pPr marL="400050" lvl="1" indent="0">
              <a:lnSpc>
                <a:spcPct val="120000"/>
              </a:lnSpc>
              <a:buNone/>
            </a:pPr>
            <a:r>
              <a:rPr lang="en-US" altLang="zh-CN" sz="2400" dirty="0">
                <a:solidFill>
                  <a:schemeClr val="tx1"/>
                </a:solidFill>
              </a:rPr>
              <a:t>5. </a:t>
            </a:r>
            <a:r>
              <a:rPr lang="zh-CN" altLang="en-US" sz="2400" dirty="0">
                <a:solidFill>
                  <a:schemeClr val="tx1"/>
                </a:solidFill>
              </a:rPr>
              <a:t>学会从环境及社会可持续发展等方面，分析评价所设计的系统方案在开发、运行、维护等方面对环境和社会的影响（对应毕业要求指标点</a:t>
            </a:r>
            <a:r>
              <a:rPr lang="en-US" altLang="zh-CN" sz="2400" dirty="0">
                <a:solidFill>
                  <a:schemeClr val="tx1"/>
                </a:solidFill>
              </a:rPr>
              <a:t>7.2</a:t>
            </a:r>
            <a:r>
              <a:rPr lang="zh-CN" altLang="en-US" sz="2400" dirty="0">
                <a:solidFill>
                  <a:schemeClr val="tx1"/>
                </a:solidFill>
              </a:rPr>
              <a:t>）。</a:t>
            </a:r>
          </a:p>
          <a:p>
            <a:pPr lvl="0">
              <a:buFontTx/>
              <a:buNone/>
            </a:pPr>
            <a:endParaRPr lang="zh-CN" altLang="en-US" sz="2400" dirty="0">
              <a:solidFill>
                <a:schemeClr val="tx1"/>
              </a:solidFill>
            </a:endParaRPr>
          </a:p>
        </p:txBody>
      </p:sp>
      <p:sp>
        <p:nvSpPr>
          <p:cNvPr id="1048612" name="标题 1"/>
          <p:cNvSpPr>
            <a:spLocks noGrp="1"/>
          </p:cNvSpPr>
          <p:nvPr>
            <p:ph type="title"/>
          </p:nvPr>
        </p:nvSpPr>
        <p:spPr>
          <a:xfrm>
            <a:off x="34483" y="146292"/>
            <a:ext cx="10515600" cy="565945"/>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r>
              <a:rPr lang="zh-CN" altLang="en-US" dirty="0">
                <a:solidFill>
                  <a:schemeClr val="bg1"/>
                </a:solidFill>
                <a:latin typeface="微软雅黑" panose="020B0503020204020204" pitchFamily="34" charset="-122"/>
                <a:ea typeface="微软雅黑" panose="020B0503020204020204" pitchFamily="34" charset="-122"/>
              </a:rPr>
              <a:t>课程目标（</a:t>
            </a:r>
            <a:r>
              <a:rPr lang="en-US" altLang="zh-CN" dirty="0">
                <a:solidFill>
                  <a:schemeClr val="bg1"/>
                </a:solidFill>
                <a:latin typeface="微软雅黑" panose="020B0503020204020204" pitchFamily="34" charset="-122"/>
                <a:ea typeface="微软雅黑" panose="020B0503020204020204" pitchFamily="34" charset="-122"/>
              </a:rPr>
              <a:t>4</a:t>
            </a:r>
            <a:r>
              <a:rPr lang="zh-CN" altLang="en-US" dirty="0">
                <a:solidFill>
                  <a:schemeClr val="bg1"/>
                </a:solidFill>
                <a:latin typeface="微软雅黑" panose="020B0503020204020204" pitchFamily="34" charset="-122"/>
                <a:ea typeface="微软雅黑" panose="020B0503020204020204" pitchFamily="34" charset="-122"/>
              </a:rPr>
              <a:t>，</a:t>
            </a:r>
            <a:r>
              <a:rPr lang="en-US" altLang="zh-CN" dirty="0">
                <a:solidFill>
                  <a:schemeClr val="bg1"/>
                </a:solidFill>
                <a:latin typeface="微软雅黑" panose="020B0503020204020204" pitchFamily="34" charset="-122"/>
                <a:ea typeface="微软雅黑" panose="020B0503020204020204" pitchFamily="34" charset="-122"/>
              </a:rPr>
              <a:t>5</a:t>
            </a:r>
            <a:r>
              <a:rPr lang="zh-CN" altLang="en-US" dirty="0">
                <a:solidFill>
                  <a:schemeClr val="bg1"/>
                </a:solidFill>
                <a:latin typeface="微软雅黑" panose="020B0503020204020204" pitchFamily="34" charset="-122"/>
                <a:ea typeface="微软雅黑" panose="020B0503020204020204" pitchFamily="34" charset="-122"/>
              </a:rPr>
              <a:t>）</a:t>
            </a: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8" name="内容占位符 2"/>
          <p:cNvSpPr>
            <a:spLocks noGrp="1"/>
          </p:cNvSpPr>
          <p:nvPr>
            <p:ph idx="1"/>
          </p:nvPr>
        </p:nvSpPr>
        <p:spPr>
          <a:xfrm>
            <a:off x="191344" y="836713"/>
            <a:ext cx="11737304" cy="4464496"/>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a:lnSpc>
                <a:spcPct val="100000"/>
              </a:lnSpc>
            </a:pPr>
            <a:r>
              <a:rPr lang="zh-CN" altLang="en-US" sz="2200" dirty="0">
                <a:solidFill>
                  <a:schemeClr val="tx1"/>
                </a:solidFill>
              </a:rPr>
              <a:t>课程支撑的毕业要求指标点</a:t>
            </a:r>
          </a:p>
          <a:p>
            <a:pPr marL="857250" lvl="1" indent="-457200">
              <a:lnSpc>
                <a:spcPct val="100000"/>
              </a:lnSpc>
              <a:buFont typeface="Wingdings" pitchFamily="2" charset="2"/>
              <a:buChar char="l"/>
            </a:pPr>
            <a:r>
              <a:rPr lang="zh-CN" altLang="en-US" sz="2200" dirty="0">
                <a:solidFill>
                  <a:schemeClr val="tx1"/>
                </a:solidFill>
                <a:ea typeface="黑体" pitchFamily="49" charset="-122"/>
              </a:rPr>
              <a:t>指标点</a:t>
            </a:r>
            <a:r>
              <a:rPr lang="en-US" altLang="zh-CN" sz="2200" dirty="0">
                <a:solidFill>
                  <a:schemeClr val="tx1"/>
                </a:solidFill>
                <a:ea typeface="黑体" pitchFamily="49" charset="-122"/>
              </a:rPr>
              <a:t>2.3</a:t>
            </a:r>
            <a:r>
              <a:rPr lang="zh-CN" altLang="en-US" sz="2200" dirty="0">
                <a:solidFill>
                  <a:schemeClr val="tx1"/>
                </a:solidFill>
                <a:ea typeface="黑体" pitchFamily="49" charset="-122"/>
              </a:rPr>
              <a:t>： 能够通过查阅和分析文献，为计算机系统及工程的问题求解寻找方案，并认识到所求解的问题具有多种可能的解决途径。</a:t>
            </a:r>
          </a:p>
          <a:p>
            <a:pPr marL="857250" lvl="1" indent="-457200">
              <a:lnSpc>
                <a:spcPct val="100000"/>
              </a:lnSpc>
              <a:buFont typeface="Wingdings" pitchFamily="2" charset="2"/>
              <a:buChar char="l"/>
            </a:pPr>
            <a:r>
              <a:rPr lang="zh-CN" altLang="en-US" sz="2200" dirty="0">
                <a:solidFill>
                  <a:schemeClr val="tx1"/>
                </a:solidFill>
                <a:ea typeface="黑体" pitchFamily="49" charset="-122"/>
              </a:rPr>
              <a:t>指标点</a:t>
            </a:r>
            <a:r>
              <a:rPr lang="en-US" altLang="zh-CN" sz="2200" dirty="0">
                <a:solidFill>
                  <a:schemeClr val="tx1"/>
                </a:solidFill>
                <a:ea typeface="黑体" pitchFamily="49" charset="-122"/>
              </a:rPr>
              <a:t>3.4</a:t>
            </a:r>
            <a:r>
              <a:rPr lang="zh-CN" altLang="en-US" sz="2200" dirty="0">
                <a:solidFill>
                  <a:schemeClr val="tx1"/>
                </a:solidFill>
                <a:ea typeface="黑体" pitchFamily="49" charset="-122"/>
              </a:rPr>
              <a:t>： 能够在解决方案中从技术及非技术（如经济、社会、健康、安全、法律、文化以及环境等）角度，对设计方案的可行性进行评价和分析；</a:t>
            </a:r>
          </a:p>
          <a:p>
            <a:pPr marL="857250" lvl="1" indent="-457200">
              <a:lnSpc>
                <a:spcPct val="100000"/>
              </a:lnSpc>
              <a:buFont typeface="Wingdings" pitchFamily="2" charset="2"/>
              <a:buChar char="l"/>
            </a:pPr>
            <a:r>
              <a:rPr lang="zh-CN" altLang="en-US" sz="2200" dirty="0">
                <a:solidFill>
                  <a:schemeClr val="tx1"/>
                </a:solidFill>
                <a:ea typeface="黑体" pitchFamily="49" charset="-122"/>
              </a:rPr>
              <a:t>指标点</a:t>
            </a:r>
            <a:r>
              <a:rPr lang="en-US" altLang="zh-CN" sz="2200" dirty="0">
                <a:solidFill>
                  <a:schemeClr val="tx1"/>
                </a:solidFill>
                <a:ea typeface="黑体" pitchFamily="49" charset="-122"/>
              </a:rPr>
              <a:t>7.2</a:t>
            </a:r>
            <a:r>
              <a:rPr lang="zh-CN" altLang="en-US" sz="2200" dirty="0">
                <a:solidFill>
                  <a:schemeClr val="tx1"/>
                </a:solidFill>
                <a:ea typeface="黑体" pitchFamily="49" charset="-122"/>
              </a:rPr>
              <a:t>： 能够评价计算机系统设计、开发、运行和维护对环境保护和社会持续发展的影响。</a:t>
            </a:r>
          </a:p>
          <a:p>
            <a:pPr marL="857250" lvl="1" indent="-457200">
              <a:lnSpc>
                <a:spcPct val="100000"/>
              </a:lnSpc>
              <a:buFont typeface="Wingdings" pitchFamily="2" charset="2"/>
              <a:buChar char="l"/>
            </a:pPr>
            <a:r>
              <a:rPr lang="zh-CN" altLang="en-US" sz="2200" dirty="0">
                <a:solidFill>
                  <a:schemeClr val="tx1"/>
                </a:solidFill>
                <a:ea typeface="黑体" pitchFamily="49" charset="-122"/>
              </a:rPr>
              <a:t>指标点</a:t>
            </a:r>
            <a:r>
              <a:rPr lang="en-US" altLang="zh-CN" sz="2200" dirty="0">
                <a:solidFill>
                  <a:schemeClr val="tx1"/>
                </a:solidFill>
                <a:ea typeface="黑体" pitchFamily="49" charset="-122"/>
              </a:rPr>
              <a:t>11.2</a:t>
            </a:r>
            <a:r>
              <a:rPr lang="zh-CN" altLang="en-US" sz="2200" dirty="0">
                <a:solidFill>
                  <a:schemeClr val="tx1"/>
                </a:solidFill>
                <a:ea typeface="黑体" pitchFamily="49" charset="-122"/>
              </a:rPr>
              <a:t>：能够在多学科环境下的计算机软硬件系统实施过程中，考虑成本、质量和效率等目标。</a:t>
            </a:r>
          </a:p>
          <a:p>
            <a:pPr marL="857250" lvl="1" indent="-457200">
              <a:lnSpc>
                <a:spcPct val="100000"/>
              </a:lnSpc>
              <a:buFont typeface="Wingdings" pitchFamily="2" charset="2"/>
              <a:buChar char="l"/>
            </a:pPr>
            <a:r>
              <a:rPr lang="zh-CN" altLang="en-US" sz="2200" dirty="0">
                <a:solidFill>
                  <a:schemeClr val="tx1"/>
                </a:solidFill>
                <a:ea typeface="黑体" pitchFamily="49" charset="-122"/>
              </a:rPr>
              <a:t>指标点</a:t>
            </a:r>
            <a:r>
              <a:rPr lang="en-US" altLang="zh-CN" sz="2200" dirty="0">
                <a:solidFill>
                  <a:schemeClr val="tx1"/>
                </a:solidFill>
                <a:ea typeface="黑体" pitchFamily="49" charset="-122"/>
              </a:rPr>
              <a:t>12.2</a:t>
            </a:r>
            <a:r>
              <a:rPr lang="zh-CN" altLang="en-US" sz="2200" dirty="0">
                <a:solidFill>
                  <a:schemeClr val="tx1"/>
                </a:solidFill>
                <a:ea typeface="黑体" pitchFamily="49" charset="-122"/>
              </a:rPr>
              <a:t>：掌握正确的学习方法，具备自主学习能力，能够通过学习不断提高、适应信息技术的发展。</a:t>
            </a:r>
          </a:p>
          <a:p>
            <a:pPr lvl="0">
              <a:lnSpc>
                <a:spcPct val="70000"/>
              </a:lnSpc>
              <a:buFontTx/>
              <a:buNone/>
            </a:pPr>
            <a:endParaRPr lang="zh-CN" altLang="en-US" sz="2200" b="0" dirty="0">
              <a:solidFill>
                <a:schemeClr val="tx1"/>
              </a:solidFill>
            </a:endParaRPr>
          </a:p>
        </p:txBody>
      </p:sp>
      <p:sp>
        <p:nvSpPr>
          <p:cNvPr id="1048617" name="标题 1"/>
          <p:cNvSpPr>
            <a:spLocks noGrp="1"/>
          </p:cNvSpPr>
          <p:nvPr>
            <p:ph type="title"/>
          </p:nvPr>
        </p:nvSpPr>
        <p:spPr>
          <a:xfrm>
            <a:off x="0" y="152400"/>
            <a:ext cx="10515600" cy="63795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a:lnSpc>
                <a:spcPct val="120000"/>
              </a:lnSpc>
            </a:pPr>
            <a:r>
              <a:rPr lang="zh-CN" altLang="en-US" dirty="0">
                <a:solidFill>
                  <a:schemeClr val="bg1"/>
                </a:solidFill>
                <a:latin typeface="微软雅黑" panose="020B0503020204020204" pitchFamily="34" charset="-122"/>
                <a:ea typeface="微软雅黑" panose="020B0503020204020204" pitchFamily="34" charset="-122"/>
              </a:rPr>
              <a:t>课程支撑的毕业要求指标点</a:t>
            </a: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6" name="Rectangle 3"/>
          <p:cNvSpPr>
            <a:spLocks noGrp="1"/>
          </p:cNvSpPr>
          <p:nvPr>
            <p:ph idx="1"/>
          </p:nvPr>
        </p:nvSpPr>
        <p:spPr>
          <a:xfrm>
            <a:off x="335360" y="908721"/>
            <a:ext cx="11521280" cy="5256584"/>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a:lnSpc>
                <a:spcPct val="150000"/>
              </a:lnSpc>
            </a:pPr>
            <a:r>
              <a:rPr lang="en-US" altLang="zh-CN" sz="2400" b="0" dirty="0">
                <a:solidFill>
                  <a:schemeClr val="tx1"/>
                </a:solidFill>
                <a:latin typeface="微软雅黑" panose="020B0503020204020204" pitchFamily="34" charset="-122"/>
                <a:ea typeface="微软雅黑" panose="020B0503020204020204" pitchFamily="34" charset="-122"/>
              </a:rPr>
              <a:t>《</a:t>
            </a:r>
            <a:r>
              <a:rPr lang="zh-CN" altLang="en-US" sz="2400" b="0" dirty="0">
                <a:solidFill>
                  <a:schemeClr val="tx1"/>
                </a:solidFill>
                <a:latin typeface="微软雅黑" panose="020B0503020204020204" pitchFamily="34" charset="-122"/>
                <a:ea typeface="微软雅黑" panose="020B0503020204020204" pitchFamily="34" charset="-122"/>
              </a:rPr>
              <a:t>网络工程与设计</a:t>
            </a:r>
            <a:r>
              <a:rPr lang="en-US" altLang="zh-CN" sz="2400" b="0" dirty="0">
                <a:solidFill>
                  <a:schemeClr val="tx1"/>
                </a:solidFill>
                <a:latin typeface="微软雅黑" panose="020B0503020204020204" pitchFamily="34" charset="-122"/>
                <a:ea typeface="微软雅黑" panose="020B0503020204020204" pitchFamily="34" charset="-122"/>
              </a:rPr>
              <a:t>》</a:t>
            </a:r>
            <a:r>
              <a:rPr lang="zh-CN" altLang="en-US" sz="2400" b="0" dirty="0">
                <a:solidFill>
                  <a:schemeClr val="tx1"/>
                </a:solidFill>
                <a:latin typeface="微软雅黑" panose="020B0503020204020204" pitchFamily="34" charset="-122"/>
                <a:ea typeface="微软雅黑" panose="020B0503020204020204" pitchFamily="34" charset="-122"/>
              </a:rPr>
              <a:t>课程是计算机科学与技术专业本科学生的一门必修专业课程，教学内容是根据</a:t>
            </a:r>
            <a:r>
              <a:rPr lang="en-US" altLang="zh-CN" sz="2400" b="0" dirty="0">
                <a:solidFill>
                  <a:schemeClr val="tx1"/>
                </a:solidFill>
                <a:latin typeface="微软雅黑" panose="020B0503020204020204" pitchFamily="34" charset="-122"/>
                <a:ea typeface="微软雅黑" panose="020B0503020204020204" pitchFamily="34" charset="-122"/>
              </a:rPr>
              <a:t>《</a:t>
            </a:r>
            <a:r>
              <a:rPr lang="zh-CN" altLang="en-US" sz="2400" b="0" dirty="0">
                <a:solidFill>
                  <a:schemeClr val="tx1"/>
                </a:solidFill>
                <a:latin typeface="微软雅黑" panose="020B0503020204020204" pitchFamily="34" charset="-122"/>
                <a:ea typeface="微软雅黑" panose="020B0503020204020204" pitchFamily="34" charset="-122"/>
              </a:rPr>
              <a:t>网络工程与设计</a:t>
            </a:r>
            <a:r>
              <a:rPr lang="en-US" altLang="zh-CN" sz="2400" b="0" dirty="0">
                <a:solidFill>
                  <a:schemeClr val="tx1"/>
                </a:solidFill>
                <a:latin typeface="微软雅黑" panose="020B0503020204020204" pitchFamily="34" charset="-122"/>
                <a:ea typeface="微软雅黑" panose="020B0503020204020204" pitchFamily="34" charset="-122"/>
              </a:rPr>
              <a:t>》</a:t>
            </a:r>
            <a:r>
              <a:rPr lang="zh-CN" altLang="en-US" sz="2400" b="0" dirty="0">
                <a:solidFill>
                  <a:schemeClr val="tx1"/>
                </a:solidFill>
                <a:latin typeface="微软雅黑" panose="020B0503020204020204" pitchFamily="34" charset="-122"/>
                <a:ea typeface="微软雅黑" panose="020B0503020204020204" pitchFamily="34" charset="-122"/>
              </a:rPr>
              <a:t>教学大纲的基本要求而确定的，课程主要讨论计算机网络工程的设计技术。</a:t>
            </a:r>
          </a:p>
          <a:p>
            <a:pPr lvl="0">
              <a:lnSpc>
                <a:spcPct val="150000"/>
              </a:lnSpc>
            </a:pPr>
            <a:r>
              <a:rPr lang="en-US" altLang="zh-CN" sz="2400" b="0" dirty="0">
                <a:solidFill>
                  <a:schemeClr val="tx1"/>
                </a:solidFill>
                <a:latin typeface="微软雅黑" panose="020B0503020204020204" pitchFamily="34" charset="-122"/>
                <a:ea typeface="微软雅黑" panose="020B0503020204020204" pitchFamily="34" charset="-122"/>
              </a:rPr>
              <a:t>《</a:t>
            </a:r>
            <a:r>
              <a:rPr lang="zh-CN" altLang="en-US" sz="2400" b="0" dirty="0">
                <a:solidFill>
                  <a:schemeClr val="tx1"/>
                </a:solidFill>
                <a:latin typeface="微软雅黑" panose="020B0503020204020204" pitchFamily="34" charset="-122"/>
                <a:ea typeface="微软雅黑" panose="020B0503020204020204" pitchFamily="34" charset="-122"/>
              </a:rPr>
              <a:t>网络工程与设计</a:t>
            </a:r>
            <a:r>
              <a:rPr lang="en-US" altLang="zh-CN" sz="2400" b="0" dirty="0">
                <a:solidFill>
                  <a:schemeClr val="tx1"/>
                </a:solidFill>
                <a:latin typeface="微软雅黑" panose="020B0503020204020204" pitchFamily="34" charset="-122"/>
                <a:ea typeface="微软雅黑" panose="020B0503020204020204" pitchFamily="34" charset="-122"/>
              </a:rPr>
              <a:t>》</a:t>
            </a:r>
            <a:r>
              <a:rPr lang="zh-CN" altLang="en-US" sz="2400" b="0" dirty="0">
                <a:solidFill>
                  <a:schemeClr val="tx1"/>
                </a:solidFill>
                <a:latin typeface="微软雅黑" panose="020B0503020204020204" pitchFamily="34" charset="-122"/>
                <a:ea typeface="微软雅黑" panose="020B0503020204020204" pitchFamily="34" charset="-122"/>
              </a:rPr>
              <a:t>课程的教学目的是要求学生掌握网络设备的基本工作原理、传输介质的技术性能、局域网设计技术、广域网接入技术、网络路由设计技术、网络工程设计技术等。通过课程教学及课程设计 ，使学生基本掌握网络服务器安装、配置与管理，掌握网络路由器的设计与调试，初步掌握网络工程的投标、设计、施工、验收等技术。通过课程教学及课程设计，加强提高学生的工程设计能力培养。</a:t>
            </a:r>
          </a:p>
        </p:txBody>
      </p:sp>
      <p:sp>
        <p:nvSpPr>
          <p:cNvPr id="1048625" name="Rectangle 2"/>
          <p:cNvSpPr>
            <a:spLocks noGrp="1"/>
          </p:cNvSpPr>
          <p:nvPr>
            <p:ph type="title"/>
          </p:nvPr>
        </p:nvSpPr>
        <p:spPr>
          <a:xfrm>
            <a:off x="47328" y="187100"/>
            <a:ext cx="10515600" cy="493937"/>
          </a:xfrm>
          <a:prstGeom prst="rect">
            <a:avLst/>
          </a:prstGeom>
          <a:noFill/>
          <a:ln>
            <a:noFill/>
          </a:ln>
        </p:spPr>
        <p:txBody>
          <a:bodyPr vert="horz" lIns="91440" tIns="45720" rIns="91440" bIns="45720" anchor="ctr">
            <a:normAutofit fontScale="90000"/>
          </a:bodyP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r>
              <a:rPr lang="zh-CN" altLang="en-US" dirty="0">
                <a:solidFill>
                  <a:schemeClr val="bg1"/>
                </a:solidFill>
              </a:rPr>
              <a:t>教学目的</a:t>
            </a:r>
          </a:p>
        </p:txBody>
      </p:sp>
    </p:spTree>
  </p:cSld>
  <p:clrMapOvr>
    <a:masterClrMapping/>
  </p:clrMapOvr>
  <p:transition spd="slow">
    <p:zo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0" name="文本占位符 451585"/>
          <p:cNvSpPr>
            <a:spLocks noGrp="1"/>
          </p:cNvSpPr>
          <p:nvPr>
            <p:ph type="body" idx="4294967295"/>
          </p:nvPr>
        </p:nvSpPr>
        <p:spPr>
          <a:xfrm>
            <a:off x="263352" y="908720"/>
            <a:ext cx="11928648" cy="5217443"/>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3"/>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4"/>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5"/>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5"/>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5"/>
              </a:buBlip>
              <a:defRPr sz="2000" b="1" i="0" u="none" baseline="0">
                <a:solidFill>
                  <a:srgbClr val="003399"/>
                </a:solidFill>
                <a:latin typeface="Arial" pitchFamily="34" charset="0"/>
                <a:ea typeface="楷体_GB2312" pitchFamily="49" charset="-122"/>
                <a:sym typeface="Times New Roman" pitchFamily="18" charset="0"/>
              </a:defRPr>
            </a:lvl5pPr>
          </a:lstStyle>
          <a:p>
            <a:pPr lvl="0"/>
            <a:r>
              <a:rPr lang="zh-CN" altLang="en-US" sz="2400" dirty="0"/>
              <a:t>教学特点</a:t>
            </a:r>
          </a:p>
          <a:p>
            <a:pPr lvl="1"/>
            <a:r>
              <a:rPr lang="zh-CN" altLang="en-US" sz="2400" dirty="0">
                <a:latin typeface="宋体" pitchFamily="2" charset="-122"/>
              </a:rPr>
              <a:t>课程特点：本课程特点是教学内容多、涉及的知识面广泛、实践性强、应用面广。</a:t>
            </a:r>
          </a:p>
          <a:p>
            <a:pPr lvl="1"/>
            <a:r>
              <a:rPr lang="zh-CN" altLang="en-US" sz="2400" dirty="0">
                <a:latin typeface="宋体" pitchFamily="2" charset="-122"/>
              </a:rPr>
              <a:t>教学特点：由于学生已经学习过多门专业课程，基础知识较好，教学时宜采用“自主学习”、“精讲多练”、“详细讲授 ”等多种多样的教学形式。</a:t>
            </a:r>
          </a:p>
          <a:p>
            <a:pPr lvl="0"/>
            <a:r>
              <a:rPr lang="zh-CN" altLang="en-US" sz="2200" dirty="0">
                <a:latin typeface="宋体" pitchFamily="2" charset="-122"/>
              </a:rPr>
              <a:t>成绩评定</a:t>
            </a:r>
          </a:p>
          <a:p>
            <a:pPr lvl="1"/>
            <a:r>
              <a:rPr lang="en-US" altLang="zh-CN" sz="2200" dirty="0" err="1">
                <a:latin typeface="宋体" pitchFamily="2" charset="-122"/>
              </a:rPr>
              <a:t>平时成绩（作业</a:t>
            </a:r>
            <a:r>
              <a:rPr lang="en-US" altLang="zh-CN" sz="2200" dirty="0">
                <a:latin typeface="宋体" pitchFamily="2" charset="-122"/>
              </a:rPr>
              <a:t>/</a:t>
            </a:r>
            <a:r>
              <a:rPr lang="zh-CN" altLang="en-US" sz="2200" dirty="0">
                <a:latin typeface="宋体" pitchFamily="2" charset="-122"/>
              </a:rPr>
              <a:t>课程设计</a:t>
            </a:r>
            <a:r>
              <a:rPr lang="en-US" altLang="zh-CN" sz="2200" dirty="0">
                <a:latin typeface="宋体" pitchFamily="2" charset="-122"/>
              </a:rPr>
              <a:t>/</a:t>
            </a:r>
            <a:r>
              <a:rPr lang="zh-CN" altLang="en-US" sz="2200" dirty="0">
                <a:latin typeface="宋体" pitchFamily="2" charset="-122"/>
              </a:rPr>
              <a:t>测验</a:t>
            </a:r>
            <a:r>
              <a:rPr lang="en-US" altLang="zh-CN" sz="2200" dirty="0">
                <a:latin typeface="宋体" pitchFamily="2" charset="-122"/>
              </a:rPr>
              <a:t>/</a:t>
            </a:r>
            <a:r>
              <a:rPr lang="zh-CN" altLang="en-US" sz="2200" dirty="0">
                <a:latin typeface="宋体" pitchFamily="2" charset="-122"/>
              </a:rPr>
              <a:t>考勤）  </a:t>
            </a:r>
            <a:r>
              <a:rPr lang="en-US" altLang="zh-CN" sz="2200" dirty="0">
                <a:latin typeface="宋体" pitchFamily="2" charset="-122"/>
              </a:rPr>
              <a:t>50%</a:t>
            </a:r>
          </a:p>
          <a:p>
            <a:pPr lvl="1"/>
            <a:r>
              <a:rPr lang="zh-CN" altLang="en-US" sz="2200" dirty="0">
                <a:latin typeface="宋体" pitchFamily="2" charset="-122"/>
              </a:rPr>
              <a:t>期末考试                             </a:t>
            </a:r>
            <a:r>
              <a:rPr lang="en-US" altLang="zh-CN" sz="2200" dirty="0">
                <a:latin typeface="宋体" pitchFamily="2" charset="-122"/>
              </a:rPr>
              <a:t>50%</a:t>
            </a:r>
          </a:p>
          <a:p>
            <a:pPr lvl="0"/>
            <a:r>
              <a:rPr lang="zh-CN" altLang="en-US" sz="2200" dirty="0">
                <a:latin typeface="宋体" pitchFamily="2" charset="-122"/>
              </a:rPr>
              <a:t>关于期末考试</a:t>
            </a:r>
          </a:p>
          <a:p>
            <a:pPr lvl="1"/>
            <a:r>
              <a:rPr lang="zh-CN" altLang="en-US" sz="2200" dirty="0">
                <a:latin typeface="宋体" pitchFamily="2" charset="-122"/>
              </a:rPr>
              <a:t>闭卷考试</a:t>
            </a:r>
          </a:p>
          <a:p>
            <a:pPr lvl="1"/>
            <a:r>
              <a:rPr lang="zh-CN" altLang="en-US" sz="2200" dirty="0">
                <a:latin typeface="宋体" pitchFamily="2" charset="-122"/>
              </a:rPr>
              <a:t>内容综合：讲授内容＋教材内容＋作业习题为主</a:t>
            </a:r>
          </a:p>
        </p:txBody>
      </p:sp>
      <p:sp>
        <p:nvSpPr>
          <p:cNvPr id="1048631" name="标题 164865"/>
          <p:cNvSpPr/>
          <p:nvPr/>
        </p:nvSpPr>
        <p:spPr>
          <a:xfrm>
            <a:off x="15731" y="130313"/>
            <a:ext cx="6480175" cy="576262"/>
          </a:xfrm>
          <a:prstGeom prst="rect">
            <a:avLst/>
          </a:prstGeom>
          <a:noFill/>
          <a:ln>
            <a:noFill/>
          </a:ln>
        </p:spPr>
        <p:txBody>
          <a:bodyPr vert="horz" lIns="91440" tIns="45720" rIns="91440" bIns="45720" anchor="b"/>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buFontTx/>
              <a:buNone/>
            </a:pPr>
            <a:r>
              <a:rPr lang="zh-CN" altLang="en-US" b="1">
                <a:solidFill>
                  <a:schemeClr val="bg1"/>
                </a:solidFill>
                <a:latin typeface="微软雅黑" panose="020B0503020204020204" pitchFamily="34" charset="-122"/>
                <a:ea typeface="微软雅黑" panose="020B0503020204020204" pitchFamily="34" charset="-122"/>
              </a:rPr>
              <a:t>教学方法</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8" name="Rectangle 2"/>
          <p:cNvSpPr/>
          <p:nvPr/>
        </p:nvSpPr>
        <p:spPr>
          <a:xfrm>
            <a:off x="0" y="908720"/>
            <a:ext cx="12144672" cy="4339650"/>
          </a:xfrm>
          <a:prstGeom prst="rect">
            <a:avLst/>
          </a:prstGeom>
          <a:noFill/>
          <a:ln>
            <a:noFill/>
          </a:ln>
        </p:spPr>
        <p:txBody>
          <a:bodyPr vert="horz" wrap="square" lIns="91440" tIns="45720" rIns="91440" bIns="4572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zh-CN" altLang="en-US" sz="4400" dirty="0">
                <a:solidFill>
                  <a:schemeClr val="tx1"/>
                </a:solidFill>
                <a:effectLst>
                  <a:outerShdw blurRad="38100" dist="38100" dir="2700000" algn="tl">
                    <a:srgbClr val="C0C0C0"/>
                  </a:outerShdw>
                </a:effectLst>
                <a:ea typeface="黑体" pitchFamily="49" charset="-122"/>
              </a:rPr>
              <a:t>计算机网络设计 第</a:t>
            </a:r>
            <a:r>
              <a:rPr lang="en-US" altLang="zh-CN" sz="4400" dirty="0">
                <a:solidFill>
                  <a:schemeClr val="tx1"/>
                </a:solidFill>
                <a:effectLst>
                  <a:outerShdw blurRad="38100" dist="38100" dir="2700000" algn="tl">
                    <a:srgbClr val="C0C0C0"/>
                  </a:outerShdw>
                </a:effectLst>
                <a:ea typeface="黑体" pitchFamily="49" charset="-122"/>
              </a:rPr>
              <a:t>3</a:t>
            </a:r>
            <a:r>
              <a:rPr lang="zh-CN" altLang="en-US" sz="4400" dirty="0">
                <a:solidFill>
                  <a:schemeClr val="tx1"/>
                </a:solidFill>
                <a:effectLst>
                  <a:outerShdw blurRad="38100" dist="38100" dir="2700000" algn="tl">
                    <a:srgbClr val="C0C0C0"/>
                  </a:outerShdw>
                </a:effectLst>
                <a:ea typeface="黑体" pitchFamily="49" charset="-122"/>
              </a:rPr>
              <a:t>版</a:t>
            </a:r>
            <a:br>
              <a:rPr dirty="0">
                <a:solidFill>
                  <a:schemeClr val="tx1"/>
                </a:solidFill>
              </a:rPr>
            </a:br>
            <a:r>
              <a:rPr lang="zh-CN" altLang="en-US" sz="4000" dirty="0">
                <a:solidFill>
                  <a:schemeClr val="tx1"/>
                </a:solidFill>
                <a:effectLst>
                  <a:outerShdw blurRad="38100" dist="38100" dir="2700000" algn="tl">
                    <a:srgbClr val="C0C0C0"/>
                  </a:outerShdw>
                </a:effectLst>
                <a:ea typeface="黑体" pitchFamily="49" charset="-122"/>
              </a:rPr>
              <a:t>教学课件（增强版）</a:t>
            </a:r>
            <a:r>
              <a:rPr lang="zh-CN" altLang="en-US" sz="2400" dirty="0">
                <a:solidFill>
                  <a:schemeClr val="tx1"/>
                </a:solidFill>
              </a:rPr>
              <a:t> </a:t>
            </a:r>
            <a:br>
              <a:rPr dirty="0">
                <a:solidFill>
                  <a:schemeClr val="tx1"/>
                </a:solidFill>
              </a:rPr>
            </a:br>
            <a:br>
              <a:rPr dirty="0">
                <a:solidFill>
                  <a:schemeClr val="tx1"/>
                </a:solidFill>
              </a:rPr>
            </a:br>
            <a:r>
              <a:rPr lang="zh-CN" altLang="en-US" sz="3600" dirty="0">
                <a:solidFill>
                  <a:schemeClr val="tx1"/>
                </a:solidFill>
                <a:effectLst>
                  <a:outerShdw blurRad="38100" dist="38100" dir="2700000" algn="tl">
                    <a:srgbClr val="C0C0C0"/>
                  </a:outerShdw>
                </a:effectLst>
                <a:latin typeface="楷体_GB2312" pitchFamily="49" charset="-122"/>
                <a:ea typeface="楷体_GB2312" pitchFamily="49" charset="-122"/>
              </a:rPr>
              <a:t>易建勋 编著</a:t>
            </a:r>
            <a:br>
              <a:rPr dirty="0">
                <a:solidFill>
                  <a:schemeClr val="tx1"/>
                </a:solidFill>
              </a:rPr>
            </a:br>
            <a:endParaRPr lang="zh-CN" altLang="en-US" sz="3600" dirty="0">
              <a:solidFill>
                <a:schemeClr val="tx1"/>
              </a:solidFill>
              <a:latin typeface="楷体_GB2312" pitchFamily="49" charset="-122"/>
              <a:ea typeface="楷体_GB2312" pitchFamily="49" charset="-122"/>
            </a:endParaRPr>
          </a:p>
          <a:p>
            <a:pPr lvl="0" algn="ctr" eaLnBrk="1" latinLnBrk="1" hangingPunct="1"/>
            <a:br>
              <a:rPr dirty="0">
                <a:solidFill>
                  <a:schemeClr val="tx1"/>
                </a:solidFill>
              </a:rPr>
            </a:br>
            <a:r>
              <a:rPr lang="zh-CN" altLang="en-US" sz="3200" dirty="0">
                <a:solidFill>
                  <a:schemeClr val="tx1"/>
                </a:solidFill>
                <a:latin typeface="楷体_GB2312" pitchFamily="49" charset="-122"/>
                <a:ea typeface="楷体_GB2312" pitchFamily="49" charset="-122"/>
              </a:rPr>
              <a:t>人民邮电出版社</a:t>
            </a:r>
            <a:br>
              <a:rPr dirty="0">
                <a:solidFill>
                  <a:schemeClr val="tx1"/>
                </a:solidFill>
              </a:rPr>
            </a:br>
            <a:r>
              <a:rPr lang="en-US" altLang="zh-CN" sz="3200" dirty="0">
                <a:solidFill>
                  <a:schemeClr val="tx1"/>
                </a:solidFill>
                <a:ea typeface="楷体_GB2312" pitchFamily="49" charset="-122"/>
              </a:rPr>
              <a:t>2016</a:t>
            </a:r>
            <a:r>
              <a:rPr lang="zh-CN" altLang="en-US" sz="3200" dirty="0">
                <a:solidFill>
                  <a:schemeClr val="tx1"/>
                </a:solidFill>
                <a:ea typeface="楷体_GB2312" pitchFamily="49" charset="-122"/>
              </a:rPr>
              <a:t>年</a:t>
            </a:r>
            <a:r>
              <a:rPr lang="en-US" altLang="zh-CN" sz="3200" dirty="0">
                <a:solidFill>
                  <a:schemeClr val="tx1"/>
                </a:solidFill>
                <a:ea typeface="楷体_GB2312" pitchFamily="49" charset="-122"/>
              </a:rPr>
              <a:t>2</a:t>
            </a:r>
            <a:r>
              <a:rPr lang="zh-CN" altLang="en-US" sz="3200" dirty="0">
                <a:solidFill>
                  <a:schemeClr val="tx1"/>
                </a:solidFill>
                <a:ea typeface="楷体_GB2312" pitchFamily="49" charset="-122"/>
              </a:rPr>
              <a:t>月</a:t>
            </a:r>
          </a:p>
        </p:txBody>
      </p:sp>
      <p:sp>
        <p:nvSpPr>
          <p:cNvPr id="1048639" name="标题 133121"/>
          <p:cNvSpPr/>
          <p:nvPr/>
        </p:nvSpPr>
        <p:spPr>
          <a:xfrm>
            <a:off x="0" y="116632"/>
            <a:ext cx="6659562" cy="649287"/>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buFontTx/>
              <a:buNone/>
            </a:pPr>
            <a:r>
              <a:rPr lang="zh-CN" altLang="en-US" b="1" dirty="0">
                <a:solidFill>
                  <a:schemeClr val="bg1"/>
                </a:solidFill>
                <a:latin typeface="微软雅黑" panose="020B0503020204020204" pitchFamily="34" charset="-122"/>
                <a:ea typeface="微软雅黑" panose="020B0503020204020204" pitchFamily="34" charset="-122"/>
              </a:rPr>
              <a:t>教材</a:t>
            </a:r>
          </a:p>
        </p:txBody>
      </p:sp>
    </p:spTree>
  </p:cSld>
  <p:clrMapOvr>
    <a:masterClrMapping/>
  </p:clrMapOvr>
  <p:transition spd="slow">
    <p:zo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4" name="Rectangle 3"/>
          <p:cNvSpPr>
            <a:spLocks noGrp="1"/>
          </p:cNvSpPr>
          <p:nvPr>
            <p:ph idx="1"/>
          </p:nvPr>
        </p:nvSpPr>
        <p:spPr>
          <a:xfrm>
            <a:off x="1487488" y="764704"/>
            <a:ext cx="10515600" cy="5688632"/>
          </a:xfrm>
          <a:prstGeom prst="rect">
            <a:avLst/>
          </a:prstGeom>
          <a:noFill/>
          <a:ln>
            <a:noFill/>
          </a:ln>
        </p:spPr>
        <p:txBody>
          <a:bodyPr vert="horz" lIns="91440" tIns="45720" rIns="91440" bIns="45720" anchor="t">
            <a:normAutofit/>
          </a:bodyPr>
          <a:lstStyle>
            <a:lvl1pPr marL="342900" indent="-342900" algn="l" rtl="0" fontAlgn="base" latinLnBrk="1">
              <a:lnSpc>
                <a:spcPct val="90000"/>
              </a:lnSpc>
              <a:spcBef>
                <a:spcPct val="0"/>
              </a:spcBef>
              <a:spcAft>
                <a:spcPct val="20000"/>
              </a:spcAft>
              <a:buSzPct val="100000"/>
              <a:buFontTx/>
              <a:buBlip>
                <a:blip r:embed="rId3"/>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4"/>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5"/>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5"/>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5"/>
              </a:buBlip>
              <a:defRPr sz="2000" b="1" i="0" u="none" baseline="0">
                <a:solidFill>
                  <a:srgbClr val="003399"/>
                </a:solidFill>
                <a:latin typeface="Arial" pitchFamily="34" charset="0"/>
                <a:ea typeface="楷体_GB2312" pitchFamily="49" charset="-122"/>
                <a:sym typeface="Times New Roman" pitchFamily="18" charset="0"/>
              </a:defRPr>
            </a:lvl5pPr>
          </a:lstStyle>
          <a:p>
            <a:pPr lvl="0">
              <a:lnSpc>
                <a:spcPct val="100000"/>
              </a:lnSpc>
            </a:pPr>
            <a:r>
              <a:rPr lang="zh-CN" altLang="en-US" b="0" dirty="0">
                <a:solidFill>
                  <a:schemeClr val="tx1"/>
                </a:solidFill>
                <a:latin typeface="微软雅黑" panose="020B0503020204020204" pitchFamily="34" charset="-122"/>
                <a:ea typeface="微软雅黑" panose="020B0503020204020204" pitchFamily="34" charset="-122"/>
              </a:rPr>
              <a:t>第</a:t>
            </a:r>
            <a:r>
              <a:rPr lang="en-US" altLang="zh-CN" b="0" dirty="0">
                <a:solidFill>
                  <a:schemeClr val="tx1"/>
                </a:solidFill>
                <a:latin typeface="微软雅黑" panose="020B0503020204020204" pitchFamily="34" charset="-122"/>
                <a:ea typeface="微软雅黑" panose="020B0503020204020204" pitchFamily="34" charset="-122"/>
              </a:rPr>
              <a:t>1</a:t>
            </a:r>
            <a:r>
              <a:rPr lang="zh-CN" altLang="en-US" b="0" dirty="0">
                <a:solidFill>
                  <a:schemeClr val="tx1"/>
                </a:solidFill>
                <a:latin typeface="微软雅黑" panose="020B0503020204020204" pitchFamily="34" charset="-122"/>
                <a:ea typeface="微软雅黑" panose="020B0503020204020204" pitchFamily="34" charset="-122"/>
              </a:rPr>
              <a:t>章　网络工程概述</a:t>
            </a:r>
          </a:p>
          <a:p>
            <a:pPr lvl="0">
              <a:lnSpc>
                <a:spcPct val="100000"/>
              </a:lnSpc>
            </a:pPr>
            <a:r>
              <a:rPr lang="zh-CN" altLang="en-US" b="0" dirty="0">
                <a:solidFill>
                  <a:schemeClr val="tx1"/>
                </a:solidFill>
                <a:latin typeface="微软雅黑" panose="020B0503020204020204" pitchFamily="34" charset="-122"/>
                <a:ea typeface="微软雅黑" panose="020B0503020204020204" pitchFamily="34" charset="-122"/>
              </a:rPr>
              <a:t>第</a:t>
            </a:r>
            <a:r>
              <a:rPr lang="en-US" altLang="zh-CN" b="0" dirty="0">
                <a:solidFill>
                  <a:schemeClr val="tx1"/>
                </a:solidFill>
                <a:latin typeface="微软雅黑" panose="020B0503020204020204" pitchFamily="34" charset="-122"/>
                <a:ea typeface="微软雅黑" panose="020B0503020204020204" pitchFamily="34" charset="-122"/>
              </a:rPr>
              <a:t>2</a:t>
            </a:r>
            <a:r>
              <a:rPr lang="zh-CN" altLang="en-US" b="0" dirty="0">
                <a:solidFill>
                  <a:schemeClr val="tx1"/>
                </a:solidFill>
                <a:latin typeface="微软雅黑" panose="020B0503020204020204" pitchFamily="34" charset="-122"/>
                <a:ea typeface="微软雅黑" panose="020B0503020204020204" pitchFamily="34" charset="-122"/>
              </a:rPr>
              <a:t>章　用户需求分析</a:t>
            </a:r>
          </a:p>
          <a:p>
            <a:pPr lvl="0">
              <a:lnSpc>
                <a:spcPct val="100000"/>
              </a:lnSpc>
            </a:pPr>
            <a:r>
              <a:rPr lang="zh-CN" altLang="en-US" b="0" dirty="0">
                <a:solidFill>
                  <a:schemeClr val="tx1"/>
                </a:solidFill>
                <a:latin typeface="微软雅黑" panose="020B0503020204020204" pitchFamily="34" charset="-122"/>
                <a:ea typeface="微软雅黑" panose="020B0503020204020204" pitchFamily="34" charset="-122"/>
              </a:rPr>
              <a:t>第</a:t>
            </a:r>
            <a:r>
              <a:rPr lang="en-US" altLang="zh-CN" b="0" dirty="0">
                <a:solidFill>
                  <a:schemeClr val="tx1"/>
                </a:solidFill>
                <a:latin typeface="微软雅黑" panose="020B0503020204020204" pitchFamily="34" charset="-122"/>
                <a:ea typeface="微软雅黑" panose="020B0503020204020204" pitchFamily="34" charset="-122"/>
              </a:rPr>
              <a:t>3</a:t>
            </a:r>
            <a:r>
              <a:rPr lang="zh-CN" altLang="en-US" b="0" dirty="0">
                <a:solidFill>
                  <a:schemeClr val="tx1"/>
                </a:solidFill>
                <a:latin typeface="微软雅黑" panose="020B0503020204020204" pitchFamily="34" charset="-122"/>
                <a:ea typeface="微软雅黑" panose="020B0503020204020204" pitchFamily="34" charset="-122"/>
              </a:rPr>
              <a:t>章　网络结构设计</a:t>
            </a:r>
          </a:p>
          <a:p>
            <a:pPr lvl="0">
              <a:lnSpc>
                <a:spcPct val="100000"/>
              </a:lnSpc>
            </a:pPr>
            <a:r>
              <a:rPr lang="zh-CN" altLang="en-US" b="0" dirty="0">
                <a:solidFill>
                  <a:schemeClr val="tx1"/>
                </a:solidFill>
                <a:latin typeface="微软雅黑" panose="020B0503020204020204" pitchFamily="34" charset="-122"/>
                <a:ea typeface="微软雅黑" panose="020B0503020204020204" pitchFamily="34" charset="-122"/>
              </a:rPr>
              <a:t>第</a:t>
            </a:r>
            <a:r>
              <a:rPr lang="en-US" altLang="zh-CN" b="0" dirty="0">
                <a:solidFill>
                  <a:schemeClr val="tx1"/>
                </a:solidFill>
                <a:latin typeface="微软雅黑" panose="020B0503020204020204" pitchFamily="34" charset="-122"/>
                <a:ea typeface="微软雅黑" panose="020B0503020204020204" pitchFamily="34" charset="-122"/>
              </a:rPr>
              <a:t>4</a:t>
            </a:r>
            <a:r>
              <a:rPr lang="zh-CN" altLang="en-US" b="0" dirty="0">
                <a:solidFill>
                  <a:schemeClr val="tx1"/>
                </a:solidFill>
                <a:latin typeface="微软雅黑" panose="020B0503020204020204" pitchFamily="34" charset="-122"/>
                <a:ea typeface="微软雅黑" panose="020B0503020204020204" pitchFamily="34" charset="-122"/>
              </a:rPr>
              <a:t>章　网络路由技术</a:t>
            </a:r>
          </a:p>
          <a:p>
            <a:pPr lvl="0">
              <a:lnSpc>
                <a:spcPct val="100000"/>
              </a:lnSpc>
            </a:pPr>
            <a:r>
              <a:rPr lang="zh-CN" altLang="en-US" b="0" dirty="0">
                <a:solidFill>
                  <a:schemeClr val="tx1"/>
                </a:solidFill>
                <a:latin typeface="微软雅黑" panose="020B0503020204020204" pitchFamily="34" charset="-122"/>
                <a:ea typeface="微软雅黑" panose="020B0503020204020204" pitchFamily="34" charset="-122"/>
              </a:rPr>
              <a:t>第</a:t>
            </a:r>
            <a:r>
              <a:rPr lang="en-US" altLang="zh-CN" b="0" dirty="0">
                <a:solidFill>
                  <a:schemeClr val="tx1"/>
                </a:solidFill>
                <a:latin typeface="微软雅黑" panose="020B0503020204020204" pitchFamily="34" charset="-122"/>
                <a:ea typeface="微软雅黑" panose="020B0503020204020204" pitchFamily="34" charset="-122"/>
              </a:rPr>
              <a:t>5</a:t>
            </a:r>
            <a:r>
              <a:rPr lang="zh-CN" altLang="en-US" b="0" dirty="0">
                <a:solidFill>
                  <a:schemeClr val="tx1"/>
                </a:solidFill>
                <a:latin typeface="微软雅黑" panose="020B0503020204020204" pitchFamily="34" charset="-122"/>
                <a:ea typeface="微软雅黑" panose="020B0503020204020204" pitchFamily="34" charset="-122"/>
              </a:rPr>
              <a:t>章　网络性能设计</a:t>
            </a:r>
          </a:p>
          <a:p>
            <a:pPr lvl="0">
              <a:lnSpc>
                <a:spcPct val="100000"/>
              </a:lnSpc>
            </a:pPr>
            <a:r>
              <a:rPr lang="zh-CN" altLang="en-US" b="0" dirty="0">
                <a:solidFill>
                  <a:schemeClr val="tx1"/>
                </a:solidFill>
                <a:latin typeface="微软雅黑" panose="020B0503020204020204" pitchFamily="34" charset="-122"/>
                <a:ea typeface="微软雅黑" panose="020B0503020204020204" pitchFamily="34" charset="-122"/>
              </a:rPr>
              <a:t>第</a:t>
            </a:r>
            <a:r>
              <a:rPr lang="en-US" altLang="zh-CN" b="0" dirty="0">
                <a:solidFill>
                  <a:schemeClr val="tx1"/>
                </a:solidFill>
                <a:latin typeface="微软雅黑" panose="020B0503020204020204" pitchFamily="34" charset="-122"/>
                <a:ea typeface="微软雅黑" panose="020B0503020204020204" pitchFamily="34" charset="-122"/>
              </a:rPr>
              <a:t>6</a:t>
            </a:r>
            <a:r>
              <a:rPr lang="zh-CN" altLang="en-US" b="0" dirty="0">
                <a:solidFill>
                  <a:schemeClr val="tx1"/>
                </a:solidFill>
                <a:latin typeface="微软雅黑" panose="020B0503020204020204" pitchFamily="34" charset="-122"/>
                <a:ea typeface="微软雅黑" panose="020B0503020204020204" pitchFamily="34" charset="-122"/>
              </a:rPr>
              <a:t>章　网络可靠性设计</a:t>
            </a:r>
          </a:p>
          <a:p>
            <a:pPr lvl="0">
              <a:lnSpc>
                <a:spcPct val="100000"/>
              </a:lnSpc>
            </a:pPr>
            <a:r>
              <a:rPr lang="zh-CN" altLang="en-US" b="0" dirty="0">
                <a:solidFill>
                  <a:schemeClr val="tx1"/>
                </a:solidFill>
                <a:latin typeface="微软雅黑" panose="020B0503020204020204" pitchFamily="34" charset="-122"/>
                <a:ea typeface="微软雅黑" panose="020B0503020204020204" pitchFamily="34" charset="-122"/>
              </a:rPr>
              <a:t>第</a:t>
            </a:r>
            <a:r>
              <a:rPr lang="en-US" altLang="zh-CN" b="0" dirty="0">
                <a:solidFill>
                  <a:schemeClr val="tx1"/>
                </a:solidFill>
                <a:latin typeface="微软雅黑" panose="020B0503020204020204" pitchFamily="34" charset="-122"/>
                <a:ea typeface="微软雅黑" panose="020B0503020204020204" pitchFamily="34" charset="-122"/>
              </a:rPr>
              <a:t>7</a:t>
            </a:r>
            <a:r>
              <a:rPr lang="zh-CN" altLang="en-US" b="0" dirty="0">
                <a:solidFill>
                  <a:schemeClr val="tx1"/>
                </a:solidFill>
                <a:latin typeface="微软雅黑" panose="020B0503020204020204" pitchFamily="34" charset="-122"/>
                <a:ea typeface="微软雅黑" panose="020B0503020204020204" pitchFamily="34" charset="-122"/>
              </a:rPr>
              <a:t>章　网络安全设计</a:t>
            </a:r>
          </a:p>
          <a:p>
            <a:pPr lvl="0">
              <a:lnSpc>
                <a:spcPct val="100000"/>
              </a:lnSpc>
            </a:pPr>
            <a:r>
              <a:rPr lang="zh-CN" altLang="en-US" b="0" dirty="0">
                <a:solidFill>
                  <a:schemeClr val="tx1"/>
                </a:solidFill>
                <a:latin typeface="微软雅黑" panose="020B0503020204020204" pitchFamily="34" charset="-122"/>
                <a:ea typeface="微软雅黑" panose="020B0503020204020204" pitchFamily="34" charset="-122"/>
              </a:rPr>
              <a:t>第</a:t>
            </a:r>
            <a:r>
              <a:rPr lang="en-US" altLang="zh-CN" b="0" dirty="0">
                <a:solidFill>
                  <a:schemeClr val="tx1"/>
                </a:solidFill>
                <a:latin typeface="微软雅黑" panose="020B0503020204020204" pitchFamily="34" charset="-122"/>
                <a:ea typeface="微软雅黑" panose="020B0503020204020204" pitchFamily="34" charset="-122"/>
              </a:rPr>
              <a:t>8</a:t>
            </a:r>
            <a:r>
              <a:rPr lang="zh-CN" altLang="en-US" b="0" dirty="0">
                <a:solidFill>
                  <a:schemeClr val="tx1"/>
                </a:solidFill>
                <a:latin typeface="微软雅黑" panose="020B0503020204020204" pitchFamily="34" charset="-122"/>
                <a:ea typeface="微软雅黑" panose="020B0503020204020204" pitchFamily="34" charset="-122"/>
              </a:rPr>
              <a:t>章　光纤通信工程</a:t>
            </a:r>
          </a:p>
          <a:p>
            <a:pPr lvl="0">
              <a:lnSpc>
                <a:spcPct val="100000"/>
              </a:lnSpc>
            </a:pPr>
            <a:r>
              <a:rPr lang="zh-CN" altLang="en-US" b="0" dirty="0">
                <a:solidFill>
                  <a:schemeClr val="tx1"/>
                </a:solidFill>
                <a:latin typeface="微软雅黑" panose="020B0503020204020204" pitchFamily="34" charset="-122"/>
                <a:ea typeface="微软雅黑" panose="020B0503020204020204" pitchFamily="34" charset="-122"/>
              </a:rPr>
              <a:t>第</a:t>
            </a:r>
            <a:r>
              <a:rPr lang="en-US" altLang="zh-CN" b="0" dirty="0">
                <a:solidFill>
                  <a:schemeClr val="tx1"/>
                </a:solidFill>
                <a:latin typeface="微软雅黑" panose="020B0503020204020204" pitchFamily="34" charset="-122"/>
                <a:ea typeface="微软雅黑" panose="020B0503020204020204" pitchFamily="34" charset="-122"/>
              </a:rPr>
              <a:t>9</a:t>
            </a:r>
            <a:r>
              <a:rPr lang="zh-CN" altLang="en-US" b="0" dirty="0">
                <a:solidFill>
                  <a:schemeClr val="tx1"/>
                </a:solidFill>
                <a:latin typeface="微软雅黑" panose="020B0503020204020204" pitchFamily="34" charset="-122"/>
                <a:ea typeface="微软雅黑" panose="020B0503020204020204" pitchFamily="34" charset="-122"/>
              </a:rPr>
              <a:t>章　综合布线设计</a:t>
            </a:r>
          </a:p>
          <a:p>
            <a:pPr lvl="0">
              <a:lnSpc>
                <a:spcPct val="100000"/>
              </a:lnSpc>
            </a:pPr>
            <a:r>
              <a:rPr lang="en-US" altLang="zh-CN" b="0" dirty="0">
                <a:solidFill>
                  <a:schemeClr val="tx1"/>
                </a:solidFill>
                <a:latin typeface="微软雅黑" panose="020B0503020204020204" pitchFamily="34" charset="-122"/>
                <a:ea typeface="微软雅黑" panose="020B0503020204020204" pitchFamily="34" charset="-122"/>
              </a:rPr>
              <a:t>第10</a:t>
            </a:r>
            <a:r>
              <a:rPr lang="zh-CN" altLang="en-US" b="0" dirty="0">
                <a:solidFill>
                  <a:schemeClr val="tx1"/>
                </a:solidFill>
                <a:latin typeface="微软雅黑" panose="020B0503020204020204" pitchFamily="34" charset="-122"/>
                <a:ea typeface="微软雅黑" panose="020B0503020204020204" pitchFamily="34" charset="-122"/>
              </a:rPr>
              <a:t>章　城域接入网设计</a:t>
            </a:r>
          </a:p>
          <a:p>
            <a:pPr lvl="0">
              <a:lnSpc>
                <a:spcPct val="100000"/>
              </a:lnSpc>
            </a:pPr>
            <a:r>
              <a:rPr lang="zh-CN" altLang="en-US" b="0" dirty="0">
                <a:solidFill>
                  <a:schemeClr val="tx1"/>
                </a:solidFill>
                <a:latin typeface="微软雅黑" panose="020B0503020204020204" pitchFamily="34" charset="-122"/>
                <a:ea typeface="微软雅黑" panose="020B0503020204020204" pitchFamily="34" charset="-122"/>
              </a:rPr>
              <a:t>第</a:t>
            </a:r>
            <a:r>
              <a:rPr lang="en-US" altLang="zh-CN" b="0" dirty="0">
                <a:solidFill>
                  <a:schemeClr val="tx1"/>
                </a:solidFill>
                <a:latin typeface="微软雅黑" panose="020B0503020204020204" pitchFamily="34" charset="-122"/>
                <a:ea typeface="微软雅黑" panose="020B0503020204020204" pitchFamily="34" charset="-122"/>
              </a:rPr>
              <a:t>11</a:t>
            </a:r>
            <a:r>
              <a:rPr lang="zh-CN" altLang="en-US" b="0" dirty="0">
                <a:solidFill>
                  <a:schemeClr val="tx1"/>
                </a:solidFill>
                <a:latin typeface="微软雅黑" panose="020B0503020204020204" pitchFamily="34" charset="-122"/>
                <a:ea typeface="微软雅黑" panose="020B0503020204020204" pitchFamily="34" charset="-122"/>
              </a:rPr>
              <a:t>章　城域传输网设计</a:t>
            </a:r>
          </a:p>
        </p:txBody>
      </p:sp>
      <p:sp>
        <p:nvSpPr>
          <p:cNvPr id="1048643" name="Rectangle 2"/>
          <p:cNvSpPr>
            <a:spLocks noGrp="1"/>
          </p:cNvSpPr>
          <p:nvPr>
            <p:ph type="title"/>
          </p:nvPr>
        </p:nvSpPr>
        <p:spPr>
          <a:xfrm>
            <a:off x="0" y="-272258"/>
            <a:ext cx="10515600" cy="132556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r>
              <a:rPr lang="zh-CN" altLang="en-US" dirty="0">
                <a:solidFill>
                  <a:schemeClr val="bg1"/>
                </a:solidFill>
              </a:rPr>
              <a:t>教材目录</a:t>
            </a:r>
          </a:p>
        </p:txBody>
      </p:sp>
      <p:pic>
        <p:nvPicPr>
          <p:cNvPr id="2097152" name="Picture 4" descr="41592封面"/>
          <p:cNvPicPr>
            <a:picLocks/>
          </p:cNvPicPr>
          <p:nvPr/>
        </p:nvPicPr>
        <p:blipFill>
          <a:blip r:embed="rId6"/>
          <a:srcRect/>
          <a:stretch>
            <a:fillRect/>
          </a:stretch>
        </p:blipFill>
        <p:spPr>
          <a:xfrm>
            <a:off x="7824192" y="1772816"/>
            <a:ext cx="2455862" cy="3167062"/>
          </a:xfrm>
          <a:prstGeom prst="rect">
            <a:avLst/>
          </a:prstGeom>
          <a:noFill/>
          <a:ln>
            <a:noFill/>
          </a:ln>
        </p:spPr>
      </p:pic>
    </p:spTree>
  </p:cSld>
  <p:clrMapOvr>
    <a:masterClrMapping/>
  </p:clrMapOvr>
  <p:transition spd="slow">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9" name="Rectangle 3"/>
          <p:cNvSpPr>
            <a:spLocks noGrp="1"/>
          </p:cNvSpPr>
          <p:nvPr>
            <p:ph idx="1"/>
          </p:nvPr>
        </p:nvSpPr>
        <p:spPr>
          <a:xfrm>
            <a:off x="479376" y="1117996"/>
            <a:ext cx="10515600" cy="4351338"/>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r>
              <a:rPr lang="en-US" altLang="zh-CN" dirty="0">
                <a:solidFill>
                  <a:schemeClr val="tx1"/>
                </a:solidFill>
              </a:rPr>
              <a:t>1.</a:t>
            </a:r>
            <a:r>
              <a:rPr lang="zh-CN" altLang="en-US" dirty="0">
                <a:solidFill>
                  <a:schemeClr val="tx1"/>
                </a:solidFill>
              </a:rPr>
              <a:t>网络综合布线设计</a:t>
            </a:r>
            <a:endParaRPr lang="en-US" altLang="zh-CN" dirty="0">
              <a:solidFill>
                <a:schemeClr val="tx1"/>
              </a:solidFill>
            </a:endParaRPr>
          </a:p>
          <a:p>
            <a:endParaRPr lang="zh-CN" altLang="en-US" dirty="0">
              <a:solidFill>
                <a:schemeClr val="tx1"/>
              </a:solidFill>
            </a:endParaRPr>
          </a:p>
          <a:p>
            <a:r>
              <a:rPr lang="en-US" altLang="zh-CN" dirty="0">
                <a:solidFill>
                  <a:schemeClr val="tx1"/>
                </a:solidFill>
              </a:rPr>
              <a:t>2.</a:t>
            </a:r>
            <a:r>
              <a:rPr lang="zh-CN" altLang="en-US" dirty="0">
                <a:solidFill>
                  <a:schemeClr val="tx1"/>
                </a:solidFill>
              </a:rPr>
              <a:t>某县城城域传输网设计</a:t>
            </a:r>
          </a:p>
          <a:p>
            <a:endParaRPr lang="zh-CN" altLang="en-US" dirty="0">
              <a:solidFill>
                <a:schemeClr val="tx1"/>
              </a:solidFill>
            </a:endParaRPr>
          </a:p>
        </p:txBody>
      </p:sp>
      <p:sp>
        <p:nvSpPr>
          <p:cNvPr id="1048648" name="Rectangle 2"/>
          <p:cNvSpPr>
            <a:spLocks noGrp="1"/>
          </p:cNvSpPr>
          <p:nvPr>
            <p:ph type="title"/>
          </p:nvPr>
        </p:nvSpPr>
        <p:spPr>
          <a:xfrm>
            <a:off x="0" y="-223591"/>
            <a:ext cx="10515600" cy="132556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r>
              <a:rPr lang="zh-CN" altLang="en-US" dirty="0">
                <a:solidFill>
                  <a:schemeClr val="bg1"/>
                </a:solidFill>
              </a:rPr>
              <a:t>课程设计（待定）</a:t>
            </a:r>
          </a:p>
        </p:txBody>
      </p:sp>
    </p:spTree>
  </p:cSld>
  <p:clrMapOvr>
    <a:masterClrMapping/>
  </p:clrMapOvr>
  <p:transition spd="slow">
    <p:zo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3" name="Rectangle 2"/>
          <p:cNvSpPr/>
          <p:nvPr/>
        </p:nvSpPr>
        <p:spPr>
          <a:xfrm>
            <a:off x="-2040904" y="116632"/>
            <a:ext cx="8280400" cy="584775"/>
          </a:xfrm>
          <a:prstGeom prst="rect">
            <a:avLst/>
          </a:prstGeom>
          <a:noFill/>
          <a:ln>
            <a:noFill/>
          </a:ln>
        </p:spPr>
        <p:txBody>
          <a:bodyPr vert="horz" lIns="91440" tIns="45720" rIns="91440" bIns="4572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zh-CN" altLang="en-US" sz="3200" b="1" dirty="0">
                <a:solidFill>
                  <a:schemeClr val="bg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第</a:t>
            </a:r>
            <a:r>
              <a:rPr lang="zh-CN" altLang="zh-CN" sz="3200" b="1" dirty="0">
                <a:solidFill>
                  <a:schemeClr val="bg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1</a:t>
            </a:r>
            <a:r>
              <a:rPr lang="zh-CN" altLang="en-US" sz="3200" b="1" dirty="0">
                <a:solidFill>
                  <a:schemeClr val="bg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章  网络工程概述</a:t>
            </a:r>
          </a:p>
        </p:txBody>
      </p:sp>
      <p:sp>
        <p:nvSpPr>
          <p:cNvPr id="1048654" name="Rectangle 3"/>
          <p:cNvSpPr/>
          <p:nvPr/>
        </p:nvSpPr>
        <p:spPr>
          <a:xfrm>
            <a:off x="2351584" y="1484784"/>
            <a:ext cx="8640960" cy="3692165"/>
          </a:xfrm>
          <a:prstGeom prst="rect">
            <a:avLst/>
          </a:prstGeom>
          <a:noFill/>
          <a:ln>
            <a:noFill/>
          </a:ln>
        </p:spPr>
        <p:txBody>
          <a:bodyPr vert="horz" wrap="square" lIns="91440" tIns="45720" rIns="91440" bIns="4572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lnSpc>
                <a:spcPct val="150000"/>
              </a:lnSpc>
              <a:buFontTx/>
              <a:buNone/>
            </a:pPr>
            <a:r>
              <a:rPr lang="en-US" altLang="zh-CN" sz="3200" b="1" dirty="0">
                <a:solidFill>
                  <a:schemeClr val="tx1"/>
                </a:solidFill>
                <a:ea typeface="黑体" pitchFamily="49" charset="-122"/>
              </a:rPr>
              <a:t>1.0  </a:t>
            </a:r>
            <a:r>
              <a:rPr lang="zh-CN" altLang="en-US" sz="3200" b="1" dirty="0">
                <a:solidFill>
                  <a:schemeClr val="tx1"/>
                </a:solidFill>
                <a:ea typeface="黑体" pitchFamily="49" charset="-122"/>
                <a:sym typeface="+mn-ea"/>
              </a:rPr>
              <a:t>计算机网络工程概论</a:t>
            </a:r>
          </a:p>
          <a:p>
            <a:pPr lvl="0" eaLnBrk="1" latinLnBrk="1" hangingPunct="1">
              <a:lnSpc>
                <a:spcPct val="150000"/>
              </a:lnSpc>
              <a:buFontTx/>
              <a:buNone/>
            </a:pPr>
            <a:r>
              <a:rPr lang="en-US" altLang="zh-CN" sz="3200" b="1" dirty="0">
                <a:solidFill>
                  <a:schemeClr val="tx1"/>
                </a:solidFill>
                <a:ea typeface="黑体" pitchFamily="49" charset="-122"/>
              </a:rPr>
              <a:t>1.1  </a:t>
            </a:r>
            <a:r>
              <a:rPr lang="zh-CN" altLang="en-US" sz="3200" b="1" dirty="0">
                <a:solidFill>
                  <a:schemeClr val="tx1"/>
                </a:solidFill>
                <a:ea typeface="黑体" pitchFamily="49" charset="-122"/>
              </a:rPr>
              <a:t>网络工程基本特征</a:t>
            </a:r>
          </a:p>
          <a:p>
            <a:pPr lvl="0" eaLnBrk="1" latinLnBrk="1" hangingPunct="1">
              <a:lnSpc>
                <a:spcPct val="150000"/>
              </a:lnSpc>
              <a:buFontTx/>
              <a:buNone/>
            </a:pPr>
            <a:r>
              <a:rPr lang="en-US" altLang="zh-CN" sz="3200" b="1" dirty="0">
                <a:solidFill>
                  <a:schemeClr val="tx1"/>
                </a:solidFill>
                <a:ea typeface="黑体" pitchFamily="49" charset="-122"/>
              </a:rPr>
              <a:t>1.2  </a:t>
            </a:r>
            <a:r>
              <a:rPr lang="zh-CN" altLang="en-US" sz="3200" b="1" dirty="0">
                <a:solidFill>
                  <a:schemeClr val="tx1"/>
                </a:solidFill>
                <a:ea typeface="黑体" pitchFamily="49" charset="-122"/>
              </a:rPr>
              <a:t>网络工程设计规范</a:t>
            </a:r>
          </a:p>
          <a:p>
            <a:pPr lvl="0" eaLnBrk="1" latinLnBrk="1" hangingPunct="1">
              <a:lnSpc>
                <a:spcPct val="150000"/>
              </a:lnSpc>
              <a:buFontTx/>
              <a:buNone/>
            </a:pPr>
            <a:r>
              <a:rPr lang="en-US" altLang="zh-CN" sz="3200" b="1" dirty="0">
                <a:solidFill>
                  <a:schemeClr val="tx1"/>
                </a:solidFill>
                <a:ea typeface="黑体" pitchFamily="49" charset="-122"/>
              </a:rPr>
              <a:t>1.3  </a:t>
            </a:r>
            <a:r>
              <a:rPr lang="zh-CN" altLang="en-US" sz="3200" b="1" dirty="0">
                <a:solidFill>
                  <a:schemeClr val="tx1"/>
                </a:solidFill>
                <a:ea typeface="黑体" pitchFamily="49" charset="-122"/>
              </a:rPr>
              <a:t>网络通信体系结构</a:t>
            </a:r>
            <a:r>
              <a:rPr lang="en-US" altLang="zh-CN" sz="2400" b="1" dirty="0">
                <a:solidFill>
                  <a:srgbClr val="FF0000"/>
                </a:solidFill>
              </a:rPr>
              <a:t>【</a:t>
            </a:r>
            <a:r>
              <a:rPr lang="zh-CN" altLang="en-US" sz="2400" b="1" dirty="0">
                <a:solidFill>
                  <a:srgbClr val="FF0000"/>
                </a:solidFill>
                <a:effectLst>
                  <a:outerShdw blurRad="38100" dist="38100" dir="2700000" algn="tl">
                    <a:srgbClr val="C0C0C0"/>
                  </a:outerShdw>
                </a:effectLst>
                <a:ea typeface="黑体" pitchFamily="49" charset="-122"/>
              </a:rPr>
              <a:t>重点</a:t>
            </a:r>
            <a:r>
              <a:rPr lang="en-US" altLang="zh-CN" sz="2400" b="1" dirty="0">
                <a:solidFill>
                  <a:srgbClr val="FF0000"/>
                </a:solidFill>
              </a:rPr>
              <a:t>】</a:t>
            </a:r>
            <a:r>
              <a:rPr lang="en-US" altLang="zh-CN" sz="2400" b="1" dirty="0">
                <a:solidFill>
                  <a:srgbClr val="FF0000"/>
                </a:solidFill>
                <a:latin typeface="黑体" pitchFamily="49" charset="-122"/>
                <a:ea typeface="黑体" pitchFamily="49" charset="-122"/>
              </a:rPr>
              <a:t>(</a:t>
            </a:r>
            <a:r>
              <a:rPr lang="zh-CN" altLang="en-US" sz="2400" b="1" dirty="0">
                <a:solidFill>
                  <a:srgbClr val="FF0000"/>
                </a:solidFill>
                <a:latin typeface="黑体" pitchFamily="49" charset="-122"/>
                <a:ea typeface="黑体" pitchFamily="49" charset="-122"/>
                <a:sym typeface="+mn-ea"/>
              </a:rPr>
              <a:t>含</a:t>
            </a:r>
            <a:r>
              <a:rPr lang="zh-CN" altLang="zh-CN" sz="2400" b="1" dirty="0">
                <a:solidFill>
                  <a:srgbClr val="FF0000"/>
                </a:solidFill>
                <a:latin typeface="黑体" pitchFamily="49" charset="-122"/>
                <a:ea typeface="黑体" pitchFamily="49" charset="-122"/>
                <a:sym typeface="+mn-ea"/>
              </a:rPr>
              <a:t>SDN)</a:t>
            </a:r>
          </a:p>
          <a:p>
            <a:pPr lvl="0" eaLnBrk="1" latinLnBrk="1" hangingPunct="1">
              <a:lnSpc>
                <a:spcPct val="150000"/>
              </a:lnSpc>
              <a:buFontTx/>
              <a:buNone/>
            </a:pPr>
            <a:r>
              <a:rPr lang="zh-CN" altLang="en-US" sz="3200" b="1" dirty="0">
                <a:solidFill>
                  <a:schemeClr val="tx1"/>
                </a:solidFill>
                <a:ea typeface="黑体" pitchFamily="49" charset="-122"/>
              </a:rPr>
              <a:t>1.4  网络工程设计分析</a:t>
            </a:r>
            <a:r>
              <a:rPr lang="en-US" altLang="zh-CN" sz="2400" b="1" dirty="0">
                <a:solidFill>
                  <a:srgbClr val="FF0000"/>
                </a:solidFill>
              </a:rPr>
              <a:t>【</a:t>
            </a:r>
            <a:r>
              <a:rPr lang="zh-CN" altLang="en-US" sz="2400" b="1" dirty="0">
                <a:solidFill>
                  <a:srgbClr val="FF0000"/>
                </a:solidFill>
                <a:effectLst>
                  <a:outerShdw blurRad="38100" dist="38100" dir="2700000" algn="tl">
                    <a:srgbClr val="C0C0C0"/>
                  </a:outerShdw>
                </a:effectLst>
                <a:ea typeface="黑体" pitchFamily="49" charset="-122"/>
              </a:rPr>
              <a:t>重点</a:t>
            </a:r>
            <a:r>
              <a:rPr lang="en-US" altLang="zh-CN" sz="2400" b="1" dirty="0">
                <a:solidFill>
                  <a:srgbClr val="FF0000"/>
                </a:solidFill>
              </a:rPr>
              <a:t>】</a:t>
            </a:r>
          </a:p>
        </p:txBody>
      </p:sp>
    </p:spTree>
  </p:cSld>
  <p:clrMapOvr>
    <a:masterClrMapping/>
  </p:clrMapOvr>
  <p:transition spd="slow">
    <p:zo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9" name="文本占位符 133122"/>
          <p:cNvSpPr>
            <a:spLocks noGrp="1"/>
          </p:cNvSpPr>
          <p:nvPr>
            <p:ph idx="1"/>
          </p:nvPr>
        </p:nvSpPr>
        <p:spPr>
          <a:xfrm>
            <a:off x="191344" y="908721"/>
            <a:ext cx="11737304" cy="5184576"/>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algn="just">
              <a:lnSpc>
                <a:spcPct val="100000"/>
              </a:lnSpc>
              <a:buFontTx/>
              <a:buNone/>
            </a:pPr>
            <a:r>
              <a:rPr lang="zh-CN" altLang="en-US" dirty="0">
                <a:solidFill>
                  <a:schemeClr val="tx1"/>
                </a:solidFill>
              </a:rPr>
              <a:t>1. 工程的含义及特点</a:t>
            </a:r>
          </a:p>
          <a:p>
            <a:pPr lvl="0">
              <a:lnSpc>
                <a:spcPct val="100000"/>
              </a:lnSpc>
            </a:pPr>
            <a:r>
              <a:rPr lang="zh-CN" altLang="en-US" b="0" dirty="0">
                <a:solidFill>
                  <a:schemeClr val="tx1"/>
                </a:solidFill>
              </a:rPr>
              <a:t>简单地讲，工程是指按计划进行的</a:t>
            </a:r>
            <a:r>
              <a:rPr lang="en-US" altLang="zh-CN" b="0" dirty="0" err="1">
                <a:solidFill>
                  <a:schemeClr val="tx1"/>
                </a:solidFill>
              </a:rPr>
              <a:t>工作</a:t>
            </a:r>
            <a:r>
              <a:rPr lang="en-US" altLang="zh-CN" b="0" dirty="0">
                <a:solidFill>
                  <a:schemeClr val="tx1"/>
                </a:solidFill>
              </a:rPr>
              <a:t>。</a:t>
            </a:r>
          </a:p>
          <a:p>
            <a:pPr lvl="0">
              <a:lnSpc>
                <a:spcPct val="100000"/>
              </a:lnSpc>
              <a:buFontTx/>
              <a:buNone/>
            </a:pPr>
            <a:r>
              <a:rPr lang="en-US" altLang="zh-CN" b="0" dirty="0">
                <a:solidFill>
                  <a:schemeClr val="tx1"/>
                </a:solidFill>
              </a:rPr>
              <a:t>（1</a:t>
            </a:r>
            <a:r>
              <a:rPr lang="zh-CN" altLang="en-US" b="0" dirty="0">
                <a:solidFill>
                  <a:schemeClr val="tx1"/>
                </a:solidFill>
              </a:rPr>
              <a:t>）工程要有非常明确的目标</a:t>
            </a:r>
            <a:r>
              <a:rPr lang="en-US" altLang="zh-CN" b="0" dirty="0">
                <a:solidFill>
                  <a:schemeClr val="tx1"/>
                </a:solidFill>
              </a:rPr>
              <a:t>，这在工程开始之前就要确定，在工程进行中不能轻易更改。</a:t>
            </a:r>
          </a:p>
          <a:p>
            <a:pPr lvl="0">
              <a:lnSpc>
                <a:spcPct val="100000"/>
              </a:lnSpc>
              <a:buFontTx/>
              <a:buNone/>
            </a:pPr>
            <a:r>
              <a:rPr lang="en-US" altLang="zh-CN" b="0" dirty="0">
                <a:solidFill>
                  <a:schemeClr val="tx1"/>
                </a:solidFill>
              </a:rPr>
              <a:t>（2</a:t>
            </a:r>
            <a:r>
              <a:rPr lang="zh-CN" altLang="en-US" b="0" dirty="0">
                <a:solidFill>
                  <a:schemeClr val="tx1"/>
                </a:solidFill>
              </a:rPr>
              <a:t>）工程要有详细的规划</a:t>
            </a:r>
            <a:r>
              <a:rPr lang="en-US" altLang="zh-CN" b="0" dirty="0">
                <a:solidFill>
                  <a:schemeClr val="tx1"/>
                </a:solidFill>
              </a:rPr>
              <a:t>，</a:t>
            </a:r>
            <a:r>
              <a:rPr lang="en-US" altLang="zh-CN" b="0" dirty="0" err="1">
                <a:solidFill>
                  <a:schemeClr val="tx1"/>
                </a:solidFill>
              </a:rPr>
              <a:t>规划一般分为不同的层次，有的比较概括（如总体规划</a:t>
            </a:r>
            <a:r>
              <a:rPr lang="en-US" altLang="zh-CN" b="0" dirty="0">
                <a:solidFill>
                  <a:schemeClr val="tx1"/>
                </a:solidFill>
              </a:rPr>
              <a:t>），</a:t>
            </a:r>
            <a:r>
              <a:rPr lang="en-US" altLang="zh-CN" b="0" dirty="0" err="1">
                <a:solidFill>
                  <a:schemeClr val="tx1"/>
                </a:solidFill>
              </a:rPr>
              <a:t>有的非常具体（如实施方案</a:t>
            </a:r>
            <a:r>
              <a:rPr lang="en-US" altLang="zh-CN" b="0" dirty="0">
                <a:solidFill>
                  <a:schemeClr val="tx1"/>
                </a:solidFill>
              </a:rPr>
              <a:t>）。</a:t>
            </a:r>
          </a:p>
          <a:p>
            <a:pPr lvl="0">
              <a:lnSpc>
                <a:spcPct val="100000"/>
              </a:lnSpc>
              <a:buFontTx/>
              <a:buNone/>
            </a:pPr>
            <a:r>
              <a:rPr lang="en-US" altLang="zh-CN" b="0" dirty="0">
                <a:solidFill>
                  <a:schemeClr val="tx1"/>
                </a:solidFill>
              </a:rPr>
              <a:t>（3</a:t>
            </a:r>
            <a:r>
              <a:rPr lang="zh-CN" altLang="en-US" b="0" dirty="0">
                <a:solidFill>
                  <a:schemeClr val="tx1"/>
                </a:solidFill>
              </a:rPr>
              <a:t>）工程要有正规的依据，例如国际标准，国家标准、军队标准、行业标准或是地方标准。</a:t>
            </a:r>
          </a:p>
          <a:p>
            <a:pPr lvl="0">
              <a:lnSpc>
                <a:spcPct val="100000"/>
              </a:lnSpc>
              <a:buFontTx/>
              <a:buNone/>
            </a:pPr>
            <a:endParaRPr lang="zh-CN" altLang="en-US" dirty="0">
              <a:solidFill>
                <a:schemeClr val="tx1"/>
              </a:solidFill>
            </a:endParaRPr>
          </a:p>
          <a:p>
            <a:pPr lvl="0">
              <a:lnSpc>
                <a:spcPct val="100000"/>
              </a:lnSpc>
            </a:pPr>
            <a:endParaRPr lang="zh-CN" altLang="en-US" dirty="0">
              <a:solidFill>
                <a:schemeClr val="tx1"/>
              </a:solidFill>
            </a:endParaRPr>
          </a:p>
        </p:txBody>
      </p:sp>
      <p:sp>
        <p:nvSpPr>
          <p:cNvPr id="1048658" name="标题 133121"/>
          <p:cNvSpPr>
            <a:spLocks noGrp="1"/>
          </p:cNvSpPr>
          <p:nvPr>
            <p:ph type="title"/>
          </p:nvPr>
        </p:nvSpPr>
        <p:spPr>
          <a:xfrm>
            <a:off x="21185" y="116632"/>
            <a:ext cx="6659562" cy="649287"/>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a:r>
              <a:rPr lang="zh-CN" altLang="en-US" dirty="0">
                <a:solidFill>
                  <a:schemeClr val="bg1"/>
                </a:solidFill>
              </a:rPr>
              <a:t>1.</a:t>
            </a:r>
            <a:r>
              <a:rPr lang="zh-CN" altLang="zh-CN" dirty="0">
                <a:solidFill>
                  <a:schemeClr val="bg1"/>
                </a:solidFill>
              </a:rPr>
              <a:t>0</a:t>
            </a:r>
            <a:r>
              <a:rPr lang="zh-CN" altLang="en-US" dirty="0">
                <a:solidFill>
                  <a:schemeClr val="bg1"/>
                </a:solidFill>
              </a:rPr>
              <a:t> 计算机网络工程概论</a:t>
            </a:r>
          </a:p>
        </p:txBody>
      </p:sp>
    </p:spTree>
  </p:cSld>
  <p:clrMapOvr>
    <a:masterClrMapping/>
  </p:clrMapOvr>
  <p:transition spd="slow">
    <p:zo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4" name="文本占位符 132098"/>
          <p:cNvSpPr>
            <a:spLocks noGrp="1"/>
          </p:cNvSpPr>
          <p:nvPr>
            <p:ph idx="1"/>
          </p:nvPr>
        </p:nvSpPr>
        <p:spPr>
          <a:xfrm>
            <a:off x="191344" y="836713"/>
            <a:ext cx="11809312" cy="5400600"/>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algn="just">
              <a:lnSpc>
                <a:spcPct val="100000"/>
              </a:lnSpc>
              <a:buFontTx/>
              <a:buNone/>
            </a:pPr>
            <a:r>
              <a:rPr lang="zh-CN" altLang="en-US" dirty="0">
                <a:solidFill>
                  <a:schemeClr val="tx1"/>
                </a:solidFill>
              </a:rPr>
              <a:t>1.工程的含义及特点</a:t>
            </a:r>
          </a:p>
          <a:p>
            <a:pPr lvl="0">
              <a:lnSpc>
                <a:spcPct val="100000"/>
              </a:lnSpc>
              <a:buFontTx/>
              <a:buNone/>
            </a:pPr>
            <a:r>
              <a:rPr lang="zh-CN" altLang="en-US" b="0" dirty="0">
                <a:solidFill>
                  <a:schemeClr val="tx1"/>
                </a:solidFill>
              </a:rPr>
              <a:t>（</a:t>
            </a:r>
            <a:r>
              <a:rPr lang="en-US" altLang="zh-CN" b="0" dirty="0">
                <a:solidFill>
                  <a:schemeClr val="tx1"/>
                </a:solidFill>
              </a:rPr>
              <a:t>4</a:t>
            </a:r>
            <a:r>
              <a:rPr lang="zh-CN" altLang="en-US" b="0" dirty="0">
                <a:solidFill>
                  <a:schemeClr val="tx1"/>
                </a:solidFill>
              </a:rPr>
              <a:t>）工程要有完备的技术文档</a:t>
            </a:r>
            <a:r>
              <a:rPr lang="en-US" altLang="zh-CN" b="0" dirty="0">
                <a:solidFill>
                  <a:schemeClr val="tx1"/>
                </a:solidFill>
              </a:rPr>
              <a:t>，</a:t>
            </a:r>
            <a:r>
              <a:rPr lang="en-US" altLang="zh-CN" b="0" dirty="0" err="1">
                <a:solidFill>
                  <a:schemeClr val="tx1"/>
                </a:solidFill>
              </a:rPr>
              <a:t>例如可行性论证报告，总体技术方案、总体设计方案、实施方案以及各子系统（模块）的相关文档</a:t>
            </a:r>
            <a:r>
              <a:rPr lang="en-US" altLang="zh-CN" b="0" dirty="0">
                <a:solidFill>
                  <a:schemeClr val="tx1"/>
                </a:solidFill>
              </a:rPr>
              <a:t>。</a:t>
            </a:r>
          </a:p>
          <a:p>
            <a:pPr lvl="0">
              <a:lnSpc>
                <a:spcPct val="100000"/>
              </a:lnSpc>
              <a:buFontTx/>
              <a:buNone/>
            </a:pPr>
            <a:r>
              <a:rPr lang="en-US" altLang="zh-CN" b="0" dirty="0">
                <a:solidFill>
                  <a:schemeClr val="tx1"/>
                </a:solidFill>
              </a:rPr>
              <a:t>（5</a:t>
            </a:r>
            <a:r>
              <a:rPr lang="zh-CN" altLang="en-US" b="0" dirty="0">
                <a:solidFill>
                  <a:schemeClr val="tx1"/>
                </a:solidFill>
              </a:rPr>
              <a:t>）工程要有法定的或固定的责任人</a:t>
            </a:r>
            <a:r>
              <a:rPr lang="en-US" altLang="zh-CN" b="0" dirty="0">
                <a:solidFill>
                  <a:schemeClr val="tx1"/>
                </a:solidFill>
              </a:rPr>
              <a:t>，</a:t>
            </a:r>
            <a:r>
              <a:rPr lang="en-US" altLang="zh-CN" b="0" dirty="0" err="1">
                <a:solidFill>
                  <a:schemeClr val="tx1"/>
                </a:solidFill>
              </a:rPr>
              <a:t>并有完善的组织实施机构，如项目经理、或承包商，或领导小组、或指挥部等</a:t>
            </a:r>
            <a:r>
              <a:rPr lang="en-US" altLang="zh-CN" b="0" dirty="0">
                <a:solidFill>
                  <a:schemeClr val="tx1"/>
                </a:solidFill>
              </a:rPr>
              <a:t>。</a:t>
            </a:r>
          </a:p>
          <a:p>
            <a:pPr lvl="0">
              <a:lnSpc>
                <a:spcPct val="100000"/>
              </a:lnSpc>
              <a:buFontTx/>
              <a:buNone/>
            </a:pPr>
            <a:r>
              <a:rPr lang="en-US" altLang="zh-CN" b="0" dirty="0">
                <a:solidFill>
                  <a:schemeClr val="tx1"/>
                </a:solidFill>
              </a:rPr>
              <a:t>（6</a:t>
            </a:r>
            <a:r>
              <a:rPr lang="zh-CN" altLang="en-US" b="0" dirty="0">
                <a:solidFill>
                  <a:schemeClr val="tx1"/>
                </a:solidFill>
              </a:rPr>
              <a:t>）工程要有可行的实施</a:t>
            </a:r>
            <a:r>
              <a:rPr lang="en-US" altLang="zh-CN" b="0" dirty="0" err="1">
                <a:solidFill>
                  <a:schemeClr val="tx1"/>
                </a:solidFill>
              </a:rPr>
              <a:t>计划和方法</a:t>
            </a:r>
            <a:r>
              <a:rPr lang="en-US" altLang="zh-CN" b="0" dirty="0">
                <a:solidFill>
                  <a:schemeClr val="tx1"/>
                </a:solidFill>
              </a:rPr>
              <a:t>。</a:t>
            </a:r>
          </a:p>
          <a:p>
            <a:pPr lvl="0">
              <a:lnSpc>
                <a:spcPct val="100000"/>
              </a:lnSpc>
              <a:buFontTx/>
              <a:buNone/>
            </a:pPr>
            <a:r>
              <a:rPr lang="en-US" altLang="zh-CN" b="0" dirty="0">
                <a:solidFill>
                  <a:schemeClr val="tx1"/>
                </a:solidFill>
              </a:rPr>
              <a:t>（7</a:t>
            </a:r>
            <a:r>
              <a:rPr lang="zh-CN" altLang="en-US" b="0" dirty="0">
                <a:solidFill>
                  <a:schemeClr val="tx1"/>
                </a:solidFill>
              </a:rPr>
              <a:t>）工程要有客观的监理和验收标准。</a:t>
            </a:r>
          </a:p>
        </p:txBody>
      </p:sp>
      <p:sp>
        <p:nvSpPr>
          <p:cNvPr id="1048663" name="标题 132097"/>
          <p:cNvSpPr>
            <a:spLocks noGrp="1"/>
          </p:cNvSpPr>
          <p:nvPr>
            <p:ph type="title"/>
          </p:nvPr>
        </p:nvSpPr>
        <p:spPr>
          <a:xfrm>
            <a:off x="0" y="116632"/>
            <a:ext cx="6659562" cy="649287"/>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zh-CN" altLang="en-US" dirty="0">
                <a:solidFill>
                  <a:schemeClr val="bg1"/>
                </a:solidFill>
              </a:rPr>
              <a:t>1.0 计算机网络工程概论</a:t>
            </a:r>
          </a:p>
        </p:txBody>
      </p:sp>
    </p:spTree>
  </p:cSld>
  <p:clrMapOvr>
    <a:masterClrMapping/>
  </p:clrMapOvr>
  <p:transition spd="slow">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9" name="文本占位符 134146"/>
          <p:cNvSpPr>
            <a:spLocks noGrp="1"/>
          </p:cNvSpPr>
          <p:nvPr>
            <p:ph idx="1"/>
          </p:nvPr>
        </p:nvSpPr>
        <p:spPr>
          <a:xfrm>
            <a:off x="335360" y="908721"/>
            <a:ext cx="11521280" cy="4752528"/>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algn="just">
              <a:lnSpc>
                <a:spcPct val="110000"/>
              </a:lnSpc>
              <a:buFontTx/>
              <a:buNone/>
            </a:pPr>
            <a:r>
              <a:rPr lang="zh-CN" altLang="en-US" dirty="0">
                <a:solidFill>
                  <a:schemeClr val="tx1"/>
                </a:solidFill>
              </a:rPr>
              <a:t>2.计算机网络工程的含义及特点</a:t>
            </a:r>
          </a:p>
          <a:p>
            <a:pPr lvl="0">
              <a:lnSpc>
                <a:spcPct val="110000"/>
              </a:lnSpc>
              <a:buFontTx/>
              <a:buNone/>
            </a:pPr>
            <a:r>
              <a:rPr lang="en-US" altLang="zh-CN" sz="2400" b="0" dirty="0">
                <a:solidFill>
                  <a:schemeClr val="tx1"/>
                </a:solidFill>
              </a:rPr>
              <a:t>（1</a:t>
            </a:r>
            <a:r>
              <a:rPr lang="zh-CN" altLang="en-US" sz="2400" b="0" dirty="0">
                <a:solidFill>
                  <a:schemeClr val="tx1"/>
                </a:solidFill>
              </a:rPr>
              <a:t>）工程设计人员要全面了解计算机网络的原理、技术、系统、协议、安全、系统布线的基本知识，发展现状，发展趋势</a:t>
            </a:r>
          </a:p>
          <a:p>
            <a:pPr lvl="0">
              <a:buFontTx/>
              <a:buNone/>
            </a:pPr>
            <a:r>
              <a:rPr lang="zh-CN" altLang="en-US" sz="2400" b="0" dirty="0">
                <a:solidFill>
                  <a:schemeClr val="tx1"/>
                </a:solidFill>
              </a:rPr>
              <a:t>（</a:t>
            </a:r>
            <a:r>
              <a:rPr lang="en-US" altLang="zh-CN" sz="2400" b="0" dirty="0">
                <a:solidFill>
                  <a:schemeClr val="tx1"/>
                </a:solidFill>
              </a:rPr>
              <a:t>2</a:t>
            </a:r>
            <a:r>
              <a:rPr lang="zh-CN" altLang="en-US" sz="2400" b="0" dirty="0">
                <a:solidFill>
                  <a:schemeClr val="tx1"/>
                </a:solidFill>
              </a:rPr>
              <a:t>）总体设计人员要熟练掌握网络规划与设计的步骤、要点、流程、案例、技术设备选型以及发展方向。</a:t>
            </a:r>
          </a:p>
          <a:p>
            <a:pPr lvl="0">
              <a:buFontTx/>
              <a:buNone/>
            </a:pPr>
            <a:r>
              <a:rPr lang="zh-CN" altLang="en-US" sz="2400" b="0" dirty="0">
                <a:solidFill>
                  <a:schemeClr val="tx1"/>
                </a:solidFill>
              </a:rPr>
              <a:t>（</a:t>
            </a:r>
            <a:r>
              <a:rPr lang="en-US" altLang="zh-CN" sz="2400" b="0" dirty="0">
                <a:solidFill>
                  <a:schemeClr val="tx1"/>
                </a:solidFill>
              </a:rPr>
              <a:t>3</a:t>
            </a:r>
            <a:r>
              <a:rPr lang="zh-CN" altLang="en-US" sz="2400" b="0" dirty="0">
                <a:solidFill>
                  <a:schemeClr val="tx1"/>
                </a:solidFill>
              </a:rPr>
              <a:t>）工程主管人员要懂得网络工程的组织实施过程，能把握住网络工程的方案评审、监理，验收等关键环节。</a:t>
            </a:r>
          </a:p>
          <a:p>
            <a:pPr lvl="0">
              <a:buFontTx/>
              <a:buNone/>
            </a:pPr>
            <a:r>
              <a:rPr lang="zh-CN" altLang="en-US" sz="2400" b="0" dirty="0">
                <a:solidFill>
                  <a:schemeClr val="tx1"/>
                </a:solidFill>
              </a:rPr>
              <a:t>（</a:t>
            </a:r>
            <a:r>
              <a:rPr lang="en-US" altLang="zh-CN" sz="2400" b="0" dirty="0">
                <a:solidFill>
                  <a:schemeClr val="tx1"/>
                </a:solidFill>
              </a:rPr>
              <a:t>4</a:t>
            </a:r>
            <a:r>
              <a:rPr lang="zh-CN" altLang="en-US" sz="2400" b="0" dirty="0">
                <a:solidFill>
                  <a:schemeClr val="tx1"/>
                </a:solidFill>
              </a:rPr>
              <a:t>）工程开发人员要掌握网络应用开发技术、网站</a:t>
            </a:r>
            <a:r>
              <a:rPr lang="en-US" altLang="zh-CN" sz="2400" b="0" dirty="0">
                <a:solidFill>
                  <a:schemeClr val="tx1"/>
                </a:solidFill>
              </a:rPr>
              <a:t>web</a:t>
            </a:r>
            <a:r>
              <a:rPr lang="zh-CN" altLang="en-US" sz="2400" b="0" dirty="0">
                <a:solidFill>
                  <a:schemeClr val="tx1"/>
                </a:solidFill>
              </a:rPr>
              <a:t>技术、信息发布技术、安全防御技术。</a:t>
            </a:r>
          </a:p>
          <a:p>
            <a:pPr lvl="0">
              <a:buFontTx/>
              <a:buNone/>
            </a:pPr>
            <a:r>
              <a:rPr lang="zh-CN" altLang="en-US" sz="2400" b="0" dirty="0">
                <a:solidFill>
                  <a:schemeClr val="tx1"/>
                </a:solidFill>
              </a:rPr>
              <a:t>（</a:t>
            </a:r>
            <a:r>
              <a:rPr lang="en-US" altLang="zh-CN" sz="2400" b="0" dirty="0">
                <a:solidFill>
                  <a:schemeClr val="tx1"/>
                </a:solidFill>
              </a:rPr>
              <a:t>5</a:t>
            </a:r>
            <a:r>
              <a:rPr lang="zh-CN" altLang="en-US" sz="2400" b="0" dirty="0">
                <a:solidFill>
                  <a:schemeClr val="tx1"/>
                </a:solidFill>
              </a:rPr>
              <a:t>）工程竣工后，网络管理人员使用网管工具对网络实施有效地管理维护，使网络工程发挥应有的效益。</a:t>
            </a:r>
          </a:p>
        </p:txBody>
      </p:sp>
      <p:sp>
        <p:nvSpPr>
          <p:cNvPr id="1048668" name="标题 134145"/>
          <p:cNvSpPr>
            <a:spLocks noGrp="1"/>
          </p:cNvSpPr>
          <p:nvPr>
            <p:ph type="title"/>
          </p:nvPr>
        </p:nvSpPr>
        <p:spPr>
          <a:xfrm>
            <a:off x="47328" y="116632"/>
            <a:ext cx="6659562" cy="649287"/>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zh-CN" altLang="en-US" dirty="0">
                <a:solidFill>
                  <a:schemeClr val="bg1"/>
                </a:solidFill>
              </a:rPr>
              <a:t>1.</a:t>
            </a:r>
            <a:r>
              <a:rPr lang="en-US" altLang="zh-CN" dirty="0">
                <a:solidFill>
                  <a:schemeClr val="bg1"/>
                </a:solidFill>
              </a:rPr>
              <a:t>0</a:t>
            </a:r>
            <a:r>
              <a:rPr lang="zh-CN" altLang="en-US" dirty="0">
                <a:solidFill>
                  <a:schemeClr val="bg1"/>
                </a:solidFill>
              </a:rPr>
              <a:t> 计算机网络工程概论</a:t>
            </a:r>
          </a:p>
        </p:txBody>
      </p:sp>
    </p:spTree>
  </p:cSld>
  <p:clrMapOvr>
    <a:masterClrMapping/>
  </p:clrMapOvr>
  <p:transition spd="slow">
    <p:zo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4" name="文本占位符 135170"/>
          <p:cNvSpPr>
            <a:spLocks noGrp="1"/>
          </p:cNvSpPr>
          <p:nvPr>
            <p:ph idx="1"/>
          </p:nvPr>
        </p:nvSpPr>
        <p:spPr>
          <a:xfrm>
            <a:off x="191344" y="832564"/>
            <a:ext cx="11449272" cy="5256584"/>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algn="just">
              <a:buFontTx/>
              <a:buNone/>
            </a:pPr>
            <a:r>
              <a:rPr lang="zh-CN" altLang="en-US" dirty="0">
                <a:solidFill>
                  <a:schemeClr val="tx1"/>
                </a:solidFill>
                <a:sym typeface="+mn-ea"/>
              </a:rPr>
              <a:t>2.计算机网络工程的含义及特点</a:t>
            </a:r>
          </a:p>
          <a:p>
            <a:pPr lvl="0"/>
            <a:r>
              <a:rPr lang="en-US" altLang="en-US" dirty="0">
                <a:solidFill>
                  <a:schemeClr val="tx1"/>
                </a:solidFill>
                <a:effectLst>
                  <a:outerShdw blurRad="38100" dist="38100" dir="2700000" algn="tl">
                    <a:srgbClr val="C0C0C0"/>
                  </a:outerShdw>
                </a:effectLst>
                <a:latin typeface="黑体" pitchFamily="49" charset="-122"/>
              </a:rPr>
              <a:t>计算机网络工程定义</a:t>
            </a:r>
          </a:p>
          <a:p>
            <a:pPr lvl="0">
              <a:lnSpc>
                <a:spcPct val="110000"/>
              </a:lnSpc>
              <a:buFontTx/>
              <a:buNone/>
            </a:pPr>
            <a:r>
              <a:rPr lang="en-US" altLang="en-US" b="0" dirty="0">
                <a:solidFill>
                  <a:schemeClr val="tx1"/>
                </a:solidFill>
                <a:latin typeface="黑体" pitchFamily="49" charset="-122"/>
              </a:rPr>
              <a:t>      计算机网络工程是为达到一定的目标，根据相关的规范，通过详细地规划，按照可行的方案，将计算机网络的技术、系统、管理高效地集成到一起的工程。</a:t>
            </a:r>
          </a:p>
        </p:txBody>
      </p:sp>
      <p:sp>
        <p:nvSpPr>
          <p:cNvPr id="1048673" name="标题 135169"/>
          <p:cNvSpPr>
            <a:spLocks noGrp="1"/>
          </p:cNvSpPr>
          <p:nvPr>
            <p:ph type="title"/>
          </p:nvPr>
        </p:nvSpPr>
        <p:spPr>
          <a:xfrm>
            <a:off x="0" y="152400"/>
            <a:ext cx="6659562" cy="649287"/>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zh-CN" altLang="en-US" dirty="0">
                <a:solidFill>
                  <a:schemeClr val="bg1"/>
                </a:solidFill>
              </a:rPr>
              <a:t>1.</a:t>
            </a:r>
            <a:r>
              <a:rPr lang="en-US" altLang="zh-CN" dirty="0">
                <a:solidFill>
                  <a:schemeClr val="bg1"/>
                </a:solidFill>
              </a:rPr>
              <a:t>0</a:t>
            </a:r>
            <a:r>
              <a:rPr lang="zh-CN" altLang="en-US" dirty="0">
                <a:solidFill>
                  <a:schemeClr val="bg1"/>
                </a:solidFill>
              </a:rPr>
              <a:t> 计算机网络工程概论</a:t>
            </a:r>
          </a:p>
        </p:txBody>
      </p:sp>
    </p:spTree>
  </p:cSld>
  <p:clrMapOvr>
    <a:masterClrMapping/>
  </p:clrMapOvr>
  <p:transition spd="slow">
    <p:zo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8" name="文本占位符 136194"/>
          <p:cNvSpPr>
            <a:spLocks noGrp="1"/>
          </p:cNvSpPr>
          <p:nvPr>
            <p:ph idx="1"/>
          </p:nvPr>
        </p:nvSpPr>
        <p:spPr>
          <a:xfrm>
            <a:off x="335360" y="908721"/>
            <a:ext cx="11665296" cy="5256584"/>
          </a:xfrm>
          <a:prstGeom prst="rect">
            <a:avLst/>
          </a:prstGeom>
          <a:noFill/>
          <a:ln>
            <a:noFill/>
          </a:ln>
        </p:spPr>
        <p:txBody>
          <a:bodyPr vert="horz" lIns="91440" tIns="45720" rIns="91440" bIns="45720" anchor="t">
            <a:normAutofit/>
          </a:bodyPr>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marL="0" indent="0">
              <a:lnSpc>
                <a:spcPct val="100000"/>
              </a:lnSpc>
              <a:buNone/>
            </a:pPr>
            <a:r>
              <a:rPr lang="zh-CN" altLang="en-US" dirty="0">
                <a:solidFill>
                  <a:schemeClr val="tx1"/>
                </a:solidFill>
              </a:rPr>
              <a:t>3.网络工程“生命周期”的内涵</a:t>
            </a:r>
          </a:p>
          <a:p>
            <a:pPr marL="0" indent="0">
              <a:lnSpc>
                <a:spcPct val="100000"/>
              </a:lnSpc>
            </a:pPr>
            <a:r>
              <a:rPr lang="en-US" altLang="zh-CN" b="0" dirty="0">
                <a:solidFill>
                  <a:schemeClr val="tx1"/>
                </a:solidFill>
                <a:latin typeface="宋体" pitchFamily="2" charset="-122"/>
              </a:rPr>
              <a:t>1</a:t>
            </a:r>
            <a:r>
              <a:rPr lang="en-US" altLang="en-US" b="0" dirty="0">
                <a:solidFill>
                  <a:schemeClr val="tx1"/>
                </a:solidFill>
                <a:latin typeface="宋体" pitchFamily="2" charset="-122"/>
              </a:rPr>
              <a:t>、系统</a:t>
            </a:r>
            <a:r>
              <a:rPr lang="en-US" altLang="zh-CN" b="0" dirty="0">
                <a:solidFill>
                  <a:schemeClr val="tx1"/>
                </a:solidFill>
                <a:latin typeface="宋体" pitchFamily="2" charset="-122"/>
              </a:rPr>
              <a:t>——</a:t>
            </a:r>
            <a:r>
              <a:rPr lang="en-US" altLang="en-US" b="0" dirty="0">
                <a:solidFill>
                  <a:schemeClr val="tx1"/>
                </a:solidFill>
                <a:latin typeface="宋体" pitchFamily="2" charset="-122"/>
              </a:rPr>
              <a:t>系统是指由相互关联、互相制约、互相作用的具有某种特定功能的组成部分构成的综合体。系统通过系统的边界与外部环境发生作用（系统的输入、输出）。</a:t>
            </a:r>
          </a:p>
          <a:p>
            <a:pPr marL="0" indent="0">
              <a:lnSpc>
                <a:spcPct val="100000"/>
              </a:lnSpc>
            </a:pPr>
            <a:r>
              <a:rPr lang="en-US" altLang="en-US" b="0" dirty="0" err="1">
                <a:solidFill>
                  <a:schemeClr val="tx1"/>
                </a:solidFill>
                <a:latin typeface="宋体" pitchFamily="2" charset="-122"/>
              </a:rPr>
              <a:t>网络系统是由逻辑上划分为相互关联、制约和相互作用（信息交换、服务</a:t>
            </a:r>
            <a:r>
              <a:rPr lang="en-US" altLang="zh-CN" b="0" dirty="0">
                <a:solidFill>
                  <a:schemeClr val="tx1"/>
                </a:solidFill>
                <a:latin typeface="宋体" pitchFamily="2" charset="-122"/>
              </a:rPr>
              <a:t>/</a:t>
            </a:r>
            <a:r>
              <a:rPr lang="en-US" altLang="en-US" b="0" dirty="0">
                <a:solidFill>
                  <a:schemeClr val="tx1"/>
                </a:solidFill>
                <a:latin typeface="宋体" pitchFamily="2" charset="-122"/>
              </a:rPr>
              <a:t>被服务、受协议和服务规程约束）的协议层组成；物理上则由相互关联、相互作用和相互制约的通信介质和各种网络和通信设备组成。按照</a:t>
            </a:r>
            <a:r>
              <a:rPr lang="en-US" altLang="zh-CN" b="0" dirty="0">
                <a:solidFill>
                  <a:schemeClr val="tx1"/>
                </a:solidFill>
                <a:latin typeface="宋体" pitchFamily="2" charset="-122"/>
              </a:rPr>
              <a:t>OSI/</a:t>
            </a:r>
            <a:r>
              <a:rPr lang="en-US" altLang="zh-CN" b="0" dirty="0" err="1">
                <a:solidFill>
                  <a:schemeClr val="tx1"/>
                </a:solidFill>
                <a:latin typeface="宋体" pitchFamily="2" charset="-122"/>
              </a:rPr>
              <a:t>RM</a:t>
            </a:r>
            <a:r>
              <a:rPr lang="en-US" altLang="en-US" b="0" dirty="0" err="1">
                <a:solidFill>
                  <a:schemeClr val="tx1"/>
                </a:solidFill>
                <a:latin typeface="宋体" pitchFamily="2" charset="-122"/>
              </a:rPr>
              <a:t>的界定，网络系统的外部环境是实际的网络应用系统</a:t>
            </a:r>
            <a:r>
              <a:rPr lang="en-US" altLang="en-US" b="0" dirty="0">
                <a:solidFill>
                  <a:schemeClr val="tx1"/>
                </a:solidFill>
                <a:latin typeface="宋体" pitchFamily="2" charset="-122"/>
              </a:rPr>
              <a:t>。</a:t>
            </a:r>
          </a:p>
        </p:txBody>
      </p:sp>
      <p:sp>
        <p:nvSpPr>
          <p:cNvPr id="1048679" name="标题 4"/>
          <p:cNvSpPr>
            <a:spLocks noGrp="1"/>
          </p:cNvSpPr>
          <p:nvPr>
            <p:ph type="title"/>
          </p:nvPr>
        </p:nvSpPr>
        <p:spPr>
          <a:xfrm>
            <a:off x="-24680" y="-300831"/>
            <a:ext cx="10515600" cy="132556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r>
              <a:rPr lang="zh-CN" altLang="en-US" dirty="0">
                <a:solidFill>
                  <a:schemeClr val="bg1"/>
                </a:solidFill>
              </a:rPr>
              <a:t>1.</a:t>
            </a:r>
            <a:r>
              <a:rPr lang="en-US" altLang="zh-CN" dirty="0">
                <a:solidFill>
                  <a:schemeClr val="bg1"/>
                </a:solidFill>
              </a:rPr>
              <a:t>0</a:t>
            </a:r>
            <a:r>
              <a:rPr lang="zh-CN" altLang="en-US" dirty="0">
                <a:solidFill>
                  <a:schemeClr val="bg1"/>
                </a:solidFill>
              </a:rPr>
              <a:t> 计算机网络工程概论</a:t>
            </a:r>
          </a:p>
        </p:txBody>
      </p:sp>
    </p:spTree>
  </p:cSld>
  <p:clrMapOvr>
    <a:masterClrMapping/>
  </p:clrMapOvr>
  <p:transition spd="slow">
    <p:zo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3" name="文本占位符 137218"/>
          <p:cNvSpPr>
            <a:spLocks noGrp="1"/>
          </p:cNvSpPr>
          <p:nvPr>
            <p:ph idx="1"/>
          </p:nvPr>
        </p:nvSpPr>
        <p:spPr>
          <a:xfrm>
            <a:off x="407368" y="908721"/>
            <a:ext cx="11521280" cy="4968552"/>
          </a:xfrm>
          <a:prstGeom prst="rect">
            <a:avLst/>
          </a:prstGeom>
          <a:noFill/>
          <a:ln>
            <a:noFill/>
          </a:ln>
        </p:spPr>
        <p:txBody>
          <a:bodyPr vert="horz" lIns="91440" tIns="45720" rIns="91440" bIns="45720" anchor="t">
            <a:normAutofit/>
          </a:bodyPr>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marL="0" indent="0">
              <a:buNone/>
            </a:pPr>
            <a:r>
              <a:rPr lang="zh-CN" altLang="en-US" dirty="0">
                <a:solidFill>
                  <a:schemeClr val="tx1"/>
                </a:solidFill>
                <a:sym typeface="黑体" pitchFamily="49" charset="-122"/>
              </a:rPr>
              <a:t>3.网络工程“生命周期”的内涵</a:t>
            </a:r>
          </a:p>
          <a:p>
            <a:pPr marL="0" indent="0"/>
            <a:r>
              <a:rPr lang="en-US" altLang="zh-CN" b="0" dirty="0">
                <a:solidFill>
                  <a:schemeClr val="tx1"/>
                </a:solidFill>
                <a:latin typeface="宋体" pitchFamily="2" charset="-122"/>
              </a:rPr>
              <a:t>2</a:t>
            </a:r>
            <a:r>
              <a:rPr lang="zh-CN" altLang="en-US" b="0" dirty="0">
                <a:solidFill>
                  <a:schemeClr val="tx1"/>
                </a:solidFill>
                <a:latin typeface="宋体" pitchFamily="2" charset="-122"/>
              </a:rPr>
              <a:t>、系统工程学</a:t>
            </a:r>
          </a:p>
          <a:p>
            <a:pPr marL="0" indent="0">
              <a:buNone/>
            </a:pPr>
            <a:r>
              <a:rPr lang="zh-CN" altLang="en-US" b="0" dirty="0">
                <a:solidFill>
                  <a:schemeClr val="tx1"/>
                </a:solidFill>
                <a:latin typeface="宋体" pitchFamily="2" charset="-122"/>
              </a:rPr>
              <a:t>系统工程学的概念首先出现于</a:t>
            </a:r>
            <a:r>
              <a:rPr lang="en-US" altLang="zh-CN" b="0" dirty="0">
                <a:solidFill>
                  <a:schemeClr val="tx1"/>
                </a:solidFill>
                <a:latin typeface="宋体" pitchFamily="2" charset="-122"/>
              </a:rPr>
              <a:t>20</a:t>
            </a:r>
            <a:r>
              <a:rPr lang="zh-CN" altLang="en-US" b="0" dirty="0">
                <a:solidFill>
                  <a:schemeClr val="tx1"/>
                </a:solidFill>
                <a:latin typeface="宋体" pitchFamily="2" charset="-122"/>
              </a:rPr>
              <a:t>世纪</a:t>
            </a:r>
            <a:r>
              <a:rPr lang="en-US" altLang="zh-CN" b="0" dirty="0">
                <a:solidFill>
                  <a:schemeClr val="tx1"/>
                </a:solidFill>
                <a:latin typeface="宋体" pitchFamily="2" charset="-122"/>
              </a:rPr>
              <a:t>40</a:t>
            </a:r>
            <a:r>
              <a:rPr lang="zh-CN" altLang="en-US" b="0" dirty="0">
                <a:solidFill>
                  <a:schemeClr val="tx1"/>
                </a:solidFill>
                <a:latin typeface="宋体" pitchFamily="2" charset="-122"/>
              </a:rPr>
              <a:t>年代美国贝尔电话公司设计电话通信网络的活动中，在后来弹道导弹武器系统的研发和阿波罗登月计划的实施过程中，系统工程逐渐发展成为一门新兴学科。</a:t>
            </a:r>
          </a:p>
          <a:p>
            <a:pPr marL="0" indent="0"/>
            <a:r>
              <a:rPr lang="zh-CN" altLang="en-US" b="0" dirty="0">
                <a:solidFill>
                  <a:schemeClr val="tx1"/>
                </a:solidFill>
                <a:latin typeface="宋体" pitchFamily="2" charset="-122"/>
              </a:rPr>
              <a:t>系统工程学是：“研究大型工程系统的发展与决策、组织与协调、单元划分与相互关系界定、分析与综合，以及系统更新规律的宏观规律的学科”。它既涉及技术过程，也涉及管理过程，故有时也称之为工程战略学。</a:t>
            </a:r>
          </a:p>
          <a:p>
            <a:pPr marL="0" indent="0"/>
            <a:endParaRPr lang="zh-CN" altLang="en-US" dirty="0"/>
          </a:p>
        </p:txBody>
      </p:sp>
      <p:sp>
        <p:nvSpPr>
          <p:cNvPr id="1048684" name="标题 4"/>
          <p:cNvSpPr>
            <a:spLocks noGrp="1"/>
          </p:cNvSpPr>
          <p:nvPr>
            <p:ph type="title"/>
          </p:nvPr>
        </p:nvSpPr>
        <p:spPr>
          <a:xfrm>
            <a:off x="-10391" y="-243408"/>
            <a:ext cx="10515600" cy="132556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a:r>
              <a:rPr lang="zh-CN" altLang="en-US" dirty="0">
                <a:solidFill>
                  <a:schemeClr val="bg1"/>
                </a:solidFill>
                <a:sym typeface="黑体" pitchFamily="49" charset="-122"/>
              </a:rPr>
              <a:t>1.</a:t>
            </a:r>
            <a:r>
              <a:rPr lang="en-US" altLang="zh-CN" dirty="0">
                <a:solidFill>
                  <a:schemeClr val="bg1"/>
                </a:solidFill>
                <a:sym typeface="黑体" pitchFamily="49" charset="-122"/>
              </a:rPr>
              <a:t>0</a:t>
            </a:r>
            <a:r>
              <a:rPr lang="zh-CN" altLang="en-US" dirty="0">
                <a:solidFill>
                  <a:schemeClr val="bg1"/>
                </a:solidFill>
                <a:sym typeface="黑体" pitchFamily="49" charset="-122"/>
              </a:rPr>
              <a:t> 计算机网络工程概论</a:t>
            </a:r>
          </a:p>
        </p:txBody>
      </p:sp>
    </p:spTree>
  </p:cSld>
  <p:clrMapOvr>
    <a:masterClrMapping/>
  </p:clrMapOvr>
  <p:transition spd="slow">
    <p:zo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8" name="文本占位符 138241"/>
          <p:cNvSpPr>
            <a:spLocks noGrp="1"/>
          </p:cNvSpPr>
          <p:nvPr>
            <p:ph idx="1"/>
          </p:nvPr>
        </p:nvSpPr>
        <p:spPr>
          <a:xfrm>
            <a:off x="263352" y="836713"/>
            <a:ext cx="11089232" cy="5040560"/>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marL="0" indent="0">
              <a:buNone/>
            </a:pPr>
            <a:r>
              <a:rPr lang="zh-CN" altLang="en-US" dirty="0">
                <a:solidFill>
                  <a:schemeClr val="tx1"/>
                </a:solidFill>
                <a:sym typeface="+mn-ea"/>
              </a:rPr>
              <a:t>3.网络工程“生命周期”的内涵</a:t>
            </a:r>
          </a:p>
          <a:p>
            <a:pPr marL="0" indent="0"/>
            <a:r>
              <a:rPr lang="en-US" altLang="en-US" b="0" dirty="0" err="1">
                <a:solidFill>
                  <a:schemeClr val="tx1"/>
                </a:solidFill>
                <a:latin typeface="宋体" pitchFamily="2" charset="-122"/>
              </a:rPr>
              <a:t>系统工程学的基本原理</a:t>
            </a:r>
            <a:endParaRPr lang="en-US" altLang="en-US" b="0" dirty="0">
              <a:solidFill>
                <a:schemeClr val="tx1"/>
              </a:solidFill>
              <a:latin typeface="宋体" pitchFamily="2" charset="-122"/>
            </a:endParaRPr>
          </a:p>
          <a:p>
            <a:pPr marL="0" indent="0">
              <a:lnSpc>
                <a:spcPts val="3500"/>
              </a:lnSpc>
              <a:buFontTx/>
              <a:buAutoNum type="circleNumDbPlain"/>
            </a:pPr>
            <a:r>
              <a:rPr lang="en-US" altLang="zh-CN" sz="2600" b="0" dirty="0" err="1">
                <a:solidFill>
                  <a:schemeClr val="tx1"/>
                </a:solidFill>
                <a:latin typeface="宋体" pitchFamily="2" charset="-122"/>
              </a:rPr>
              <a:t>社会需求是工程系统开发与建设的原动力</a:t>
            </a:r>
            <a:endParaRPr lang="en-US" altLang="zh-CN" sz="2600" b="0" dirty="0">
              <a:solidFill>
                <a:schemeClr val="tx1"/>
              </a:solidFill>
              <a:latin typeface="宋体" pitchFamily="2" charset="-122"/>
            </a:endParaRPr>
          </a:p>
          <a:p>
            <a:pPr marL="0" indent="0">
              <a:lnSpc>
                <a:spcPts val="3500"/>
              </a:lnSpc>
              <a:buFontTx/>
              <a:buAutoNum type="circleNumDbPlain"/>
            </a:pPr>
            <a:r>
              <a:rPr lang="en-US" altLang="zh-CN" sz="2600" b="0" dirty="0">
                <a:solidFill>
                  <a:schemeClr val="tx1"/>
                </a:solidFill>
                <a:latin typeface="宋体" pitchFamily="2" charset="-122"/>
              </a:rPr>
              <a:t>整体优化是系统工程的基本目标</a:t>
            </a:r>
          </a:p>
          <a:p>
            <a:pPr marL="0" indent="0">
              <a:lnSpc>
                <a:spcPts val="3500"/>
              </a:lnSpc>
              <a:buFontTx/>
              <a:buAutoNum type="circleNumDbPlain"/>
            </a:pPr>
            <a:r>
              <a:rPr lang="en-US" altLang="zh-CN" sz="2600" b="0" dirty="0" err="1">
                <a:solidFill>
                  <a:schemeClr val="tx1"/>
                </a:solidFill>
                <a:latin typeface="宋体" pitchFamily="2" charset="-122"/>
              </a:rPr>
              <a:t>综合是系统工程最基本的概念（技术、目标与环境间的综合，是创造性思维的过程</a:t>
            </a:r>
            <a:r>
              <a:rPr lang="en-US" altLang="zh-CN" sz="2600" b="0" dirty="0">
                <a:solidFill>
                  <a:schemeClr val="tx1"/>
                </a:solidFill>
                <a:latin typeface="宋体" pitchFamily="2" charset="-122"/>
              </a:rPr>
              <a:t>）</a:t>
            </a:r>
          </a:p>
          <a:p>
            <a:pPr marL="0" indent="0">
              <a:lnSpc>
                <a:spcPts val="3500"/>
              </a:lnSpc>
              <a:buFontTx/>
              <a:buAutoNum type="circleNumDbPlain"/>
            </a:pPr>
            <a:r>
              <a:rPr lang="en-US" altLang="zh-CN" sz="2600" b="0" dirty="0" err="1">
                <a:solidFill>
                  <a:schemeClr val="tx1"/>
                </a:solidFill>
                <a:latin typeface="宋体" pitchFamily="2" charset="-122"/>
              </a:rPr>
              <a:t>系统开放性是保持系统活力和稳定的重要条件</a:t>
            </a:r>
            <a:endParaRPr lang="en-US" altLang="zh-CN" sz="2600" b="0" dirty="0">
              <a:solidFill>
                <a:schemeClr val="tx1"/>
              </a:solidFill>
              <a:latin typeface="宋体" pitchFamily="2" charset="-122"/>
            </a:endParaRPr>
          </a:p>
          <a:p>
            <a:pPr marL="0" indent="0">
              <a:lnSpc>
                <a:spcPts val="3500"/>
              </a:lnSpc>
              <a:buFontTx/>
              <a:buAutoNum type="circleNumDbPlain"/>
            </a:pPr>
            <a:r>
              <a:rPr lang="en-US" altLang="zh-CN" sz="2600" b="0" dirty="0" err="1">
                <a:solidFill>
                  <a:schemeClr val="tx1"/>
                </a:solidFill>
                <a:latin typeface="宋体" pitchFamily="2" charset="-122"/>
              </a:rPr>
              <a:t>综合效益是工程开发与建设的根本评价标准</a:t>
            </a:r>
            <a:endParaRPr lang="en-US" altLang="zh-CN" sz="2600" b="0" dirty="0">
              <a:solidFill>
                <a:schemeClr val="tx1"/>
              </a:solidFill>
              <a:latin typeface="宋体" pitchFamily="2" charset="-122"/>
            </a:endParaRPr>
          </a:p>
          <a:p>
            <a:pPr marL="0" indent="0">
              <a:lnSpc>
                <a:spcPts val="3500"/>
              </a:lnSpc>
              <a:buFontTx/>
              <a:buAutoNum type="circleNumDbPlain"/>
            </a:pPr>
            <a:r>
              <a:rPr lang="en-US" altLang="zh-CN" sz="2600" b="0" dirty="0" err="1">
                <a:solidFill>
                  <a:schemeClr val="tx1"/>
                </a:solidFill>
                <a:latin typeface="宋体" pitchFamily="2" charset="-122"/>
              </a:rPr>
              <a:t>系统开发</a:t>
            </a:r>
            <a:r>
              <a:rPr lang="en-US" altLang="zh-CN" sz="2600" b="0" dirty="0">
                <a:solidFill>
                  <a:schemeClr val="tx1"/>
                </a:solidFill>
                <a:latin typeface="宋体" pitchFamily="2" charset="-122"/>
              </a:rPr>
              <a:t>/</a:t>
            </a:r>
            <a:r>
              <a:rPr lang="en-US" altLang="en-US" sz="2600" b="0" dirty="0" err="1">
                <a:solidFill>
                  <a:schemeClr val="tx1"/>
                </a:solidFill>
                <a:latin typeface="宋体" pitchFamily="2" charset="-122"/>
              </a:rPr>
              <a:t>建设应遵循行为程序化规律和价值策略</a:t>
            </a:r>
            <a:endParaRPr lang="en-US" altLang="en-US" sz="2600" b="0" dirty="0">
              <a:solidFill>
                <a:schemeClr val="tx1"/>
              </a:solidFill>
              <a:latin typeface="宋体" pitchFamily="2" charset="-122"/>
            </a:endParaRPr>
          </a:p>
          <a:p>
            <a:pPr marL="0" indent="0">
              <a:lnSpc>
                <a:spcPts val="3500"/>
              </a:lnSpc>
              <a:buFontTx/>
              <a:buAutoNum type="circleNumDbPlain"/>
            </a:pPr>
            <a:r>
              <a:rPr lang="en-US" altLang="en-US" sz="2600" b="0" dirty="0" err="1">
                <a:solidFill>
                  <a:schemeClr val="tx1"/>
                </a:solidFill>
                <a:latin typeface="宋体" pitchFamily="2" charset="-122"/>
              </a:rPr>
              <a:t>工程技术控制与质量控制是工程实施的基本保证</a:t>
            </a:r>
            <a:endParaRPr lang="en-US" altLang="en-US" sz="2600" b="0" dirty="0">
              <a:solidFill>
                <a:schemeClr val="tx1"/>
              </a:solidFill>
              <a:latin typeface="宋体" pitchFamily="2" charset="-122"/>
            </a:endParaRPr>
          </a:p>
        </p:txBody>
      </p:sp>
      <p:sp>
        <p:nvSpPr>
          <p:cNvPr id="1048689" name="标题 4"/>
          <p:cNvSpPr>
            <a:spLocks noGrp="1"/>
          </p:cNvSpPr>
          <p:nvPr>
            <p:ph type="title"/>
          </p:nvPr>
        </p:nvSpPr>
        <p:spPr>
          <a:xfrm>
            <a:off x="0" y="-261937"/>
            <a:ext cx="10515600" cy="132556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a:r>
              <a:rPr lang="zh-CN" altLang="en-US" dirty="0">
                <a:solidFill>
                  <a:schemeClr val="bg1"/>
                </a:solidFill>
                <a:sym typeface="黑体" pitchFamily="49" charset="-122"/>
              </a:rPr>
              <a:t>1.</a:t>
            </a:r>
            <a:r>
              <a:rPr lang="en-US" altLang="zh-CN" dirty="0">
                <a:solidFill>
                  <a:schemeClr val="bg1"/>
                </a:solidFill>
                <a:sym typeface="黑体" pitchFamily="49" charset="-122"/>
              </a:rPr>
              <a:t>0</a:t>
            </a:r>
            <a:r>
              <a:rPr lang="zh-CN" altLang="en-US" dirty="0">
                <a:solidFill>
                  <a:schemeClr val="bg1"/>
                </a:solidFill>
                <a:sym typeface="黑体" pitchFamily="49" charset="-122"/>
              </a:rPr>
              <a:t> 计算机网络工程概论</a:t>
            </a:r>
          </a:p>
        </p:txBody>
      </p:sp>
    </p:spTree>
  </p:cSld>
  <p:clrMapOvr>
    <a:masterClrMapping/>
  </p:clrMapOvr>
  <p:transition spd="slow">
    <p:zo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3" name="文本占位符 139266"/>
          <p:cNvSpPr>
            <a:spLocks noGrp="1"/>
          </p:cNvSpPr>
          <p:nvPr>
            <p:ph idx="1"/>
          </p:nvPr>
        </p:nvSpPr>
        <p:spPr>
          <a:xfrm>
            <a:off x="263352" y="980729"/>
            <a:ext cx="10585176" cy="4896544"/>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marL="0" indent="0">
              <a:buNone/>
            </a:pPr>
            <a:r>
              <a:rPr lang="zh-CN" altLang="en-US" dirty="0">
                <a:solidFill>
                  <a:schemeClr val="tx1"/>
                </a:solidFill>
                <a:sym typeface="+mn-ea"/>
              </a:rPr>
              <a:t>3.网络工程“生命周期”的内涵</a:t>
            </a:r>
          </a:p>
          <a:p>
            <a:pPr marL="0" indent="0"/>
            <a:r>
              <a:rPr lang="en-US" altLang="zh-CN" b="0" dirty="0">
                <a:solidFill>
                  <a:schemeClr val="tx1"/>
                </a:solidFill>
                <a:latin typeface="宋体" pitchFamily="2" charset="-122"/>
              </a:rPr>
              <a:t>3</a:t>
            </a:r>
            <a:r>
              <a:rPr lang="en-US" altLang="en-US" b="0" dirty="0">
                <a:solidFill>
                  <a:schemeClr val="tx1"/>
                </a:solidFill>
                <a:latin typeface="宋体" pitchFamily="2" charset="-122"/>
              </a:rPr>
              <a:t>、网络工程生命周期</a:t>
            </a:r>
            <a:r>
              <a:rPr lang="en-US" altLang="zh-CN" b="0" dirty="0">
                <a:solidFill>
                  <a:schemeClr val="tx1"/>
                </a:solidFill>
                <a:latin typeface="宋体" pitchFamily="2" charset="-122"/>
              </a:rPr>
              <a:t>——</a:t>
            </a:r>
          </a:p>
          <a:p>
            <a:pPr marL="0" indent="0"/>
            <a:r>
              <a:rPr lang="en-US" altLang="en-US" b="0" dirty="0">
                <a:solidFill>
                  <a:schemeClr val="tx1"/>
                </a:solidFill>
                <a:latin typeface="宋体" pitchFamily="2" charset="-122"/>
              </a:rPr>
              <a:t>借用生物存活期内的发展和演变过程来描述“网络工程”从酝酿到建设、使用，再到维护升级，直至最终失去使用价值而完成其历史使命的过程。</a:t>
            </a:r>
          </a:p>
          <a:p>
            <a:pPr marL="0" indent="0"/>
            <a:r>
              <a:rPr lang="en-US" altLang="en-US" b="0" dirty="0" err="1">
                <a:solidFill>
                  <a:schemeClr val="tx1"/>
                </a:solidFill>
                <a:latin typeface="宋体" pitchFamily="2" charset="-122"/>
              </a:rPr>
              <a:t>网络工程具有阶段性：每一阶段有其特定的内涵，涉及特定的技术和规律，由此促进或制约从一个阶段向另一个阶段的推进</a:t>
            </a:r>
            <a:r>
              <a:rPr lang="en-US" altLang="en-US" b="0" dirty="0">
                <a:solidFill>
                  <a:schemeClr val="tx1"/>
                </a:solidFill>
                <a:latin typeface="宋体" pitchFamily="2" charset="-122"/>
              </a:rPr>
              <a:t>。</a:t>
            </a:r>
          </a:p>
          <a:p>
            <a:pPr marL="0" indent="0"/>
            <a:r>
              <a:rPr lang="en-US" altLang="en-US" b="0" dirty="0" err="1">
                <a:solidFill>
                  <a:schemeClr val="tx1"/>
                </a:solidFill>
                <a:latin typeface="宋体" pitchFamily="2" charset="-122"/>
              </a:rPr>
              <a:t>本课程就是要用系统工程学的观点来研究网络工程生命周期中，阶段的划分和各阶段涉及的技术和规律</a:t>
            </a:r>
            <a:r>
              <a:rPr lang="en-US" altLang="en-US" b="0" dirty="0">
                <a:solidFill>
                  <a:schemeClr val="tx1"/>
                </a:solidFill>
                <a:latin typeface="宋体" pitchFamily="2" charset="-122"/>
              </a:rPr>
              <a:t>。</a:t>
            </a:r>
          </a:p>
        </p:txBody>
      </p:sp>
      <p:sp>
        <p:nvSpPr>
          <p:cNvPr id="1048694" name="标题 4"/>
          <p:cNvSpPr>
            <a:spLocks noGrp="1"/>
          </p:cNvSpPr>
          <p:nvPr>
            <p:ph type="title"/>
          </p:nvPr>
        </p:nvSpPr>
        <p:spPr>
          <a:xfrm>
            <a:off x="-24680" y="-243408"/>
            <a:ext cx="10515600" cy="132556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a:r>
              <a:rPr lang="zh-CN" altLang="en-US" dirty="0">
                <a:solidFill>
                  <a:schemeClr val="bg1"/>
                </a:solidFill>
                <a:sym typeface="黑体" pitchFamily="49" charset="-122"/>
              </a:rPr>
              <a:t>1.</a:t>
            </a:r>
            <a:r>
              <a:rPr lang="en-US" altLang="zh-CN" dirty="0">
                <a:solidFill>
                  <a:schemeClr val="bg1"/>
                </a:solidFill>
                <a:sym typeface="黑体" pitchFamily="49" charset="-122"/>
              </a:rPr>
              <a:t>0</a:t>
            </a:r>
            <a:r>
              <a:rPr lang="zh-CN" altLang="en-US" dirty="0">
                <a:solidFill>
                  <a:schemeClr val="bg1"/>
                </a:solidFill>
                <a:sym typeface="黑体" pitchFamily="49" charset="-122"/>
              </a:rPr>
              <a:t> 计算机网络工程概论</a:t>
            </a:r>
          </a:p>
        </p:txBody>
      </p:sp>
    </p:spTree>
  </p:cSld>
  <p:clrMapOvr>
    <a:masterClrMapping/>
  </p:clrMapOvr>
  <p:transition spd="slow">
    <p:zo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8" name="文本占位符 140290"/>
          <p:cNvSpPr>
            <a:spLocks noGrp="1"/>
          </p:cNvSpPr>
          <p:nvPr>
            <p:ph idx="1"/>
          </p:nvPr>
        </p:nvSpPr>
        <p:spPr>
          <a:xfrm>
            <a:off x="407368" y="1003758"/>
            <a:ext cx="11305256" cy="5161546"/>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marL="0" indent="0">
              <a:buNone/>
            </a:pPr>
            <a:r>
              <a:rPr lang="zh-CN" altLang="zh-CN" sz="2600" dirty="0">
                <a:solidFill>
                  <a:schemeClr val="tx1"/>
                </a:solidFill>
                <a:sym typeface="+mn-ea"/>
              </a:rPr>
              <a:t>4.</a:t>
            </a:r>
            <a:r>
              <a:rPr lang="zh-CN" altLang="en-US" sz="2600" dirty="0">
                <a:solidFill>
                  <a:schemeClr val="tx1"/>
                </a:solidFill>
                <a:sym typeface="+mn-ea"/>
              </a:rPr>
              <a:t> 网络工程生命周期中阶段的划分</a:t>
            </a:r>
          </a:p>
          <a:p>
            <a:pPr marL="0" indent="0"/>
            <a:r>
              <a:rPr lang="zh-CN" altLang="zh-CN" sz="2600" b="0" dirty="0">
                <a:solidFill>
                  <a:schemeClr val="tx1"/>
                </a:solidFill>
              </a:rPr>
              <a:t>1</a:t>
            </a:r>
            <a:r>
              <a:rPr lang="zh-CN" altLang="en-US" sz="2600" b="0" dirty="0">
                <a:solidFill>
                  <a:schemeClr val="tx1"/>
                </a:solidFill>
              </a:rPr>
              <a:t>、概论</a:t>
            </a:r>
          </a:p>
        </p:txBody>
      </p:sp>
      <p:sp>
        <p:nvSpPr>
          <p:cNvPr id="1048716" name="标题 4"/>
          <p:cNvSpPr>
            <a:spLocks noGrp="1"/>
          </p:cNvSpPr>
          <p:nvPr>
            <p:ph type="title"/>
          </p:nvPr>
        </p:nvSpPr>
        <p:spPr>
          <a:xfrm>
            <a:off x="0" y="-276851"/>
            <a:ext cx="10515600" cy="132556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a:r>
              <a:rPr lang="zh-CN" altLang="en-US" dirty="0">
                <a:solidFill>
                  <a:schemeClr val="bg1"/>
                </a:solidFill>
                <a:sym typeface="黑体" pitchFamily="49" charset="-122"/>
              </a:rPr>
              <a:t>1.</a:t>
            </a:r>
            <a:r>
              <a:rPr lang="en-US" altLang="zh-CN" dirty="0">
                <a:solidFill>
                  <a:schemeClr val="bg1"/>
                </a:solidFill>
                <a:sym typeface="黑体" pitchFamily="49" charset="-122"/>
              </a:rPr>
              <a:t>0</a:t>
            </a:r>
            <a:r>
              <a:rPr lang="zh-CN" altLang="en-US" dirty="0">
                <a:solidFill>
                  <a:schemeClr val="bg1"/>
                </a:solidFill>
                <a:sym typeface="黑体" pitchFamily="49" charset="-122"/>
              </a:rPr>
              <a:t> 计算机网络工程概论</a:t>
            </a:r>
          </a:p>
        </p:txBody>
      </p:sp>
      <p:grpSp>
        <p:nvGrpSpPr>
          <p:cNvPr id="172" name="组合 171"/>
          <p:cNvGrpSpPr/>
          <p:nvPr/>
        </p:nvGrpSpPr>
        <p:grpSpPr>
          <a:xfrm>
            <a:off x="2063552" y="2204864"/>
            <a:ext cx="6769100" cy="3455987"/>
            <a:chOff x="703" y="709"/>
            <a:chExt cx="4264" cy="2812"/>
          </a:xfrm>
        </p:grpSpPr>
        <p:sp>
          <p:nvSpPr>
            <p:cNvPr id="1048699" name="矩形 140292"/>
            <p:cNvSpPr/>
            <p:nvPr/>
          </p:nvSpPr>
          <p:spPr>
            <a:xfrm>
              <a:off x="793" y="709"/>
              <a:ext cx="953" cy="408"/>
            </a:xfrm>
            <a:prstGeom prst="rect">
              <a:avLst/>
            </a:prstGeom>
            <a:solidFill>
              <a:schemeClr val="lt1"/>
            </a:solidFill>
            <a:ln w="28575" cap="flat" cmpd="sng">
              <a:solidFill>
                <a:schemeClr val="dk1">
                  <a:alpha val="100000"/>
                </a:schemeClr>
              </a:solidFill>
              <a:prstDash val="solid"/>
              <a:round/>
            </a:ln>
          </p:spPr>
          <p:txBody>
            <a:bodyPr vert="horz" wrap="none"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endParaRPr lang="en-US" altLang="zh-CN" sz="1800" b="1" dirty="0">
                <a:effectLst>
                  <a:outerShdw blurRad="38100" dist="38100" dir="2700000" algn="tl">
                    <a:srgbClr val="C0C0C0"/>
                  </a:outerShdw>
                </a:effectLst>
                <a:latin typeface="Tahoma" pitchFamily="34" charset="0"/>
              </a:endParaRPr>
            </a:p>
            <a:p>
              <a:pPr lvl="0" algn="ctr" eaLnBrk="1" latinLnBrk="1" hangingPunct="1"/>
              <a:r>
                <a:rPr lang="zh-CN" altLang="en-US" sz="1800" b="1" dirty="0">
                  <a:effectLst>
                    <a:outerShdw blurRad="38100" dist="38100" dir="2700000" algn="tl">
                      <a:srgbClr val="C0C0C0"/>
                    </a:outerShdw>
                  </a:effectLst>
                  <a:latin typeface="Tahoma" pitchFamily="34" charset="0"/>
                  <a:ea typeface="黑体" pitchFamily="49" charset="-122"/>
                </a:rPr>
                <a:t>立项与可行性</a:t>
              </a:r>
            </a:p>
            <a:p>
              <a:pPr lvl="0" algn="ctr" eaLnBrk="1" latinLnBrk="1" hangingPunct="1"/>
              <a:r>
                <a:rPr lang="zh-CN" altLang="en-US" sz="1800" b="1" dirty="0">
                  <a:effectLst>
                    <a:outerShdw blurRad="38100" dist="38100" dir="2700000" algn="tl">
                      <a:srgbClr val="C0C0C0"/>
                    </a:outerShdw>
                  </a:effectLst>
                  <a:latin typeface="Tahoma" pitchFamily="34" charset="0"/>
                  <a:ea typeface="黑体" pitchFamily="49" charset="-122"/>
                </a:rPr>
                <a:t>论证</a:t>
              </a:r>
            </a:p>
            <a:p>
              <a:pPr lvl="0" algn="ctr" eaLnBrk="1" latinLnBrk="1" hangingPunct="1"/>
              <a:endParaRPr lang="en-US" altLang="en-US" sz="1800" b="1" dirty="0">
                <a:effectLst>
                  <a:outerShdw blurRad="38100" dist="38100" dir="2700000" algn="tl">
                    <a:srgbClr val="C0C0C0"/>
                  </a:outerShdw>
                </a:effectLst>
                <a:latin typeface="Tahoma" pitchFamily="34" charset="0"/>
              </a:endParaRPr>
            </a:p>
          </p:txBody>
        </p:sp>
        <p:sp>
          <p:nvSpPr>
            <p:cNvPr id="1048700" name="矩形 140293"/>
            <p:cNvSpPr/>
            <p:nvPr/>
          </p:nvSpPr>
          <p:spPr>
            <a:xfrm>
              <a:off x="2245" y="709"/>
              <a:ext cx="1089" cy="408"/>
            </a:xfrm>
            <a:prstGeom prst="rect">
              <a:avLst/>
            </a:prstGeom>
            <a:solidFill>
              <a:schemeClr val="lt1"/>
            </a:solidFill>
            <a:ln w="9525" cap="flat" cmpd="sng">
              <a:solidFill>
                <a:schemeClr val="dk1">
                  <a:alpha val="100000"/>
                </a:schemeClr>
              </a:solidFill>
              <a:prstDash val="lgDash"/>
              <a:round/>
            </a:ln>
          </p:spPr>
          <p:txBody>
            <a:bodyPr vert="horz" wrap="none"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zh-CN" altLang="en-US" sz="1800" b="1">
                  <a:effectLst>
                    <a:outerShdw blurRad="38100" dist="38100" dir="2700000" algn="tl">
                      <a:srgbClr val="C0C0C0"/>
                    </a:outerShdw>
                  </a:effectLst>
                  <a:latin typeface="Tahoma" pitchFamily="34" charset="0"/>
                  <a:ea typeface="黑体" pitchFamily="49" charset="-122"/>
                </a:rPr>
                <a:t>设计招投标</a:t>
              </a:r>
            </a:p>
          </p:txBody>
        </p:sp>
        <p:sp>
          <p:nvSpPr>
            <p:cNvPr id="1048701" name="矩形 140294"/>
            <p:cNvSpPr/>
            <p:nvPr/>
          </p:nvSpPr>
          <p:spPr>
            <a:xfrm>
              <a:off x="3923" y="709"/>
              <a:ext cx="1044" cy="453"/>
            </a:xfrm>
            <a:prstGeom prst="rect">
              <a:avLst/>
            </a:prstGeom>
            <a:solidFill>
              <a:schemeClr val="lt1"/>
            </a:solidFill>
            <a:ln w="28575" cap="flat" cmpd="sng">
              <a:solidFill>
                <a:schemeClr val="dk1">
                  <a:alpha val="100000"/>
                </a:schemeClr>
              </a:solidFill>
              <a:prstDash val="solid"/>
              <a:round/>
            </a:ln>
          </p:spPr>
          <p:txBody>
            <a:bodyPr vert="horz" wrap="none"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zh-CN" altLang="en-US" sz="1800" b="1">
                  <a:effectLst>
                    <a:outerShdw blurRad="38100" dist="38100" dir="2700000" algn="tl">
                      <a:srgbClr val="C0C0C0"/>
                    </a:outerShdw>
                  </a:effectLst>
                  <a:latin typeface="Tahoma" pitchFamily="34" charset="0"/>
                  <a:ea typeface="黑体" pitchFamily="49" charset="-122"/>
                </a:rPr>
                <a:t>详细需求调查</a:t>
              </a:r>
            </a:p>
            <a:p>
              <a:pPr lvl="0" algn="ctr" eaLnBrk="1" latinLnBrk="1" hangingPunct="1"/>
              <a:r>
                <a:rPr lang="zh-CN" altLang="en-US" sz="1800" b="1">
                  <a:effectLst>
                    <a:outerShdw blurRad="38100" dist="38100" dir="2700000" algn="tl">
                      <a:srgbClr val="C0C0C0"/>
                    </a:outerShdw>
                  </a:effectLst>
                  <a:latin typeface="Tahoma" pitchFamily="34" charset="0"/>
                  <a:ea typeface="黑体" pitchFamily="49" charset="-122"/>
                </a:rPr>
                <a:t>与分析</a:t>
              </a:r>
            </a:p>
          </p:txBody>
        </p:sp>
        <p:sp>
          <p:nvSpPr>
            <p:cNvPr id="1048702" name="矩形 140295"/>
            <p:cNvSpPr/>
            <p:nvPr/>
          </p:nvSpPr>
          <p:spPr>
            <a:xfrm>
              <a:off x="3651" y="1661"/>
              <a:ext cx="1316" cy="499"/>
            </a:xfrm>
            <a:prstGeom prst="rect">
              <a:avLst/>
            </a:prstGeom>
            <a:solidFill>
              <a:schemeClr val="lt1"/>
            </a:solidFill>
            <a:ln w="28575" cap="flat" cmpd="sng">
              <a:solidFill>
                <a:schemeClr val="dk1">
                  <a:alpha val="100000"/>
                </a:schemeClr>
              </a:solidFill>
              <a:prstDash val="solid"/>
              <a:round/>
            </a:ln>
          </p:spPr>
          <p:txBody>
            <a:bodyPr vert="horz" wrap="none"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zh-CN" altLang="en-US" sz="1800" b="1">
                  <a:effectLst>
                    <a:outerShdw blurRad="38100" dist="38100" dir="2700000" algn="tl">
                      <a:srgbClr val="C0C0C0"/>
                    </a:outerShdw>
                  </a:effectLst>
                  <a:latin typeface="Tahoma" pitchFamily="34" charset="0"/>
                  <a:ea typeface="黑体" pitchFamily="49" charset="-122"/>
                </a:rPr>
                <a:t>系统设计（初步</a:t>
              </a:r>
            </a:p>
            <a:p>
              <a:pPr lvl="0" algn="ctr" eaLnBrk="1" latinLnBrk="1" hangingPunct="1"/>
              <a:r>
                <a:rPr lang="zh-CN" altLang="en-US" sz="1800" b="1">
                  <a:effectLst>
                    <a:outerShdw blurRad="38100" dist="38100" dir="2700000" algn="tl">
                      <a:srgbClr val="C0C0C0"/>
                    </a:outerShdw>
                  </a:effectLst>
                  <a:latin typeface="Tahoma" pitchFamily="34" charset="0"/>
                  <a:ea typeface="黑体" pitchFamily="49" charset="-122"/>
                </a:rPr>
                <a:t>设计与深化设计）</a:t>
              </a:r>
            </a:p>
          </p:txBody>
        </p:sp>
        <p:sp>
          <p:nvSpPr>
            <p:cNvPr id="1048703" name="矩形 140296"/>
            <p:cNvSpPr/>
            <p:nvPr/>
          </p:nvSpPr>
          <p:spPr>
            <a:xfrm>
              <a:off x="2245" y="1706"/>
              <a:ext cx="907" cy="453"/>
            </a:xfrm>
            <a:prstGeom prst="rect">
              <a:avLst/>
            </a:prstGeom>
            <a:solidFill>
              <a:schemeClr val="lt1"/>
            </a:solidFill>
            <a:ln w="9525" cap="flat" cmpd="sng">
              <a:solidFill>
                <a:schemeClr val="dk1">
                  <a:alpha val="100000"/>
                </a:schemeClr>
              </a:solidFill>
              <a:prstDash val="solid"/>
              <a:round/>
            </a:ln>
          </p:spPr>
          <p:txBody>
            <a:bodyPr vert="horz" wrap="none"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zh-CN" altLang="en-US" sz="1800" b="1">
                  <a:effectLst>
                    <a:outerShdw blurRad="38100" dist="38100" dir="2700000" algn="tl">
                      <a:srgbClr val="C0C0C0"/>
                    </a:outerShdw>
                  </a:effectLst>
                  <a:latin typeface="Tahoma" pitchFamily="34" charset="0"/>
                  <a:ea typeface="黑体" pitchFamily="49" charset="-122"/>
                </a:rPr>
                <a:t>工程招投标</a:t>
              </a:r>
            </a:p>
          </p:txBody>
        </p:sp>
        <p:sp>
          <p:nvSpPr>
            <p:cNvPr id="1048704" name="矩形 140297"/>
            <p:cNvSpPr/>
            <p:nvPr/>
          </p:nvSpPr>
          <p:spPr>
            <a:xfrm>
              <a:off x="703" y="1616"/>
              <a:ext cx="998" cy="1360"/>
            </a:xfrm>
            <a:prstGeom prst="rect">
              <a:avLst/>
            </a:prstGeom>
            <a:solidFill>
              <a:schemeClr val="lt1"/>
            </a:solidFill>
            <a:ln w="28575" cap="flat" cmpd="sng">
              <a:solidFill>
                <a:schemeClr val="dk1">
                  <a:alpha val="100000"/>
                </a:schemeClr>
              </a:solidFill>
              <a:prstDash val="solid"/>
              <a:round/>
            </a:ln>
          </p:spPr>
          <p:txBody>
            <a:bodyPr vert="horz" wrap="none"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spcBef>
                  <a:spcPct val="20000"/>
                </a:spcBef>
                <a:buClr>
                  <a:schemeClr val="hlink"/>
                </a:buClr>
                <a:buSzPct val="120000"/>
                <a:buNone/>
              </a:pPr>
              <a:endParaRPr lang="en-US" altLang="zh-CN" sz="1800" b="1">
                <a:effectLst>
                  <a:outerShdw blurRad="38100" dist="38100" dir="2700000" algn="tl">
                    <a:srgbClr val="C0C0C0"/>
                  </a:outerShdw>
                </a:effectLst>
                <a:latin typeface="Tahoma" pitchFamily="34" charset="0"/>
              </a:endParaRPr>
            </a:p>
            <a:p>
              <a:pPr lvl="0" algn="ctr" eaLnBrk="1" latinLnBrk="1" hangingPunct="1">
                <a:spcBef>
                  <a:spcPct val="20000"/>
                </a:spcBef>
                <a:buClr>
                  <a:schemeClr val="hlink"/>
                </a:buClr>
                <a:buSzPct val="120000"/>
                <a:buNone/>
              </a:pPr>
              <a:r>
                <a:rPr lang="zh-CN" altLang="en-US" sz="1800" b="1">
                  <a:effectLst>
                    <a:outerShdw blurRad="38100" dist="38100" dir="2700000" algn="tl">
                      <a:srgbClr val="C0C0C0"/>
                    </a:outerShdw>
                  </a:effectLst>
                  <a:latin typeface="Tahoma" pitchFamily="34" charset="0"/>
                  <a:ea typeface="黑体" pitchFamily="49" charset="-122"/>
                </a:rPr>
                <a:t>工程施工</a:t>
              </a:r>
            </a:p>
            <a:p>
              <a:pPr lvl="0" algn="ctr" eaLnBrk="1" latinLnBrk="1" hangingPunct="1">
                <a:spcBef>
                  <a:spcPct val="20000"/>
                </a:spcBef>
                <a:buClr>
                  <a:schemeClr val="hlink"/>
                </a:buClr>
                <a:buSzPct val="120000"/>
                <a:buNone/>
              </a:pPr>
              <a:r>
                <a:rPr lang="zh-CN" altLang="en-US" sz="1800" b="1">
                  <a:effectLst>
                    <a:outerShdw blurRad="38100" dist="38100" dir="2700000" algn="tl">
                      <a:srgbClr val="C0C0C0"/>
                    </a:outerShdw>
                  </a:effectLst>
                  <a:latin typeface="Tahoma" pitchFamily="34" charset="0"/>
                  <a:ea typeface="黑体" pitchFamily="49" charset="-122"/>
                </a:rPr>
                <a:t>（施工设计、</a:t>
              </a:r>
            </a:p>
            <a:p>
              <a:pPr lvl="0" algn="ctr" eaLnBrk="1" latinLnBrk="1" hangingPunct="1">
                <a:spcBef>
                  <a:spcPct val="20000"/>
                </a:spcBef>
                <a:buClr>
                  <a:schemeClr val="hlink"/>
                </a:buClr>
                <a:buSzPct val="120000"/>
                <a:buNone/>
              </a:pPr>
              <a:r>
                <a:rPr lang="zh-CN" altLang="en-US" sz="1800" b="1">
                  <a:effectLst>
                    <a:outerShdw blurRad="38100" dist="38100" dir="2700000" algn="tl">
                      <a:srgbClr val="C0C0C0"/>
                    </a:outerShdw>
                  </a:effectLst>
                  <a:latin typeface="Tahoma" pitchFamily="34" charset="0"/>
                  <a:ea typeface="黑体" pitchFamily="49" charset="-122"/>
                </a:rPr>
                <a:t>分项施工、</a:t>
              </a:r>
            </a:p>
            <a:p>
              <a:pPr lvl="0" algn="ctr" eaLnBrk="1" latinLnBrk="1" hangingPunct="1">
                <a:spcBef>
                  <a:spcPct val="20000"/>
                </a:spcBef>
                <a:buClr>
                  <a:schemeClr val="hlink"/>
                </a:buClr>
                <a:buSzPct val="120000"/>
                <a:buNone/>
              </a:pPr>
              <a:r>
                <a:rPr lang="zh-CN" altLang="en-US" sz="1800" b="1">
                  <a:effectLst>
                    <a:outerShdw blurRad="38100" dist="38100" dir="2700000" algn="tl">
                      <a:srgbClr val="C0C0C0"/>
                    </a:outerShdw>
                  </a:effectLst>
                  <a:latin typeface="Tahoma" pitchFamily="34" charset="0"/>
                  <a:ea typeface="黑体" pitchFamily="49" charset="-122"/>
                </a:rPr>
                <a:t>系统集成、</a:t>
              </a:r>
            </a:p>
            <a:p>
              <a:pPr lvl="0" algn="ctr" eaLnBrk="1" latinLnBrk="1" hangingPunct="1">
                <a:spcBef>
                  <a:spcPct val="20000"/>
                </a:spcBef>
                <a:buClr>
                  <a:schemeClr val="hlink"/>
                </a:buClr>
                <a:buSzPct val="120000"/>
                <a:buNone/>
              </a:pPr>
              <a:r>
                <a:rPr lang="zh-CN" altLang="en-US" sz="1800" b="1">
                  <a:effectLst>
                    <a:outerShdw blurRad="38100" dist="38100" dir="2700000" algn="tl">
                      <a:srgbClr val="C0C0C0"/>
                    </a:outerShdw>
                  </a:effectLst>
                  <a:latin typeface="Tahoma" pitchFamily="34" charset="0"/>
                  <a:ea typeface="黑体" pitchFamily="49" charset="-122"/>
                </a:rPr>
                <a:t> 测试）</a:t>
              </a:r>
            </a:p>
            <a:p>
              <a:pPr lvl="0" algn="ctr" eaLnBrk="1" latinLnBrk="1" hangingPunct="1"/>
              <a:endParaRPr lang="en-US" altLang="en-US" sz="1800" b="1">
                <a:effectLst>
                  <a:outerShdw blurRad="38100" dist="38100" dir="2700000" algn="tl">
                    <a:srgbClr val="C0C0C0"/>
                  </a:outerShdw>
                </a:effectLst>
                <a:latin typeface="Tahoma" pitchFamily="34" charset="0"/>
              </a:endParaRPr>
            </a:p>
          </p:txBody>
        </p:sp>
        <p:sp>
          <p:nvSpPr>
            <p:cNvPr id="1048705" name="矩形 140298"/>
            <p:cNvSpPr/>
            <p:nvPr/>
          </p:nvSpPr>
          <p:spPr>
            <a:xfrm>
              <a:off x="2200" y="2614"/>
              <a:ext cx="1134" cy="362"/>
            </a:xfrm>
            <a:prstGeom prst="rect">
              <a:avLst/>
            </a:prstGeom>
            <a:solidFill>
              <a:schemeClr val="lt1"/>
            </a:solidFill>
            <a:ln w="38100" cap="flat" cmpd="sng">
              <a:solidFill>
                <a:schemeClr val="dk1">
                  <a:alpha val="100000"/>
                </a:schemeClr>
              </a:solidFill>
              <a:prstDash val="solid"/>
              <a:round/>
            </a:ln>
          </p:spPr>
          <p:txBody>
            <a:bodyPr vert="horz" wrap="none"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zh-CN" altLang="en-US" sz="1800" b="1">
                  <a:effectLst>
                    <a:outerShdw blurRad="38100" dist="38100" dir="2700000" algn="tl">
                      <a:srgbClr val="C0C0C0"/>
                    </a:outerShdw>
                  </a:effectLst>
                  <a:latin typeface="Tahoma" pitchFamily="34" charset="0"/>
                  <a:ea typeface="黑体" pitchFamily="49" charset="-122"/>
                </a:rPr>
                <a:t>工程验收</a:t>
              </a:r>
            </a:p>
          </p:txBody>
        </p:sp>
        <p:sp>
          <p:nvSpPr>
            <p:cNvPr id="1048706" name="矩形 140299"/>
            <p:cNvSpPr/>
            <p:nvPr/>
          </p:nvSpPr>
          <p:spPr>
            <a:xfrm>
              <a:off x="3696" y="2614"/>
              <a:ext cx="1225" cy="408"/>
            </a:xfrm>
            <a:prstGeom prst="rect">
              <a:avLst/>
            </a:prstGeom>
            <a:solidFill>
              <a:schemeClr val="lt1"/>
            </a:solidFill>
            <a:ln w="28575" cap="flat" cmpd="sng">
              <a:solidFill>
                <a:schemeClr val="dk1">
                  <a:alpha val="100000"/>
                </a:schemeClr>
              </a:solidFill>
              <a:prstDash val="solid"/>
              <a:round/>
            </a:ln>
          </p:spPr>
          <p:txBody>
            <a:bodyPr vert="horz" wrap="none"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zh-CN" altLang="en-US" sz="1800" b="1">
                  <a:latin typeface="Tahoma" pitchFamily="34" charset="0"/>
                </a:rPr>
                <a:t>系统维护期</a:t>
              </a:r>
            </a:p>
          </p:txBody>
        </p:sp>
        <p:sp>
          <p:nvSpPr>
            <p:cNvPr id="1048707" name="右箭头 140300"/>
            <p:cNvSpPr/>
            <p:nvPr/>
          </p:nvSpPr>
          <p:spPr>
            <a:xfrm>
              <a:off x="1746" y="845"/>
              <a:ext cx="499" cy="181"/>
            </a:xfrm>
            <a:prstGeom prst="rightArrow">
              <a:avLst>
                <a:gd name="adj1" fmla="val 50000"/>
                <a:gd name="adj2" fmla="val 68897"/>
              </a:avLst>
            </a:prstGeom>
            <a:solidFill>
              <a:srgbClr val="6699FF"/>
            </a:solidFill>
            <a:ln w="9525" cap="flat" cmpd="sng">
              <a:solidFill>
                <a:schemeClr val="accent1">
                  <a:alpha val="100000"/>
                </a:schemeClr>
              </a:solidFill>
              <a:prstDash val="solid"/>
              <a:round/>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endParaRPr lang="zh-CN" altLang="en-US" sz="1800"/>
            </a:p>
          </p:txBody>
        </p:sp>
        <p:sp>
          <p:nvSpPr>
            <p:cNvPr id="1048708" name="右箭头 140301"/>
            <p:cNvSpPr/>
            <p:nvPr/>
          </p:nvSpPr>
          <p:spPr>
            <a:xfrm>
              <a:off x="3334" y="845"/>
              <a:ext cx="589" cy="181"/>
            </a:xfrm>
            <a:prstGeom prst="rightArrow">
              <a:avLst>
                <a:gd name="adj1" fmla="val 50000"/>
                <a:gd name="adj2" fmla="val 81323"/>
              </a:avLst>
            </a:prstGeom>
            <a:solidFill>
              <a:srgbClr val="6699FF"/>
            </a:solidFill>
            <a:ln w="9525" cap="flat" cmpd="sng">
              <a:solidFill>
                <a:schemeClr val="accent1">
                  <a:alpha val="100000"/>
                </a:schemeClr>
              </a:solidFill>
              <a:prstDash val="solid"/>
              <a:round/>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endParaRPr lang="zh-CN" altLang="en-US" sz="1800"/>
            </a:p>
          </p:txBody>
        </p:sp>
        <p:sp>
          <p:nvSpPr>
            <p:cNvPr id="1048709" name="下箭头 140302"/>
            <p:cNvSpPr/>
            <p:nvPr/>
          </p:nvSpPr>
          <p:spPr>
            <a:xfrm>
              <a:off x="4332" y="1162"/>
              <a:ext cx="272" cy="499"/>
            </a:xfrm>
            <a:prstGeom prst="downArrow">
              <a:avLst>
                <a:gd name="adj1" fmla="val 50000"/>
                <a:gd name="adj2" fmla="val 45846"/>
              </a:avLst>
            </a:prstGeom>
            <a:solidFill>
              <a:srgbClr val="6699FF"/>
            </a:solidFill>
            <a:ln w="9525" cap="flat" cmpd="sng">
              <a:solidFill>
                <a:schemeClr val="accent1">
                  <a:alpha val="100000"/>
                </a:schemeClr>
              </a:solidFill>
              <a:prstDash val="solid"/>
              <a:round/>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endParaRPr lang="zh-CN" altLang="en-US" sz="1800"/>
            </a:p>
          </p:txBody>
        </p:sp>
        <p:sp>
          <p:nvSpPr>
            <p:cNvPr id="1048710" name="左箭头 140303"/>
            <p:cNvSpPr/>
            <p:nvPr/>
          </p:nvSpPr>
          <p:spPr>
            <a:xfrm>
              <a:off x="3152" y="1842"/>
              <a:ext cx="454" cy="182"/>
            </a:xfrm>
            <a:prstGeom prst="leftArrow">
              <a:avLst>
                <a:gd name="adj1" fmla="val 50000"/>
                <a:gd name="adj2" fmla="val 62339"/>
              </a:avLst>
            </a:prstGeom>
            <a:solidFill>
              <a:srgbClr val="6699FF"/>
            </a:solidFill>
            <a:ln w="9525" cap="flat" cmpd="sng">
              <a:solidFill>
                <a:schemeClr val="accent1">
                  <a:alpha val="100000"/>
                </a:schemeClr>
              </a:solidFill>
              <a:prstDash val="solid"/>
              <a:round/>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endParaRPr lang="zh-CN" altLang="en-US" sz="1800"/>
            </a:p>
          </p:txBody>
        </p:sp>
        <p:sp>
          <p:nvSpPr>
            <p:cNvPr id="1048711" name="左箭头 140304"/>
            <p:cNvSpPr/>
            <p:nvPr/>
          </p:nvSpPr>
          <p:spPr>
            <a:xfrm>
              <a:off x="1701" y="1888"/>
              <a:ext cx="499" cy="227"/>
            </a:xfrm>
            <a:prstGeom prst="leftArrow">
              <a:avLst>
                <a:gd name="adj1" fmla="val 50000"/>
                <a:gd name="adj2" fmla="val 54935"/>
              </a:avLst>
            </a:prstGeom>
            <a:solidFill>
              <a:srgbClr val="6699FF"/>
            </a:solidFill>
            <a:ln w="9525" cap="flat" cmpd="sng">
              <a:solidFill>
                <a:schemeClr val="accent1">
                  <a:alpha val="100000"/>
                </a:schemeClr>
              </a:solidFill>
              <a:prstDash val="solid"/>
              <a:round/>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endParaRPr lang="zh-CN" altLang="en-US" sz="1800"/>
            </a:p>
          </p:txBody>
        </p:sp>
        <p:sp>
          <p:nvSpPr>
            <p:cNvPr id="1048712" name="右箭头 140305"/>
            <p:cNvSpPr/>
            <p:nvPr/>
          </p:nvSpPr>
          <p:spPr>
            <a:xfrm>
              <a:off x="1701" y="2750"/>
              <a:ext cx="499" cy="181"/>
            </a:xfrm>
            <a:prstGeom prst="rightArrow">
              <a:avLst>
                <a:gd name="adj1" fmla="val 50000"/>
                <a:gd name="adj2" fmla="val 68897"/>
              </a:avLst>
            </a:prstGeom>
            <a:solidFill>
              <a:srgbClr val="6699FF"/>
            </a:solidFill>
            <a:ln w="9525" cap="flat" cmpd="sng">
              <a:solidFill>
                <a:schemeClr val="accent1">
                  <a:alpha val="100000"/>
                </a:schemeClr>
              </a:solidFill>
              <a:prstDash val="solid"/>
              <a:round/>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endParaRPr lang="zh-CN" altLang="en-US" sz="1800"/>
            </a:p>
          </p:txBody>
        </p:sp>
        <p:sp>
          <p:nvSpPr>
            <p:cNvPr id="1048713" name="右箭头 140306"/>
            <p:cNvSpPr/>
            <p:nvPr/>
          </p:nvSpPr>
          <p:spPr>
            <a:xfrm>
              <a:off x="3334" y="2750"/>
              <a:ext cx="362" cy="136"/>
            </a:xfrm>
            <a:prstGeom prst="rightArrow">
              <a:avLst>
                <a:gd name="adj1" fmla="val 50000"/>
                <a:gd name="adj2" fmla="val 66519"/>
              </a:avLst>
            </a:prstGeom>
            <a:solidFill>
              <a:srgbClr val="6699FF"/>
            </a:solidFill>
            <a:ln w="9525" cap="flat" cmpd="sng">
              <a:solidFill>
                <a:schemeClr val="accent1">
                  <a:alpha val="100000"/>
                </a:schemeClr>
              </a:solidFill>
              <a:prstDash val="solid"/>
              <a:round/>
            </a:ln>
          </p:spPr>
          <p:txBody>
            <a:bodyPr vert="horz" wrap="none"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endParaRPr lang="zh-CN" altLang="en-US" sz="1800"/>
            </a:p>
          </p:txBody>
        </p:sp>
        <p:sp>
          <p:nvSpPr>
            <p:cNvPr id="1048714" name="右弧形箭头 140307"/>
            <p:cNvSpPr/>
            <p:nvPr/>
          </p:nvSpPr>
          <p:spPr>
            <a:xfrm rot="5400000">
              <a:off x="2875" y="2029"/>
              <a:ext cx="499" cy="2485"/>
            </a:xfrm>
            <a:prstGeom prst="curvedLeftArrow">
              <a:avLst>
                <a:gd name="adj1" fmla="val 93606"/>
                <a:gd name="adj2" fmla="val 213492"/>
                <a:gd name="adj3" fmla="val 33324"/>
              </a:avLst>
            </a:prstGeom>
            <a:solidFill>
              <a:srgbClr val="6699FF"/>
            </a:solidFill>
            <a:ln w="9525" cap="flat" cmpd="sng">
              <a:solidFill>
                <a:schemeClr val="dk1">
                  <a:alpha val="100000"/>
                </a:schemeClr>
              </a:solidFill>
              <a:prstDash val="solid"/>
              <a:round/>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endParaRPr lang="zh-CN" altLang="en-US" sz="1800"/>
            </a:p>
          </p:txBody>
        </p:sp>
        <p:sp>
          <p:nvSpPr>
            <p:cNvPr id="1048715" name="矩形 140308"/>
            <p:cNvSpPr/>
            <p:nvPr/>
          </p:nvSpPr>
          <p:spPr>
            <a:xfrm>
              <a:off x="2971" y="3113"/>
              <a:ext cx="544" cy="272"/>
            </a:xfrm>
            <a:prstGeom prst="rect">
              <a:avLst/>
            </a:prstGeom>
            <a:solidFill>
              <a:srgbClr val="FBF05F"/>
            </a:solidFill>
            <a:ln w="9525" cap="flat" cmpd="sng">
              <a:solidFill>
                <a:schemeClr val="dk1">
                  <a:alpha val="100000"/>
                </a:schemeClr>
              </a:solidFill>
              <a:prstDash val="solid"/>
              <a:round/>
            </a:ln>
          </p:spPr>
          <p:txBody>
            <a:bodyPr vert="horz" wrap="none"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zh-CN" altLang="en-US" sz="1800" dirty="0">
                  <a:latin typeface="Tahoma" pitchFamily="34" charset="0"/>
                </a:rPr>
                <a:t>升级</a:t>
              </a:r>
            </a:p>
          </p:txBody>
        </p:sp>
      </p:grpSp>
    </p:spTree>
  </p:cSld>
  <p:clrMapOvr>
    <a:masterClrMapping/>
  </p:clrMapOvr>
  <p:transition spd="slow">
    <p:zo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0" name="文本占位符 141313"/>
          <p:cNvSpPr>
            <a:spLocks noGrp="1"/>
          </p:cNvSpPr>
          <p:nvPr>
            <p:ph idx="1"/>
          </p:nvPr>
        </p:nvSpPr>
        <p:spPr>
          <a:xfrm>
            <a:off x="191344" y="908720"/>
            <a:ext cx="10729192" cy="5400599"/>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marL="0" indent="0">
              <a:buNone/>
            </a:pPr>
            <a:r>
              <a:rPr lang="zh-CN" altLang="zh-CN" sz="2600" dirty="0">
                <a:solidFill>
                  <a:schemeClr val="tx1"/>
                </a:solidFill>
                <a:sym typeface="+mn-ea"/>
              </a:rPr>
              <a:t>4.</a:t>
            </a:r>
            <a:r>
              <a:rPr lang="zh-CN" altLang="en-US" sz="2600" dirty="0">
                <a:solidFill>
                  <a:schemeClr val="tx1"/>
                </a:solidFill>
                <a:sym typeface="+mn-ea"/>
              </a:rPr>
              <a:t> 网络工程生命周期中阶段的划分</a:t>
            </a:r>
          </a:p>
          <a:p>
            <a:pPr marL="0" indent="0"/>
            <a:r>
              <a:rPr lang="zh-CN" altLang="en-US" sz="2400" dirty="0">
                <a:solidFill>
                  <a:schemeClr val="tx1"/>
                </a:solidFill>
              </a:rPr>
              <a:t>2、粗略的划分:筹备、设计、实施、使用与维护升级</a:t>
            </a:r>
          </a:p>
          <a:p>
            <a:pPr marL="0" indent="0">
              <a:buNone/>
            </a:pPr>
            <a:r>
              <a:rPr lang="zh-CN" altLang="zh-CN" sz="2400" dirty="0">
                <a:solidFill>
                  <a:schemeClr val="dk1"/>
                </a:solidFill>
                <a:sym typeface="Wingdings" pitchFamily="2" charset="2"/>
              </a:rPr>
              <a:t></a:t>
            </a:r>
            <a:r>
              <a:rPr lang="zh-CN" altLang="zh-CN" sz="2400" dirty="0">
                <a:solidFill>
                  <a:schemeClr val="dk1"/>
                </a:solidFill>
              </a:rPr>
              <a:t>筹备阶段</a:t>
            </a:r>
          </a:p>
          <a:p>
            <a:pPr marL="0" indent="0">
              <a:buNone/>
            </a:pPr>
            <a:endParaRPr lang="en-US" altLang="en-US" sz="2600" dirty="0">
              <a:latin typeface="宋体" pitchFamily="2" charset="-122"/>
            </a:endParaRPr>
          </a:p>
          <a:p>
            <a:pPr marL="0" indent="0">
              <a:buNone/>
            </a:pPr>
            <a:endParaRPr lang="en-US" altLang="en-US" sz="1900" dirty="0">
              <a:latin typeface="宋体" pitchFamily="2" charset="-122"/>
            </a:endParaRPr>
          </a:p>
          <a:p>
            <a:pPr marL="0" indent="0">
              <a:buNone/>
            </a:pPr>
            <a:endParaRPr lang="en-US" altLang="en-US" sz="1900" dirty="0">
              <a:latin typeface="宋体" pitchFamily="2" charset="-122"/>
            </a:endParaRPr>
          </a:p>
          <a:p>
            <a:pPr marL="0" indent="0">
              <a:buNone/>
            </a:pPr>
            <a:endParaRPr lang="en-US" altLang="en-US" sz="1900" dirty="0">
              <a:latin typeface="宋体" pitchFamily="2" charset="-122"/>
            </a:endParaRPr>
          </a:p>
        </p:txBody>
      </p:sp>
      <p:sp>
        <p:nvSpPr>
          <p:cNvPr id="1048732" name="标题 4"/>
          <p:cNvSpPr>
            <a:spLocks noGrp="1"/>
          </p:cNvSpPr>
          <p:nvPr>
            <p:ph type="title"/>
          </p:nvPr>
        </p:nvSpPr>
        <p:spPr>
          <a:xfrm>
            <a:off x="-98425" y="-253998"/>
            <a:ext cx="10515600" cy="132556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a:r>
              <a:rPr lang="zh-CN" altLang="en-US" dirty="0">
                <a:solidFill>
                  <a:schemeClr val="bg1"/>
                </a:solidFill>
                <a:sym typeface="黑体" pitchFamily="49" charset="-122"/>
              </a:rPr>
              <a:t>1.</a:t>
            </a:r>
            <a:r>
              <a:rPr lang="en-US" altLang="zh-CN" dirty="0">
                <a:solidFill>
                  <a:schemeClr val="bg1"/>
                </a:solidFill>
                <a:sym typeface="黑体" pitchFamily="49" charset="-122"/>
              </a:rPr>
              <a:t>0</a:t>
            </a:r>
            <a:r>
              <a:rPr lang="zh-CN" altLang="en-US" dirty="0">
                <a:solidFill>
                  <a:schemeClr val="bg1"/>
                </a:solidFill>
                <a:sym typeface="黑体" pitchFamily="49" charset="-122"/>
              </a:rPr>
              <a:t> 计算机网络工程概论</a:t>
            </a:r>
          </a:p>
        </p:txBody>
      </p:sp>
      <p:sp>
        <p:nvSpPr>
          <p:cNvPr id="1048721" name="矩形 141314"/>
          <p:cNvSpPr/>
          <p:nvPr/>
        </p:nvSpPr>
        <p:spPr>
          <a:xfrm>
            <a:off x="3575051" y="3182937"/>
            <a:ext cx="649287" cy="2087562"/>
          </a:xfrm>
          <a:prstGeom prst="rect">
            <a:avLst/>
          </a:prstGeom>
          <a:solidFill>
            <a:schemeClr val="lt1"/>
          </a:solidFill>
          <a:ln w="9525" cap="flat" cmpd="sng">
            <a:solidFill>
              <a:schemeClr val="dk1">
                <a:alpha val="100000"/>
              </a:schemeClr>
            </a:solidFill>
            <a:prstDash val="solid"/>
            <a:round/>
          </a:ln>
        </p:spPr>
        <p:txBody>
          <a:bodyPr vert="horz" wrap="none"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zh-CN" altLang="en-US" sz="1800" b="1">
                <a:latin typeface="Tahoma" pitchFamily="34" charset="0"/>
                <a:ea typeface="华文中宋" pitchFamily="2" charset="-122"/>
              </a:rPr>
              <a:t>可行</a:t>
            </a:r>
          </a:p>
          <a:p>
            <a:pPr lvl="0" algn="ctr" eaLnBrk="1" latinLnBrk="1" hangingPunct="1"/>
            <a:r>
              <a:rPr lang="zh-CN" altLang="en-US" sz="1800" b="1">
                <a:latin typeface="Tahoma" pitchFamily="34" charset="0"/>
                <a:ea typeface="华文中宋" pitchFamily="2" charset="-122"/>
              </a:rPr>
              <a:t>性</a:t>
            </a:r>
          </a:p>
          <a:p>
            <a:pPr lvl="0" algn="ctr" eaLnBrk="1" latinLnBrk="1" hangingPunct="1"/>
            <a:r>
              <a:rPr lang="zh-CN" altLang="en-US" sz="1800" b="1">
                <a:latin typeface="Tahoma" pitchFamily="34" charset="0"/>
                <a:ea typeface="华文中宋" pitchFamily="2" charset="-122"/>
              </a:rPr>
              <a:t>分析</a:t>
            </a:r>
          </a:p>
        </p:txBody>
      </p:sp>
      <p:sp>
        <p:nvSpPr>
          <p:cNvPr id="1048722" name="矩形 141315"/>
          <p:cNvSpPr/>
          <p:nvPr/>
        </p:nvSpPr>
        <p:spPr>
          <a:xfrm>
            <a:off x="4943475" y="3254375"/>
            <a:ext cx="431800" cy="1943100"/>
          </a:xfrm>
          <a:prstGeom prst="rect">
            <a:avLst/>
          </a:prstGeom>
          <a:solidFill>
            <a:schemeClr val="lt1"/>
          </a:solidFill>
          <a:ln w="9525" cap="flat" cmpd="sng">
            <a:solidFill>
              <a:schemeClr val="dk1">
                <a:alpha val="100000"/>
              </a:schemeClr>
            </a:solidFill>
            <a:prstDash val="solid"/>
            <a:round/>
          </a:ln>
        </p:spPr>
        <p:txBody>
          <a:bodyPr vert="horz" wrap="none"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zh-CN" altLang="en-US" sz="1800" b="1">
                <a:latin typeface="Tahoma" pitchFamily="34" charset="0"/>
                <a:ea typeface="华文中宋" pitchFamily="2" charset="-122"/>
              </a:rPr>
              <a:t>初</a:t>
            </a:r>
          </a:p>
          <a:p>
            <a:pPr lvl="0" algn="ctr" eaLnBrk="1" latinLnBrk="1" hangingPunct="1"/>
            <a:r>
              <a:rPr lang="zh-CN" altLang="en-US" sz="1800" b="1">
                <a:latin typeface="Tahoma" pitchFamily="34" charset="0"/>
                <a:ea typeface="华文中宋" pitchFamily="2" charset="-122"/>
              </a:rPr>
              <a:t>步</a:t>
            </a:r>
          </a:p>
          <a:p>
            <a:pPr lvl="0" algn="ctr" eaLnBrk="1" latinLnBrk="1" hangingPunct="1"/>
            <a:r>
              <a:rPr lang="zh-CN" altLang="en-US" sz="1800" b="1">
                <a:latin typeface="Tahoma" pitchFamily="34" charset="0"/>
                <a:ea typeface="华文中宋" pitchFamily="2" charset="-122"/>
              </a:rPr>
              <a:t>立</a:t>
            </a:r>
          </a:p>
          <a:p>
            <a:pPr lvl="0" algn="ctr" eaLnBrk="1" latinLnBrk="1" hangingPunct="1"/>
            <a:r>
              <a:rPr lang="zh-CN" altLang="en-US" sz="1800" b="1">
                <a:latin typeface="Tahoma" pitchFamily="34" charset="0"/>
                <a:ea typeface="华文中宋" pitchFamily="2" charset="-122"/>
              </a:rPr>
              <a:t>项</a:t>
            </a:r>
          </a:p>
        </p:txBody>
      </p:sp>
      <p:sp>
        <p:nvSpPr>
          <p:cNvPr id="1048723" name="矩形标注 141316"/>
          <p:cNvSpPr/>
          <p:nvPr/>
        </p:nvSpPr>
        <p:spPr>
          <a:xfrm>
            <a:off x="4224337" y="2678112"/>
            <a:ext cx="1439862" cy="431800"/>
          </a:xfrm>
          <a:prstGeom prst="wedgeRectCallout">
            <a:avLst>
              <a:gd name="adj1" fmla="val -34894"/>
              <a:gd name="adj2" fmla="val 276102"/>
            </a:avLst>
          </a:prstGeom>
          <a:solidFill>
            <a:srgbClr val="FBF05F"/>
          </a:solidFill>
          <a:ln w="9525" cap="flat" cmpd="sng">
            <a:solidFill>
              <a:schemeClr val="dk1">
                <a:alpha val="100000"/>
              </a:schemeClr>
            </a:solidFill>
            <a:prstDash val="solid"/>
            <a:round/>
          </a:ln>
        </p:spPr>
        <p:txBody>
          <a:bodyPr vert="horz"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zh-CN" altLang="en-US" sz="1800" b="1">
                <a:latin typeface="Tahoma" pitchFamily="34" charset="0"/>
                <a:ea typeface="楷体_GB2312" pitchFamily="49" charset="-122"/>
              </a:rPr>
              <a:t>可行性报告</a:t>
            </a:r>
          </a:p>
        </p:txBody>
      </p:sp>
      <p:sp>
        <p:nvSpPr>
          <p:cNvPr id="1048724" name="矩形 141317"/>
          <p:cNvSpPr/>
          <p:nvPr/>
        </p:nvSpPr>
        <p:spPr>
          <a:xfrm>
            <a:off x="6096001" y="3325813"/>
            <a:ext cx="719137" cy="1800225"/>
          </a:xfrm>
          <a:prstGeom prst="rect">
            <a:avLst/>
          </a:prstGeom>
          <a:solidFill>
            <a:schemeClr val="lt1"/>
          </a:solidFill>
          <a:ln w="9525" cap="flat" cmpd="sng">
            <a:solidFill>
              <a:schemeClr val="dk1">
                <a:alpha val="100000"/>
              </a:schemeClr>
            </a:solidFill>
            <a:prstDash val="solid"/>
            <a:round/>
          </a:ln>
        </p:spPr>
        <p:txBody>
          <a:bodyPr vert="horz" wrap="none"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buChar char="•"/>
            </a:pPr>
            <a:r>
              <a:rPr lang="zh-CN" altLang="en-US" sz="1800" b="1">
                <a:latin typeface="Tahoma" pitchFamily="34" charset="0"/>
                <a:ea typeface="华文中宋" pitchFamily="2" charset="-122"/>
              </a:rPr>
              <a:t>初步</a:t>
            </a:r>
          </a:p>
          <a:p>
            <a:pPr lvl="0" eaLnBrk="1" latinLnBrk="1" hangingPunct="1"/>
            <a:r>
              <a:rPr lang="zh-CN" altLang="en-US" sz="1800" b="1">
                <a:latin typeface="Tahoma" pitchFamily="34" charset="0"/>
                <a:ea typeface="华文中宋" pitchFamily="2" charset="-122"/>
              </a:rPr>
              <a:t>需求</a:t>
            </a:r>
          </a:p>
          <a:p>
            <a:pPr lvl="0" eaLnBrk="1" latinLnBrk="1" hangingPunct="1"/>
            <a:r>
              <a:rPr lang="zh-CN" altLang="en-US" sz="1800" b="1">
                <a:latin typeface="Tahoma" pitchFamily="34" charset="0"/>
                <a:ea typeface="华文中宋" pitchFamily="2" charset="-122"/>
              </a:rPr>
              <a:t>调查</a:t>
            </a:r>
          </a:p>
          <a:p>
            <a:pPr lvl="0" eaLnBrk="1" latinLnBrk="1" hangingPunct="1">
              <a:buChar char="•"/>
            </a:pPr>
            <a:r>
              <a:rPr lang="zh-CN" altLang="en-US" sz="1800" b="1">
                <a:latin typeface="Tahoma" pitchFamily="34" charset="0"/>
                <a:ea typeface="华文中宋" pitchFamily="2" charset="-122"/>
              </a:rPr>
              <a:t>初步</a:t>
            </a:r>
          </a:p>
          <a:p>
            <a:pPr lvl="0" eaLnBrk="1" latinLnBrk="1" hangingPunct="1"/>
            <a:r>
              <a:rPr lang="zh-CN" altLang="en-US" sz="1800" b="1">
                <a:latin typeface="Tahoma" pitchFamily="34" charset="0"/>
                <a:ea typeface="华文中宋" pitchFamily="2" charset="-122"/>
              </a:rPr>
              <a:t>设计</a:t>
            </a:r>
          </a:p>
        </p:txBody>
      </p:sp>
      <p:sp>
        <p:nvSpPr>
          <p:cNvPr id="1048725" name="右箭头 141318"/>
          <p:cNvSpPr/>
          <p:nvPr/>
        </p:nvSpPr>
        <p:spPr>
          <a:xfrm>
            <a:off x="6816725" y="4149725"/>
            <a:ext cx="1871662" cy="215900"/>
          </a:xfrm>
          <a:prstGeom prst="rightArrow">
            <a:avLst>
              <a:gd name="adj1" fmla="val 50000"/>
              <a:gd name="adj2" fmla="val 216647"/>
            </a:avLst>
          </a:prstGeom>
          <a:solidFill>
            <a:srgbClr val="6699FF"/>
          </a:solidFill>
          <a:ln w="9525" cap="flat" cmpd="sng">
            <a:solidFill>
              <a:schemeClr val="hlink">
                <a:alpha val="100000"/>
              </a:schemeClr>
            </a:solidFill>
            <a:prstDash val="solid"/>
            <a:round/>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endParaRPr lang="zh-CN" altLang="en-US" sz="1800"/>
          </a:p>
        </p:txBody>
      </p:sp>
      <p:sp>
        <p:nvSpPr>
          <p:cNvPr id="1048726" name="线形标注 1 141319"/>
          <p:cNvSpPr/>
          <p:nvPr/>
        </p:nvSpPr>
        <p:spPr>
          <a:xfrm>
            <a:off x="7259638" y="2698751"/>
            <a:ext cx="1368425" cy="750887"/>
          </a:xfrm>
          <a:prstGeom prst="borderCallout1">
            <a:avLst>
              <a:gd name="adj1" fmla="val 5495"/>
              <a:gd name="adj2" fmla="val -5569"/>
              <a:gd name="adj3" fmla="val 187949"/>
              <a:gd name="adj4" fmla="val -18792"/>
            </a:avLst>
          </a:prstGeom>
          <a:solidFill>
            <a:srgbClr val="FBF05F"/>
          </a:solidFill>
          <a:ln w="9525" cap="flat" cmpd="sng">
            <a:solidFill>
              <a:schemeClr val="dk1">
                <a:alpha val="100000"/>
              </a:schemeClr>
            </a:solidFill>
            <a:prstDash val="solid"/>
            <a:round/>
          </a:ln>
        </p:spPr>
        <p:txBody>
          <a:bodyPr vert="horz"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zh-CN" altLang="en-US" sz="1800" b="1">
                <a:latin typeface="Tahoma" pitchFamily="34" charset="0"/>
                <a:ea typeface="楷体_GB2312" pitchFamily="49" charset="-122"/>
              </a:rPr>
              <a:t>初步设计：方案、匡算</a:t>
            </a:r>
          </a:p>
        </p:txBody>
      </p:sp>
      <p:sp>
        <p:nvSpPr>
          <p:cNvPr id="1048727" name="线形标注 1 141320"/>
          <p:cNvSpPr/>
          <p:nvPr/>
        </p:nvSpPr>
        <p:spPr>
          <a:xfrm>
            <a:off x="5880100" y="5445125"/>
            <a:ext cx="1435100" cy="647700"/>
          </a:xfrm>
          <a:prstGeom prst="borderCallout1">
            <a:avLst>
              <a:gd name="adj1" fmla="val 17648"/>
              <a:gd name="adj2" fmla="val -5310"/>
              <a:gd name="adj3" fmla="val -168870"/>
              <a:gd name="adj4" fmla="val -21352"/>
            </a:avLst>
          </a:prstGeom>
          <a:solidFill>
            <a:srgbClr val="FBF05F"/>
          </a:solidFill>
          <a:ln w="9525" cap="flat" cmpd="sng">
            <a:solidFill>
              <a:schemeClr val="dk1">
                <a:alpha val="100000"/>
              </a:schemeClr>
            </a:solidFill>
            <a:prstDash val="solid"/>
            <a:round/>
          </a:ln>
        </p:spPr>
        <p:txBody>
          <a:bodyPr vert="horz"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endParaRPr lang="en-US" altLang="zh-CN" sz="1800" b="1">
              <a:latin typeface="Tahoma" pitchFamily="34" charset="0"/>
              <a:ea typeface="楷体_GB2312" pitchFamily="49" charset="-122"/>
            </a:endParaRPr>
          </a:p>
          <a:p>
            <a:pPr lvl="0" algn="ctr" eaLnBrk="1" latinLnBrk="1" hangingPunct="1"/>
            <a:r>
              <a:rPr lang="zh-CN" altLang="en-US" sz="1800" b="1">
                <a:latin typeface="Tahoma" pitchFamily="34" charset="0"/>
                <a:ea typeface="楷体_GB2312" pitchFamily="49" charset="-122"/>
              </a:rPr>
              <a:t>招标</a:t>
            </a:r>
            <a:r>
              <a:rPr lang="en-US" altLang="zh-CN" sz="1800" b="1">
                <a:latin typeface="Tahoma" pitchFamily="34" charset="0"/>
                <a:ea typeface="楷体_GB2312" pitchFamily="49" charset="-122"/>
              </a:rPr>
              <a:t>/</a:t>
            </a:r>
            <a:r>
              <a:rPr lang="zh-CN" altLang="en-US" sz="1800" b="1">
                <a:latin typeface="Tahoma" pitchFamily="34" charset="0"/>
                <a:ea typeface="楷体_GB2312" pitchFamily="49" charset="-122"/>
              </a:rPr>
              <a:t>委托初设</a:t>
            </a:r>
          </a:p>
          <a:p>
            <a:pPr lvl="0" algn="ctr" eaLnBrk="1" latinLnBrk="1" hangingPunct="1"/>
            <a:endParaRPr lang="zh-CN" altLang="en-US" sz="1800">
              <a:latin typeface="Tahoma" pitchFamily="34" charset="0"/>
              <a:ea typeface="楷体_GB2312" pitchFamily="49" charset="-122"/>
            </a:endParaRPr>
          </a:p>
        </p:txBody>
      </p:sp>
      <p:sp>
        <p:nvSpPr>
          <p:cNvPr id="1048728" name="矩形 141321"/>
          <p:cNvSpPr/>
          <p:nvPr/>
        </p:nvSpPr>
        <p:spPr>
          <a:xfrm>
            <a:off x="8759826" y="3254376"/>
            <a:ext cx="720725" cy="1944687"/>
          </a:xfrm>
          <a:prstGeom prst="rect">
            <a:avLst/>
          </a:prstGeom>
          <a:solidFill>
            <a:schemeClr val="lt1"/>
          </a:solidFill>
          <a:ln w="9525" cap="flat" cmpd="sng">
            <a:solidFill>
              <a:schemeClr val="dk1">
                <a:alpha val="100000"/>
              </a:schemeClr>
            </a:solidFill>
            <a:prstDash val="solid"/>
            <a:round/>
          </a:ln>
        </p:spPr>
        <p:txBody>
          <a:bodyPr vert="horz" wrap="none"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zh-CN" altLang="en-US" sz="1800" b="1">
                <a:latin typeface="Tahoma" pitchFamily="34" charset="0"/>
                <a:ea typeface="华文中宋" pitchFamily="2" charset="-122"/>
              </a:rPr>
              <a:t>决策：</a:t>
            </a:r>
          </a:p>
          <a:p>
            <a:pPr lvl="0" algn="ctr" eaLnBrk="1" latinLnBrk="1" hangingPunct="1"/>
            <a:r>
              <a:rPr lang="zh-CN" altLang="en-US" sz="1800" b="1">
                <a:latin typeface="Tahoma" pitchFamily="34" charset="0"/>
                <a:ea typeface="华文中宋" pitchFamily="2" charset="-122"/>
              </a:rPr>
              <a:t>正式</a:t>
            </a:r>
          </a:p>
          <a:p>
            <a:pPr lvl="0" algn="ctr" eaLnBrk="1" latinLnBrk="1" hangingPunct="1"/>
            <a:r>
              <a:rPr lang="zh-CN" altLang="en-US" sz="1800" b="1">
                <a:latin typeface="Tahoma" pitchFamily="34" charset="0"/>
                <a:ea typeface="华文中宋" pitchFamily="2" charset="-122"/>
              </a:rPr>
              <a:t>立项</a:t>
            </a:r>
            <a:r>
              <a:rPr lang="en-US" altLang="zh-CN" sz="1800" b="1">
                <a:latin typeface="Tahoma" pitchFamily="34" charset="0"/>
                <a:ea typeface="华文中宋" pitchFamily="2" charset="-122"/>
              </a:rPr>
              <a:t>/</a:t>
            </a:r>
          </a:p>
          <a:p>
            <a:pPr lvl="0" algn="ctr" eaLnBrk="1" latinLnBrk="1" hangingPunct="1"/>
            <a:r>
              <a:rPr lang="zh-CN" altLang="en-US" sz="1800" b="1">
                <a:latin typeface="Tahoma" pitchFamily="34" charset="0"/>
                <a:ea typeface="华文中宋" pitchFamily="2" charset="-122"/>
              </a:rPr>
              <a:t>放弃</a:t>
            </a:r>
          </a:p>
        </p:txBody>
      </p:sp>
      <p:sp>
        <p:nvSpPr>
          <p:cNvPr id="1048729" name="右箭头 141322"/>
          <p:cNvSpPr/>
          <p:nvPr/>
        </p:nvSpPr>
        <p:spPr>
          <a:xfrm>
            <a:off x="2855913" y="4149725"/>
            <a:ext cx="720725" cy="215900"/>
          </a:xfrm>
          <a:prstGeom prst="rightArrow">
            <a:avLst>
              <a:gd name="adj1" fmla="val 50000"/>
              <a:gd name="adj2" fmla="val 83424"/>
            </a:avLst>
          </a:prstGeom>
          <a:solidFill>
            <a:srgbClr val="6699FF"/>
          </a:solidFill>
          <a:ln w="9525" cap="flat" cmpd="sng">
            <a:solidFill>
              <a:schemeClr val="hlink">
                <a:alpha val="100000"/>
              </a:schemeClr>
            </a:solidFill>
            <a:prstDash val="solid"/>
            <a:round/>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endParaRPr lang="zh-CN" altLang="en-US" sz="1800"/>
          </a:p>
        </p:txBody>
      </p:sp>
      <p:sp>
        <p:nvSpPr>
          <p:cNvPr id="1048730" name="右箭头 141323"/>
          <p:cNvSpPr/>
          <p:nvPr/>
        </p:nvSpPr>
        <p:spPr>
          <a:xfrm>
            <a:off x="4222751" y="4149725"/>
            <a:ext cx="720725" cy="215900"/>
          </a:xfrm>
          <a:prstGeom prst="rightArrow">
            <a:avLst>
              <a:gd name="adj1" fmla="val 50000"/>
              <a:gd name="adj2" fmla="val 83424"/>
            </a:avLst>
          </a:prstGeom>
          <a:solidFill>
            <a:srgbClr val="6699FF"/>
          </a:solidFill>
          <a:ln w="9525" cap="flat" cmpd="sng">
            <a:solidFill>
              <a:schemeClr val="hlink">
                <a:alpha val="100000"/>
              </a:schemeClr>
            </a:solidFill>
            <a:prstDash val="solid"/>
            <a:round/>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endParaRPr lang="zh-CN" altLang="en-US" sz="1800"/>
          </a:p>
        </p:txBody>
      </p:sp>
      <p:sp>
        <p:nvSpPr>
          <p:cNvPr id="1048731" name="右箭头 141324"/>
          <p:cNvSpPr/>
          <p:nvPr/>
        </p:nvSpPr>
        <p:spPr>
          <a:xfrm>
            <a:off x="5375276" y="4149725"/>
            <a:ext cx="720725" cy="215900"/>
          </a:xfrm>
          <a:prstGeom prst="rightArrow">
            <a:avLst>
              <a:gd name="adj1" fmla="val 50000"/>
              <a:gd name="adj2" fmla="val 83424"/>
            </a:avLst>
          </a:prstGeom>
          <a:solidFill>
            <a:srgbClr val="6699FF"/>
          </a:solidFill>
          <a:ln w="9525" cap="flat" cmpd="sng">
            <a:solidFill>
              <a:schemeClr val="hlink">
                <a:alpha val="100000"/>
              </a:schemeClr>
            </a:solidFill>
            <a:prstDash val="solid"/>
            <a:round/>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endParaRPr lang="zh-CN" altLang="en-US" sz="1800"/>
          </a:p>
        </p:txBody>
      </p:sp>
      <p:sp>
        <p:nvSpPr>
          <p:cNvPr id="2" name="矩形 1">
            <a:extLst>
              <a:ext uri="{FF2B5EF4-FFF2-40B4-BE49-F238E27FC236}">
                <a16:creationId xmlns:a16="http://schemas.microsoft.com/office/drawing/2014/main" id="{11AA15EA-97EE-4587-A4AF-4A0C03DE1F05}"/>
              </a:ext>
            </a:extLst>
          </p:cNvPr>
          <p:cNvSpPr/>
          <p:nvPr/>
        </p:nvSpPr>
        <p:spPr>
          <a:xfrm>
            <a:off x="1991544" y="4077072"/>
            <a:ext cx="792733" cy="360040"/>
          </a:xfrm>
          <a:prstGeom prst="rect">
            <a:avLst/>
          </a:prstGeom>
          <a:solidFill>
            <a:schemeClr val="lt1"/>
          </a:solidFill>
          <a:ln w="9525" cap="flat" cmpd="sng">
            <a:solidFill>
              <a:schemeClr val="dk1">
                <a:alpha val="100000"/>
              </a:schemeClr>
            </a:solidFill>
            <a:prstDash val="solid"/>
            <a:round/>
          </a:ln>
        </p:spPr>
        <p:txBody>
          <a:bodyPr vert="horz" wrap="none" lIns="91440" tIns="45720" rIns="91440" bIns="45720" anchor="ctr"/>
          <a:lstStyle/>
          <a:p>
            <a:pPr algn="ctr"/>
            <a:r>
              <a:rPr lang="en-US" altLang="en-US" sz="1800" b="1" dirty="0" err="1">
                <a:solidFill>
                  <a:schemeClr val="dk1"/>
                </a:solidFill>
                <a:latin typeface="Tahoma" pitchFamily="34" charset="0"/>
                <a:ea typeface="华文中宋" pitchFamily="2" charset="-122"/>
              </a:rPr>
              <a:t>动因</a:t>
            </a:r>
            <a:endParaRPr lang="zh-CN" altLang="en-US" sz="1800" b="1" dirty="0">
              <a:solidFill>
                <a:schemeClr val="dk1"/>
              </a:solidFill>
              <a:latin typeface="Tahoma" pitchFamily="34" charset="0"/>
              <a:ea typeface="华文中宋" pitchFamily="2" charset="-122"/>
            </a:endParaRPr>
          </a:p>
        </p:txBody>
      </p:sp>
    </p:spTree>
  </p:cSld>
  <p:clrMapOvr>
    <a:masterClrMapping/>
  </p:clrMapOvr>
  <p:transition spd="slow">
    <p:zo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6" name="矩形 142337"/>
          <p:cNvSpPr/>
          <p:nvPr/>
        </p:nvSpPr>
        <p:spPr>
          <a:xfrm>
            <a:off x="3071812" y="3213100"/>
            <a:ext cx="1008062" cy="2305050"/>
          </a:xfrm>
          <a:prstGeom prst="rect">
            <a:avLst/>
          </a:prstGeom>
          <a:solidFill>
            <a:schemeClr val="lt1"/>
          </a:solidFill>
          <a:ln w="9525" cap="flat" cmpd="sng">
            <a:solidFill>
              <a:schemeClr val="dk1">
                <a:alpha val="100000"/>
              </a:schemeClr>
            </a:solidFill>
            <a:prstDash val="solid"/>
            <a:round/>
          </a:ln>
        </p:spPr>
        <p:txBody>
          <a:bodyPr vert="horz"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buChar char="•"/>
            </a:pPr>
            <a:r>
              <a:rPr lang="zh-CN" altLang="en-US" sz="1800" b="1">
                <a:latin typeface="华文中宋" pitchFamily="2" charset="-122"/>
                <a:ea typeface="华文中宋" pitchFamily="2" charset="-122"/>
              </a:rPr>
              <a:t>招标</a:t>
            </a:r>
            <a:r>
              <a:rPr lang="en-US" altLang="zh-CN" sz="1800" b="1">
                <a:latin typeface="华文中宋" pitchFamily="2" charset="-122"/>
                <a:ea typeface="华文中宋" pitchFamily="2" charset="-122"/>
              </a:rPr>
              <a:t>/</a:t>
            </a:r>
          </a:p>
          <a:p>
            <a:pPr lvl="0" eaLnBrk="1" latinLnBrk="1" hangingPunct="1"/>
            <a:r>
              <a:rPr lang="zh-CN" altLang="en-US" sz="1800" b="1">
                <a:latin typeface="华文中宋" pitchFamily="2" charset="-122"/>
                <a:ea typeface="华文中宋" pitchFamily="2" charset="-122"/>
              </a:rPr>
              <a:t>直接委托设计</a:t>
            </a:r>
            <a:r>
              <a:rPr lang="en-US" altLang="zh-CN" sz="1800" b="1">
                <a:latin typeface="华文中宋" pitchFamily="2" charset="-122"/>
                <a:ea typeface="华文中宋" pitchFamily="2" charset="-122"/>
              </a:rPr>
              <a:t>/</a:t>
            </a:r>
            <a:r>
              <a:rPr lang="zh-CN" altLang="en-US" sz="1800" b="1">
                <a:latin typeface="华文中宋" pitchFamily="2" charset="-122"/>
                <a:ea typeface="华文中宋" pitchFamily="2" charset="-122"/>
              </a:rPr>
              <a:t>施工单位</a:t>
            </a:r>
          </a:p>
          <a:p>
            <a:pPr lvl="0" eaLnBrk="1" latinLnBrk="1" hangingPunct="1">
              <a:buChar char="•"/>
            </a:pPr>
            <a:r>
              <a:rPr lang="zh-CN" altLang="en-US" sz="1800" b="1">
                <a:latin typeface="华文中宋" pitchFamily="2" charset="-122"/>
                <a:ea typeface="华文中宋" pitchFamily="2" charset="-122"/>
              </a:rPr>
              <a:t>可能委</a:t>
            </a:r>
          </a:p>
          <a:p>
            <a:pPr lvl="0" eaLnBrk="1" latinLnBrk="1" hangingPunct="1"/>
            <a:r>
              <a:rPr lang="zh-CN" altLang="en-US" sz="1800" b="1">
                <a:latin typeface="华文中宋" pitchFamily="2" charset="-122"/>
                <a:ea typeface="华文中宋" pitchFamily="2" charset="-122"/>
              </a:rPr>
              <a:t>托监理</a:t>
            </a:r>
          </a:p>
          <a:p>
            <a:pPr lvl="0" eaLnBrk="1" latinLnBrk="1" hangingPunct="1"/>
            <a:r>
              <a:rPr lang="zh-CN" altLang="en-US" sz="1800" b="1">
                <a:latin typeface="华文中宋" pitchFamily="2" charset="-122"/>
                <a:ea typeface="华文中宋" pitchFamily="2" charset="-122"/>
              </a:rPr>
              <a:t>单位</a:t>
            </a:r>
          </a:p>
        </p:txBody>
      </p:sp>
      <p:sp>
        <p:nvSpPr>
          <p:cNvPr id="1048737" name="线形标注 1 142338"/>
          <p:cNvSpPr/>
          <p:nvPr/>
        </p:nvSpPr>
        <p:spPr>
          <a:xfrm>
            <a:off x="2782888" y="2463800"/>
            <a:ext cx="847725" cy="609600"/>
          </a:xfrm>
          <a:prstGeom prst="borderCallout1">
            <a:avLst>
              <a:gd name="adj1" fmla="val 12500"/>
              <a:gd name="adj2" fmla="val -8991"/>
              <a:gd name="adj3" fmla="val 219273"/>
              <a:gd name="adj4" fmla="val -26593"/>
            </a:avLst>
          </a:prstGeom>
          <a:solidFill>
            <a:srgbClr val="FBF05F"/>
          </a:solidFill>
          <a:ln w="9525" cap="flat" cmpd="sng">
            <a:solidFill>
              <a:schemeClr val="dk1">
                <a:alpha val="100000"/>
              </a:schemeClr>
            </a:solidFill>
            <a:prstDash val="solid"/>
            <a:round/>
          </a:ln>
        </p:spPr>
        <p:txBody>
          <a:bodyPr vert="horz"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zh-CN" altLang="en-US" sz="1800" b="1">
                <a:latin typeface="Tahoma" pitchFamily="34" charset="0"/>
                <a:ea typeface="楷体_GB2312" pitchFamily="49" charset="-122"/>
              </a:rPr>
              <a:t>正式立项</a:t>
            </a:r>
          </a:p>
        </p:txBody>
      </p:sp>
      <p:sp>
        <p:nvSpPr>
          <p:cNvPr id="1048738" name="线形标注 1 142339"/>
          <p:cNvSpPr/>
          <p:nvPr/>
        </p:nvSpPr>
        <p:spPr>
          <a:xfrm>
            <a:off x="4583112" y="2420937"/>
            <a:ext cx="1225550" cy="609600"/>
          </a:xfrm>
          <a:prstGeom prst="borderCallout1">
            <a:avLst>
              <a:gd name="adj1" fmla="val 12500"/>
              <a:gd name="adj2" fmla="val -6218"/>
              <a:gd name="adj3" fmla="val 259116"/>
              <a:gd name="adj4" fmla="val -31347"/>
            </a:avLst>
          </a:prstGeom>
          <a:solidFill>
            <a:srgbClr val="FBF05F"/>
          </a:solidFill>
          <a:ln w="9525" cap="flat" cmpd="sng">
            <a:solidFill>
              <a:schemeClr val="dk1">
                <a:alpha val="100000"/>
              </a:schemeClr>
            </a:solidFill>
            <a:prstDash val="solid"/>
            <a:round/>
          </a:ln>
        </p:spPr>
        <p:txBody>
          <a:bodyPr vert="horz"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zh-CN" altLang="en-US" sz="1800" b="1">
                <a:latin typeface="Tahoma" pitchFamily="34" charset="0"/>
                <a:ea typeface="楷体_GB2312" pitchFamily="49" charset="-122"/>
              </a:rPr>
              <a:t>工程</a:t>
            </a:r>
            <a:r>
              <a:rPr lang="en-US" altLang="zh-CN" sz="1800" b="1">
                <a:latin typeface="Tahoma" pitchFamily="34" charset="0"/>
                <a:ea typeface="楷体_GB2312" pitchFamily="49" charset="-122"/>
              </a:rPr>
              <a:t>/</a:t>
            </a:r>
            <a:r>
              <a:rPr lang="zh-CN" altLang="en-US" sz="1800" b="1">
                <a:latin typeface="Tahoma" pitchFamily="34" charset="0"/>
                <a:ea typeface="楷体_GB2312" pitchFamily="49" charset="-122"/>
              </a:rPr>
              <a:t>设计合同</a:t>
            </a:r>
          </a:p>
        </p:txBody>
      </p:sp>
      <p:sp>
        <p:nvSpPr>
          <p:cNvPr id="1048739" name="矩形 142340"/>
          <p:cNvSpPr/>
          <p:nvPr/>
        </p:nvSpPr>
        <p:spPr>
          <a:xfrm>
            <a:off x="4800601" y="3573462"/>
            <a:ext cx="1150937" cy="1008062"/>
          </a:xfrm>
          <a:prstGeom prst="rect">
            <a:avLst/>
          </a:prstGeom>
          <a:solidFill>
            <a:schemeClr val="lt1"/>
          </a:solidFill>
          <a:ln w="9525" cap="flat" cmpd="sng">
            <a:solidFill>
              <a:schemeClr val="dk1">
                <a:alpha val="100000"/>
              </a:schemeClr>
            </a:solidFill>
            <a:prstDash val="solid"/>
            <a:round/>
          </a:ln>
        </p:spPr>
        <p:txBody>
          <a:bodyPr vert="horz"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r>
              <a:rPr lang="zh-CN" altLang="en-US" sz="1800" b="1">
                <a:latin typeface="Tahoma" pitchFamily="34" charset="0"/>
                <a:ea typeface="华文中宋" pitchFamily="2" charset="-122"/>
              </a:rPr>
              <a:t>详细需求调查，</a:t>
            </a:r>
          </a:p>
          <a:p>
            <a:pPr lvl="0" eaLnBrk="1" latinLnBrk="1" hangingPunct="1"/>
            <a:r>
              <a:rPr lang="zh-CN" altLang="en-US" sz="1800" b="1">
                <a:latin typeface="Tahoma" pitchFamily="34" charset="0"/>
                <a:ea typeface="华文中宋" pitchFamily="2" charset="-122"/>
              </a:rPr>
              <a:t>详细设计</a:t>
            </a:r>
          </a:p>
        </p:txBody>
      </p:sp>
      <p:sp>
        <p:nvSpPr>
          <p:cNvPr id="1048740" name="线形标注 1 142341"/>
          <p:cNvSpPr/>
          <p:nvPr/>
        </p:nvSpPr>
        <p:spPr>
          <a:xfrm>
            <a:off x="4592637" y="5056187"/>
            <a:ext cx="1223962" cy="609600"/>
          </a:xfrm>
          <a:prstGeom prst="borderCallout1">
            <a:avLst>
              <a:gd name="adj1" fmla="val 12500"/>
              <a:gd name="adj2" fmla="val -6227"/>
              <a:gd name="adj3" fmla="val -155468"/>
              <a:gd name="adj4" fmla="val -18287"/>
            </a:avLst>
          </a:prstGeom>
          <a:solidFill>
            <a:srgbClr val="FBF05F"/>
          </a:solidFill>
          <a:ln w="9525" cap="flat" cmpd="sng">
            <a:solidFill>
              <a:schemeClr val="dk1">
                <a:alpha val="100000"/>
              </a:schemeClr>
            </a:solidFill>
            <a:prstDash val="solid"/>
            <a:round/>
          </a:ln>
        </p:spPr>
        <p:txBody>
          <a:bodyPr vert="horz"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zh-CN" altLang="en-US" sz="1800" b="1">
                <a:latin typeface="Tahoma" pitchFamily="34" charset="0"/>
                <a:ea typeface="楷体_GB2312" pitchFamily="49" charset="-122"/>
              </a:rPr>
              <a:t>监理合同</a:t>
            </a:r>
          </a:p>
        </p:txBody>
      </p:sp>
      <p:sp>
        <p:nvSpPr>
          <p:cNvPr id="1048741" name="线形标注 1 142342"/>
          <p:cNvSpPr/>
          <p:nvPr/>
        </p:nvSpPr>
        <p:spPr>
          <a:xfrm>
            <a:off x="6743701" y="1844676"/>
            <a:ext cx="1584325" cy="1081087"/>
          </a:xfrm>
          <a:prstGeom prst="borderCallout1">
            <a:avLst>
              <a:gd name="adj1" fmla="val 10574"/>
              <a:gd name="adj2" fmla="val -4810"/>
              <a:gd name="adj3" fmla="val 201764"/>
              <a:gd name="adj4" fmla="val -39880"/>
            </a:avLst>
          </a:prstGeom>
          <a:solidFill>
            <a:srgbClr val="FBF05F"/>
          </a:solidFill>
          <a:ln w="9525" cap="flat" cmpd="sng">
            <a:solidFill>
              <a:schemeClr val="dk1">
                <a:alpha val="100000"/>
              </a:schemeClr>
            </a:solidFill>
            <a:prstDash val="solid"/>
            <a:round/>
          </a:ln>
        </p:spPr>
        <p:txBody>
          <a:bodyPr vert="horz"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zh-CN" altLang="en-US" sz="1800" b="1">
                <a:latin typeface="Tahoma" pitchFamily="34" charset="0"/>
                <a:ea typeface="楷体_GB2312" pitchFamily="49" charset="-122"/>
              </a:rPr>
              <a:t>详细设计：</a:t>
            </a:r>
          </a:p>
          <a:p>
            <a:pPr lvl="0" algn="ctr" eaLnBrk="1" latinLnBrk="1" hangingPunct="1"/>
            <a:r>
              <a:rPr lang="zh-CN" altLang="en-US" sz="1800" b="1">
                <a:latin typeface="Tahoma" pitchFamily="34" charset="0"/>
                <a:ea typeface="楷体_GB2312" pitchFamily="49" charset="-122"/>
              </a:rPr>
              <a:t>施工设计文档、图纸、预算</a:t>
            </a:r>
          </a:p>
        </p:txBody>
      </p:sp>
      <p:sp>
        <p:nvSpPr>
          <p:cNvPr id="1048742" name="矩形 142343"/>
          <p:cNvSpPr/>
          <p:nvPr/>
        </p:nvSpPr>
        <p:spPr>
          <a:xfrm>
            <a:off x="6673851" y="3213100"/>
            <a:ext cx="1152525" cy="1871662"/>
          </a:xfrm>
          <a:prstGeom prst="rect">
            <a:avLst/>
          </a:prstGeom>
          <a:solidFill>
            <a:schemeClr val="lt1"/>
          </a:solidFill>
          <a:ln w="9525" cap="flat" cmpd="sng">
            <a:solidFill>
              <a:schemeClr val="dk1">
                <a:alpha val="100000"/>
              </a:schemeClr>
            </a:solidFill>
            <a:prstDash val="solid"/>
            <a:round/>
          </a:ln>
        </p:spPr>
        <p:txBody>
          <a:bodyPr vert="horz" wrap="none"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zh-CN" altLang="en-US" sz="1800" b="1" dirty="0">
                <a:latin typeface="Tahoma" pitchFamily="34" charset="0"/>
                <a:ea typeface="华文中宋" pitchFamily="2" charset="-122"/>
              </a:rPr>
              <a:t>签定</a:t>
            </a:r>
          </a:p>
          <a:p>
            <a:pPr lvl="0" algn="ctr" eaLnBrk="1" latinLnBrk="1" hangingPunct="1"/>
            <a:r>
              <a:rPr lang="zh-CN" altLang="en-US" sz="1800" b="1" dirty="0">
                <a:latin typeface="Tahoma" pitchFamily="34" charset="0"/>
                <a:ea typeface="华文中宋" pitchFamily="2" charset="-122"/>
              </a:rPr>
              <a:t>施工合同</a:t>
            </a:r>
          </a:p>
          <a:p>
            <a:pPr lvl="0" algn="ctr" eaLnBrk="1" latinLnBrk="1" hangingPunct="1"/>
            <a:r>
              <a:rPr lang="en-US" altLang="zh-CN" sz="1800" b="1" dirty="0">
                <a:latin typeface="Tahoma" pitchFamily="34" charset="0"/>
                <a:ea typeface="华文中宋" pitchFamily="2" charset="-122"/>
              </a:rPr>
              <a:t>/</a:t>
            </a:r>
            <a:r>
              <a:rPr lang="zh-CN" altLang="en-US" sz="1800" b="1" dirty="0">
                <a:latin typeface="Tahoma" pitchFamily="34" charset="0"/>
                <a:ea typeface="华文中宋" pitchFamily="2" charset="-122"/>
              </a:rPr>
              <a:t>也可能</a:t>
            </a:r>
          </a:p>
          <a:p>
            <a:pPr lvl="0" algn="ctr" eaLnBrk="1" latinLnBrk="1" hangingPunct="1"/>
            <a:r>
              <a:rPr lang="zh-CN" altLang="en-US" sz="1800" b="1" dirty="0">
                <a:latin typeface="Tahoma" pitchFamily="34" charset="0"/>
                <a:ea typeface="华文中宋" pitchFamily="2" charset="-122"/>
              </a:rPr>
              <a:t>此时签订</a:t>
            </a:r>
          </a:p>
          <a:p>
            <a:pPr lvl="0" algn="ctr" eaLnBrk="1" latinLnBrk="1" hangingPunct="1"/>
            <a:r>
              <a:rPr lang="zh-CN" altLang="en-US" sz="1800" b="1" dirty="0">
                <a:latin typeface="Tahoma" pitchFamily="34" charset="0"/>
                <a:ea typeface="华文中宋" pitchFamily="2" charset="-122"/>
              </a:rPr>
              <a:t>监理合同</a:t>
            </a:r>
          </a:p>
        </p:txBody>
      </p:sp>
      <p:sp>
        <p:nvSpPr>
          <p:cNvPr id="1048743" name="线形标注 1 142344"/>
          <p:cNvSpPr/>
          <p:nvPr/>
        </p:nvSpPr>
        <p:spPr>
          <a:xfrm>
            <a:off x="8474076" y="5013325"/>
            <a:ext cx="1150937" cy="609600"/>
          </a:xfrm>
          <a:prstGeom prst="borderCallout1">
            <a:avLst>
              <a:gd name="adj1" fmla="val 12500"/>
              <a:gd name="adj2" fmla="val -6620"/>
              <a:gd name="adj3" fmla="val -139843"/>
              <a:gd name="adj4" fmla="val -32829"/>
            </a:avLst>
          </a:prstGeom>
          <a:solidFill>
            <a:srgbClr val="FBF05F"/>
          </a:solidFill>
          <a:ln w="9525" cap="flat" cmpd="sng">
            <a:solidFill>
              <a:schemeClr val="dk1">
                <a:alpha val="100000"/>
              </a:schemeClr>
            </a:solidFill>
            <a:prstDash val="solid"/>
            <a:round/>
          </a:ln>
        </p:spPr>
        <p:txBody>
          <a:bodyPr vert="horz"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zh-CN" altLang="en-US" sz="1800" b="1">
                <a:latin typeface="Tahoma" pitchFamily="34" charset="0"/>
                <a:ea typeface="楷体_GB2312" pitchFamily="49" charset="-122"/>
              </a:rPr>
              <a:t>转入施工阶段</a:t>
            </a:r>
          </a:p>
        </p:txBody>
      </p:sp>
      <p:sp>
        <p:nvSpPr>
          <p:cNvPr id="1048744" name="右箭头 142345"/>
          <p:cNvSpPr/>
          <p:nvPr/>
        </p:nvSpPr>
        <p:spPr>
          <a:xfrm>
            <a:off x="2351088" y="4005262"/>
            <a:ext cx="720725" cy="215900"/>
          </a:xfrm>
          <a:prstGeom prst="rightArrow">
            <a:avLst>
              <a:gd name="adj1" fmla="val 50000"/>
              <a:gd name="adj2" fmla="val 83424"/>
            </a:avLst>
          </a:prstGeom>
          <a:solidFill>
            <a:srgbClr val="6699FF"/>
          </a:solidFill>
          <a:ln w="9525" cap="flat" cmpd="sng">
            <a:solidFill>
              <a:schemeClr val="hlink">
                <a:alpha val="100000"/>
              </a:schemeClr>
            </a:solidFill>
            <a:prstDash val="solid"/>
            <a:round/>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endParaRPr lang="zh-CN" altLang="en-US" sz="1800"/>
          </a:p>
        </p:txBody>
      </p:sp>
      <p:sp>
        <p:nvSpPr>
          <p:cNvPr id="1048745" name="右箭头 142346"/>
          <p:cNvSpPr/>
          <p:nvPr/>
        </p:nvSpPr>
        <p:spPr>
          <a:xfrm>
            <a:off x="4079876" y="4005262"/>
            <a:ext cx="720725" cy="215900"/>
          </a:xfrm>
          <a:prstGeom prst="rightArrow">
            <a:avLst>
              <a:gd name="adj1" fmla="val 50000"/>
              <a:gd name="adj2" fmla="val 83424"/>
            </a:avLst>
          </a:prstGeom>
          <a:solidFill>
            <a:srgbClr val="6699FF"/>
          </a:solidFill>
          <a:ln w="9525" cap="flat" cmpd="sng">
            <a:solidFill>
              <a:schemeClr val="hlink">
                <a:alpha val="100000"/>
              </a:schemeClr>
            </a:solidFill>
            <a:prstDash val="solid"/>
            <a:round/>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endParaRPr lang="zh-CN" altLang="en-US" sz="1800"/>
          </a:p>
        </p:txBody>
      </p:sp>
      <p:sp>
        <p:nvSpPr>
          <p:cNvPr id="1048746" name="右箭头 142347"/>
          <p:cNvSpPr/>
          <p:nvPr/>
        </p:nvSpPr>
        <p:spPr>
          <a:xfrm>
            <a:off x="5954713" y="4005262"/>
            <a:ext cx="720725" cy="215900"/>
          </a:xfrm>
          <a:prstGeom prst="rightArrow">
            <a:avLst>
              <a:gd name="adj1" fmla="val 50000"/>
              <a:gd name="adj2" fmla="val 83424"/>
            </a:avLst>
          </a:prstGeom>
          <a:solidFill>
            <a:srgbClr val="6699FF"/>
          </a:solidFill>
          <a:ln w="9525" cap="flat" cmpd="sng">
            <a:solidFill>
              <a:schemeClr val="hlink">
                <a:alpha val="100000"/>
              </a:schemeClr>
            </a:solidFill>
            <a:prstDash val="solid"/>
            <a:round/>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endParaRPr lang="zh-CN" altLang="en-US" sz="1800"/>
          </a:p>
        </p:txBody>
      </p:sp>
      <p:sp>
        <p:nvSpPr>
          <p:cNvPr id="1048747" name="右箭头 142348"/>
          <p:cNvSpPr/>
          <p:nvPr/>
        </p:nvSpPr>
        <p:spPr>
          <a:xfrm>
            <a:off x="7826376" y="4005262"/>
            <a:ext cx="720725" cy="215900"/>
          </a:xfrm>
          <a:prstGeom prst="rightArrow">
            <a:avLst>
              <a:gd name="adj1" fmla="val 50000"/>
              <a:gd name="adj2" fmla="val 83424"/>
            </a:avLst>
          </a:prstGeom>
          <a:solidFill>
            <a:srgbClr val="6699FF"/>
          </a:solidFill>
          <a:ln w="9525" cap="flat" cmpd="sng">
            <a:solidFill>
              <a:schemeClr val="hlink">
                <a:alpha val="100000"/>
              </a:schemeClr>
            </a:solidFill>
            <a:prstDash val="solid"/>
            <a:round/>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endParaRPr lang="zh-CN" altLang="en-US" sz="1800"/>
          </a:p>
        </p:txBody>
      </p:sp>
      <p:sp>
        <p:nvSpPr>
          <p:cNvPr id="1048748" name="文本占位符 142350"/>
          <p:cNvSpPr>
            <a:spLocks noGrp="1"/>
          </p:cNvSpPr>
          <p:nvPr>
            <p:ph idx="1"/>
          </p:nvPr>
        </p:nvSpPr>
        <p:spPr>
          <a:xfrm>
            <a:off x="407368" y="908720"/>
            <a:ext cx="10945216" cy="5328592"/>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marL="609600" indent="-609600">
              <a:buNone/>
            </a:pPr>
            <a:r>
              <a:rPr lang="en-US" altLang="zh-CN" sz="2400" dirty="0">
                <a:solidFill>
                  <a:schemeClr val="tx1"/>
                </a:solidFill>
                <a:sym typeface="黑体" pitchFamily="49" charset="-122"/>
              </a:rPr>
              <a:t>4.</a:t>
            </a:r>
            <a:r>
              <a:rPr lang="zh-CN" altLang="en-US" sz="2400" dirty="0">
                <a:solidFill>
                  <a:schemeClr val="tx1"/>
                </a:solidFill>
                <a:sym typeface="黑体" pitchFamily="49" charset="-122"/>
              </a:rPr>
              <a:t> 网络工程生命周期中阶段的划分</a:t>
            </a:r>
          </a:p>
          <a:p>
            <a:pPr marL="609600" indent="-609600">
              <a:buNone/>
            </a:pPr>
            <a:r>
              <a:rPr lang="en-US" altLang="zh-CN" sz="2400" dirty="0">
                <a:solidFill>
                  <a:schemeClr val="dk1"/>
                </a:solidFill>
                <a:sym typeface="Wingdings" pitchFamily="2" charset="2"/>
              </a:rPr>
              <a:t></a:t>
            </a:r>
            <a:r>
              <a:rPr lang="zh-CN" altLang="en-US" sz="2400" dirty="0">
                <a:solidFill>
                  <a:schemeClr val="dk1"/>
                </a:solidFill>
              </a:rPr>
              <a:t>设计阶段</a:t>
            </a:r>
          </a:p>
          <a:p>
            <a:pPr marL="609600" indent="-609600"/>
            <a:endParaRPr lang="zh-CN" altLang="en-US" dirty="0"/>
          </a:p>
        </p:txBody>
      </p:sp>
      <p:sp>
        <p:nvSpPr>
          <p:cNvPr id="1048749" name="标题 4"/>
          <p:cNvSpPr>
            <a:spLocks noGrp="1"/>
          </p:cNvSpPr>
          <p:nvPr>
            <p:ph type="title"/>
          </p:nvPr>
        </p:nvSpPr>
        <p:spPr>
          <a:xfrm>
            <a:off x="0" y="-244476"/>
            <a:ext cx="10515600" cy="132556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a:r>
              <a:rPr lang="zh-CN" altLang="en-US" dirty="0">
                <a:solidFill>
                  <a:schemeClr val="bg1"/>
                </a:solidFill>
                <a:sym typeface="黑体" pitchFamily="49" charset="-122"/>
              </a:rPr>
              <a:t>1.</a:t>
            </a:r>
            <a:r>
              <a:rPr lang="en-US" altLang="zh-CN" dirty="0">
                <a:solidFill>
                  <a:schemeClr val="bg1"/>
                </a:solidFill>
                <a:sym typeface="黑体" pitchFamily="49" charset="-122"/>
              </a:rPr>
              <a:t>0</a:t>
            </a:r>
            <a:r>
              <a:rPr lang="zh-CN" altLang="en-US" dirty="0">
                <a:solidFill>
                  <a:schemeClr val="bg1"/>
                </a:solidFill>
                <a:sym typeface="黑体" pitchFamily="49" charset="-122"/>
              </a:rPr>
              <a:t> 计算机网络工程概论</a:t>
            </a:r>
          </a:p>
        </p:txBody>
      </p:sp>
    </p:spTree>
  </p:cSld>
  <p:clrMapOvr>
    <a:masterClrMapping/>
  </p:clrMapOvr>
  <p:transition spd="slow">
    <p:zo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3" name="线形标注 1 143361"/>
          <p:cNvSpPr/>
          <p:nvPr/>
        </p:nvSpPr>
        <p:spPr>
          <a:xfrm>
            <a:off x="2955925" y="2468562"/>
            <a:ext cx="1655762" cy="717550"/>
          </a:xfrm>
          <a:prstGeom prst="borderCallout1">
            <a:avLst>
              <a:gd name="adj1" fmla="val 15931"/>
              <a:gd name="adj2" fmla="val -4602"/>
              <a:gd name="adj3" fmla="val 209069"/>
              <a:gd name="adj4" fmla="val -23204"/>
            </a:avLst>
          </a:prstGeom>
          <a:solidFill>
            <a:srgbClr val="FBF05F"/>
          </a:solidFill>
          <a:ln w="9525" cap="flat" cmpd="sng">
            <a:solidFill>
              <a:schemeClr val="dk1">
                <a:alpha val="100000"/>
              </a:schemeClr>
            </a:solidFill>
            <a:prstDash val="solid"/>
            <a:round/>
          </a:ln>
        </p:spPr>
        <p:txBody>
          <a:bodyPr vert="horz"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buChar char="•"/>
            </a:pPr>
            <a:r>
              <a:rPr lang="zh-CN" altLang="en-US" sz="1800" b="1" dirty="0">
                <a:latin typeface="Tahoma" pitchFamily="34" charset="0"/>
                <a:ea typeface="楷体_GB2312" pitchFamily="49" charset="-122"/>
              </a:rPr>
              <a:t>开工报告</a:t>
            </a:r>
          </a:p>
          <a:p>
            <a:pPr lvl="0" eaLnBrk="1" latinLnBrk="1" hangingPunct="1">
              <a:buChar char="•"/>
            </a:pPr>
            <a:r>
              <a:rPr lang="zh-CN" altLang="en-US" sz="1800" b="1" dirty="0">
                <a:latin typeface="Tahoma" pitchFamily="34" charset="0"/>
                <a:ea typeface="楷体_GB2312" pitchFamily="49" charset="-122"/>
              </a:rPr>
              <a:t>施工组织计划</a:t>
            </a:r>
          </a:p>
        </p:txBody>
      </p:sp>
      <p:sp>
        <p:nvSpPr>
          <p:cNvPr id="1048754" name="矩形 143362"/>
          <p:cNvSpPr/>
          <p:nvPr/>
        </p:nvSpPr>
        <p:spPr>
          <a:xfrm>
            <a:off x="3143251" y="3357563"/>
            <a:ext cx="1152525" cy="1512887"/>
          </a:xfrm>
          <a:prstGeom prst="rect">
            <a:avLst/>
          </a:prstGeom>
          <a:solidFill>
            <a:schemeClr val="lt1"/>
          </a:solidFill>
          <a:ln w="9525" cap="flat" cmpd="sng">
            <a:solidFill>
              <a:schemeClr val="dk1">
                <a:alpha val="100000"/>
              </a:schemeClr>
            </a:solidFill>
            <a:prstDash val="solid"/>
            <a:round/>
          </a:ln>
        </p:spPr>
        <p:txBody>
          <a:bodyPr vert="horz"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zh-CN" altLang="en-US" sz="1800" b="1">
                <a:latin typeface="Tahoma" pitchFamily="34" charset="0"/>
                <a:ea typeface="华文中宋" pitchFamily="2" charset="-122"/>
              </a:rPr>
              <a:t>监理审查</a:t>
            </a:r>
          </a:p>
          <a:p>
            <a:pPr lvl="0" algn="ctr" eaLnBrk="1" latinLnBrk="1" hangingPunct="1"/>
            <a:r>
              <a:rPr lang="zh-CN" altLang="en-US" sz="1800" b="1">
                <a:latin typeface="Tahoma" pitchFamily="34" charset="0"/>
                <a:ea typeface="华文中宋" pitchFamily="2" charset="-122"/>
              </a:rPr>
              <a:t>并签署意</a:t>
            </a:r>
          </a:p>
          <a:p>
            <a:pPr lvl="0" algn="ctr" eaLnBrk="1" latinLnBrk="1" hangingPunct="1"/>
            <a:r>
              <a:rPr lang="zh-CN" altLang="en-US" sz="1800" b="1">
                <a:latin typeface="Tahoma" pitchFamily="34" charset="0"/>
                <a:ea typeface="华文中宋" pitchFamily="2" charset="-122"/>
              </a:rPr>
              <a:t>见，并通知施工方和甲方</a:t>
            </a:r>
          </a:p>
        </p:txBody>
      </p:sp>
      <p:sp>
        <p:nvSpPr>
          <p:cNvPr id="1048755" name="矩形 143363"/>
          <p:cNvSpPr/>
          <p:nvPr/>
        </p:nvSpPr>
        <p:spPr>
          <a:xfrm>
            <a:off x="5016501" y="2924175"/>
            <a:ext cx="1150937" cy="2449512"/>
          </a:xfrm>
          <a:prstGeom prst="rect">
            <a:avLst/>
          </a:prstGeom>
          <a:solidFill>
            <a:schemeClr val="lt1"/>
          </a:solidFill>
          <a:ln w="9525" cap="flat" cmpd="sng">
            <a:solidFill>
              <a:schemeClr val="dk1">
                <a:alpha val="100000"/>
              </a:schemeClr>
            </a:solidFill>
            <a:prstDash val="solid"/>
            <a:round/>
          </a:ln>
        </p:spPr>
        <p:txBody>
          <a:bodyPr vert="horz"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r>
              <a:rPr lang="zh-CN" altLang="en-US" sz="1800" b="1">
                <a:latin typeface="华文中宋" pitchFamily="2" charset="-122"/>
                <a:ea typeface="华文中宋" pitchFamily="2" charset="-122"/>
              </a:rPr>
              <a:t>分项施工（可能分包，如将布线工程委托第三方完成）</a:t>
            </a:r>
            <a:r>
              <a:rPr lang="en-US" altLang="zh-CN" sz="1800" b="1">
                <a:latin typeface="华文中宋" pitchFamily="2" charset="-122"/>
                <a:ea typeface="华文中宋" pitchFamily="2" charset="-122"/>
              </a:rPr>
              <a:t>,</a:t>
            </a:r>
            <a:r>
              <a:rPr lang="zh-CN" altLang="en-US" sz="1800" b="1">
                <a:latin typeface="华文中宋" pitchFamily="2" charset="-122"/>
                <a:ea typeface="华文中宋" pitchFamily="2" charset="-122"/>
              </a:rPr>
              <a:t>安装、调试</a:t>
            </a:r>
          </a:p>
        </p:txBody>
      </p:sp>
      <p:sp>
        <p:nvSpPr>
          <p:cNvPr id="1048756" name="矩形标注 143364"/>
          <p:cNvSpPr/>
          <p:nvPr/>
        </p:nvSpPr>
        <p:spPr>
          <a:xfrm>
            <a:off x="5159376" y="1844675"/>
            <a:ext cx="1584325" cy="863600"/>
          </a:xfrm>
          <a:prstGeom prst="wedgeRectCallout">
            <a:avLst>
              <a:gd name="adj1" fmla="val -43750"/>
              <a:gd name="adj2" fmla="val 70000"/>
            </a:avLst>
          </a:prstGeom>
          <a:solidFill>
            <a:srgbClr val="FBF05F"/>
          </a:solidFill>
          <a:ln w="9525" cap="flat" cmpd="sng">
            <a:solidFill>
              <a:schemeClr val="dk1">
                <a:alpha val="100000"/>
              </a:schemeClr>
            </a:solidFill>
            <a:prstDash val="solid"/>
            <a:round/>
          </a:ln>
        </p:spPr>
        <p:txBody>
          <a:bodyPr vert="horz"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zh-CN" altLang="en-US" sz="1800" b="1">
                <a:latin typeface="Tahoma" pitchFamily="34" charset="0"/>
                <a:ea typeface="楷体_GB2312" pitchFamily="49" charset="-122"/>
              </a:rPr>
              <a:t>监理：进行</a:t>
            </a:r>
          </a:p>
          <a:p>
            <a:pPr lvl="0" algn="ctr" eaLnBrk="1" latinLnBrk="1" hangingPunct="1"/>
            <a:r>
              <a:rPr lang="zh-CN" altLang="en-US" sz="1800" b="1">
                <a:latin typeface="Tahoma" pitchFamily="34" charset="0"/>
                <a:ea typeface="楷体_GB2312" pitchFamily="49" charset="-122"/>
              </a:rPr>
              <a:t>进度、质量、投资控制</a:t>
            </a:r>
          </a:p>
        </p:txBody>
      </p:sp>
      <p:sp>
        <p:nvSpPr>
          <p:cNvPr id="1048757" name="线形标注 1 143365"/>
          <p:cNvSpPr/>
          <p:nvPr/>
        </p:nvSpPr>
        <p:spPr>
          <a:xfrm>
            <a:off x="6535738" y="4870451"/>
            <a:ext cx="1279525" cy="1000125"/>
          </a:xfrm>
          <a:prstGeom prst="borderCallout1">
            <a:avLst>
              <a:gd name="adj1" fmla="val 11431"/>
              <a:gd name="adj2" fmla="val -5954"/>
              <a:gd name="adj3" fmla="val -65236"/>
              <a:gd name="adj4" fmla="val -16750"/>
            </a:avLst>
          </a:prstGeom>
          <a:solidFill>
            <a:srgbClr val="FBF05F"/>
          </a:solidFill>
          <a:ln w="9525" cap="flat" cmpd="sng">
            <a:solidFill>
              <a:schemeClr val="dk1">
                <a:alpha val="100000"/>
              </a:schemeClr>
            </a:solidFill>
            <a:prstDash val="solid"/>
            <a:round/>
          </a:ln>
        </p:spPr>
        <p:txBody>
          <a:bodyPr vert="horz"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zh-CN" altLang="en-US" sz="1800" b="1">
                <a:latin typeface="Tahoma" pitchFamily="34" charset="0"/>
                <a:ea typeface="楷体_GB2312" pitchFamily="49" charset="-122"/>
              </a:rPr>
              <a:t>监理：分项测试</a:t>
            </a:r>
          </a:p>
          <a:p>
            <a:pPr lvl="0" algn="ctr" eaLnBrk="1" latinLnBrk="1" hangingPunct="1"/>
            <a:r>
              <a:rPr lang="zh-CN" altLang="en-US" sz="1800" b="1">
                <a:latin typeface="Tahoma" pitchFamily="34" charset="0"/>
                <a:ea typeface="楷体_GB2312" pitchFamily="49" charset="-122"/>
              </a:rPr>
              <a:t>验收报告</a:t>
            </a:r>
          </a:p>
        </p:txBody>
      </p:sp>
      <p:sp>
        <p:nvSpPr>
          <p:cNvPr id="1048758" name="矩形 143366"/>
          <p:cNvSpPr/>
          <p:nvPr/>
        </p:nvSpPr>
        <p:spPr>
          <a:xfrm>
            <a:off x="6888163" y="3498850"/>
            <a:ext cx="720725" cy="1225550"/>
          </a:xfrm>
          <a:prstGeom prst="rect">
            <a:avLst/>
          </a:prstGeom>
          <a:solidFill>
            <a:schemeClr val="lt1"/>
          </a:solidFill>
          <a:ln w="9525" cap="flat" cmpd="sng">
            <a:solidFill>
              <a:schemeClr val="dk1">
                <a:alpha val="100000"/>
              </a:schemeClr>
            </a:solidFill>
            <a:prstDash val="solid"/>
            <a:round/>
          </a:ln>
        </p:spPr>
        <p:txBody>
          <a:bodyPr vert="horz"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zh-CN" altLang="en-US" sz="1800" b="1">
                <a:latin typeface="Tahoma" pitchFamily="34" charset="0"/>
                <a:ea typeface="华文中宋" pitchFamily="2" charset="-122"/>
              </a:rPr>
              <a:t>系统联调、系统集成</a:t>
            </a:r>
          </a:p>
        </p:txBody>
      </p:sp>
      <p:sp>
        <p:nvSpPr>
          <p:cNvPr id="1048759" name="线形标注 1 143367"/>
          <p:cNvSpPr/>
          <p:nvPr/>
        </p:nvSpPr>
        <p:spPr>
          <a:xfrm>
            <a:off x="8401050" y="1916113"/>
            <a:ext cx="1295400" cy="720725"/>
          </a:xfrm>
          <a:prstGeom prst="borderCallout1">
            <a:avLst>
              <a:gd name="adj1" fmla="val 15861"/>
              <a:gd name="adj2" fmla="val -5884"/>
              <a:gd name="adj3" fmla="val 288986"/>
              <a:gd name="adj4" fmla="val -33213"/>
            </a:avLst>
          </a:prstGeom>
          <a:solidFill>
            <a:srgbClr val="FBF05F"/>
          </a:solidFill>
          <a:ln w="9525" cap="flat" cmpd="sng">
            <a:solidFill>
              <a:schemeClr val="dk1">
                <a:alpha val="100000"/>
              </a:schemeClr>
            </a:solidFill>
            <a:prstDash val="solid"/>
            <a:round/>
          </a:ln>
        </p:spPr>
        <p:txBody>
          <a:bodyPr vert="horz"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zh-CN" altLang="en-US" sz="1800" b="1">
                <a:latin typeface="Tahoma" pitchFamily="34" charset="0"/>
                <a:ea typeface="楷体_GB2312" pitchFamily="49" charset="-122"/>
              </a:rPr>
              <a:t>施工方：竣工报告</a:t>
            </a:r>
          </a:p>
        </p:txBody>
      </p:sp>
      <p:sp>
        <p:nvSpPr>
          <p:cNvPr id="1048760" name="矩形 143368"/>
          <p:cNvSpPr/>
          <p:nvPr/>
        </p:nvSpPr>
        <p:spPr>
          <a:xfrm>
            <a:off x="8328026" y="3500438"/>
            <a:ext cx="503237" cy="1296987"/>
          </a:xfrm>
          <a:prstGeom prst="rect">
            <a:avLst/>
          </a:prstGeom>
          <a:solidFill>
            <a:schemeClr val="lt1"/>
          </a:solidFill>
          <a:ln w="9525" cap="flat" cmpd="sng">
            <a:solidFill>
              <a:schemeClr val="dk1">
                <a:alpha val="100000"/>
              </a:schemeClr>
            </a:solidFill>
            <a:prstDash val="solid"/>
            <a:round/>
          </a:ln>
        </p:spPr>
        <p:txBody>
          <a:bodyPr vert="horz" wrap="none"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zh-CN" altLang="en-US" sz="1800" b="1">
                <a:latin typeface="Tahoma" pitchFamily="34" charset="0"/>
                <a:ea typeface="华文中宋" pitchFamily="2" charset="-122"/>
              </a:rPr>
              <a:t>工</a:t>
            </a:r>
          </a:p>
          <a:p>
            <a:pPr lvl="0" algn="ctr" eaLnBrk="1" latinLnBrk="1" hangingPunct="1"/>
            <a:r>
              <a:rPr lang="zh-CN" altLang="en-US" sz="1800" b="1">
                <a:latin typeface="Tahoma" pitchFamily="34" charset="0"/>
                <a:ea typeface="华文中宋" pitchFamily="2" charset="-122"/>
              </a:rPr>
              <a:t>程</a:t>
            </a:r>
          </a:p>
          <a:p>
            <a:pPr lvl="0" algn="ctr" eaLnBrk="1" latinLnBrk="1" hangingPunct="1"/>
            <a:r>
              <a:rPr lang="zh-CN" altLang="en-US" sz="1800" b="1">
                <a:latin typeface="Tahoma" pitchFamily="34" charset="0"/>
                <a:ea typeface="华文中宋" pitchFamily="2" charset="-122"/>
              </a:rPr>
              <a:t>验</a:t>
            </a:r>
          </a:p>
          <a:p>
            <a:pPr lvl="0" algn="ctr" eaLnBrk="1" latinLnBrk="1" hangingPunct="1"/>
            <a:r>
              <a:rPr lang="zh-CN" altLang="en-US" sz="1800" b="1">
                <a:latin typeface="Tahoma" pitchFamily="34" charset="0"/>
                <a:ea typeface="华文中宋" pitchFamily="2" charset="-122"/>
              </a:rPr>
              <a:t>收</a:t>
            </a:r>
          </a:p>
        </p:txBody>
      </p:sp>
      <p:sp>
        <p:nvSpPr>
          <p:cNvPr id="1048761" name="线形标注 1 143369"/>
          <p:cNvSpPr/>
          <p:nvPr/>
        </p:nvSpPr>
        <p:spPr>
          <a:xfrm>
            <a:off x="7967663" y="4892676"/>
            <a:ext cx="1152525" cy="1152525"/>
          </a:xfrm>
          <a:prstGeom prst="borderCallout1">
            <a:avLst>
              <a:gd name="adj1" fmla="val 9917"/>
              <a:gd name="adj2" fmla="val 106611"/>
              <a:gd name="adj3" fmla="val -64185"/>
              <a:gd name="adj4" fmla="val 113634"/>
            </a:avLst>
          </a:prstGeom>
          <a:solidFill>
            <a:srgbClr val="FBF05F"/>
          </a:solidFill>
          <a:ln w="9525" cap="flat" cmpd="sng">
            <a:solidFill>
              <a:schemeClr val="dk1">
                <a:alpha val="100000"/>
              </a:schemeClr>
            </a:solidFill>
            <a:prstDash val="solid"/>
            <a:round/>
          </a:ln>
        </p:spPr>
        <p:txBody>
          <a:bodyPr vert="horz"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zh-CN" altLang="en-US" sz="1800" b="1">
                <a:latin typeface="Tahoma" pitchFamily="34" charset="0"/>
                <a:ea typeface="楷体_GB2312" pitchFamily="49" charset="-122"/>
              </a:rPr>
              <a:t>主管部门</a:t>
            </a:r>
            <a:r>
              <a:rPr lang="en-US" altLang="zh-CN" sz="1800" b="1">
                <a:latin typeface="Tahoma" pitchFamily="34" charset="0"/>
                <a:ea typeface="楷体_GB2312" pitchFamily="49" charset="-122"/>
              </a:rPr>
              <a:t>/</a:t>
            </a:r>
            <a:r>
              <a:rPr lang="zh-CN" altLang="en-US" sz="1800" b="1">
                <a:latin typeface="Tahoma" pitchFamily="34" charset="0"/>
                <a:ea typeface="楷体_GB2312" pitchFamily="49" charset="-122"/>
              </a:rPr>
              <a:t>专家</a:t>
            </a:r>
            <a:r>
              <a:rPr lang="en-US" altLang="zh-CN" sz="1800" b="1">
                <a:latin typeface="Tahoma" pitchFamily="34" charset="0"/>
                <a:ea typeface="楷体_GB2312" pitchFamily="49" charset="-122"/>
              </a:rPr>
              <a:t>/</a:t>
            </a:r>
            <a:r>
              <a:rPr lang="zh-CN" altLang="en-US" sz="1800" b="1">
                <a:latin typeface="Tahoma" pitchFamily="34" charset="0"/>
                <a:ea typeface="楷体_GB2312" pitchFamily="49" charset="-122"/>
              </a:rPr>
              <a:t>监理出具验收报告</a:t>
            </a:r>
          </a:p>
        </p:txBody>
      </p:sp>
      <p:sp>
        <p:nvSpPr>
          <p:cNvPr id="1048762" name="右箭头 143370"/>
          <p:cNvSpPr/>
          <p:nvPr/>
        </p:nvSpPr>
        <p:spPr>
          <a:xfrm>
            <a:off x="2424113" y="4005262"/>
            <a:ext cx="720725" cy="215900"/>
          </a:xfrm>
          <a:prstGeom prst="rightArrow">
            <a:avLst>
              <a:gd name="adj1" fmla="val 50000"/>
              <a:gd name="adj2" fmla="val 83424"/>
            </a:avLst>
          </a:prstGeom>
          <a:solidFill>
            <a:srgbClr val="6699FF"/>
          </a:solidFill>
          <a:ln w="9525" cap="flat" cmpd="sng">
            <a:solidFill>
              <a:schemeClr val="hlink">
                <a:alpha val="100000"/>
              </a:schemeClr>
            </a:solidFill>
            <a:prstDash val="solid"/>
            <a:round/>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endParaRPr lang="zh-CN" altLang="en-US" sz="1800"/>
          </a:p>
        </p:txBody>
      </p:sp>
      <p:sp>
        <p:nvSpPr>
          <p:cNvPr id="1048763" name="右箭头 143371"/>
          <p:cNvSpPr/>
          <p:nvPr/>
        </p:nvSpPr>
        <p:spPr>
          <a:xfrm>
            <a:off x="4295776" y="4005262"/>
            <a:ext cx="720725" cy="215900"/>
          </a:xfrm>
          <a:prstGeom prst="rightArrow">
            <a:avLst>
              <a:gd name="adj1" fmla="val 50000"/>
              <a:gd name="adj2" fmla="val 83424"/>
            </a:avLst>
          </a:prstGeom>
          <a:solidFill>
            <a:srgbClr val="6699FF"/>
          </a:solidFill>
          <a:ln w="9525" cap="flat" cmpd="sng">
            <a:solidFill>
              <a:schemeClr val="hlink">
                <a:alpha val="100000"/>
              </a:schemeClr>
            </a:solidFill>
            <a:prstDash val="solid"/>
            <a:round/>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endParaRPr lang="zh-CN" altLang="en-US" sz="1800"/>
          </a:p>
        </p:txBody>
      </p:sp>
      <p:sp>
        <p:nvSpPr>
          <p:cNvPr id="1048764" name="右箭头 143372"/>
          <p:cNvSpPr/>
          <p:nvPr/>
        </p:nvSpPr>
        <p:spPr>
          <a:xfrm>
            <a:off x="6167438" y="4005262"/>
            <a:ext cx="720725" cy="215900"/>
          </a:xfrm>
          <a:prstGeom prst="rightArrow">
            <a:avLst>
              <a:gd name="adj1" fmla="val 50000"/>
              <a:gd name="adj2" fmla="val 83424"/>
            </a:avLst>
          </a:prstGeom>
          <a:solidFill>
            <a:srgbClr val="6699FF"/>
          </a:solidFill>
          <a:ln w="9525" cap="flat" cmpd="sng">
            <a:solidFill>
              <a:schemeClr val="hlink">
                <a:alpha val="100000"/>
              </a:schemeClr>
            </a:solidFill>
            <a:prstDash val="solid"/>
            <a:round/>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endParaRPr lang="zh-CN" altLang="en-US" sz="1800"/>
          </a:p>
        </p:txBody>
      </p:sp>
      <p:sp>
        <p:nvSpPr>
          <p:cNvPr id="1048765" name="右箭头 143373"/>
          <p:cNvSpPr/>
          <p:nvPr/>
        </p:nvSpPr>
        <p:spPr>
          <a:xfrm>
            <a:off x="7608888" y="4005262"/>
            <a:ext cx="720725" cy="215900"/>
          </a:xfrm>
          <a:prstGeom prst="rightArrow">
            <a:avLst>
              <a:gd name="adj1" fmla="val 50000"/>
              <a:gd name="adj2" fmla="val 83424"/>
            </a:avLst>
          </a:prstGeom>
          <a:solidFill>
            <a:srgbClr val="6699FF"/>
          </a:solidFill>
          <a:ln w="9525" cap="flat" cmpd="sng">
            <a:solidFill>
              <a:schemeClr val="hlink">
                <a:alpha val="100000"/>
              </a:schemeClr>
            </a:solidFill>
            <a:prstDash val="solid"/>
            <a:round/>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endParaRPr lang="zh-CN" altLang="en-US" sz="1800"/>
          </a:p>
        </p:txBody>
      </p:sp>
      <p:sp>
        <p:nvSpPr>
          <p:cNvPr id="1048766" name="右箭头 143374"/>
          <p:cNvSpPr/>
          <p:nvPr/>
        </p:nvSpPr>
        <p:spPr>
          <a:xfrm>
            <a:off x="8832851" y="4005262"/>
            <a:ext cx="720725" cy="215900"/>
          </a:xfrm>
          <a:prstGeom prst="rightArrow">
            <a:avLst>
              <a:gd name="adj1" fmla="val 50000"/>
              <a:gd name="adj2" fmla="val 83424"/>
            </a:avLst>
          </a:prstGeom>
          <a:solidFill>
            <a:srgbClr val="6699FF"/>
          </a:solidFill>
          <a:ln w="9525" cap="flat" cmpd="sng">
            <a:solidFill>
              <a:schemeClr val="hlink">
                <a:alpha val="100000"/>
              </a:schemeClr>
            </a:solidFill>
            <a:prstDash val="solid"/>
            <a:round/>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endParaRPr lang="zh-CN" altLang="en-US" sz="1800"/>
          </a:p>
        </p:txBody>
      </p:sp>
      <p:sp>
        <p:nvSpPr>
          <p:cNvPr id="1048767" name="文本占位符 143376"/>
          <p:cNvSpPr>
            <a:spLocks noGrp="1"/>
          </p:cNvSpPr>
          <p:nvPr>
            <p:ph idx="1"/>
          </p:nvPr>
        </p:nvSpPr>
        <p:spPr>
          <a:xfrm>
            <a:off x="263352" y="987424"/>
            <a:ext cx="11161240" cy="5105401"/>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marL="609600" indent="-609600">
              <a:buNone/>
            </a:pPr>
            <a:r>
              <a:rPr lang="en-US" altLang="zh-CN" sz="2400" dirty="0">
                <a:solidFill>
                  <a:schemeClr val="tx1"/>
                </a:solidFill>
                <a:sym typeface="黑体" pitchFamily="49" charset="-122"/>
              </a:rPr>
              <a:t>4.</a:t>
            </a:r>
            <a:r>
              <a:rPr lang="zh-CN" altLang="en-US" sz="2400" dirty="0">
                <a:solidFill>
                  <a:schemeClr val="tx1"/>
                </a:solidFill>
                <a:sym typeface="黑体" pitchFamily="49" charset="-122"/>
              </a:rPr>
              <a:t> 网络工程生命周期中阶段的划分</a:t>
            </a:r>
          </a:p>
          <a:p>
            <a:pPr marL="609600" indent="-609600">
              <a:buNone/>
            </a:pPr>
            <a:r>
              <a:rPr lang="en-US" altLang="zh-CN" sz="2400" dirty="0">
                <a:solidFill>
                  <a:schemeClr val="dk1"/>
                </a:solidFill>
                <a:sym typeface="Wingdings" pitchFamily="2" charset="2"/>
              </a:rPr>
              <a:t></a:t>
            </a:r>
            <a:r>
              <a:rPr lang="en-US" altLang="zh-CN" sz="2400" dirty="0" err="1">
                <a:solidFill>
                  <a:schemeClr val="dk1"/>
                </a:solidFill>
              </a:rPr>
              <a:t>实施阶段</a:t>
            </a:r>
            <a:endParaRPr lang="en-US" altLang="zh-CN" sz="2400" dirty="0">
              <a:solidFill>
                <a:schemeClr val="dk1"/>
              </a:solidFill>
            </a:endParaRPr>
          </a:p>
          <a:p>
            <a:pPr marL="609600" indent="-609600"/>
            <a:endParaRPr lang="zh-CN" altLang="en-US" sz="1800" dirty="0"/>
          </a:p>
        </p:txBody>
      </p:sp>
      <p:sp>
        <p:nvSpPr>
          <p:cNvPr id="1048768" name="标题 4"/>
          <p:cNvSpPr>
            <a:spLocks noGrp="1"/>
          </p:cNvSpPr>
          <p:nvPr>
            <p:ph type="title"/>
          </p:nvPr>
        </p:nvSpPr>
        <p:spPr>
          <a:xfrm>
            <a:off x="-16611" y="-263382"/>
            <a:ext cx="10515600" cy="132556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a:r>
              <a:rPr lang="zh-CN" altLang="en-US" dirty="0">
                <a:solidFill>
                  <a:schemeClr val="bg1"/>
                </a:solidFill>
                <a:sym typeface="黑体" pitchFamily="49" charset="-122"/>
              </a:rPr>
              <a:t>1.</a:t>
            </a:r>
            <a:r>
              <a:rPr lang="en-US" altLang="zh-CN" dirty="0">
                <a:solidFill>
                  <a:schemeClr val="bg1"/>
                </a:solidFill>
                <a:sym typeface="黑体" pitchFamily="49" charset="-122"/>
              </a:rPr>
              <a:t>0</a:t>
            </a:r>
            <a:r>
              <a:rPr lang="zh-CN" altLang="en-US" dirty="0">
                <a:solidFill>
                  <a:schemeClr val="bg1"/>
                </a:solidFill>
                <a:sym typeface="黑体" pitchFamily="49" charset="-122"/>
              </a:rPr>
              <a:t> 计算机网络工程概论</a:t>
            </a:r>
          </a:p>
        </p:txBody>
      </p:sp>
    </p:spTree>
  </p:cSld>
  <p:clrMapOvr>
    <a:masterClrMapping/>
  </p:clrMapOvr>
  <p:transition spd="slow">
    <p:zo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2" name="矩形 144385"/>
          <p:cNvSpPr/>
          <p:nvPr/>
        </p:nvSpPr>
        <p:spPr>
          <a:xfrm>
            <a:off x="3216276" y="2276475"/>
            <a:ext cx="935037" cy="2305050"/>
          </a:xfrm>
          <a:prstGeom prst="rect">
            <a:avLst/>
          </a:prstGeom>
          <a:solidFill>
            <a:schemeClr val="lt1"/>
          </a:solidFill>
          <a:ln w="9525" cap="flat" cmpd="sng">
            <a:solidFill>
              <a:schemeClr val="dk1">
                <a:alpha val="100000"/>
              </a:schemeClr>
            </a:solidFill>
            <a:prstDash val="solid"/>
            <a:round/>
          </a:ln>
        </p:spPr>
        <p:txBody>
          <a:bodyPr vert="horz" wrap="none"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zh-CN" altLang="en-US" sz="1800" b="1">
                <a:latin typeface="华文中宋" pitchFamily="2" charset="-122"/>
                <a:ea typeface="华文中宋" pitchFamily="2" charset="-122"/>
              </a:rPr>
              <a:t>进入试</a:t>
            </a:r>
          </a:p>
          <a:p>
            <a:pPr lvl="0" algn="ctr" eaLnBrk="1" latinLnBrk="1" hangingPunct="1"/>
            <a:r>
              <a:rPr lang="zh-CN" altLang="en-US" sz="1800" b="1">
                <a:latin typeface="华文中宋" pitchFamily="2" charset="-122"/>
                <a:ea typeface="华文中宋" pitchFamily="2" charset="-122"/>
              </a:rPr>
              <a:t>运行期</a:t>
            </a:r>
          </a:p>
          <a:p>
            <a:pPr lvl="0" algn="ctr" eaLnBrk="1" latinLnBrk="1" hangingPunct="1"/>
            <a:r>
              <a:rPr lang="zh-CN" altLang="en-US" sz="1800" b="1">
                <a:latin typeface="华文中宋" pitchFamily="2" charset="-122"/>
                <a:ea typeface="华文中宋" pitchFamily="2" charset="-122"/>
              </a:rPr>
              <a:t>和</a:t>
            </a:r>
            <a:r>
              <a:rPr lang="en-US" altLang="zh-CN" sz="1800" b="1">
                <a:latin typeface="华文中宋" pitchFamily="2" charset="-122"/>
                <a:ea typeface="华文中宋" pitchFamily="2" charset="-122"/>
              </a:rPr>
              <a:t>/</a:t>
            </a:r>
            <a:r>
              <a:rPr lang="zh-CN" altLang="en-US" sz="1800" b="1">
                <a:latin typeface="华文中宋" pitchFamily="2" charset="-122"/>
                <a:ea typeface="华文中宋" pitchFamily="2" charset="-122"/>
              </a:rPr>
              <a:t>或</a:t>
            </a:r>
          </a:p>
          <a:p>
            <a:pPr lvl="0" algn="ctr" eaLnBrk="1" latinLnBrk="1" hangingPunct="1"/>
            <a:r>
              <a:rPr lang="zh-CN" altLang="en-US" sz="1800" b="1">
                <a:latin typeface="华文中宋" pitchFamily="2" charset="-122"/>
                <a:ea typeface="华文中宋" pitchFamily="2" charset="-122"/>
              </a:rPr>
              <a:t>系统维</a:t>
            </a:r>
          </a:p>
          <a:p>
            <a:pPr lvl="0" algn="ctr" eaLnBrk="1" latinLnBrk="1" hangingPunct="1"/>
            <a:r>
              <a:rPr lang="zh-CN" altLang="en-US" sz="1800" b="1">
                <a:latin typeface="华文中宋" pitchFamily="2" charset="-122"/>
                <a:ea typeface="华文中宋" pitchFamily="2" charset="-122"/>
              </a:rPr>
              <a:t>护期</a:t>
            </a:r>
          </a:p>
        </p:txBody>
      </p:sp>
      <p:sp>
        <p:nvSpPr>
          <p:cNvPr id="1048773" name="右箭头 144386"/>
          <p:cNvSpPr/>
          <p:nvPr/>
        </p:nvSpPr>
        <p:spPr>
          <a:xfrm>
            <a:off x="2495551" y="3357562"/>
            <a:ext cx="720725" cy="215900"/>
          </a:xfrm>
          <a:prstGeom prst="rightArrow">
            <a:avLst>
              <a:gd name="adj1" fmla="val 50000"/>
              <a:gd name="adj2" fmla="val 83424"/>
            </a:avLst>
          </a:prstGeom>
          <a:solidFill>
            <a:srgbClr val="6699FF"/>
          </a:solidFill>
          <a:ln w="9525" cap="flat" cmpd="sng">
            <a:solidFill>
              <a:schemeClr val="hlink">
                <a:alpha val="100000"/>
              </a:schemeClr>
            </a:solidFill>
            <a:prstDash val="solid"/>
            <a:round/>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endParaRPr lang="zh-CN" altLang="en-US" sz="1800"/>
          </a:p>
        </p:txBody>
      </p:sp>
      <p:sp>
        <p:nvSpPr>
          <p:cNvPr id="1048774" name="文本占位符 144388"/>
          <p:cNvSpPr>
            <a:spLocks noGrp="1"/>
          </p:cNvSpPr>
          <p:nvPr>
            <p:ph idx="1"/>
          </p:nvPr>
        </p:nvSpPr>
        <p:spPr>
          <a:xfrm>
            <a:off x="2135188" y="1700212"/>
            <a:ext cx="7921625" cy="4392612"/>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marL="609600" indent="-609600">
              <a:buNone/>
            </a:pPr>
            <a:r>
              <a:rPr lang="en-US" altLang="zh-CN" sz="2400">
                <a:solidFill>
                  <a:schemeClr val="dk1"/>
                </a:solidFill>
              </a:rPr>
              <a:t>④  使用与维护</a:t>
            </a:r>
          </a:p>
          <a:p>
            <a:pPr marL="609600" indent="-609600"/>
            <a:endParaRPr lang="zh-CN" altLang="en-US" sz="2600"/>
          </a:p>
        </p:txBody>
      </p:sp>
      <p:sp>
        <p:nvSpPr>
          <p:cNvPr id="1048775" name="标题 4"/>
          <p:cNvSpPr>
            <a:spLocks noGrp="1"/>
          </p:cNvSpPr>
          <p:nvPr>
            <p:ph type="title"/>
          </p:nvPr>
        </p:nvSpPr>
        <p:spPr>
          <a:xfrm>
            <a:off x="0" y="-252413"/>
            <a:ext cx="10515600" cy="132556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a:r>
              <a:rPr lang="zh-CN" altLang="en-US" dirty="0">
                <a:solidFill>
                  <a:schemeClr val="bg1"/>
                </a:solidFill>
                <a:sym typeface="黑体" pitchFamily="49" charset="-122"/>
              </a:rPr>
              <a:t>1.</a:t>
            </a:r>
            <a:r>
              <a:rPr lang="en-US" altLang="zh-CN" dirty="0">
                <a:solidFill>
                  <a:schemeClr val="bg1"/>
                </a:solidFill>
                <a:sym typeface="黑体" pitchFamily="49" charset="-122"/>
              </a:rPr>
              <a:t>0</a:t>
            </a:r>
            <a:r>
              <a:rPr lang="zh-CN" altLang="en-US" dirty="0">
                <a:solidFill>
                  <a:schemeClr val="bg1"/>
                </a:solidFill>
                <a:sym typeface="黑体" pitchFamily="49" charset="-122"/>
              </a:rPr>
              <a:t> 计算机网络工程概论</a:t>
            </a:r>
          </a:p>
        </p:txBody>
      </p:sp>
    </p:spTree>
  </p:cSld>
  <p:clrMapOvr>
    <a:masterClrMapping/>
  </p:clrMapOvr>
  <p:transition spd="slow">
    <p:zo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9" name="文本占位符 147458"/>
          <p:cNvSpPr>
            <a:spLocks noGrp="1"/>
          </p:cNvSpPr>
          <p:nvPr>
            <p:ph idx="1"/>
          </p:nvPr>
        </p:nvSpPr>
        <p:spPr>
          <a:xfrm>
            <a:off x="623392" y="980728"/>
            <a:ext cx="2592288" cy="437946"/>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marL="0" indent="0"/>
            <a:r>
              <a:rPr lang="zh-CN" altLang="zh-CN" sz="2400" dirty="0">
                <a:solidFill>
                  <a:schemeClr val="dk1"/>
                </a:solidFill>
              </a:rPr>
              <a:t>工程进度图表</a:t>
            </a:r>
          </a:p>
        </p:txBody>
      </p:sp>
      <p:sp>
        <p:nvSpPr>
          <p:cNvPr id="1048781" name="标题 4"/>
          <p:cNvSpPr>
            <a:spLocks noGrp="1"/>
          </p:cNvSpPr>
          <p:nvPr>
            <p:ph type="title"/>
          </p:nvPr>
        </p:nvSpPr>
        <p:spPr>
          <a:xfrm>
            <a:off x="-24680" y="-267247"/>
            <a:ext cx="10515600" cy="132556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a:r>
              <a:rPr lang="zh-CN" altLang="en-US" dirty="0">
                <a:solidFill>
                  <a:schemeClr val="bg1"/>
                </a:solidFill>
                <a:sym typeface="黑体" pitchFamily="49" charset="-122"/>
              </a:rPr>
              <a:t>1.</a:t>
            </a:r>
            <a:r>
              <a:rPr lang="en-US" altLang="zh-CN" dirty="0">
                <a:solidFill>
                  <a:schemeClr val="bg1"/>
                </a:solidFill>
                <a:sym typeface="黑体" pitchFamily="49" charset="-122"/>
              </a:rPr>
              <a:t>0</a:t>
            </a:r>
            <a:r>
              <a:rPr lang="zh-CN" altLang="en-US" dirty="0">
                <a:solidFill>
                  <a:schemeClr val="bg1"/>
                </a:solidFill>
                <a:sym typeface="黑体" pitchFamily="49" charset="-122"/>
              </a:rPr>
              <a:t> 计算机网络工程概论</a:t>
            </a:r>
          </a:p>
        </p:txBody>
      </p:sp>
      <p:sp>
        <p:nvSpPr>
          <p:cNvPr id="1048780" name="矩形 147459"/>
          <p:cNvSpPr/>
          <p:nvPr/>
        </p:nvSpPr>
        <p:spPr>
          <a:xfrm>
            <a:off x="1524000" y="2147887"/>
            <a:ext cx="9144000" cy="0"/>
          </a:xfrm>
          <a:prstGeom prst="rect">
            <a:avLst/>
          </a:prstGeom>
          <a:noFill/>
          <a:ln>
            <a:noFill/>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endParaRPr lang="zh-CN" altLang="en-US"/>
          </a:p>
        </p:txBody>
      </p:sp>
      <p:graphicFrame>
        <p:nvGraphicFramePr>
          <p:cNvPr id="4194304" name="对象 4194303"/>
          <p:cNvGraphicFramePr>
            <a:graphicFrameLocks/>
          </p:cNvGraphicFramePr>
          <p:nvPr>
            <p:extLst>
              <p:ext uri="{D42A27DB-BD31-4B8C-83A1-F6EECF244321}">
                <p14:modId xmlns:p14="http://schemas.microsoft.com/office/powerpoint/2010/main" val="1046983743"/>
              </p:ext>
            </p:extLst>
          </p:nvPr>
        </p:nvGraphicFramePr>
        <p:xfrm>
          <a:off x="1055440" y="1628800"/>
          <a:ext cx="10585176" cy="4752528"/>
        </p:xfrm>
        <a:graphic>
          <a:graphicData uri="http://schemas.openxmlformats.org/presentationml/2006/ole">
            <mc:AlternateContent xmlns:mc="http://schemas.openxmlformats.org/markup-compatibility/2006">
              <mc:Choice xmlns:v="urn:schemas-microsoft-com:vml" Requires="v">
                <p:oleObj name="Visio" r:id="rId5" imgW="8456612" imgH="4583112" progId="Visio.Drawing.11">
                  <p:embed followColorScheme="full"/>
                </p:oleObj>
              </mc:Choice>
              <mc:Fallback>
                <p:oleObj name="Visio" r:id="rId5" imgW="8456612" imgH="4583112" progId="Visio.Drawing.11">
                  <p:embed followColorScheme="full"/>
                  <p:pic>
                    <p:nvPicPr>
                      <p:cNvPr id="2097153" name="Object 9"/>
                      <p:cNvPicPr>
                        <a:picLocks/>
                      </p:cNvPicPr>
                      <p:nvPr/>
                    </p:nvPicPr>
                    <p:blipFill>
                      <a:blip r:embed="rId6"/>
                      <a:srcRect/>
                      <a:stretch>
                        <a:fillRect/>
                      </a:stretch>
                    </p:blipFill>
                    <p:spPr>
                      <a:xfrm>
                        <a:off x="1055440" y="1628800"/>
                        <a:ext cx="10585176" cy="4752528"/>
                      </a:xfrm>
                      <a:prstGeom prst="rect">
                        <a:avLst/>
                      </a:prstGeom>
                      <a:noFill/>
                      <a:ln>
                        <a:noFill/>
                      </a:ln>
                    </p:spPr>
                  </p:pic>
                </p:oleObj>
              </mc:Fallback>
            </mc:AlternateContent>
          </a:graphicData>
        </a:graphic>
      </p:graphicFrame>
    </p:spTree>
  </p:cSld>
  <p:clrMapOvr>
    <a:masterClrMapping/>
  </p:clrMapOvr>
  <p:transition spd="slow">
    <p:zo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a:extLst>
              <a:ext uri="{FF2B5EF4-FFF2-40B4-BE49-F238E27FC236}">
                <a16:creationId xmlns:a16="http://schemas.microsoft.com/office/drawing/2014/main" id="{CD748BD9-D565-486C-98D2-FADC8597EEA7}"/>
              </a:ext>
            </a:extLst>
          </p:cNvPr>
          <p:cNvGrpSpPr/>
          <p:nvPr/>
        </p:nvGrpSpPr>
        <p:grpSpPr>
          <a:xfrm>
            <a:off x="279471" y="2164991"/>
            <a:ext cx="2960721" cy="2350284"/>
            <a:chOff x="400216" y="1425650"/>
            <a:chExt cx="3711212" cy="2882853"/>
          </a:xfrm>
        </p:grpSpPr>
        <p:grpSp>
          <p:nvGrpSpPr>
            <p:cNvPr id="14" name="组合 13">
              <a:extLst>
                <a:ext uri="{FF2B5EF4-FFF2-40B4-BE49-F238E27FC236}">
                  <a16:creationId xmlns:a16="http://schemas.microsoft.com/office/drawing/2014/main" id="{51077B62-17CF-4B61-B4F9-BDB0314C4782}"/>
                </a:ext>
              </a:extLst>
            </p:cNvPr>
            <p:cNvGrpSpPr/>
            <p:nvPr/>
          </p:nvGrpSpPr>
          <p:grpSpPr>
            <a:xfrm>
              <a:off x="400216" y="1425650"/>
              <a:ext cx="3711212" cy="2882853"/>
              <a:chOff x="445935" y="809294"/>
              <a:chExt cx="6990119" cy="5470972"/>
            </a:xfrm>
          </p:grpSpPr>
          <p:sp>
            <p:nvSpPr>
              <p:cNvPr id="18" name="íśļïḋé">
                <a:extLst>
                  <a:ext uri="{FF2B5EF4-FFF2-40B4-BE49-F238E27FC236}">
                    <a16:creationId xmlns:a16="http://schemas.microsoft.com/office/drawing/2014/main" id="{976C2238-92B1-43CC-8A8D-718726B4C86F}"/>
                  </a:ext>
                </a:extLst>
              </p:cNvPr>
              <p:cNvSpPr/>
              <p:nvPr/>
            </p:nvSpPr>
            <p:spPr bwMode="auto">
              <a:xfrm rot="12330823">
                <a:off x="1684541" y="809294"/>
                <a:ext cx="5751513" cy="2876549"/>
              </a:xfrm>
              <a:custGeom>
                <a:avLst/>
                <a:gdLst>
                  <a:gd name="connsiteX0" fmla="*/ 842247 w 5751228"/>
                  <a:gd name="connsiteY0" fmla="*/ 2033366 h 2875614"/>
                  <a:gd name="connsiteX1" fmla="*/ 0 w 5751228"/>
                  <a:gd name="connsiteY1" fmla="*/ 0 h 2875614"/>
                  <a:gd name="connsiteX2" fmla="*/ 408346 w 5751228"/>
                  <a:gd name="connsiteY2" fmla="*/ 0 h 2875614"/>
                  <a:gd name="connsiteX3" fmla="*/ 407043 w 5751228"/>
                  <a:gd name="connsiteY3" fmla="*/ 74793 h 2875614"/>
                  <a:gd name="connsiteX4" fmla="*/ 1182959 w 5751228"/>
                  <a:gd name="connsiteY4" fmla="*/ 1798429 h 2875614"/>
                  <a:gd name="connsiteX5" fmla="*/ 4674044 w 5751228"/>
                  <a:gd name="connsiteY5" fmla="*/ 1692653 h 2875614"/>
                  <a:gd name="connsiteX6" fmla="*/ 5340056 w 5751228"/>
                  <a:gd name="connsiteY6" fmla="*/ 162164 h 2875614"/>
                  <a:gd name="connsiteX7" fmla="*/ 5342881 w 5751228"/>
                  <a:gd name="connsiteY7" fmla="*/ 0 h 2875614"/>
                  <a:gd name="connsiteX8" fmla="*/ 5751228 w 5751228"/>
                  <a:gd name="connsiteY8" fmla="*/ 0 h 2875614"/>
                  <a:gd name="connsiteX9" fmla="*/ 2875614 w 5751228"/>
                  <a:gd name="connsiteY9" fmla="*/ 2875614 h 2875614"/>
                  <a:gd name="connsiteX10" fmla="*/ 842247 w 5751228"/>
                  <a:gd name="connsiteY10" fmla="*/ 2033366 h 2875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51228" h="2875614">
                    <a:moveTo>
                      <a:pt x="842247" y="2033366"/>
                    </a:moveTo>
                    <a:cubicBezTo>
                      <a:pt x="321864" y="1512982"/>
                      <a:pt x="0" y="794078"/>
                      <a:pt x="0" y="0"/>
                    </a:cubicBezTo>
                    <a:lnTo>
                      <a:pt x="408346" y="0"/>
                    </a:lnTo>
                    <a:lnTo>
                      <a:pt x="407043" y="74793"/>
                    </a:lnTo>
                    <a:cubicBezTo>
                      <a:pt x="426185" y="706556"/>
                      <a:pt x="686336" y="1331016"/>
                      <a:pt x="1182959" y="1798429"/>
                    </a:cubicBezTo>
                    <a:cubicBezTo>
                      <a:pt x="2176205" y="2733256"/>
                      <a:pt x="3739217" y="2685899"/>
                      <a:pt x="4674044" y="1692653"/>
                    </a:cubicBezTo>
                    <a:cubicBezTo>
                      <a:pt x="5083031" y="1258108"/>
                      <a:pt x="5304022" y="714506"/>
                      <a:pt x="5340056" y="162164"/>
                    </a:cubicBezTo>
                    <a:lnTo>
                      <a:pt x="5342881" y="0"/>
                    </a:lnTo>
                    <a:lnTo>
                      <a:pt x="5751228" y="0"/>
                    </a:lnTo>
                    <a:cubicBezTo>
                      <a:pt x="5751228" y="1588157"/>
                      <a:pt x="4463771" y="2875614"/>
                      <a:pt x="2875614" y="2875614"/>
                    </a:cubicBezTo>
                    <a:cubicBezTo>
                      <a:pt x="2081535" y="2875614"/>
                      <a:pt x="1362632" y="2553750"/>
                      <a:pt x="842247" y="2033366"/>
                    </a:cubicBezTo>
                    <a:close/>
                  </a:path>
                </a:pathLst>
              </a:custGeom>
              <a:solidFill>
                <a:srgbClr val="0AA39D">
                  <a:alpha val="75000"/>
                </a:srgbClr>
              </a:solidFill>
              <a:ln w="19050">
                <a:noFill/>
                <a:round/>
                <a:headEnd/>
                <a:tailEnd/>
              </a:ln>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000000"/>
                  </a:solidFill>
                  <a:effectLst/>
                  <a:uLnTx/>
                  <a:uFillTx/>
                  <a:latin typeface="Arial"/>
                  <a:ea typeface="微软雅黑" panose="020B0503020204020204" pitchFamily="34" charset="-122"/>
                </a:endParaRPr>
              </a:p>
            </p:txBody>
          </p:sp>
          <p:sp>
            <p:nvSpPr>
              <p:cNvPr id="19" name="íSḷîďê">
                <a:extLst>
                  <a:ext uri="{FF2B5EF4-FFF2-40B4-BE49-F238E27FC236}">
                    <a16:creationId xmlns:a16="http://schemas.microsoft.com/office/drawing/2014/main" id="{7AB1AF71-AAC3-4B0C-8E29-199DDE974FCE}"/>
                  </a:ext>
                </a:extLst>
              </p:cNvPr>
              <p:cNvSpPr>
                <a:spLocks/>
              </p:cNvSpPr>
              <p:nvPr/>
            </p:nvSpPr>
            <p:spPr bwMode="auto">
              <a:xfrm rot="12330823">
                <a:off x="445935" y="3404681"/>
                <a:ext cx="5751328" cy="2875585"/>
              </a:xfrm>
              <a:custGeom>
                <a:avLst/>
                <a:gdLst>
                  <a:gd name="T0" fmla="*/ 0 w 5751227"/>
                  <a:gd name="T1" fmla="*/ 2875615 h 2875615"/>
                  <a:gd name="T2" fmla="*/ 2875628 w 5751227"/>
                  <a:gd name="T3" fmla="*/ 0 h 2875615"/>
                  <a:gd name="T4" fmla="*/ 5751227 w 5751227"/>
                  <a:gd name="T5" fmla="*/ 2875615 h 2875615"/>
                  <a:gd name="T6" fmla="*/ 5342883 w 5751227"/>
                  <a:gd name="T7" fmla="*/ 2875615 h 2875615"/>
                  <a:gd name="T8" fmla="*/ 5344183 w 5751227"/>
                  <a:gd name="T9" fmla="*/ 2800821 h 2875615"/>
                  <a:gd name="T10" fmla="*/ 4568267 w 5751227"/>
                  <a:gd name="T11" fmla="*/ 1077193 h 2875615"/>
                  <a:gd name="T12" fmla="*/ 1077190 w 5751227"/>
                  <a:gd name="T13" fmla="*/ 1182968 h 2875615"/>
                  <a:gd name="T14" fmla="*/ 411171 w 5751227"/>
                  <a:gd name="T15" fmla="*/ 2713449 h 2875615"/>
                  <a:gd name="T16" fmla="*/ 408345 w 5751227"/>
                  <a:gd name="T17" fmla="*/ 2875615 h 2875615"/>
                  <a:gd name="T18" fmla="*/ 0 w 5751227"/>
                  <a:gd name="T19" fmla="*/ 2875615 h 28756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51227"/>
                  <a:gd name="T31" fmla="*/ 0 h 2875615"/>
                  <a:gd name="T32" fmla="*/ 5751227 w 5751227"/>
                  <a:gd name="T33" fmla="*/ 2875615 h 287561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51227" h="2875615">
                    <a:moveTo>
                      <a:pt x="0" y="2875615"/>
                    </a:moveTo>
                    <a:cubicBezTo>
                      <a:pt x="0" y="1287457"/>
                      <a:pt x="1287456" y="0"/>
                      <a:pt x="2875613" y="0"/>
                    </a:cubicBezTo>
                    <a:cubicBezTo>
                      <a:pt x="4463770" y="0"/>
                      <a:pt x="5751227" y="1287457"/>
                      <a:pt x="5751227" y="2875614"/>
                    </a:cubicBezTo>
                    <a:lnTo>
                      <a:pt x="5342880" y="2875614"/>
                    </a:lnTo>
                    <a:lnTo>
                      <a:pt x="5344183" y="2800820"/>
                    </a:lnTo>
                    <a:cubicBezTo>
                      <a:pt x="5325041" y="2169058"/>
                      <a:pt x="5064890" y="1544598"/>
                      <a:pt x="4568267" y="1077185"/>
                    </a:cubicBezTo>
                    <a:cubicBezTo>
                      <a:pt x="3575022" y="142357"/>
                      <a:pt x="2012009" y="189715"/>
                      <a:pt x="1077182" y="1182960"/>
                    </a:cubicBezTo>
                    <a:cubicBezTo>
                      <a:pt x="668195" y="1617505"/>
                      <a:pt x="447204" y="2161107"/>
                      <a:pt x="411171" y="2713449"/>
                    </a:cubicBezTo>
                    <a:lnTo>
                      <a:pt x="408345" y="2875614"/>
                    </a:lnTo>
                    <a:lnTo>
                      <a:pt x="0" y="2875615"/>
                    </a:lnTo>
                    <a:close/>
                  </a:path>
                </a:pathLst>
              </a:custGeom>
              <a:solidFill>
                <a:srgbClr val="003F98">
                  <a:alpha val="73000"/>
                </a:srgbClr>
              </a:solidFill>
              <a:ln>
                <a:noFill/>
              </a:ln>
              <a:extLst>
                <a:ext uri="{91240B29-F687-4F45-9708-019B960494DF}">
                  <a14:hiddenLine xmlns:a14="http://schemas.microsoft.com/office/drawing/2010/main" w="19050">
                    <a:solidFill>
                      <a:srgbClr val="000000"/>
                    </a:solidFill>
                    <a:round/>
                    <a:headEnd/>
                    <a:tailEnd/>
                  </a14:hiddenLine>
                </a:ext>
              </a:extLst>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a:ea typeface="微软雅黑" panose="020B0503020204020204" pitchFamily="34" charset="-122"/>
                </a:endParaRPr>
              </a:p>
            </p:txBody>
          </p:sp>
        </p:grpSp>
        <p:grpSp>
          <p:nvGrpSpPr>
            <p:cNvPr id="15" name="iṧľiďe">
              <a:extLst>
                <a:ext uri="{FF2B5EF4-FFF2-40B4-BE49-F238E27FC236}">
                  <a16:creationId xmlns:a16="http://schemas.microsoft.com/office/drawing/2014/main" id="{891052D4-C542-414B-91C5-DB7B72CDD9F2}"/>
                </a:ext>
              </a:extLst>
            </p:cNvPr>
            <p:cNvGrpSpPr>
              <a:grpSpLocks/>
            </p:cNvGrpSpPr>
            <p:nvPr/>
          </p:nvGrpSpPr>
          <p:grpSpPr bwMode="auto">
            <a:xfrm>
              <a:off x="1507376" y="1987353"/>
              <a:ext cx="1391523" cy="1797372"/>
              <a:chOff x="1987251" y="3051050"/>
              <a:chExt cx="1826411" cy="2359035"/>
            </a:xfrm>
          </p:grpSpPr>
          <p:sp>
            <p:nvSpPr>
              <p:cNvPr id="16" name="iSlïḓé">
                <a:extLst>
                  <a:ext uri="{FF2B5EF4-FFF2-40B4-BE49-F238E27FC236}">
                    <a16:creationId xmlns:a16="http://schemas.microsoft.com/office/drawing/2014/main" id="{068C083D-D9FD-4334-828B-B06B75F8977F}"/>
                  </a:ext>
                </a:extLst>
              </p:cNvPr>
              <p:cNvSpPr txBox="1">
                <a:spLocks noChangeArrowheads="1"/>
              </p:cNvSpPr>
              <p:nvPr/>
            </p:nvSpPr>
            <p:spPr bwMode="auto">
              <a:xfrm>
                <a:off x="2301494" y="3051050"/>
                <a:ext cx="1512168" cy="2308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Times New Roman" panose="02020603050405020304" pitchFamily="18" charset="0"/>
                    <a:ea typeface="微软雅黑" panose="020B0503020204020204" pitchFamily="34" charset="-122"/>
                  </a:defRPr>
                </a:lvl1pPr>
                <a:lvl2pPr marL="742950" indent="-285750">
                  <a:defRPr>
                    <a:solidFill>
                      <a:schemeClr val="tx1"/>
                    </a:solidFill>
                    <a:latin typeface="Times New Roman" panose="02020603050405020304" pitchFamily="18" charset="0"/>
                    <a:ea typeface="微软雅黑" panose="020B0503020204020204" pitchFamily="34" charset="-122"/>
                  </a:defRPr>
                </a:lvl2pPr>
                <a:lvl3pPr marL="1143000" indent="-228600">
                  <a:defRPr>
                    <a:solidFill>
                      <a:schemeClr val="tx1"/>
                    </a:solidFill>
                    <a:latin typeface="Times New Roman" panose="02020603050405020304" pitchFamily="18" charset="0"/>
                    <a:ea typeface="微软雅黑" panose="020B0503020204020204" pitchFamily="34" charset="-122"/>
                  </a:defRPr>
                </a:lvl3pPr>
                <a:lvl4pPr marL="1600200" indent="-228600">
                  <a:defRPr>
                    <a:solidFill>
                      <a:schemeClr val="tx1"/>
                    </a:solidFill>
                    <a:latin typeface="Times New Roman" panose="02020603050405020304" pitchFamily="18" charset="0"/>
                    <a:ea typeface="微软雅黑" panose="020B0503020204020204" pitchFamily="34" charset="-122"/>
                  </a:defRPr>
                </a:lvl4pPr>
                <a:lvl5pPr marL="2057400" indent="-228600">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48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rPr>
                  <a:t>目录</a:t>
                </a:r>
              </a:p>
            </p:txBody>
          </p:sp>
          <p:sp>
            <p:nvSpPr>
              <p:cNvPr id="17" name="îsļïdé">
                <a:extLst>
                  <a:ext uri="{FF2B5EF4-FFF2-40B4-BE49-F238E27FC236}">
                    <a16:creationId xmlns:a16="http://schemas.microsoft.com/office/drawing/2014/main" id="{53CBF4E9-5B09-4897-BB1F-C3B8F9B2F91D}"/>
                  </a:ext>
                </a:extLst>
              </p:cNvPr>
              <p:cNvSpPr txBox="1">
                <a:spLocks noChangeArrowheads="1"/>
              </p:cNvSpPr>
              <p:nvPr/>
            </p:nvSpPr>
            <p:spPr bwMode="auto">
              <a:xfrm rot="5400000">
                <a:off x="1044712" y="4077375"/>
                <a:ext cx="2275249" cy="390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imes New Roman" panose="02020603050405020304" pitchFamily="18" charset="0"/>
                    <a:ea typeface="微软雅黑" panose="020B0503020204020204" pitchFamily="34" charset="-122"/>
                  </a:defRPr>
                </a:lvl1pPr>
                <a:lvl2pPr marL="742950" indent="-285750">
                  <a:defRPr>
                    <a:solidFill>
                      <a:schemeClr val="tx1"/>
                    </a:solidFill>
                    <a:latin typeface="Times New Roman" panose="02020603050405020304" pitchFamily="18" charset="0"/>
                    <a:ea typeface="微软雅黑" panose="020B0503020204020204" pitchFamily="34" charset="-122"/>
                  </a:defRPr>
                </a:lvl2pPr>
                <a:lvl3pPr marL="1143000" indent="-228600">
                  <a:defRPr>
                    <a:solidFill>
                      <a:schemeClr val="tx1"/>
                    </a:solidFill>
                    <a:latin typeface="Times New Roman" panose="02020603050405020304" pitchFamily="18" charset="0"/>
                    <a:ea typeface="微软雅黑" panose="020B0503020204020204" pitchFamily="34" charset="-122"/>
                  </a:defRPr>
                </a:lvl3pPr>
                <a:lvl4pPr marL="1600200" indent="-228600">
                  <a:defRPr>
                    <a:solidFill>
                      <a:schemeClr val="tx1"/>
                    </a:solidFill>
                    <a:latin typeface="Times New Roman" panose="02020603050405020304" pitchFamily="18" charset="0"/>
                    <a:ea typeface="微软雅黑" panose="020B0503020204020204" pitchFamily="34" charset="-122"/>
                  </a:defRPr>
                </a:lvl4pPr>
                <a:lvl5pPr marL="2057400" indent="-228600">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rPr>
                  <a:t>CONTENT</a:t>
                </a:r>
              </a:p>
            </p:txBody>
          </p:sp>
        </p:grpSp>
      </p:grpSp>
      <p:sp>
        <p:nvSpPr>
          <p:cNvPr id="21" name="í$1iďê">
            <a:extLst>
              <a:ext uri="{FF2B5EF4-FFF2-40B4-BE49-F238E27FC236}">
                <a16:creationId xmlns:a16="http://schemas.microsoft.com/office/drawing/2014/main" id="{C541662A-52BD-4B26-B8C7-EF7AE024A9BF}"/>
              </a:ext>
            </a:extLst>
          </p:cNvPr>
          <p:cNvSpPr txBox="1"/>
          <p:nvPr/>
        </p:nvSpPr>
        <p:spPr bwMode="auto">
          <a:xfrm>
            <a:off x="3287688" y="2996952"/>
            <a:ext cx="7168405" cy="539442"/>
          </a:xfrm>
          <a:prstGeom prst="rect">
            <a:avLst/>
          </a:prstGeom>
          <a:noFill/>
        </p:spPr>
        <p:txBody>
          <a:bodyPr wrap="none" anchor="ctr">
            <a:noAutofit/>
          </a:bodyPr>
          <a:lstStyle/>
          <a:p>
            <a:pPr>
              <a:defRPr/>
            </a:pPr>
            <a:r>
              <a:rPr lang="en-US" altLang="zh-CN" sz="3600" b="1" dirty="0">
                <a:solidFill>
                  <a:srgbClr val="11406C">
                    <a:lumMod val="100000"/>
                  </a:srgbClr>
                </a:solidFill>
                <a:latin typeface="Impact" panose="020B0806030902050204" pitchFamily="34" charset="0"/>
                <a:ea typeface="微软雅黑" panose="020B0503020204020204" pitchFamily="34" charset="-122"/>
              </a:rPr>
              <a:t>1.1  </a:t>
            </a:r>
            <a:r>
              <a:rPr lang="zh-CN" altLang="en-US" sz="3600" b="1" dirty="0">
                <a:solidFill>
                  <a:srgbClr val="11406C">
                    <a:lumMod val="100000"/>
                  </a:srgbClr>
                </a:solidFill>
                <a:latin typeface="Impact" panose="020B0806030902050204" pitchFamily="34" charset="0"/>
                <a:ea typeface="微软雅黑" panose="020B0503020204020204" pitchFamily="34" charset="-122"/>
              </a:rPr>
              <a:t>网络工程基本特征</a:t>
            </a:r>
          </a:p>
        </p:txBody>
      </p:sp>
    </p:spTree>
    <p:extLst>
      <p:ext uri="{BB962C8B-B14F-4D97-AF65-F5344CB8AC3E}">
        <p14:creationId xmlns:p14="http://schemas.microsoft.com/office/powerpoint/2010/main" val="1153475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01" name="Rectangle 3"/>
          <p:cNvSpPr>
            <a:spLocks noGrp="1"/>
          </p:cNvSpPr>
          <p:nvPr>
            <p:ph idx="1"/>
          </p:nvPr>
        </p:nvSpPr>
        <p:spPr>
          <a:xfrm>
            <a:off x="335360" y="908721"/>
            <a:ext cx="10873208" cy="4464496"/>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algn="just" eaLnBrk="1" latinLnBrk="1" hangingPunct="1">
              <a:buFontTx/>
              <a:buNone/>
            </a:pPr>
            <a:r>
              <a:rPr lang="en-US" altLang="zh-CN" sz="3200" dirty="0">
                <a:solidFill>
                  <a:schemeClr val="tx1"/>
                </a:solidFill>
                <a:effectLst>
                  <a:outerShdw blurRad="38100" dist="38100" dir="2700000" algn="tl">
                    <a:srgbClr val="C0C0C0"/>
                  </a:outerShdw>
                </a:effectLst>
              </a:rPr>
              <a:t>1.1.1  </a:t>
            </a:r>
            <a:r>
              <a:rPr lang="zh-CN" altLang="en-US" sz="3200" dirty="0">
                <a:solidFill>
                  <a:schemeClr val="tx1"/>
                </a:solidFill>
                <a:effectLst>
                  <a:outerShdw blurRad="38100" dist="38100" dir="2700000" algn="tl">
                    <a:srgbClr val="C0C0C0"/>
                  </a:outerShdw>
                </a:effectLst>
              </a:rPr>
              <a:t>系统集成特点</a:t>
            </a:r>
          </a:p>
          <a:p>
            <a:pPr lvl="0" algn="just" eaLnBrk="1" latinLnBrk="1" hangingPunct="1"/>
            <a:r>
              <a:rPr lang="zh-CN" altLang="en-US" b="0" dirty="0">
                <a:solidFill>
                  <a:schemeClr val="tx1"/>
                </a:solidFill>
              </a:rPr>
              <a:t>计算机网络定义：</a:t>
            </a:r>
          </a:p>
          <a:p>
            <a:pPr lvl="1" algn="just" eaLnBrk="1" latinLnBrk="1" hangingPunct="1">
              <a:buFontTx/>
              <a:buNone/>
            </a:pPr>
            <a:r>
              <a:rPr lang="zh-CN" altLang="en-US" dirty="0">
                <a:solidFill>
                  <a:schemeClr val="tx1"/>
                </a:solidFill>
              </a:rPr>
              <a:t>   计算机网络是利用通信设备，通信线路和通信协议，将分布在不同地点，</a:t>
            </a:r>
            <a:r>
              <a:rPr lang="zh-CN" altLang="en-US" dirty="0">
                <a:solidFill>
                  <a:schemeClr val="tx1"/>
                </a:solidFill>
                <a:effectLst>
                  <a:outerShdw blurRad="38100" dist="38100" dir="2700000" algn="tl">
                    <a:srgbClr val="C0C0C0"/>
                  </a:outerShdw>
                </a:effectLst>
                <a:ea typeface="黑体" pitchFamily="49" charset="-122"/>
              </a:rPr>
              <a:t>功能独立</a:t>
            </a:r>
            <a:r>
              <a:rPr lang="zh-CN" altLang="en-US" dirty="0">
                <a:solidFill>
                  <a:schemeClr val="tx1"/>
                </a:solidFill>
              </a:rPr>
              <a:t>的多台计算机</a:t>
            </a:r>
            <a:r>
              <a:rPr lang="zh-CN" altLang="en-US" dirty="0">
                <a:solidFill>
                  <a:schemeClr val="tx1"/>
                </a:solidFill>
                <a:effectLst>
                  <a:outerShdw blurRad="38100" dist="38100" dir="2700000" algn="tl">
                    <a:srgbClr val="C0C0C0"/>
                  </a:outerShdw>
                </a:effectLst>
                <a:ea typeface="黑体" pitchFamily="49" charset="-122"/>
              </a:rPr>
              <a:t>互连</a:t>
            </a:r>
            <a:r>
              <a:rPr lang="zh-CN" altLang="en-US" dirty="0">
                <a:solidFill>
                  <a:schemeClr val="tx1"/>
                </a:solidFill>
              </a:rPr>
              <a:t>起来，通过功能完善的网络软件，实现网络</a:t>
            </a:r>
            <a:r>
              <a:rPr lang="zh-CN" altLang="en-US" dirty="0">
                <a:solidFill>
                  <a:schemeClr val="tx1"/>
                </a:solidFill>
                <a:effectLst>
                  <a:outerShdw blurRad="38100" dist="38100" dir="2700000" algn="tl">
                    <a:srgbClr val="C0C0C0"/>
                  </a:outerShdw>
                </a:effectLst>
                <a:ea typeface="黑体" pitchFamily="49" charset="-122"/>
              </a:rPr>
              <a:t>资源共享</a:t>
            </a:r>
            <a:r>
              <a:rPr lang="zh-CN" altLang="en-US" dirty="0">
                <a:solidFill>
                  <a:schemeClr val="tx1"/>
                </a:solidFill>
              </a:rPr>
              <a:t>和</a:t>
            </a:r>
            <a:r>
              <a:rPr lang="zh-CN" altLang="en-US" dirty="0">
                <a:solidFill>
                  <a:schemeClr val="tx1"/>
                </a:solidFill>
                <a:effectLst>
                  <a:outerShdw blurRad="38100" dist="38100" dir="2700000" algn="tl">
                    <a:srgbClr val="C0C0C0"/>
                  </a:outerShdw>
                </a:effectLst>
                <a:ea typeface="黑体" pitchFamily="49" charset="-122"/>
              </a:rPr>
              <a:t>信息传输</a:t>
            </a:r>
            <a:r>
              <a:rPr lang="zh-CN" altLang="en-US" dirty="0">
                <a:solidFill>
                  <a:schemeClr val="tx1"/>
                </a:solidFill>
              </a:rPr>
              <a:t>的系统。</a:t>
            </a:r>
          </a:p>
          <a:p>
            <a:pPr lvl="1" algn="just" eaLnBrk="1" latinLnBrk="1" hangingPunct="1">
              <a:buFontTx/>
              <a:buNone/>
            </a:pPr>
            <a:endParaRPr lang="zh-CN" altLang="en-US" b="1" dirty="0">
              <a:solidFill>
                <a:schemeClr val="tx1"/>
              </a:solidFill>
            </a:endParaRPr>
          </a:p>
          <a:p>
            <a:pPr lvl="0" eaLnBrk="1" latinLnBrk="1" hangingPunct="1"/>
            <a:r>
              <a:rPr lang="en-US" altLang="zh-CN" b="0" dirty="0" err="1">
                <a:solidFill>
                  <a:schemeClr val="tx1"/>
                </a:solidFill>
                <a:effectLst>
                  <a:outerShdw blurRad="38100" dist="38100" dir="2700000" algn="tl">
                    <a:srgbClr val="C0C0C0"/>
                  </a:outerShdw>
                </a:effectLst>
              </a:rPr>
              <a:t>计算机网络＝计算机技术</a:t>
            </a:r>
            <a:r>
              <a:rPr lang="en-US" altLang="zh-CN" b="0" dirty="0">
                <a:solidFill>
                  <a:schemeClr val="tx1"/>
                </a:solidFill>
                <a:effectLst>
                  <a:outerShdw blurRad="38100" dist="38100" dir="2700000" algn="tl">
                    <a:srgbClr val="C0C0C0"/>
                  </a:outerShdw>
                </a:effectLst>
              </a:rPr>
              <a:t>+</a:t>
            </a:r>
            <a:r>
              <a:rPr lang="zh-CN" altLang="en-US" b="0" dirty="0">
                <a:solidFill>
                  <a:schemeClr val="tx1"/>
                </a:solidFill>
                <a:effectLst>
                  <a:outerShdw blurRad="38100" dist="38100" dir="2700000" algn="tl">
                    <a:srgbClr val="C0C0C0"/>
                  </a:outerShdw>
                </a:effectLst>
              </a:rPr>
              <a:t>通信技术</a:t>
            </a:r>
          </a:p>
          <a:p>
            <a:pPr lvl="0" eaLnBrk="1" latinLnBrk="1" hangingPunct="1"/>
            <a:r>
              <a:rPr lang="zh-CN" altLang="en-US" b="0" dirty="0">
                <a:solidFill>
                  <a:schemeClr val="tx1"/>
                </a:solidFill>
              </a:rPr>
              <a:t>计算机网络是一种数据通信网络</a:t>
            </a:r>
          </a:p>
        </p:txBody>
      </p:sp>
      <p:sp>
        <p:nvSpPr>
          <p:cNvPr id="1048800" name="Rectangle 2"/>
          <p:cNvSpPr>
            <a:spLocks noGrp="1"/>
          </p:cNvSpPr>
          <p:nvPr>
            <p:ph type="title"/>
          </p:nvPr>
        </p:nvSpPr>
        <p:spPr>
          <a:xfrm>
            <a:off x="0" y="-284041"/>
            <a:ext cx="10515600" cy="132556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1.1  </a:t>
            </a:r>
            <a:r>
              <a:rPr lang="zh-CN" altLang="en-US" dirty="0">
                <a:solidFill>
                  <a:schemeClr val="bg1"/>
                </a:solidFill>
              </a:rPr>
              <a:t>网络工程基本特征</a:t>
            </a:r>
          </a:p>
        </p:txBody>
      </p:sp>
    </p:spTree>
  </p:cSld>
  <p:clrMapOvr>
    <a:masterClrMapping/>
  </p:clrMapOvr>
  <p:transition spd="slow">
    <p:zo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06" name="Rectangle 3"/>
          <p:cNvSpPr>
            <a:spLocks noGrp="1"/>
          </p:cNvSpPr>
          <p:nvPr>
            <p:ph idx="1"/>
          </p:nvPr>
        </p:nvSpPr>
        <p:spPr>
          <a:xfrm>
            <a:off x="407368" y="980728"/>
            <a:ext cx="10515600" cy="4351338"/>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buFontTx/>
              <a:buNone/>
            </a:pPr>
            <a:r>
              <a:rPr lang="en-US" altLang="zh-CN" dirty="0">
                <a:solidFill>
                  <a:schemeClr val="tx1"/>
                </a:solidFill>
              </a:rPr>
              <a:t>1.  </a:t>
            </a:r>
            <a:r>
              <a:rPr lang="zh-CN" altLang="en-US" dirty="0">
                <a:solidFill>
                  <a:schemeClr val="tx1"/>
                </a:solidFill>
              </a:rPr>
              <a:t>网络的类型</a:t>
            </a:r>
          </a:p>
          <a:p>
            <a:pPr lvl="0" eaLnBrk="1" latinLnBrk="1" hangingPunct="1"/>
            <a:r>
              <a:rPr lang="en-US" altLang="zh-CN" b="0" dirty="0">
                <a:solidFill>
                  <a:schemeClr val="tx1"/>
                </a:solidFill>
              </a:rPr>
              <a:t>IEEE</a:t>
            </a:r>
            <a:r>
              <a:rPr lang="zh-CN" altLang="en-US" b="0" dirty="0">
                <a:solidFill>
                  <a:schemeClr val="tx1"/>
                </a:solidFill>
              </a:rPr>
              <a:t>标准按地理范围将计算机网络划分为：</a:t>
            </a:r>
          </a:p>
          <a:p>
            <a:pPr lvl="1" eaLnBrk="1" latinLnBrk="1" hangingPunct="1"/>
            <a:r>
              <a:rPr lang="en-US" altLang="zh-CN" dirty="0" err="1">
                <a:solidFill>
                  <a:schemeClr val="tx1"/>
                </a:solidFill>
              </a:rPr>
              <a:t>局域网（LAN</a:t>
            </a:r>
            <a:r>
              <a:rPr lang="zh-CN" altLang="en-US" dirty="0">
                <a:solidFill>
                  <a:schemeClr val="tx1"/>
                </a:solidFill>
              </a:rPr>
              <a:t>）</a:t>
            </a:r>
          </a:p>
          <a:p>
            <a:pPr lvl="1" eaLnBrk="1" latinLnBrk="1" hangingPunct="1"/>
            <a:r>
              <a:rPr lang="zh-CN" altLang="en-US" dirty="0">
                <a:solidFill>
                  <a:schemeClr val="tx1"/>
                </a:solidFill>
              </a:rPr>
              <a:t>城域网（</a:t>
            </a:r>
            <a:r>
              <a:rPr lang="en-US" altLang="zh-CN" dirty="0">
                <a:solidFill>
                  <a:schemeClr val="tx1"/>
                </a:solidFill>
              </a:rPr>
              <a:t>MAN</a:t>
            </a:r>
            <a:r>
              <a:rPr lang="zh-CN" altLang="en-US" dirty="0">
                <a:solidFill>
                  <a:schemeClr val="tx1"/>
                </a:solidFill>
              </a:rPr>
              <a:t>）</a:t>
            </a:r>
          </a:p>
          <a:p>
            <a:pPr lvl="1" eaLnBrk="1" latinLnBrk="1" hangingPunct="1"/>
            <a:r>
              <a:rPr lang="zh-CN" altLang="en-US" dirty="0">
                <a:solidFill>
                  <a:schemeClr val="tx1"/>
                </a:solidFill>
              </a:rPr>
              <a:t>广域网（</a:t>
            </a:r>
            <a:r>
              <a:rPr lang="en-US" altLang="zh-CN" dirty="0">
                <a:solidFill>
                  <a:schemeClr val="tx1"/>
                </a:solidFill>
              </a:rPr>
              <a:t>WAN</a:t>
            </a:r>
            <a:r>
              <a:rPr lang="zh-CN" altLang="en-US" dirty="0">
                <a:solidFill>
                  <a:schemeClr val="tx1"/>
                </a:solidFill>
              </a:rPr>
              <a:t>）</a:t>
            </a:r>
            <a:r>
              <a:rPr lang="zh-CN" altLang="en-US" sz="3200" dirty="0">
                <a:solidFill>
                  <a:schemeClr val="tx1"/>
                </a:solidFill>
                <a:ea typeface="黑体" pitchFamily="49" charset="-122"/>
              </a:rPr>
              <a:t> </a:t>
            </a:r>
          </a:p>
          <a:p>
            <a:pPr lvl="0" eaLnBrk="1" latinLnBrk="1" hangingPunct="1">
              <a:buFontTx/>
              <a:buNone/>
            </a:pPr>
            <a:endParaRPr lang="en-US" altLang="zh-CN" dirty="0">
              <a:solidFill>
                <a:schemeClr val="tx1"/>
              </a:solidFill>
            </a:endParaRPr>
          </a:p>
        </p:txBody>
      </p:sp>
      <p:sp>
        <p:nvSpPr>
          <p:cNvPr id="1048805" name="Rectangle 2"/>
          <p:cNvSpPr>
            <a:spLocks noGrp="1"/>
          </p:cNvSpPr>
          <p:nvPr>
            <p:ph type="title"/>
          </p:nvPr>
        </p:nvSpPr>
        <p:spPr>
          <a:xfrm>
            <a:off x="0" y="-243408"/>
            <a:ext cx="10515600" cy="132556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1.1  </a:t>
            </a:r>
            <a:r>
              <a:rPr lang="zh-CN" altLang="en-US" dirty="0">
                <a:solidFill>
                  <a:schemeClr val="bg1"/>
                </a:solidFill>
              </a:rPr>
              <a:t>网络工程基本特征</a:t>
            </a:r>
          </a:p>
        </p:txBody>
      </p:sp>
    </p:spTree>
  </p:cSld>
  <p:clrMapOvr>
    <a:masterClrMapping/>
  </p:clrMapOvr>
  <p:transition spd="slow">
    <p:zo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11" name="Rectangle 3"/>
          <p:cNvSpPr>
            <a:spLocks noGrp="1"/>
          </p:cNvSpPr>
          <p:nvPr>
            <p:ph idx="1"/>
          </p:nvPr>
        </p:nvSpPr>
        <p:spPr>
          <a:xfrm>
            <a:off x="407368" y="3054602"/>
            <a:ext cx="3889648" cy="576064"/>
          </a:xfrm>
          <a:prstGeom prst="rect">
            <a:avLst/>
          </a:prstGeom>
          <a:noFill/>
          <a:ln>
            <a:noFill/>
          </a:ln>
        </p:spPr>
        <p:txBody>
          <a:bodyPr vert="horz" lIns="91440" tIns="45720" rIns="91440" bIns="45720" rtlCol="0" anchor="t">
            <a:normAutofit/>
          </a:bodyPr>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a:buNone/>
            </a:pPr>
            <a:r>
              <a:rPr lang="en-US" altLang="zh-CN" dirty="0">
                <a:solidFill>
                  <a:schemeClr val="tx1"/>
                </a:solidFill>
              </a:rPr>
              <a:t>[</a:t>
            </a:r>
            <a:r>
              <a:rPr lang="zh-CN" altLang="en-US" dirty="0">
                <a:solidFill>
                  <a:schemeClr val="tx1"/>
                </a:solidFill>
              </a:rPr>
              <a:t>案例</a:t>
            </a:r>
            <a:r>
              <a:rPr lang="en-US" altLang="zh-CN" dirty="0">
                <a:solidFill>
                  <a:schemeClr val="tx1"/>
                </a:solidFill>
              </a:rPr>
              <a:t>] </a:t>
            </a:r>
            <a:r>
              <a:rPr lang="zh-CN" altLang="en-US" dirty="0">
                <a:solidFill>
                  <a:schemeClr val="tx1"/>
                </a:solidFill>
              </a:rPr>
              <a:t>计算机网络类型</a:t>
            </a:r>
          </a:p>
        </p:txBody>
      </p:sp>
      <p:sp>
        <p:nvSpPr>
          <p:cNvPr id="1048810" name="Rectangle 2"/>
          <p:cNvSpPr>
            <a:spLocks noGrp="1"/>
          </p:cNvSpPr>
          <p:nvPr>
            <p:ph type="title"/>
          </p:nvPr>
        </p:nvSpPr>
        <p:spPr>
          <a:xfrm>
            <a:off x="0" y="-239712"/>
            <a:ext cx="10515600" cy="132556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1.1  </a:t>
            </a:r>
            <a:r>
              <a:rPr lang="zh-CN" altLang="en-US" dirty="0">
                <a:solidFill>
                  <a:schemeClr val="bg1"/>
                </a:solidFill>
              </a:rPr>
              <a:t>网络工程基本特征</a:t>
            </a:r>
          </a:p>
        </p:txBody>
      </p:sp>
      <p:pic>
        <p:nvPicPr>
          <p:cNvPr id="2097156" name="Picture 4" descr="WL25"/>
          <p:cNvPicPr>
            <a:picLocks/>
          </p:cNvPicPr>
          <p:nvPr/>
        </p:nvPicPr>
        <p:blipFill>
          <a:blip r:embed="rId5"/>
          <a:srcRect/>
          <a:stretch>
            <a:fillRect/>
          </a:stretch>
        </p:blipFill>
        <p:spPr>
          <a:xfrm>
            <a:off x="4799856" y="1085851"/>
            <a:ext cx="6840537" cy="5024437"/>
          </a:xfrm>
          <a:prstGeom prst="rect">
            <a:avLst/>
          </a:prstGeom>
          <a:noFill/>
          <a:ln>
            <a:noFill/>
          </a:ln>
        </p:spPr>
      </p:pic>
    </p:spTree>
  </p:cSld>
  <p:clrMapOvr>
    <a:masterClrMapping/>
  </p:clrMapOvr>
  <p:transition spd="slow">
    <p:zo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10" name="Rectangle 2"/>
          <p:cNvSpPr>
            <a:spLocks noGrp="1"/>
          </p:cNvSpPr>
          <p:nvPr>
            <p:ph type="title"/>
          </p:nvPr>
        </p:nvSpPr>
        <p:spPr>
          <a:xfrm>
            <a:off x="0" y="-239712"/>
            <a:ext cx="10515600" cy="132556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1.1  </a:t>
            </a:r>
            <a:r>
              <a:rPr lang="zh-CN" altLang="en-US" dirty="0">
                <a:solidFill>
                  <a:schemeClr val="bg1"/>
                </a:solidFill>
              </a:rPr>
              <a:t>网络工程基本特征</a:t>
            </a:r>
          </a:p>
        </p:txBody>
      </p:sp>
      <p:graphicFrame>
        <p:nvGraphicFramePr>
          <p:cNvPr id="10" name="表格 9">
            <a:extLst>
              <a:ext uri="{FF2B5EF4-FFF2-40B4-BE49-F238E27FC236}">
                <a16:creationId xmlns:a16="http://schemas.microsoft.com/office/drawing/2014/main" id="{0B3DCA32-7ADB-4E3D-8371-2E9A6F36F366}"/>
              </a:ext>
            </a:extLst>
          </p:cNvPr>
          <p:cNvGraphicFramePr>
            <a:graphicFrameLocks/>
          </p:cNvGraphicFramePr>
          <p:nvPr>
            <p:extLst>
              <p:ext uri="{D42A27DB-BD31-4B8C-83A1-F6EECF244321}">
                <p14:modId xmlns:p14="http://schemas.microsoft.com/office/powerpoint/2010/main" val="4129752535"/>
              </p:ext>
            </p:extLst>
          </p:nvPr>
        </p:nvGraphicFramePr>
        <p:xfrm>
          <a:off x="695400" y="908720"/>
          <a:ext cx="11089231" cy="5184577"/>
        </p:xfrm>
        <a:graphic>
          <a:graphicData uri="http://schemas.openxmlformats.org/drawingml/2006/table">
            <a:tbl>
              <a:tblPr/>
              <a:tblGrid>
                <a:gridCol w="2263274">
                  <a:extLst>
                    <a:ext uri="{9D8B030D-6E8A-4147-A177-3AD203B41FA5}">
                      <a16:colId xmlns:a16="http://schemas.microsoft.com/office/drawing/2014/main" val="20000"/>
                    </a:ext>
                  </a:extLst>
                </a:gridCol>
                <a:gridCol w="8825957">
                  <a:extLst>
                    <a:ext uri="{9D8B030D-6E8A-4147-A177-3AD203B41FA5}">
                      <a16:colId xmlns:a16="http://schemas.microsoft.com/office/drawing/2014/main" val="20001"/>
                    </a:ext>
                  </a:extLst>
                </a:gridCol>
              </a:tblGrid>
              <a:tr h="485484">
                <a:tc>
                  <a:txBody>
                    <a:bodyPr/>
                    <a:lstStyle/>
                    <a:p>
                      <a:pPr lvl="0" algn="ctr" eaLnBrk="1" latinLnBrk="1" hangingPunct="1">
                        <a:spcAft>
                          <a:spcPct val="20000"/>
                        </a:spcAft>
                        <a:buFontTx/>
                        <a:buNone/>
                      </a:pPr>
                      <a:r>
                        <a:rPr lang="zh-CN" altLang="en-US" sz="1800" b="1" dirty="0">
                          <a:solidFill>
                            <a:srgbClr val="000000"/>
                          </a:solidFill>
                          <a:effectLst>
                            <a:outerShdw blurRad="38100" dist="38100" dir="2700000" algn="tl">
                              <a:srgbClr val="C0C0C0"/>
                            </a:outerShdw>
                          </a:effectLst>
                          <a:latin typeface="黑体" pitchFamily="49" charset="-122"/>
                          <a:ea typeface="黑体" pitchFamily="49" charset="-122"/>
                        </a:rPr>
                        <a:t>分 类 方 法</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solidFill>
                      <a:srgbClr val="CCECFF"/>
                    </a:solidFill>
                  </a:tcPr>
                </a:tc>
                <a:tc>
                  <a:txBody>
                    <a:bodyPr/>
                    <a:lstStyle/>
                    <a:p>
                      <a:pPr lvl="0" algn="ctr" eaLnBrk="1" latinLnBrk="1" hangingPunct="1">
                        <a:spcAft>
                          <a:spcPct val="20000"/>
                        </a:spcAft>
                        <a:buFontTx/>
                        <a:buNone/>
                      </a:pPr>
                      <a:r>
                        <a:rPr lang="zh-CN" altLang="en-US" sz="1800" b="1" dirty="0">
                          <a:solidFill>
                            <a:srgbClr val="000000"/>
                          </a:solidFill>
                          <a:effectLst>
                            <a:outerShdw blurRad="38100" dist="38100" dir="2700000" algn="tl">
                              <a:srgbClr val="C0C0C0"/>
                            </a:outerShdw>
                          </a:effectLst>
                          <a:latin typeface="黑体" pitchFamily="49" charset="-122"/>
                          <a:ea typeface="黑体" pitchFamily="49" charset="-122"/>
                        </a:rPr>
                        <a:t>网 络 类 型</a:t>
                      </a:r>
                    </a:p>
                  </a:txBody>
                  <a:tcPr>
                    <a:lnL w="12700" cap="flat" cmpd="sng">
                      <a:solidFill>
                        <a:srgbClr val="000000">
                          <a:alpha val="100000"/>
                        </a:srgbClr>
                      </a:solidFill>
                      <a:prstDash val="solid"/>
                      <a:round/>
                    </a:lnL>
                    <a:lnR w="9525"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solidFill>
                      <a:srgbClr val="CCECFF"/>
                    </a:solidFill>
                  </a:tcPr>
                </a:tc>
                <a:extLst>
                  <a:ext uri="{0D108BD9-81ED-4DB2-BD59-A6C34878D82A}">
                    <a16:rowId xmlns:a16="http://schemas.microsoft.com/office/drawing/2014/main" val="10000"/>
                  </a:ext>
                </a:extLst>
              </a:tr>
              <a:tr h="400980">
                <a:tc>
                  <a:txBody>
                    <a:bodyPr/>
                    <a:lstStyle/>
                    <a:p>
                      <a:pPr lvl="0" algn="ctr" eaLnBrk="1" latinLnBrk="1" hangingPunct="1">
                        <a:spcAft>
                          <a:spcPct val="20000"/>
                        </a:spcAft>
                        <a:buFontTx/>
                        <a:buNone/>
                      </a:pPr>
                      <a:r>
                        <a:rPr lang="zh-CN" altLang="en-US" sz="1400" b="0">
                          <a:solidFill>
                            <a:srgbClr val="FF0000"/>
                          </a:solidFill>
                          <a:ea typeface="黑体" pitchFamily="49" charset="-122"/>
                        </a:rPr>
                        <a:t>按地理范围分类</a:t>
                      </a:r>
                    </a:p>
                  </a:txBody>
                  <a:tcPr anchor="ctr">
                    <a:lnL w="9525"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l" eaLnBrk="1" latinLnBrk="1" hangingPunct="1">
                        <a:spcAft>
                          <a:spcPct val="20000"/>
                        </a:spcAft>
                        <a:buFontTx/>
                        <a:buNone/>
                      </a:pPr>
                      <a:r>
                        <a:rPr lang="zh-CN" altLang="en-US" sz="1400" b="0">
                          <a:solidFill>
                            <a:srgbClr val="FF0000"/>
                          </a:solidFill>
                          <a:ea typeface="黑体" pitchFamily="49" charset="-122"/>
                        </a:rPr>
                        <a:t>局域网、城域网、广域网</a:t>
                      </a:r>
                    </a:p>
                  </a:txBody>
                  <a:tcPr anchor="ctr">
                    <a:lnL w="12700" cap="flat" cmpd="sng">
                      <a:solidFill>
                        <a:srgbClr val="000000">
                          <a:alpha val="100000"/>
                        </a:srgbClr>
                      </a:solidFill>
                      <a:prstDash val="solid"/>
                      <a:round/>
                    </a:lnL>
                    <a:lnR w="9525"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1"/>
                  </a:ext>
                </a:extLst>
              </a:tr>
              <a:tr h="402637">
                <a:tc>
                  <a:txBody>
                    <a:bodyPr/>
                    <a:lstStyle/>
                    <a:p>
                      <a:pPr lvl="0" algn="ctr" eaLnBrk="1" latinLnBrk="1" hangingPunct="1">
                        <a:spcAft>
                          <a:spcPct val="20000"/>
                        </a:spcAft>
                        <a:buFontTx/>
                        <a:buNone/>
                      </a:pPr>
                      <a:r>
                        <a:rPr lang="zh-CN" altLang="en-US" sz="1400" b="0" dirty="0">
                          <a:solidFill>
                            <a:srgbClr val="000000"/>
                          </a:solidFill>
                          <a:ea typeface="黑体" pitchFamily="49" charset="-122"/>
                        </a:rPr>
                        <a:t>按拓扑结构分类</a:t>
                      </a:r>
                    </a:p>
                  </a:txBody>
                  <a:tcPr anchor="ctr">
                    <a:lnL w="9525"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l" eaLnBrk="1" latinLnBrk="1" hangingPunct="1">
                        <a:spcAft>
                          <a:spcPct val="20000"/>
                        </a:spcAft>
                        <a:buFontTx/>
                        <a:buNone/>
                      </a:pPr>
                      <a:r>
                        <a:rPr lang="zh-CN" altLang="en-US" sz="1400" b="0" dirty="0">
                          <a:solidFill>
                            <a:srgbClr val="000000"/>
                          </a:solidFill>
                          <a:ea typeface="黑体" pitchFamily="49" charset="-122"/>
                        </a:rPr>
                        <a:t>点对点形、总线形、星形、树形、环形、网状形、蜂窝形等</a:t>
                      </a:r>
                    </a:p>
                  </a:txBody>
                  <a:tcPr anchor="ctr">
                    <a:lnL w="12700" cap="flat" cmpd="sng">
                      <a:solidFill>
                        <a:srgbClr val="000000">
                          <a:alpha val="100000"/>
                        </a:srgbClr>
                      </a:solidFill>
                      <a:prstDash val="solid"/>
                      <a:round/>
                    </a:lnL>
                    <a:lnR w="9525"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2"/>
                  </a:ext>
                </a:extLst>
              </a:tr>
              <a:tr h="402637">
                <a:tc>
                  <a:txBody>
                    <a:bodyPr/>
                    <a:lstStyle/>
                    <a:p>
                      <a:pPr lvl="0" algn="ctr" eaLnBrk="1" latinLnBrk="1" hangingPunct="1">
                        <a:spcAft>
                          <a:spcPct val="20000"/>
                        </a:spcAft>
                        <a:buFontTx/>
                        <a:buNone/>
                      </a:pPr>
                      <a:r>
                        <a:rPr lang="zh-CN" altLang="en-US" sz="1400" b="0">
                          <a:solidFill>
                            <a:srgbClr val="000000"/>
                          </a:solidFill>
                          <a:ea typeface="黑体" pitchFamily="49" charset="-122"/>
                        </a:rPr>
                        <a:t>按业务类型分类</a:t>
                      </a:r>
                    </a:p>
                  </a:txBody>
                  <a:tcPr anchor="ctr">
                    <a:lnL w="9525"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l" eaLnBrk="1" latinLnBrk="1" hangingPunct="1">
                        <a:spcAft>
                          <a:spcPct val="20000"/>
                        </a:spcAft>
                        <a:buFontTx/>
                        <a:buNone/>
                      </a:pPr>
                      <a:r>
                        <a:rPr lang="zh-CN" altLang="en-US" sz="1400" b="0">
                          <a:solidFill>
                            <a:srgbClr val="000000"/>
                          </a:solidFill>
                          <a:ea typeface="黑体" pitchFamily="49" charset="-122"/>
                        </a:rPr>
                        <a:t>计算机网络、电信网络、电视网络</a:t>
                      </a:r>
                    </a:p>
                  </a:txBody>
                  <a:tcPr anchor="ctr">
                    <a:lnL w="12700" cap="flat" cmpd="sng">
                      <a:solidFill>
                        <a:srgbClr val="000000">
                          <a:alpha val="100000"/>
                        </a:srgbClr>
                      </a:solidFill>
                      <a:prstDash val="solid"/>
                      <a:round/>
                    </a:lnL>
                    <a:lnR w="9525"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3"/>
                  </a:ext>
                </a:extLst>
              </a:tr>
              <a:tr h="400980">
                <a:tc>
                  <a:txBody>
                    <a:bodyPr/>
                    <a:lstStyle/>
                    <a:p>
                      <a:pPr lvl="0" algn="ctr" eaLnBrk="1" latinLnBrk="1" hangingPunct="1">
                        <a:spcAft>
                          <a:spcPct val="20000"/>
                        </a:spcAft>
                        <a:buFontTx/>
                        <a:buNone/>
                      </a:pPr>
                      <a:r>
                        <a:rPr lang="zh-CN" altLang="en-US" sz="1400" b="0">
                          <a:solidFill>
                            <a:srgbClr val="000000"/>
                          </a:solidFill>
                          <a:ea typeface="黑体" pitchFamily="49" charset="-122"/>
                        </a:rPr>
                        <a:t>按传输方式分类</a:t>
                      </a:r>
                    </a:p>
                  </a:txBody>
                  <a:tcPr anchor="ctr">
                    <a:lnL w="9525"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l" eaLnBrk="1" latinLnBrk="1" hangingPunct="1">
                        <a:spcAft>
                          <a:spcPct val="20000"/>
                        </a:spcAft>
                        <a:buFontTx/>
                        <a:buNone/>
                      </a:pPr>
                      <a:r>
                        <a:rPr lang="zh-CN" altLang="en-US" sz="1400" b="0">
                          <a:solidFill>
                            <a:srgbClr val="000000"/>
                          </a:solidFill>
                          <a:ea typeface="黑体" pitchFamily="49" charset="-122"/>
                        </a:rPr>
                        <a:t>广播式网络、点对点网络</a:t>
                      </a:r>
                    </a:p>
                  </a:txBody>
                  <a:tcPr anchor="ctr">
                    <a:lnL w="12700" cap="flat" cmpd="sng">
                      <a:solidFill>
                        <a:srgbClr val="000000">
                          <a:alpha val="100000"/>
                        </a:srgbClr>
                      </a:solidFill>
                      <a:prstDash val="solid"/>
                      <a:round/>
                    </a:lnL>
                    <a:lnR w="9525"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4"/>
                  </a:ext>
                </a:extLst>
              </a:tr>
              <a:tr h="402637">
                <a:tc>
                  <a:txBody>
                    <a:bodyPr/>
                    <a:lstStyle/>
                    <a:p>
                      <a:pPr lvl="0" algn="ctr" eaLnBrk="1" latinLnBrk="1" hangingPunct="1">
                        <a:spcAft>
                          <a:spcPct val="20000"/>
                        </a:spcAft>
                        <a:buFontTx/>
                        <a:buNone/>
                      </a:pPr>
                      <a:r>
                        <a:rPr lang="zh-CN" altLang="en-US" sz="1400" b="0">
                          <a:solidFill>
                            <a:srgbClr val="000000"/>
                          </a:solidFill>
                          <a:ea typeface="黑体" pitchFamily="49" charset="-122"/>
                        </a:rPr>
                        <a:t>按网络协议分类</a:t>
                      </a:r>
                    </a:p>
                  </a:txBody>
                  <a:tcPr anchor="ctr">
                    <a:lnL w="9525"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l" eaLnBrk="1" latinLnBrk="1" hangingPunct="1">
                        <a:spcAft>
                          <a:spcPct val="20000"/>
                        </a:spcAft>
                        <a:buFontTx/>
                        <a:buNone/>
                      </a:pPr>
                      <a:r>
                        <a:rPr lang="zh-CN" altLang="en-US" sz="1400" b="0" dirty="0">
                          <a:solidFill>
                            <a:srgbClr val="FF0000"/>
                          </a:solidFill>
                          <a:ea typeface="黑体" pitchFamily="49" charset="-122"/>
                        </a:rPr>
                        <a:t>以太网</a:t>
                      </a:r>
                      <a:r>
                        <a:rPr lang="en-US" altLang="zh-CN" sz="1400" b="0" dirty="0">
                          <a:solidFill>
                            <a:srgbClr val="000000"/>
                          </a:solidFill>
                          <a:ea typeface="黑体" pitchFamily="49" charset="-122"/>
                        </a:rPr>
                        <a:t>、SDH</a:t>
                      </a:r>
                      <a:r>
                        <a:rPr lang="zh-CN" altLang="en-US" sz="1400" b="0" dirty="0">
                          <a:solidFill>
                            <a:srgbClr val="000000"/>
                          </a:solidFill>
                          <a:ea typeface="黑体" pitchFamily="49" charset="-122"/>
                        </a:rPr>
                        <a:t>、</a:t>
                      </a:r>
                      <a:r>
                        <a:rPr lang="en-US" altLang="zh-CN" sz="1400" b="0" dirty="0">
                          <a:solidFill>
                            <a:srgbClr val="000000"/>
                          </a:solidFill>
                          <a:ea typeface="黑体" pitchFamily="49" charset="-122"/>
                        </a:rPr>
                        <a:t>DWDM</a:t>
                      </a:r>
                      <a:r>
                        <a:rPr lang="zh-CN" altLang="en-US" sz="1400" b="0" dirty="0">
                          <a:solidFill>
                            <a:srgbClr val="000000"/>
                          </a:solidFill>
                          <a:ea typeface="黑体" pitchFamily="49" charset="-122"/>
                        </a:rPr>
                        <a:t>、令牌环、</a:t>
                      </a:r>
                      <a:r>
                        <a:rPr lang="en-US" altLang="zh-CN" sz="1400" b="0" dirty="0">
                          <a:solidFill>
                            <a:srgbClr val="000000"/>
                          </a:solidFill>
                          <a:ea typeface="黑体" pitchFamily="49" charset="-122"/>
                        </a:rPr>
                        <a:t>Apple Talk</a:t>
                      </a:r>
                      <a:r>
                        <a:rPr lang="zh-CN" altLang="en-US" sz="1400" b="0" dirty="0">
                          <a:solidFill>
                            <a:srgbClr val="000000"/>
                          </a:solidFill>
                          <a:ea typeface="黑体" pitchFamily="49" charset="-122"/>
                        </a:rPr>
                        <a:t>、</a:t>
                      </a:r>
                      <a:r>
                        <a:rPr lang="en-US" altLang="zh-CN" sz="1400" b="0" dirty="0">
                          <a:solidFill>
                            <a:srgbClr val="000000"/>
                          </a:solidFill>
                          <a:ea typeface="黑体" pitchFamily="49" charset="-122"/>
                        </a:rPr>
                        <a:t>Novell Netware</a:t>
                      </a:r>
                      <a:r>
                        <a:rPr lang="zh-CN" altLang="en-US" sz="1400" b="0" dirty="0">
                          <a:solidFill>
                            <a:srgbClr val="000000"/>
                          </a:solidFill>
                          <a:ea typeface="黑体" pitchFamily="49" charset="-122"/>
                        </a:rPr>
                        <a:t>、</a:t>
                      </a:r>
                      <a:r>
                        <a:rPr lang="en-US" altLang="zh-CN" sz="1400" b="0" dirty="0">
                          <a:solidFill>
                            <a:srgbClr val="000000"/>
                          </a:solidFill>
                          <a:ea typeface="黑体" pitchFamily="49" charset="-122"/>
                        </a:rPr>
                        <a:t>FDDI</a:t>
                      </a:r>
                      <a:r>
                        <a:rPr lang="zh-CN" altLang="en-US" sz="1400" b="0" dirty="0">
                          <a:solidFill>
                            <a:srgbClr val="000000"/>
                          </a:solidFill>
                          <a:ea typeface="黑体" pitchFamily="49" charset="-122"/>
                        </a:rPr>
                        <a:t>、</a:t>
                      </a:r>
                      <a:r>
                        <a:rPr lang="en-US" altLang="zh-CN" sz="1400" b="0" dirty="0">
                          <a:solidFill>
                            <a:srgbClr val="000000"/>
                          </a:solidFill>
                          <a:ea typeface="黑体" pitchFamily="49" charset="-122"/>
                        </a:rPr>
                        <a:t>ATM</a:t>
                      </a:r>
                    </a:p>
                  </a:txBody>
                  <a:tcPr anchor="ctr">
                    <a:lnL w="12700" cap="flat" cmpd="sng">
                      <a:solidFill>
                        <a:srgbClr val="000000">
                          <a:alpha val="100000"/>
                        </a:srgbClr>
                      </a:solidFill>
                      <a:prstDash val="solid"/>
                      <a:round/>
                    </a:lnL>
                    <a:lnR w="9525"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5"/>
                  </a:ext>
                </a:extLst>
              </a:tr>
              <a:tr h="400980">
                <a:tc>
                  <a:txBody>
                    <a:bodyPr/>
                    <a:lstStyle/>
                    <a:p>
                      <a:pPr lvl="0" algn="ctr" eaLnBrk="1" latinLnBrk="1" hangingPunct="1">
                        <a:spcAft>
                          <a:spcPct val="20000"/>
                        </a:spcAft>
                        <a:buFontTx/>
                        <a:buNone/>
                      </a:pPr>
                      <a:r>
                        <a:rPr lang="zh-CN" altLang="en-US" sz="1400" b="0">
                          <a:solidFill>
                            <a:srgbClr val="000000"/>
                          </a:solidFill>
                          <a:ea typeface="黑体" pitchFamily="49" charset="-122"/>
                        </a:rPr>
                        <a:t>按交换技术分类</a:t>
                      </a:r>
                    </a:p>
                  </a:txBody>
                  <a:tcPr anchor="ctr">
                    <a:lnL w="9525"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l" eaLnBrk="1" latinLnBrk="1" hangingPunct="1">
                        <a:spcAft>
                          <a:spcPct val="20000"/>
                        </a:spcAft>
                        <a:buFontTx/>
                        <a:buNone/>
                      </a:pPr>
                      <a:r>
                        <a:rPr lang="zh-CN" altLang="en-US" sz="1400" b="0">
                          <a:solidFill>
                            <a:srgbClr val="000000"/>
                          </a:solidFill>
                          <a:ea typeface="黑体" pitchFamily="49" charset="-122"/>
                        </a:rPr>
                        <a:t>电路交换网、分组交换网</a:t>
                      </a:r>
                    </a:p>
                  </a:txBody>
                  <a:tcPr anchor="ctr">
                    <a:lnL w="12700" cap="flat" cmpd="sng">
                      <a:solidFill>
                        <a:srgbClr val="000000">
                          <a:alpha val="100000"/>
                        </a:srgbClr>
                      </a:solidFill>
                      <a:prstDash val="solid"/>
                      <a:round/>
                    </a:lnL>
                    <a:lnR w="9525"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6"/>
                  </a:ext>
                </a:extLst>
              </a:tr>
              <a:tr h="404295">
                <a:tc>
                  <a:txBody>
                    <a:bodyPr/>
                    <a:lstStyle/>
                    <a:p>
                      <a:pPr lvl="0" algn="ctr" eaLnBrk="1" latinLnBrk="1" hangingPunct="1">
                        <a:spcAft>
                          <a:spcPct val="20000"/>
                        </a:spcAft>
                        <a:buFontTx/>
                        <a:buNone/>
                      </a:pPr>
                      <a:r>
                        <a:rPr lang="zh-CN" altLang="en-US" sz="1400" b="0">
                          <a:solidFill>
                            <a:srgbClr val="000000"/>
                          </a:solidFill>
                          <a:ea typeface="黑体" pitchFamily="49" charset="-122"/>
                        </a:rPr>
                        <a:t>按信号复用分类</a:t>
                      </a:r>
                    </a:p>
                  </a:txBody>
                  <a:tcPr anchor="ctr">
                    <a:lnL w="9525"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l" eaLnBrk="1" latinLnBrk="1" hangingPunct="1">
                        <a:spcAft>
                          <a:spcPct val="20000"/>
                        </a:spcAft>
                        <a:buFontTx/>
                        <a:buNone/>
                      </a:pPr>
                      <a:r>
                        <a:rPr lang="zh-CN" altLang="en-US" sz="1400" b="0">
                          <a:solidFill>
                            <a:srgbClr val="000000"/>
                          </a:solidFill>
                          <a:ea typeface="黑体" pitchFamily="49" charset="-122"/>
                        </a:rPr>
                        <a:t>时分复用、频分复用、波分复用、码分复用等</a:t>
                      </a:r>
                    </a:p>
                  </a:txBody>
                  <a:tcPr anchor="ctr">
                    <a:lnL w="12700" cap="flat" cmpd="sng">
                      <a:solidFill>
                        <a:srgbClr val="000000">
                          <a:alpha val="100000"/>
                        </a:srgbClr>
                      </a:solidFill>
                      <a:prstDash val="solid"/>
                      <a:round/>
                    </a:lnL>
                    <a:lnR w="9525"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7"/>
                  </a:ext>
                </a:extLst>
              </a:tr>
              <a:tr h="740655">
                <a:tc>
                  <a:txBody>
                    <a:bodyPr/>
                    <a:lstStyle/>
                    <a:p>
                      <a:pPr lvl="0" algn="ctr" eaLnBrk="1" latinLnBrk="1" hangingPunct="1">
                        <a:spcAft>
                          <a:spcPct val="20000"/>
                        </a:spcAft>
                        <a:buFontTx/>
                        <a:buNone/>
                      </a:pPr>
                      <a:r>
                        <a:rPr lang="zh-CN" altLang="en-US" sz="1400" b="0">
                          <a:solidFill>
                            <a:srgbClr val="000000"/>
                          </a:solidFill>
                          <a:ea typeface="黑体" pitchFamily="49" charset="-122"/>
                        </a:rPr>
                        <a:t>按接入技术分类</a:t>
                      </a:r>
                    </a:p>
                  </a:txBody>
                  <a:tcPr anchor="ctr">
                    <a:lnL w="9525"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l" eaLnBrk="1" latinLnBrk="1" hangingPunct="1">
                        <a:spcAft>
                          <a:spcPct val="20000"/>
                        </a:spcAft>
                        <a:buFontTx/>
                        <a:buNone/>
                      </a:pPr>
                      <a:r>
                        <a:rPr lang="zh-CN" altLang="en-US" sz="1400" b="0" dirty="0">
                          <a:solidFill>
                            <a:srgbClr val="000000"/>
                          </a:solidFill>
                          <a:ea typeface="黑体" pitchFamily="49" charset="-122"/>
                        </a:rPr>
                        <a:t>有线： </a:t>
                      </a:r>
                      <a:r>
                        <a:rPr lang="en-US" altLang="zh-CN" sz="1400" b="0" dirty="0">
                          <a:solidFill>
                            <a:srgbClr val="000000"/>
                          </a:solidFill>
                          <a:ea typeface="黑体" pitchFamily="49" charset="-122"/>
                        </a:rPr>
                        <a:t>Ethernet</a:t>
                      </a:r>
                      <a:r>
                        <a:rPr lang="zh-CN" altLang="en-US" sz="1400" b="0" dirty="0">
                          <a:solidFill>
                            <a:srgbClr val="000000"/>
                          </a:solidFill>
                          <a:ea typeface="黑体" pitchFamily="49" charset="-122"/>
                        </a:rPr>
                        <a:t>、</a:t>
                      </a:r>
                      <a:r>
                        <a:rPr lang="en-US" altLang="zh-CN" sz="1400" b="0" dirty="0">
                          <a:solidFill>
                            <a:srgbClr val="000000"/>
                          </a:solidFill>
                          <a:ea typeface="黑体" pitchFamily="49" charset="-122"/>
                        </a:rPr>
                        <a:t>ADSL</a:t>
                      </a:r>
                      <a:r>
                        <a:rPr lang="zh-CN" altLang="en-US" sz="1400" b="0" dirty="0">
                          <a:solidFill>
                            <a:srgbClr val="000000"/>
                          </a:solidFill>
                          <a:ea typeface="黑体" pitchFamily="49" charset="-122"/>
                        </a:rPr>
                        <a:t>、</a:t>
                      </a:r>
                      <a:r>
                        <a:rPr lang="en-US" altLang="zh-CN" sz="1400" b="0" dirty="0">
                          <a:solidFill>
                            <a:srgbClr val="000000"/>
                          </a:solidFill>
                          <a:ea typeface="黑体" pitchFamily="49" charset="-122"/>
                        </a:rPr>
                        <a:t>PSTN</a:t>
                      </a:r>
                      <a:r>
                        <a:rPr lang="zh-CN" altLang="en-US" sz="1400" b="0" dirty="0">
                          <a:solidFill>
                            <a:srgbClr val="000000"/>
                          </a:solidFill>
                          <a:ea typeface="黑体" pitchFamily="49" charset="-122"/>
                        </a:rPr>
                        <a:t>、</a:t>
                      </a:r>
                      <a:r>
                        <a:rPr lang="en-US" altLang="zh-CN" sz="1400" b="0" dirty="0">
                          <a:solidFill>
                            <a:srgbClr val="000000"/>
                          </a:solidFill>
                          <a:ea typeface="黑体" pitchFamily="49" charset="-122"/>
                        </a:rPr>
                        <a:t>ISDN</a:t>
                      </a:r>
                      <a:r>
                        <a:rPr lang="zh-CN" altLang="en-US" sz="1400" b="0" dirty="0">
                          <a:solidFill>
                            <a:srgbClr val="000000"/>
                          </a:solidFill>
                          <a:ea typeface="黑体" pitchFamily="49" charset="-122"/>
                        </a:rPr>
                        <a:t>、</a:t>
                      </a:r>
                      <a:r>
                        <a:rPr lang="en-US" altLang="zh-CN" sz="1400" b="0" dirty="0">
                          <a:solidFill>
                            <a:srgbClr val="000000"/>
                          </a:solidFill>
                          <a:ea typeface="黑体" pitchFamily="49" charset="-122"/>
                        </a:rPr>
                        <a:t>X.25</a:t>
                      </a:r>
                      <a:r>
                        <a:rPr lang="zh-CN" altLang="en-US" sz="1400" b="0" dirty="0">
                          <a:solidFill>
                            <a:srgbClr val="000000"/>
                          </a:solidFill>
                          <a:ea typeface="黑体" pitchFamily="49" charset="-122"/>
                        </a:rPr>
                        <a:t>、</a:t>
                      </a:r>
                      <a:r>
                        <a:rPr lang="en-US" altLang="zh-CN" sz="1400" b="0" dirty="0">
                          <a:solidFill>
                            <a:srgbClr val="000000"/>
                          </a:solidFill>
                          <a:ea typeface="黑体" pitchFamily="49" charset="-122"/>
                        </a:rPr>
                        <a:t>FR</a:t>
                      </a:r>
                      <a:r>
                        <a:rPr lang="zh-CN" altLang="en-US" sz="1400" b="0" dirty="0">
                          <a:solidFill>
                            <a:srgbClr val="000000"/>
                          </a:solidFill>
                          <a:ea typeface="黑体" pitchFamily="49" charset="-122"/>
                        </a:rPr>
                        <a:t>、</a:t>
                      </a:r>
                      <a:r>
                        <a:rPr lang="en-US" altLang="zh-CN" sz="1400" b="0" dirty="0">
                          <a:solidFill>
                            <a:srgbClr val="000000"/>
                          </a:solidFill>
                          <a:ea typeface="黑体" pitchFamily="49" charset="-122"/>
                        </a:rPr>
                        <a:t>DDN</a:t>
                      </a:r>
                      <a:r>
                        <a:rPr lang="zh-CN" altLang="en-US" sz="1400" b="0" dirty="0">
                          <a:solidFill>
                            <a:srgbClr val="000000"/>
                          </a:solidFill>
                          <a:ea typeface="黑体" pitchFamily="49" charset="-122"/>
                        </a:rPr>
                        <a:t>、</a:t>
                      </a:r>
                      <a:r>
                        <a:rPr lang="en-US" altLang="zh-CN" sz="1400" b="0" dirty="0">
                          <a:solidFill>
                            <a:srgbClr val="000000"/>
                          </a:solidFill>
                          <a:ea typeface="黑体" pitchFamily="49" charset="-122"/>
                        </a:rPr>
                        <a:t>HFC</a:t>
                      </a:r>
                      <a:r>
                        <a:rPr lang="zh-CN" altLang="en-US" sz="1400" b="0" dirty="0">
                          <a:solidFill>
                            <a:srgbClr val="000000"/>
                          </a:solidFill>
                          <a:ea typeface="黑体" pitchFamily="49" charset="-122"/>
                        </a:rPr>
                        <a:t>等</a:t>
                      </a:r>
                    </a:p>
                    <a:p>
                      <a:pPr lvl="0" algn="l">
                        <a:spcAft>
                          <a:spcPct val="20000"/>
                        </a:spcAft>
                        <a:buFontTx/>
                        <a:buNone/>
                      </a:pPr>
                      <a:r>
                        <a:rPr lang="en-US" altLang="zh-CN" sz="1400" b="0" dirty="0" err="1">
                          <a:solidFill>
                            <a:srgbClr val="000000"/>
                          </a:solidFill>
                          <a:ea typeface="黑体" pitchFamily="49" charset="-122"/>
                        </a:rPr>
                        <a:t>无线：LMDS</a:t>
                      </a:r>
                      <a:r>
                        <a:rPr lang="zh-CN" altLang="en-US" sz="1400" b="0" dirty="0">
                          <a:solidFill>
                            <a:srgbClr val="000000"/>
                          </a:solidFill>
                          <a:ea typeface="黑体" pitchFamily="49" charset="-122"/>
                        </a:rPr>
                        <a:t>、</a:t>
                      </a:r>
                      <a:r>
                        <a:rPr lang="en-US" altLang="zh-CN" sz="1400" b="0" dirty="0">
                          <a:solidFill>
                            <a:srgbClr val="000000"/>
                          </a:solidFill>
                          <a:ea typeface="黑体" pitchFamily="49" charset="-122"/>
                        </a:rPr>
                        <a:t>MMDS</a:t>
                      </a:r>
                      <a:r>
                        <a:rPr lang="zh-CN" altLang="en-US" sz="1400" b="0" dirty="0">
                          <a:solidFill>
                            <a:srgbClr val="000000"/>
                          </a:solidFill>
                          <a:ea typeface="黑体" pitchFamily="49" charset="-122"/>
                        </a:rPr>
                        <a:t>、</a:t>
                      </a:r>
                      <a:r>
                        <a:rPr lang="en-US" altLang="zh-CN" sz="1400" b="0" dirty="0">
                          <a:solidFill>
                            <a:srgbClr val="000000"/>
                          </a:solidFill>
                          <a:ea typeface="黑体" pitchFamily="49" charset="-122"/>
                        </a:rPr>
                        <a:t>WLAN</a:t>
                      </a:r>
                      <a:r>
                        <a:rPr lang="zh-CN" altLang="en-US" sz="1400" b="0" dirty="0">
                          <a:solidFill>
                            <a:srgbClr val="000000"/>
                          </a:solidFill>
                          <a:ea typeface="黑体" pitchFamily="49" charset="-122"/>
                        </a:rPr>
                        <a:t>、</a:t>
                      </a:r>
                      <a:r>
                        <a:rPr lang="en-US" altLang="zh-CN" sz="1400" b="0" dirty="0">
                          <a:solidFill>
                            <a:srgbClr val="000000"/>
                          </a:solidFill>
                          <a:ea typeface="黑体" pitchFamily="49" charset="-122"/>
                        </a:rPr>
                        <a:t>GPRS</a:t>
                      </a:r>
                      <a:r>
                        <a:rPr lang="zh-CN" altLang="en-US" sz="1400" b="0" dirty="0">
                          <a:solidFill>
                            <a:srgbClr val="000000"/>
                          </a:solidFill>
                          <a:ea typeface="黑体" pitchFamily="49" charset="-122"/>
                        </a:rPr>
                        <a:t>、</a:t>
                      </a:r>
                      <a:r>
                        <a:rPr lang="en-US" altLang="zh-CN" sz="1400" b="0" dirty="0">
                          <a:solidFill>
                            <a:srgbClr val="000000"/>
                          </a:solidFill>
                          <a:ea typeface="黑体" pitchFamily="49" charset="-122"/>
                        </a:rPr>
                        <a:t>VSAT</a:t>
                      </a:r>
                      <a:r>
                        <a:rPr lang="zh-CN" altLang="en-US" sz="1400" b="0" dirty="0">
                          <a:solidFill>
                            <a:srgbClr val="000000"/>
                          </a:solidFill>
                          <a:ea typeface="黑体" pitchFamily="49" charset="-122"/>
                        </a:rPr>
                        <a:t>、</a:t>
                      </a:r>
                      <a:r>
                        <a:rPr lang="en-US" altLang="zh-CN" sz="1400" b="0" dirty="0">
                          <a:solidFill>
                            <a:srgbClr val="000000"/>
                          </a:solidFill>
                          <a:ea typeface="黑体" pitchFamily="49" charset="-122"/>
                        </a:rPr>
                        <a:t>3G</a:t>
                      </a:r>
                      <a:r>
                        <a:rPr lang="zh-CN" altLang="en-US" sz="1400" b="0" dirty="0">
                          <a:solidFill>
                            <a:srgbClr val="000000"/>
                          </a:solidFill>
                          <a:ea typeface="黑体" pitchFamily="49" charset="-122"/>
                        </a:rPr>
                        <a:t>等</a:t>
                      </a:r>
                    </a:p>
                  </a:txBody>
                  <a:tcPr anchor="ctr">
                    <a:lnL w="12700" cap="flat" cmpd="sng">
                      <a:solidFill>
                        <a:srgbClr val="000000">
                          <a:alpha val="100000"/>
                        </a:srgbClr>
                      </a:solidFill>
                      <a:prstDash val="solid"/>
                      <a:round/>
                    </a:lnL>
                    <a:lnR w="9525"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8"/>
                  </a:ext>
                </a:extLst>
              </a:tr>
              <a:tr h="402637">
                <a:tc>
                  <a:txBody>
                    <a:bodyPr/>
                    <a:lstStyle/>
                    <a:p>
                      <a:pPr lvl="0" algn="ctr" eaLnBrk="1" latinLnBrk="1" hangingPunct="1">
                        <a:spcAft>
                          <a:spcPct val="20000"/>
                        </a:spcAft>
                        <a:buFontTx/>
                        <a:buNone/>
                      </a:pPr>
                      <a:r>
                        <a:rPr lang="zh-CN" altLang="en-US" sz="1400" b="0">
                          <a:solidFill>
                            <a:srgbClr val="000000"/>
                          </a:solidFill>
                          <a:ea typeface="黑体" pitchFamily="49" charset="-122"/>
                        </a:rPr>
                        <a:t>按通信技术分类</a:t>
                      </a:r>
                    </a:p>
                  </a:txBody>
                  <a:tcPr anchor="ctr">
                    <a:lnL w="9525"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l" eaLnBrk="1" latinLnBrk="1" hangingPunct="1">
                        <a:spcAft>
                          <a:spcPct val="20000"/>
                        </a:spcAft>
                        <a:buFontTx/>
                        <a:buNone/>
                      </a:pPr>
                      <a:r>
                        <a:rPr lang="zh-CN" altLang="en-US" sz="1400" b="0">
                          <a:solidFill>
                            <a:srgbClr val="000000"/>
                          </a:solidFill>
                          <a:ea typeface="黑体" pitchFamily="49" charset="-122"/>
                        </a:rPr>
                        <a:t>用户驻地网（</a:t>
                      </a:r>
                      <a:r>
                        <a:rPr lang="en-US" altLang="zh-CN" sz="1400" b="0">
                          <a:solidFill>
                            <a:srgbClr val="000000"/>
                          </a:solidFill>
                          <a:ea typeface="黑体" pitchFamily="49" charset="-122"/>
                        </a:rPr>
                        <a:t>CPN</a:t>
                      </a:r>
                      <a:r>
                        <a:rPr lang="zh-CN" altLang="en-US" sz="1400" b="0">
                          <a:solidFill>
                            <a:srgbClr val="000000"/>
                          </a:solidFill>
                          <a:ea typeface="黑体" pitchFamily="49" charset="-122"/>
                        </a:rPr>
                        <a:t>）、接入网（</a:t>
                      </a:r>
                      <a:r>
                        <a:rPr lang="en-US" altLang="zh-CN" sz="1400" b="0">
                          <a:solidFill>
                            <a:srgbClr val="000000"/>
                          </a:solidFill>
                          <a:ea typeface="黑体" pitchFamily="49" charset="-122"/>
                        </a:rPr>
                        <a:t>AN</a:t>
                      </a:r>
                      <a:r>
                        <a:rPr lang="zh-CN" altLang="en-US" sz="1400" b="0">
                          <a:solidFill>
                            <a:srgbClr val="000000"/>
                          </a:solidFill>
                          <a:ea typeface="黑体" pitchFamily="49" charset="-122"/>
                        </a:rPr>
                        <a:t>）、交换网（</a:t>
                      </a:r>
                      <a:r>
                        <a:rPr lang="en-US" altLang="zh-CN" sz="1400" b="0">
                          <a:solidFill>
                            <a:srgbClr val="000000"/>
                          </a:solidFill>
                          <a:ea typeface="黑体" pitchFamily="49" charset="-122"/>
                        </a:rPr>
                        <a:t>IP</a:t>
                      </a:r>
                      <a:r>
                        <a:rPr lang="zh-CN" altLang="en-US" sz="1400" b="0">
                          <a:solidFill>
                            <a:srgbClr val="000000"/>
                          </a:solidFill>
                          <a:ea typeface="黑体" pitchFamily="49" charset="-122"/>
                        </a:rPr>
                        <a:t>）、传输网（</a:t>
                      </a:r>
                      <a:r>
                        <a:rPr lang="en-US" altLang="zh-CN" sz="1400" b="0">
                          <a:solidFill>
                            <a:srgbClr val="000000"/>
                          </a:solidFill>
                          <a:ea typeface="黑体" pitchFamily="49" charset="-122"/>
                        </a:rPr>
                        <a:t>SDH</a:t>
                      </a:r>
                      <a:r>
                        <a:rPr lang="zh-CN" altLang="en-US" sz="1400" b="0">
                          <a:solidFill>
                            <a:srgbClr val="000000"/>
                          </a:solidFill>
                          <a:ea typeface="黑体" pitchFamily="49" charset="-122"/>
                        </a:rPr>
                        <a:t>、</a:t>
                      </a:r>
                      <a:r>
                        <a:rPr lang="en-US" altLang="zh-CN" sz="1400" b="0">
                          <a:solidFill>
                            <a:srgbClr val="000000"/>
                          </a:solidFill>
                          <a:ea typeface="黑体" pitchFamily="49" charset="-122"/>
                        </a:rPr>
                        <a:t>DWDM</a:t>
                      </a:r>
                      <a:r>
                        <a:rPr lang="zh-CN" altLang="en-US" sz="1400" b="0">
                          <a:solidFill>
                            <a:srgbClr val="000000"/>
                          </a:solidFill>
                          <a:ea typeface="黑体" pitchFamily="49" charset="-122"/>
                        </a:rPr>
                        <a:t>）</a:t>
                      </a:r>
                    </a:p>
                  </a:txBody>
                  <a:tcPr anchor="ctr">
                    <a:lnL w="12700" cap="flat" cmpd="sng">
                      <a:solidFill>
                        <a:srgbClr val="000000">
                          <a:alpha val="100000"/>
                        </a:srgbClr>
                      </a:solidFill>
                      <a:prstDash val="solid"/>
                      <a:round/>
                    </a:lnL>
                    <a:lnR w="9525"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9"/>
                  </a:ext>
                </a:extLst>
              </a:tr>
              <a:tr h="740655">
                <a:tc>
                  <a:txBody>
                    <a:bodyPr/>
                    <a:lstStyle/>
                    <a:p>
                      <a:pPr lvl="0" algn="ctr" eaLnBrk="1" latinLnBrk="1" hangingPunct="1">
                        <a:spcAft>
                          <a:spcPct val="20000"/>
                        </a:spcAft>
                        <a:buFontTx/>
                        <a:buNone/>
                      </a:pPr>
                      <a:r>
                        <a:rPr lang="zh-CN" altLang="en-US" sz="1400" b="0">
                          <a:solidFill>
                            <a:srgbClr val="000000"/>
                          </a:solidFill>
                          <a:ea typeface="黑体" pitchFamily="49" charset="-122"/>
                        </a:rPr>
                        <a:t>按通信性质分类</a:t>
                      </a:r>
                    </a:p>
                  </a:txBody>
                  <a:tcPr anchor="ctr">
                    <a:lnL w="9525"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l" eaLnBrk="1" latinLnBrk="1" hangingPunct="1">
                        <a:spcAft>
                          <a:spcPct val="20000"/>
                        </a:spcAft>
                        <a:buFontTx/>
                        <a:buNone/>
                      </a:pPr>
                      <a:r>
                        <a:rPr lang="zh-CN" altLang="en-US" sz="1400" b="0" dirty="0">
                          <a:solidFill>
                            <a:srgbClr val="000000"/>
                          </a:solidFill>
                          <a:ea typeface="黑体" pitchFamily="49" charset="-122"/>
                        </a:rPr>
                        <a:t>业务网：如电话网、数据网、电报网、多媒体网、综合业务网、智能网等</a:t>
                      </a:r>
                    </a:p>
                    <a:p>
                      <a:pPr lvl="0" algn="l" eaLnBrk="1" latinLnBrk="1" hangingPunct="1">
                        <a:spcAft>
                          <a:spcPct val="20000"/>
                        </a:spcAft>
                        <a:buFontTx/>
                        <a:buNone/>
                      </a:pPr>
                      <a:r>
                        <a:rPr lang="zh-CN" altLang="en-US" sz="1400" b="0" dirty="0">
                          <a:solidFill>
                            <a:srgbClr val="000000"/>
                          </a:solidFill>
                          <a:ea typeface="黑体" pitchFamily="49" charset="-122"/>
                        </a:rPr>
                        <a:t>支撑网：如信令网、同步网、管理网等</a:t>
                      </a:r>
                    </a:p>
                  </a:txBody>
                  <a:tcPr anchor="ctr">
                    <a:lnL w="12700" cap="flat" cmpd="sng">
                      <a:solidFill>
                        <a:srgbClr val="000000">
                          <a:alpha val="100000"/>
                        </a:srgbClr>
                      </a:solidFill>
                      <a:prstDash val="solid"/>
                      <a:round/>
                    </a:lnL>
                    <a:lnR w="9525"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426790857"/>
      </p:ext>
    </p:extLst>
  </p:cSld>
  <p:clrMapOvr>
    <a:masterClrMapping/>
  </p:clrMapOvr>
  <p:transition spd="slow">
    <p:zo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59" name="Rectangle 3"/>
          <p:cNvSpPr>
            <a:spLocks noGrp="1"/>
          </p:cNvSpPr>
          <p:nvPr>
            <p:ph idx="1"/>
          </p:nvPr>
        </p:nvSpPr>
        <p:spPr>
          <a:xfrm>
            <a:off x="335360" y="980728"/>
            <a:ext cx="5688632" cy="4752528"/>
          </a:xfrm>
          <a:prstGeom prst="rect">
            <a:avLst/>
          </a:prstGeom>
          <a:noFill/>
          <a:ln>
            <a:noFill/>
          </a:ln>
        </p:spPr>
        <p:txBody>
          <a:bodyPr vert="horz" lIns="91440" tIns="45720" rIns="91440" bIns="45720" rtlCol="0" anchor="t">
            <a:normAutofit/>
          </a:bodyPr>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a:buNone/>
            </a:pPr>
            <a:r>
              <a:rPr lang="en-US" altLang="zh-CN" dirty="0">
                <a:solidFill>
                  <a:schemeClr val="tx1"/>
                </a:solidFill>
              </a:rPr>
              <a:t>2.  </a:t>
            </a:r>
            <a:r>
              <a:rPr lang="zh-CN" altLang="en-US" dirty="0">
                <a:solidFill>
                  <a:schemeClr val="tx1"/>
                </a:solidFill>
              </a:rPr>
              <a:t>系统集成</a:t>
            </a:r>
          </a:p>
          <a:p>
            <a:pPr>
              <a:buNone/>
            </a:pPr>
            <a:r>
              <a:rPr lang="zh-CN" altLang="en-US" dirty="0">
                <a:solidFill>
                  <a:schemeClr val="tx1"/>
                </a:solidFill>
              </a:rPr>
              <a:t>美国信息技术协会对系统集成的定义：</a:t>
            </a:r>
          </a:p>
          <a:p>
            <a:pPr lvl="1"/>
            <a:r>
              <a:rPr lang="zh-CN" altLang="en-US" dirty="0">
                <a:solidFill>
                  <a:schemeClr val="tx1"/>
                </a:solidFill>
              </a:rPr>
              <a:t>   根据一个复杂的信息系统或子系统地要求，验明多种技术和产品，并建立一个完整的解决方案的过程。</a:t>
            </a:r>
          </a:p>
        </p:txBody>
      </p:sp>
      <p:sp>
        <p:nvSpPr>
          <p:cNvPr id="1048858" name="Rectangle 2"/>
          <p:cNvSpPr>
            <a:spLocks noGrp="1"/>
          </p:cNvSpPr>
          <p:nvPr>
            <p:ph type="title"/>
          </p:nvPr>
        </p:nvSpPr>
        <p:spPr>
          <a:xfrm>
            <a:off x="0" y="-232425"/>
            <a:ext cx="10515600" cy="132556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1.1  </a:t>
            </a:r>
            <a:r>
              <a:rPr lang="zh-CN" altLang="en-US" dirty="0">
                <a:solidFill>
                  <a:schemeClr val="bg1"/>
                </a:solidFill>
              </a:rPr>
              <a:t>网络工程基本特征</a:t>
            </a:r>
          </a:p>
        </p:txBody>
      </p:sp>
      <p:pic>
        <p:nvPicPr>
          <p:cNvPr id="2097157" name="图片 1"/>
          <p:cNvPicPr>
            <a:picLocks/>
          </p:cNvPicPr>
          <p:nvPr/>
        </p:nvPicPr>
        <p:blipFill>
          <a:blip r:embed="rId5"/>
          <a:srcRect/>
          <a:stretch>
            <a:fillRect/>
          </a:stretch>
        </p:blipFill>
        <p:spPr>
          <a:xfrm>
            <a:off x="6869906" y="1556792"/>
            <a:ext cx="4319587" cy="3213100"/>
          </a:xfrm>
          <a:prstGeom prst="rect">
            <a:avLst/>
          </a:prstGeom>
          <a:noFill/>
          <a:ln>
            <a:noFill/>
          </a:ln>
        </p:spPr>
      </p:pic>
    </p:spTree>
  </p:cSld>
  <p:clrMapOvr>
    <a:masterClrMapping/>
  </p:clrMapOvr>
  <p:transition spd="slow">
    <p:zo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64" name="Rectangle 3"/>
          <p:cNvSpPr>
            <a:spLocks noGrp="1"/>
          </p:cNvSpPr>
          <p:nvPr>
            <p:ph idx="1"/>
          </p:nvPr>
        </p:nvSpPr>
        <p:spPr>
          <a:xfrm>
            <a:off x="335360" y="908720"/>
            <a:ext cx="9937104" cy="1656184"/>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r>
              <a:rPr lang="zh-CN" altLang="en-US" b="0" dirty="0">
                <a:solidFill>
                  <a:srgbClr val="FF0000"/>
                </a:solidFill>
                <a:latin typeface="黑体" pitchFamily="49" charset="-122"/>
              </a:rPr>
              <a:t>系统集成＝网络系统</a:t>
            </a:r>
            <a:r>
              <a:rPr lang="en-US" altLang="zh-CN" b="0" dirty="0">
                <a:solidFill>
                  <a:srgbClr val="FF0000"/>
                </a:solidFill>
                <a:latin typeface="黑体" pitchFamily="49" charset="-122"/>
              </a:rPr>
              <a:t>+</a:t>
            </a:r>
            <a:r>
              <a:rPr lang="zh-CN" altLang="en-US" b="0" dirty="0">
                <a:solidFill>
                  <a:srgbClr val="FF0000"/>
                </a:solidFill>
                <a:latin typeface="黑体" pitchFamily="49" charset="-122"/>
              </a:rPr>
              <a:t>硬件系统</a:t>
            </a:r>
            <a:r>
              <a:rPr lang="en-US" altLang="zh-CN" b="0" dirty="0">
                <a:solidFill>
                  <a:srgbClr val="FF0000"/>
                </a:solidFill>
                <a:latin typeface="黑体" pitchFamily="49" charset="-122"/>
              </a:rPr>
              <a:t>+</a:t>
            </a:r>
            <a:r>
              <a:rPr lang="zh-CN" altLang="en-US" b="0" dirty="0">
                <a:solidFill>
                  <a:srgbClr val="FF0000"/>
                </a:solidFill>
                <a:latin typeface="黑体" pitchFamily="49" charset="-122"/>
              </a:rPr>
              <a:t>软件系统</a:t>
            </a:r>
          </a:p>
          <a:p>
            <a:pPr lvl="0" eaLnBrk="1" latinLnBrk="1" hangingPunct="1"/>
            <a:endParaRPr lang="zh-CN" altLang="en-US" b="0" dirty="0">
              <a:solidFill>
                <a:schemeClr val="tx1"/>
              </a:solidFill>
              <a:latin typeface="黑体" pitchFamily="49" charset="-122"/>
            </a:endParaRPr>
          </a:p>
          <a:p>
            <a:pPr lvl="0" eaLnBrk="1" latinLnBrk="1" hangingPunct="1"/>
            <a:r>
              <a:rPr lang="zh-CN" altLang="en-US" b="0" dirty="0">
                <a:solidFill>
                  <a:schemeClr val="tx1"/>
                </a:solidFill>
              </a:rPr>
              <a:t>系统集成的组成</a:t>
            </a:r>
          </a:p>
        </p:txBody>
      </p:sp>
      <p:sp>
        <p:nvSpPr>
          <p:cNvPr id="1048863" name="Rectangle 2"/>
          <p:cNvSpPr>
            <a:spLocks noGrp="1"/>
          </p:cNvSpPr>
          <p:nvPr>
            <p:ph type="title"/>
          </p:nvPr>
        </p:nvSpPr>
        <p:spPr>
          <a:xfrm>
            <a:off x="47328" y="116632"/>
            <a:ext cx="10515600" cy="615602"/>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1.1  </a:t>
            </a:r>
            <a:r>
              <a:rPr lang="zh-CN" altLang="en-US" dirty="0">
                <a:solidFill>
                  <a:schemeClr val="bg1"/>
                </a:solidFill>
              </a:rPr>
              <a:t>网络工程基本特征</a:t>
            </a:r>
          </a:p>
        </p:txBody>
      </p:sp>
      <p:pic>
        <p:nvPicPr>
          <p:cNvPr id="2097158" name="Picture 4" descr="图片3"/>
          <p:cNvPicPr>
            <a:picLocks/>
          </p:cNvPicPr>
          <p:nvPr/>
        </p:nvPicPr>
        <p:blipFill>
          <a:blip r:embed="rId5"/>
          <a:srcRect/>
          <a:stretch>
            <a:fillRect/>
          </a:stretch>
        </p:blipFill>
        <p:spPr>
          <a:xfrm>
            <a:off x="1848644" y="2708920"/>
            <a:ext cx="8494712" cy="2808287"/>
          </a:xfrm>
          <a:prstGeom prst="rect">
            <a:avLst/>
          </a:prstGeom>
          <a:noFill/>
          <a:ln>
            <a:noFill/>
          </a:ln>
        </p:spPr>
      </p:pic>
    </p:spTree>
  </p:cSld>
  <p:clrMapOvr>
    <a:masterClrMapping/>
  </p:clrMapOvr>
  <p:transition spd="slow">
    <p:zo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69" name="Rectangle 3"/>
          <p:cNvSpPr>
            <a:spLocks noGrp="1"/>
          </p:cNvSpPr>
          <p:nvPr>
            <p:ph idx="1"/>
          </p:nvPr>
        </p:nvSpPr>
        <p:spPr>
          <a:xfrm>
            <a:off x="167995" y="908720"/>
            <a:ext cx="9960453" cy="457200"/>
          </a:xfrm>
          <a:prstGeom prst="rect">
            <a:avLst/>
          </a:prstGeom>
          <a:noFill/>
          <a:ln>
            <a:noFill/>
          </a:ln>
        </p:spPr>
        <p:txBody>
          <a:bodyPr vert="horz" lIns="91440" tIns="45720" rIns="91440" bIns="45720" anchor="t">
            <a:normAutofit lnSpcReduction="10000"/>
          </a:bodyPr>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r>
              <a:rPr lang="zh-CN" altLang="en-US" b="0" dirty="0">
                <a:solidFill>
                  <a:schemeClr val="hlink"/>
                </a:solidFill>
              </a:rPr>
              <a:t>计算机网络系统集成</a:t>
            </a:r>
            <a:r>
              <a:rPr lang="en-US" altLang="zh-CN" b="0" dirty="0">
                <a:solidFill>
                  <a:srgbClr val="FF0000"/>
                </a:solidFill>
                <a:latin typeface="黑体" pitchFamily="49" charset="-122"/>
              </a:rPr>
              <a:t>(</a:t>
            </a:r>
            <a:r>
              <a:rPr lang="zh-CN" altLang="en-US" b="0" dirty="0">
                <a:solidFill>
                  <a:srgbClr val="FF0000"/>
                </a:solidFill>
                <a:latin typeface="黑体" pitchFamily="49" charset="-122"/>
              </a:rPr>
              <a:t>参考</a:t>
            </a:r>
            <a:r>
              <a:rPr lang="en-US" altLang="zh-CN" b="0" dirty="0">
                <a:solidFill>
                  <a:srgbClr val="FF0000"/>
                </a:solidFill>
                <a:latin typeface="黑体" pitchFamily="49" charset="-122"/>
              </a:rPr>
              <a:t>)</a:t>
            </a:r>
          </a:p>
        </p:txBody>
      </p:sp>
      <p:sp>
        <p:nvSpPr>
          <p:cNvPr id="1048868" name="Rectangle 2"/>
          <p:cNvSpPr>
            <a:spLocks noGrp="1"/>
          </p:cNvSpPr>
          <p:nvPr>
            <p:ph type="title"/>
          </p:nvPr>
        </p:nvSpPr>
        <p:spPr>
          <a:xfrm>
            <a:off x="0" y="94556"/>
            <a:ext cx="10515600" cy="709961"/>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1.1  </a:t>
            </a:r>
            <a:r>
              <a:rPr lang="zh-CN" altLang="en-US" dirty="0">
                <a:solidFill>
                  <a:schemeClr val="bg1"/>
                </a:solidFill>
              </a:rPr>
              <a:t>网络工程基本特征</a:t>
            </a:r>
          </a:p>
        </p:txBody>
      </p:sp>
      <p:pic>
        <p:nvPicPr>
          <p:cNvPr id="2097159" name="Picture 5" descr="2010062821035861"/>
          <p:cNvPicPr>
            <a:picLocks/>
          </p:cNvPicPr>
          <p:nvPr/>
        </p:nvPicPr>
        <p:blipFill>
          <a:blip r:embed="rId5"/>
          <a:srcRect/>
          <a:stretch>
            <a:fillRect/>
          </a:stretch>
        </p:blipFill>
        <p:spPr>
          <a:xfrm>
            <a:off x="1343472" y="1510677"/>
            <a:ext cx="8244408" cy="4501099"/>
          </a:xfrm>
          <a:prstGeom prst="rect">
            <a:avLst/>
          </a:prstGeom>
          <a:noFill/>
          <a:ln>
            <a:noFill/>
          </a:ln>
        </p:spPr>
      </p:pic>
      <p:sp>
        <p:nvSpPr>
          <p:cNvPr id="1048870" name="AutoShape 6"/>
          <p:cNvSpPr/>
          <p:nvPr/>
        </p:nvSpPr>
        <p:spPr>
          <a:xfrm>
            <a:off x="9147969" y="958649"/>
            <a:ext cx="2735262" cy="431800"/>
          </a:xfrm>
          <a:prstGeom prst="wedgeRectCallout">
            <a:avLst>
              <a:gd name="adj1" fmla="val -36130"/>
              <a:gd name="adj2" fmla="val -2574"/>
            </a:avLst>
          </a:prstGeom>
          <a:solidFill>
            <a:srgbClr val="CCFFFF"/>
          </a:solidFill>
          <a:ln w="9525" cap="flat" cmpd="sng">
            <a:solidFill>
              <a:srgbClr val="FF0000">
                <a:alpha val="100000"/>
              </a:srgbClr>
            </a:solidFill>
            <a:prstDash val="solid"/>
            <a:round/>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en-US" altLang="zh-CN" sz="2000" b="1" dirty="0">
                <a:solidFill>
                  <a:schemeClr val="hlink"/>
                </a:solidFill>
              </a:rPr>
              <a:t>[</a:t>
            </a:r>
            <a:r>
              <a:rPr lang="zh-CN" altLang="en-US" sz="2000" b="1" dirty="0">
                <a:solidFill>
                  <a:schemeClr val="hlink"/>
                </a:solidFill>
              </a:rPr>
              <a:t>案例</a:t>
            </a:r>
            <a:r>
              <a:rPr lang="en-US" altLang="zh-CN" sz="2000" b="1" dirty="0">
                <a:solidFill>
                  <a:schemeClr val="hlink"/>
                </a:solidFill>
              </a:rPr>
              <a:t>] </a:t>
            </a:r>
            <a:r>
              <a:rPr lang="zh-CN" altLang="en-US" sz="2000" b="1" dirty="0">
                <a:solidFill>
                  <a:schemeClr val="hlink"/>
                </a:solidFill>
              </a:rPr>
              <a:t>系统集成案例</a:t>
            </a:r>
          </a:p>
        </p:txBody>
      </p:sp>
    </p:spTree>
  </p:cSld>
  <p:clrMapOvr>
    <a:masterClrMapping/>
  </p:clrMapOvr>
  <p:transition spd="slow">
    <p:zo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80" name="Rectangle 3"/>
          <p:cNvSpPr>
            <a:spLocks noGrp="1"/>
          </p:cNvSpPr>
          <p:nvPr>
            <p:ph idx="1"/>
          </p:nvPr>
        </p:nvSpPr>
        <p:spPr>
          <a:xfrm>
            <a:off x="191344" y="908720"/>
            <a:ext cx="9865096" cy="565945"/>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r>
              <a:rPr lang="en-US" altLang="zh-CN" b="0" dirty="0">
                <a:solidFill>
                  <a:srgbClr val="000099"/>
                </a:solidFill>
              </a:rPr>
              <a:t>[</a:t>
            </a:r>
            <a:r>
              <a:rPr lang="zh-CN" altLang="en-US" b="0" dirty="0">
                <a:solidFill>
                  <a:srgbClr val="000099"/>
                </a:solidFill>
              </a:rPr>
              <a:t>案例</a:t>
            </a:r>
            <a:r>
              <a:rPr lang="en-US" altLang="zh-CN" b="0" dirty="0">
                <a:solidFill>
                  <a:srgbClr val="000099"/>
                </a:solidFill>
              </a:rPr>
              <a:t>] </a:t>
            </a:r>
            <a:r>
              <a:rPr lang="zh-CN" altLang="en-US" b="0" dirty="0">
                <a:solidFill>
                  <a:srgbClr val="000099"/>
                </a:solidFill>
              </a:rPr>
              <a:t>计算机网络系统集成</a:t>
            </a:r>
          </a:p>
        </p:txBody>
      </p:sp>
      <p:sp>
        <p:nvSpPr>
          <p:cNvPr id="1048879" name="Rectangle 2"/>
          <p:cNvSpPr>
            <a:spLocks noGrp="1"/>
          </p:cNvSpPr>
          <p:nvPr>
            <p:ph type="title"/>
          </p:nvPr>
        </p:nvSpPr>
        <p:spPr>
          <a:xfrm>
            <a:off x="44450" y="188640"/>
            <a:ext cx="10515600" cy="565945"/>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1.1  </a:t>
            </a:r>
            <a:r>
              <a:rPr lang="zh-CN" altLang="en-US" dirty="0">
                <a:solidFill>
                  <a:schemeClr val="bg1"/>
                </a:solidFill>
              </a:rPr>
              <a:t>网络工程基本特征</a:t>
            </a:r>
          </a:p>
        </p:txBody>
      </p:sp>
      <p:pic>
        <p:nvPicPr>
          <p:cNvPr id="2097161" name="Picture 4" descr="3"/>
          <p:cNvPicPr>
            <a:picLocks/>
          </p:cNvPicPr>
          <p:nvPr/>
        </p:nvPicPr>
        <p:blipFill>
          <a:blip r:embed="rId5"/>
          <a:srcRect/>
          <a:stretch>
            <a:fillRect/>
          </a:stretch>
        </p:blipFill>
        <p:spPr>
          <a:xfrm>
            <a:off x="1415480" y="1474665"/>
            <a:ext cx="8496300" cy="4392612"/>
          </a:xfrm>
          <a:prstGeom prst="rect">
            <a:avLst/>
          </a:prstGeom>
          <a:noFill/>
          <a:ln>
            <a:noFill/>
          </a:ln>
        </p:spPr>
      </p:pic>
    </p:spTree>
  </p:cSld>
  <p:clrMapOvr>
    <a:masterClrMapping/>
  </p:clrMapOvr>
  <p:transition spd="slow">
    <p:zo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85" name="Rectangle 3"/>
          <p:cNvSpPr>
            <a:spLocks noGrp="1"/>
          </p:cNvSpPr>
          <p:nvPr>
            <p:ph idx="1"/>
          </p:nvPr>
        </p:nvSpPr>
        <p:spPr>
          <a:xfrm>
            <a:off x="263352" y="908720"/>
            <a:ext cx="8496944" cy="1440160"/>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buFontTx/>
              <a:buNone/>
            </a:pPr>
            <a:r>
              <a:rPr lang="en-US" altLang="zh-CN" dirty="0">
                <a:solidFill>
                  <a:srgbClr val="000099"/>
                </a:solidFill>
              </a:rPr>
              <a:t>3</a:t>
            </a:r>
            <a:r>
              <a:rPr lang="zh-CN" altLang="en-US" b="0" dirty="0">
                <a:solidFill>
                  <a:srgbClr val="000099"/>
                </a:solidFill>
              </a:rPr>
              <a:t>.  系统集成的复杂性</a:t>
            </a:r>
          </a:p>
        </p:txBody>
      </p:sp>
      <p:sp>
        <p:nvSpPr>
          <p:cNvPr id="1048884" name="Rectangle 2"/>
          <p:cNvSpPr>
            <a:spLocks noGrp="1"/>
          </p:cNvSpPr>
          <p:nvPr>
            <p:ph type="title"/>
          </p:nvPr>
        </p:nvSpPr>
        <p:spPr>
          <a:xfrm>
            <a:off x="47328" y="172796"/>
            <a:ext cx="10515600" cy="565945"/>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1.1  </a:t>
            </a:r>
            <a:r>
              <a:rPr lang="zh-CN" altLang="en-US" dirty="0">
                <a:solidFill>
                  <a:schemeClr val="bg1"/>
                </a:solidFill>
              </a:rPr>
              <a:t>网络工程基本特征</a:t>
            </a:r>
          </a:p>
        </p:txBody>
      </p:sp>
      <p:pic>
        <p:nvPicPr>
          <p:cNvPr id="2097162" name="Picture 4" descr="图01-02 系统集成的复杂性2"/>
          <p:cNvPicPr>
            <a:picLocks/>
          </p:cNvPicPr>
          <p:nvPr/>
        </p:nvPicPr>
        <p:blipFill>
          <a:blip r:embed="rId5"/>
          <a:srcRect/>
          <a:stretch>
            <a:fillRect/>
          </a:stretch>
        </p:blipFill>
        <p:spPr>
          <a:xfrm>
            <a:off x="4943872" y="1556792"/>
            <a:ext cx="6697662" cy="4149725"/>
          </a:xfrm>
          <a:prstGeom prst="rect">
            <a:avLst/>
          </a:prstGeom>
          <a:noFill/>
          <a:ln>
            <a:noFill/>
          </a:ln>
        </p:spPr>
      </p:pic>
      <p:sp>
        <p:nvSpPr>
          <p:cNvPr id="2" name="矩形 1">
            <a:extLst>
              <a:ext uri="{FF2B5EF4-FFF2-40B4-BE49-F238E27FC236}">
                <a16:creationId xmlns:a16="http://schemas.microsoft.com/office/drawing/2014/main" id="{9A565F98-34A4-473C-A6BC-60660CF8EC13}"/>
              </a:ext>
            </a:extLst>
          </p:cNvPr>
          <p:cNvSpPr/>
          <p:nvPr/>
        </p:nvSpPr>
        <p:spPr>
          <a:xfrm>
            <a:off x="421198" y="1844824"/>
            <a:ext cx="3802593" cy="1884618"/>
          </a:xfrm>
          <a:prstGeom prst="rect">
            <a:avLst/>
          </a:prstGeom>
        </p:spPr>
        <p:txBody>
          <a:bodyPr wrap="square">
            <a:spAutoFit/>
          </a:bodyPr>
          <a:lstStyle/>
          <a:p>
            <a:pPr lvl="1">
              <a:lnSpc>
                <a:spcPct val="150000"/>
              </a:lnSpc>
            </a:pPr>
            <a:r>
              <a:rPr lang="zh-CN" altLang="en-US" sz="2000" dirty="0">
                <a:latin typeface="微软雅黑" panose="020B0503020204020204" pitchFamily="34" charset="-122"/>
                <a:ea typeface="微软雅黑" panose="020B0503020204020204" pitchFamily="34" charset="-122"/>
              </a:rPr>
              <a:t>系统集成的复杂性体现在：</a:t>
            </a:r>
            <a:endParaRPr lang="en-US" altLang="zh-CN" sz="2000" dirty="0">
              <a:latin typeface="微软雅黑" panose="020B0503020204020204" pitchFamily="34" charset="-122"/>
              <a:ea typeface="微软雅黑" panose="020B0503020204020204" pitchFamily="34" charset="-122"/>
            </a:endParaRPr>
          </a:p>
          <a:p>
            <a:pPr lvl="1">
              <a:lnSpc>
                <a:spcPct val="150000"/>
              </a:lnSpc>
            </a:pPr>
            <a:r>
              <a:rPr lang="zh-CN" altLang="en-US" sz="200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技术、成员、环境、约束</a:t>
            </a:r>
            <a:r>
              <a:rPr lang="zh-CN" altLang="en-US" sz="2000" dirty="0">
                <a:latin typeface="微软雅黑" panose="020B0503020204020204" pitchFamily="34" charset="-122"/>
                <a:ea typeface="微软雅黑" panose="020B0503020204020204" pitchFamily="34" charset="-122"/>
              </a:rPr>
              <a:t>四个方面，它们之间互为依存关系。</a:t>
            </a:r>
          </a:p>
        </p:txBody>
      </p:sp>
    </p:spTree>
  </p:cSld>
  <p:clrMapOvr>
    <a:masterClrMapping/>
  </p:clrMapOvr>
  <p:transition spd="slow">
    <p:zo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90" name="Rectangle 3"/>
          <p:cNvSpPr>
            <a:spLocks noGrp="1"/>
          </p:cNvSpPr>
          <p:nvPr>
            <p:ph idx="1"/>
          </p:nvPr>
        </p:nvSpPr>
        <p:spPr>
          <a:xfrm>
            <a:off x="263352" y="836712"/>
            <a:ext cx="10873208" cy="4608511"/>
          </a:xfrm>
          <a:prstGeom prst="rect">
            <a:avLst/>
          </a:prstGeom>
          <a:noFill/>
          <a:ln>
            <a:noFill/>
          </a:ln>
        </p:spPr>
        <p:txBody>
          <a:bodyPr vert="horz" lIns="91440" tIns="45720" rIns="91440" bIns="45720" anchor="t">
            <a:normAutofit fontScale="92500" lnSpcReduction="10000"/>
          </a:bodyPr>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lnSpc>
                <a:spcPct val="80000"/>
              </a:lnSpc>
              <a:buFontTx/>
              <a:buNone/>
            </a:pPr>
            <a:r>
              <a:rPr lang="en-US" altLang="zh-CN" dirty="0">
                <a:solidFill>
                  <a:schemeClr val="tx1"/>
                </a:solidFill>
              </a:rPr>
              <a:t>4</a:t>
            </a:r>
            <a:r>
              <a:rPr lang="zh-CN" altLang="en-US" dirty="0">
                <a:solidFill>
                  <a:schemeClr val="tx1"/>
                </a:solidFill>
              </a:rPr>
              <a:t>．多种技术和产品的集成</a:t>
            </a:r>
          </a:p>
          <a:p>
            <a:pPr lvl="0" eaLnBrk="1" latinLnBrk="1" hangingPunct="1">
              <a:lnSpc>
                <a:spcPct val="110000"/>
              </a:lnSpc>
            </a:pPr>
            <a:r>
              <a:rPr lang="zh-CN" altLang="en-US" b="0" dirty="0">
                <a:solidFill>
                  <a:schemeClr val="tx1"/>
                </a:solidFill>
              </a:rPr>
              <a:t>系统集成不是选择最好产品和技术，而是要选择最适合</a:t>
            </a:r>
            <a:r>
              <a:rPr lang="zh-CN" altLang="en-US" b="0" dirty="0">
                <a:solidFill>
                  <a:schemeClr val="tx1"/>
                </a:solidFill>
                <a:effectLst>
                  <a:outerShdw blurRad="38100" dist="38100" dir="2700000" algn="tl">
                    <a:srgbClr val="C0C0C0"/>
                  </a:outerShdw>
                </a:effectLst>
              </a:rPr>
              <a:t>用户需求</a:t>
            </a:r>
            <a:r>
              <a:rPr lang="zh-CN" altLang="en-US" b="0" dirty="0">
                <a:solidFill>
                  <a:schemeClr val="tx1"/>
                </a:solidFill>
              </a:rPr>
              <a:t>和</a:t>
            </a:r>
            <a:r>
              <a:rPr lang="zh-CN" altLang="en-US" b="0" dirty="0">
                <a:solidFill>
                  <a:schemeClr val="tx1"/>
                </a:solidFill>
                <a:effectLst>
                  <a:outerShdw blurRad="38100" dist="38100" dir="2700000" algn="tl">
                    <a:srgbClr val="C0C0C0"/>
                  </a:outerShdw>
                </a:effectLst>
              </a:rPr>
              <a:t>投资规模</a:t>
            </a:r>
            <a:r>
              <a:rPr lang="en-US" altLang="zh-CN" b="0" dirty="0" err="1">
                <a:solidFill>
                  <a:schemeClr val="tx1"/>
                </a:solidFill>
              </a:rPr>
              <a:t>的产品和技术</a:t>
            </a:r>
            <a:r>
              <a:rPr lang="en-US" altLang="zh-CN" b="0" dirty="0">
                <a:solidFill>
                  <a:schemeClr val="tx1"/>
                </a:solidFill>
              </a:rPr>
              <a:t>。</a:t>
            </a:r>
          </a:p>
          <a:p>
            <a:pPr lvl="0" eaLnBrk="1" latinLnBrk="1" hangingPunct="1">
              <a:lnSpc>
                <a:spcPct val="80000"/>
              </a:lnSpc>
              <a:buFontTx/>
              <a:buNone/>
            </a:pPr>
            <a:endParaRPr lang="zh-CN" altLang="en-US" b="0" dirty="0">
              <a:solidFill>
                <a:schemeClr val="tx1"/>
              </a:solidFill>
            </a:endParaRPr>
          </a:p>
          <a:p>
            <a:pPr lvl="0" eaLnBrk="1" latinLnBrk="1" hangingPunct="1">
              <a:lnSpc>
                <a:spcPct val="80000"/>
              </a:lnSpc>
            </a:pPr>
            <a:r>
              <a:rPr lang="zh-CN" altLang="en-US" b="0" dirty="0">
                <a:solidFill>
                  <a:schemeClr val="tx1"/>
                </a:solidFill>
              </a:rPr>
              <a:t>系统集成需要解决的问题：</a:t>
            </a:r>
          </a:p>
          <a:p>
            <a:pPr lvl="1" eaLnBrk="1" latinLnBrk="1" hangingPunct="1">
              <a:lnSpc>
                <a:spcPct val="80000"/>
              </a:lnSpc>
            </a:pPr>
            <a:r>
              <a:rPr lang="zh-CN" altLang="en-US" dirty="0">
                <a:solidFill>
                  <a:schemeClr val="tx1"/>
                </a:solidFill>
              </a:rPr>
              <a:t>硬件设备：不同产品的</a:t>
            </a:r>
            <a:r>
              <a:rPr lang="zh-CN" altLang="en-US" dirty="0">
                <a:solidFill>
                  <a:schemeClr val="tx1"/>
                </a:solidFill>
                <a:effectLst>
                  <a:outerShdw blurRad="38100" dist="38100" dir="2700000" algn="tl">
                    <a:srgbClr val="C0C0C0"/>
                  </a:outerShdw>
                </a:effectLst>
                <a:ea typeface="黑体" pitchFamily="49" charset="-122"/>
              </a:rPr>
              <a:t>接口兼容性</a:t>
            </a:r>
            <a:r>
              <a:rPr lang="zh-CN" altLang="en-US" dirty="0">
                <a:solidFill>
                  <a:schemeClr val="tx1"/>
                </a:solidFill>
              </a:rPr>
              <a:t>。</a:t>
            </a:r>
          </a:p>
          <a:p>
            <a:pPr lvl="1" eaLnBrk="1" latinLnBrk="1" hangingPunct="1">
              <a:lnSpc>
                <a:spcPct val="80000"/>
              </a:lnSpc>
            </a:pPr>
            <a:r>
              <a:rPr lang="zh-CN" altLang="en-US" dirty="0">
                <a:solidFill>
                  <a:schemeClr val="tx1"/>
                </a:solidFill>
              </a:rPr>
              <a:t>软件产品：不同软件之间</a:t>
            </a:r>
            <a:r>
              <a:rPr lang="zh-CN" altLang="en-US" dirty="0">
                <a:solidFill>
                  <a:schemeClr val="tx1"/>
                </a:solidFill>
                <a:effectLst>
                  <a:outerShdw blurRad="38100" dist="38100" dir="2700000" algn="tl">
                    <a:srgbClr val="C0C0C0"/>
                  </a:outerShdw>
                </a:effectLst>
                <a:ea typeface="黑体" pitchFamily="49" charset="-122"/>
              </a:rPr>
              <a:t>数据格式的转换</a:t>
            </a:r>
            <a:r>
              <a:rPr lang="zh-CN" altLang="en-US" dirty="0">
                <a:solidFill>
                  <a:schemeClr val="tx1"/>
                </a:solidFill>
              </a:rPr>
              <a:t>。</a:t>
            </a:r>
          </a:p>
          <a:p>
            <a:pPr lvl="1" eaLnBrk="1" latinLnBrk="1" hangingPunct="1">
              <a:lnSpc>
                <a:spcPct val="80000"/>
              </a:lnSpc>
            </a:pPr>
            <a:r>
              <a:rPr lang="zh-CN" altLang="en-US" dirty="0">
                <a:solidFill>
                  <a:schemeClr val="tx1"/>
                </a:solidFill>
              </a:rPr>
              <a:t>网络系统：不同系统之间</a:t>
            </a:r>
            <a:r>
              <a:rPr lang="zh-CN" altLang="en-US" dirty="0">
                <a:solidFill>
                  <a:schemeClr val="tx1"/>
                </a:solidFill>
                <a:effectLst>
                  <a:outerShdw blurRad="38100" dist="38100" dir="2700000" algn="tl">
                    <a:srgbClr val="C0C0C0"/>
                  </a:outerShdw>
                </a:effectLst>
                <a:ea typeface="黑体" pitchFamily="49" charset="-122"/>
              </a:rPr>
              <a:t>信号交换和路由</a:t>
            </a:r>
            <a:r>
              <a:rPr lang="en-US" altLang="zh-CN" dirty="0">
                <a:solidFill>
                  <a:schemeClr val="tx1"/>
                </a:solidFill>
              </a:rPr>
              <a:t>。</a:t>
            </a:r>
          </a:p>
          <a:p>
            <a:pPr lvl="1" eaLnBrk="1" latinLnBrk="1" hangingPunct="1">
              <a:lnSpc>
                <a:spcPct val="80000"/>
              </a:lnSpc>
            </a:pPr>
            <a:endParaRPr lang="zh-CN" altLang="en-US" dirty="0">
              <a:solidFill>
                <a:schemeClr val="tx1"/>
              </a:solidFill>
            </a:endParaRPr>
          </a:p>
          <a:p>
            <a:pPr lvl="0" eaLnBrk="1" latinLnBrk="1" hangingPunct="1">
              <a:lnSpc>
                <a:spcPct val="80000"/>
              </a:lnSpc>
            </a:pPr>
            <a:r>
              <a:rPr lang="zh-CN" altLang="en-US" b="0" dirty="0">
                <a:solidFill>
                  <a:schemeClr val="tx1"/>
                </a:solidFill>
              </a:rPr>
              <a:t>系统集成体现了设计、调试与实施等行为。</a:t>
            </a:r>
          </a:p>
          <a:p>
            <a:pPr lvl="0" eaLnBrk="1" latinLnBrk="1" hangingPunct="1">
              <a:lnSpc>
                <a:spcPct val="80000"/>
              </a:lnSpc>
            </a:pPr>
            <a:endParaRPr lang="zh-CN" altLang="en-US" dirty="0">
              <a:solidFill>
                <a:schemeClr val="tx1"/>
              </a:solidFill>
              <a:ea typeface="华文楷体" pitchFamily="2" charset="-122"/>
            </a:endParaRPr>
          </a:p>
          <a:p>
            <a:pPr lvl="0" eaLnBrk="1" latinLnBrk="1" hangingPunct="1">
              <a:lnSpc>
                <a:spcPct val="80000"/>
              </a:lnSpc>
            </a:pPr>
            <a:r>
              <a:rPr lang="zh-CN" altLang="en-US" dirty="0">
                <a:solidFill>
                  <a:schemeClr val="tx1"/>
                </a:solidFill>
                <a:ea typeface="华文楷体" pitchFamily="2" charset="-122"/>
              </a:rPr>
              <a:t>讨论：系统集成与建筑装修有相同之处吗？</a:t>
            </a:r>
          </a:p>
        </p:txBody>
      </p:sp>
      <p:sp>
        <p:nvSpPr>
          <p:cNvPr id="1048889" name="Rectangle 2"/>
          <p:cNvSpPr>
            <a:spLocks noGrp="1"/>
          </p:cNvSpPr>
          <p:nvPr>
            <p:ph type="title"/>
          </p:nvPr>
        </p:nvSpPr>
        <p:spPr>
          <a:xfrm>
            <a:off x="0" y="152400"/>
            <a:ext cx="10515600" cy="421929"/>
          </a:xfrm>
          <a:prstGeom prst="rect">
            <a:avLst/>
          </a:prstGeom>
          <a:noFill/>
          <a:ln>
            <a:noFill/>
          </a:ln>
        </p:spPr>
        <p:txBody>
          <a:bodyPr vert="horz" lIns="91440" tIns="45720" rIns="91440" bIns="45720" anchor="ctr">
            <a:normAutofit fontScale="90000"/>
          </a:bodyP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1.1  </a:t>
            </a:r>
            <a:r>
              <a:rPr lang="zh-CN" altLang="en-US" dirty="0">
                <a:solidFill>
                  <a:schemeClr val="bg1"/>
                </a:solidFill>
              </a:rPr>
              <a:t>网络工程基本特征</a:t>
            </a:r>
          </a:p>
        </p:txBody>
      </p:sp>
    </p:spTree>
  </p:cSld>
  <p:clrMapOvr>
    <a:masterClrMapping/>
  </p:clrMapOvr>
  <p:transition spd="slow">
    <p:zo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95" name="Rectangle 3"/>
          <p:cNvSpPr>
            <a:spLocks noGrp="1"/>
          </p:cNvSpPr>
          <p:nvPr>
            <p:ph idx="1"/>
          </p:nvPr>
        </p:nvSpPr>
        <p:spPr>
          <a:xfrm>
            <a:off x="344488" y="908720"/>
            <a:ext cx="5319464" cy="4392488"/>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buFontTx/>
              <a:buNone/>
            </a:pPr>
            <a:r>
              <a:rPr lang="en-US" altLang="zh-CN" sz="3200" dirty="0">
                <a:solidFill>
                  <a:schemeClr val="tx1"/>
                </a:solidFill>
                <a:effectLst>
                  <a:outerShdw blurRad="38100" dist="38100" dir="2700000" algn="tl">
                    <a:srgbClr val="C0C0C0"/>
                  </a:outerShdw>
                </a:effectLst>
              </a:rPr>
              <a:t>1.1.2  </a:t>
            </a:r>
            <a:r>
              <a:rPr lang="zh-CN" altLang="en-US" sz="3200" dirty="0">
                <a:solidFill>
                  <a:schemeClr val="tx1"/>
                </a:solidFill>
                <a:effectLst>
                  <a:outerShdw blurRad="38100" dist="38100" dir="2700000" algn="tl">
                    <a:srgbClr val="C0C0C0"/>
                  </a:outerShdw>
                </a:effectLst>
              </a:rPr>
              <a:t>网络工程要求</a:t>
            </a:r>
          </a:p>
          <a:p>
            <a:pPr lvl="0" eaLnBrk="1" latinLnBrk="1" hangingPunct="1">
              <a:buFontTx/>
              <a:buNone/>
            </a:pPr>
            <a:r>
              <a:rPr lang="en-US" altLang="zh-CN" dirty="0">
                <a:solidFill>
                  <a:schemeClr val="tx1"/>
                </a:solidFill>
              </a:rPr>
              <a:t>1</a:t>
            </a:r>
            <a:r>
              <a:rPr lang="zh-CN" altLang="en-US" dirty="0">
                <a:solidFill>
                  <a:schemeClr val="tx1"/>
                </a:solidFill>
              </a:rPr>
              <a:t>．网络工程的特点</a:t>
            </a:r>
          </a:p>
          <a:p>
            <a:pPr lvl="1" eaLnBrk="1" latinLnBrk="1" hangingPunct="1"/>
            <a:r>
              <a:rPr lang="zh-CN" altLang="en-US" dirty="0">
                <a:solidFill>
                  <a:schemeClr val="tx1"/>
                </a:solidFill>
              </a:rPr>
              <a:t>明确的设计目标</a:t>
            </a:r>
          </a:p>
          <a:p>
            <a:pPr lvl="1" eaLnBrk="1" latinLnBrk="1" hangingPunct="1"/>
            <a:r>
              <a:rPr lang="zh-CN" altLang="en-US" dirty="0">
                <a:solidFill>
                  <a:schemeClr val="tx1"/>
                </a:solidFill>
              </a:rPr>
              <a:t>详细的设计方案</a:t>
            </a:r>
          </a:p>
          <a:p>
            <a:pPr lvl="1" eaLnBrk="1" latinLnBrk="1" hangingPunct="1"/>
            <a:r>
              <a:rPr lang="zh-CN" altLang="en-US" dirty="0">
                <a:solidFill>
                  <a:schemeClr val="tx1"/>
                </a:solidFill>
              </a:rPr>
              <a:t>权威的设计依据</a:t>
            </a:r>
          </a:p>
          <a:p>
            <a:pPr lvl="1" eaLnBrk="1" latinLnBrk="1" hangingPunct="1"/>
            <a:r>
              <a:rPr lang="zh-CN" altLang="en-US" dirty="0">
                <a:solidFill>
                  <a:schemeClr val="tx1"/>
                </a:solidFill>
              </a:rPr>
              <a:t>完备的技术文档</a:t>
            </a:r>
          </a:p>
          <a:p>
            <a:pPr lvl="1" eaLnBrk="1" latinLnBrk="1" hangingPunct="1"/>
            <a:r>
              <a:rPr lang="zh-CN" altLang="en-US" dirty="0">
                <a:solidFill>
                  <a:schemeClr val="tx1"/>
                </a:solidFill>
              </a:rPr>
              <a:t>完善的实施机构</a:t>
            </a:r>
          </a:p>
          <a:p>
            <a:pPr lvl="0" eaLnBrk="1" latinLnBrk="1" hangingPunct="1"/>
            <a:endParaRPr lang="zh-CN" altLang="en-US" dirty="0">
              <a:solidFill>
                <a:schemeClr val="tx1"/>
              </a:solidFill>
              <a:ea typeface="华文楷体" pitchFamily="2" charset="-122"/>
            </a:endParaRPr>
          </a:p>
          <a:p>
            <a:pPr lvl="0" eaLnBrk="1" latinLnBrk="1" hangingPunct="1"/>
            <a:endParaRPr lang="en-US" altLang="zh-CN" dirty="0">
              <a:solidFill>
                <a:schemeClr val="tx1"/>
              </a:solidFill>
            </a:endParaRPr>
          </a:p>
        </p:txBody>
      </p:sp>
      <p:sp>
        <p:nvSpPr>
          <p:cNvPr id="1048894" name="Rectangle 2"/>
          <p:cNvSpPr>
            <a:spLocks noGrp="1"/>
          </p:cNvSpPr>
          <p:nvPr>
            <p:ph type="title"/>
          </p:nvPr>
        </p:nvSpPr>
        <p:spPr>
          <a:xfrm>
            <a:off x="0" y="116632"/>
            <a:ext cx="10515600" cy="63795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1.1  </a:t>
            </a:r>
            <a:r>
              <a:rPr lang="zh-CN" altLang="en-US" dirty="0">
                <a:solidFill>
                  <a:schemeClr val="bg1"/>
                </a:solidFill>
              </a:rPr>
              <a:t>网络工程基本特征</a:t>
            </a:r>
          </a:p>
        </p:txBody>
      </p:sp>
      <p:pic>
        <p:nvPicPr>
          <p:cNvPr id="2097163" name="图片 1"/>
          <p:cNvPicPr>
            <a:picLocks/>
          </p:cNvPicPr>
          <p:nvPr/>
        </p:nvPicPr>
        <p:blipFill>
          <a:blip r:embed="rId5"/>
          <a:srcRect/>
          <a:stretch>
            <a:fillRect/>
          </a:stretch>
        </p:blipFill>
        <p:spPr>
          <a:xfrm>
            <a:off x="6312024" y="1844824"/>
            <a:ext cx="4999037" cy="2813050"/>
          </a:xfrm>
          <a:prstGeom prst="rect">
            <a:avLst/>
          </a:prstGeom>
          <a:noFill/>
          <a:ln>
            <a:noFill/>
          </a:ln>
        </p:spPr>
      </p:pic>
    </p:spTree>
  </p:cSld>
  <p:clrMapOvr>
    <a:masterClrMapping/>
  </p:clrMapOvr>
  <p:transition spd="slow">
    <p:zo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95" name="Rectangle 3"/>
          <p:cNvSpPr>
            <a:spLocks noGrp="1"/>
          </p:cNvSpPr>
          <p:nvPr>
            <p:ph idx="1"/>
          </p:nvPr>
        </p:nvSpPr>
        <p:spPr>
          <a:xfrm>
            <a:off x="344488" y="908720"/>
            <a:ext cx="11080104" cy="5400600"/>
          </a:xfrm>
          <a:prstGeom prst="rect">
            <a:avLst/>
          </a:prstGeom>
          <a:noFill/>
          <a:ln>
            <a:noFill/>
          </a:ln>
        </p:spPr>
        <p:txBody>
          <a:bodyPr vert="horz" lIns="91440" tIns="45720" rIns="91440" bIns="45720" anchor="t">
            <a:normAutofit fontScale="92500" lnSpcReduction="20000"/>
          </a:bodyPr>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buFontTx/>
              <a:buNone/>
            </a:pPr>
            <a:r>
              <a:rPr lang="en-US" altLang="zh-CN" sz="3200" dirty="0">
                <a:solidFill>
                  <a:schemeClr val="tx1"/>
                </a:solidFill>
                <a:effectLst>
                  <a:outerShdw blurRad="38100" dist="38100" dir="2700000" algn="tl">
                    <a:srgbClr val="C0C0C0"/>
                  </a:outerShdw>
                </a:effectLst>
              </a:rPr>
              <a:t>1.1.2  </a:t>
            </a:r>
            <a:r>
              <a:rPr lang="zh-CN" altLang="en-US" sz="3200" dirty="0">
                <a:solidFill>
                  <a:schemeClr val="tx1"/>
                </a:solidFill>
                <a:effectLst>
                  <a:outerShdw blurRad="38100" dist="38100" dir="2700000" algn="tl">
                    <a:srgbClr val="C0C0C0"/>
                  </a:outerShdw>
                </a:effectLst>
              </a:rPr>
              <a:t>网络工程要求</a:t>
            </a:r>
          </a:p>
          <a:p>
            <a:pPr lvl="0" eaLnBrk="1" latinLnBrk="1" hangingPunct="1">
              <a:buFontTx/>
              <a:buNone/>
            </a:pPr>
            <a:r>
              <a:rPr lang="en-US" altLang="zh-CN" dirty="0">
                <a:solidFill>
                  <a:schemeClr val="tx1"/>
                </a:solidFill>
              </a:rPr>
              <a:t>2</a:t>
            </a:r>
            <a:r>
              <a:rPr lang="zh-CN" altLang="en-US" dirty="0">
                <a:solidFill>
                  <a:schemeClr val="tx1"/>
                </a:solidFill>
              </a:rPr>
              <a:t>．网络工程的内容</a:t>
            </a:r>
          </a:p>
          <a:p>
            <a:pPr lvl="1" eaLnBrk="1" latinLnBrk="1" hangingPunct="1"/>
            <a:r>
              <a:rPr lang="zh-CN" altLang="en-US" dirty="0">
                <a:solidFill>
                  <a:schemeClr val="tx1"/>
                </a:solidFill>
              </a:rPr>
              <a:t>用户需要一个什么样的网络系统</a:t>
            </a:r>
            <a:endParaRPr lang="en-US" altLang="zh-CN" dirty="0">
              <a:solidFill>
                <a:schemeClr val="tx1"/>
              </a:solidFill>
            </a:endParaRPr>
          </a:p>
          <a:p>
            <a:pPr lvl="1" eaLnBrk="1" latinLnBrk="1" hangingPunct="1"/>
            <a:r>
              <a:rPr lang="zh-CN" altLang="en-US" dirty="0">
                <a:solidFill>
                  <a:schemeClr val="tx1"/>
                </a:solidFill>
              </a:rPr>
              <a:t>如何构建一个满足用户的网络系统</a:t>
            </a:r>
            <a:endParaRPr lang="en-US" altLang="zh-CN" dirty="0">
              <a:solidFill>
                <a:schemeClr val="tx1"/>
              </a:solidFill>
            </a:endParaRPr>
          </a:p>
          <a:p>
            <a:pPr lvl="1" eaLnBrk="1" latinLnBrk="1" hangingPunct="1"/>
            <a:r>
              <a:rPr lang="zh-CN" altLang="en-US" dirty="0">
                <a:solidFill>
                  <a:schemeClr val="tx1"/>
                </a:solidFill>
              </a:rPr>
              <a:t>建立一个满足用户需求的网络系统需要投入多少资金</a:t>
            </a:r>
            <a:endParaRPr lang="en-US" altLang="zh-CN" dirty="0">
              <a:solidFill>
                <a:schemeClr val="tx1"/>
              </a:solidFill>
            </a:endParaRPr>
          </a:p>
          <a:p>
            <a:pPr lvl="1" eaLnBrk="1" latinLnBrk="1" hangingPunct="1"/>
            <a:r>
              <a:rPr lang="zh-CN" altLang="en-US" dirty="0">
                <a:solidFill>
                  <a:schemeClr val="tx1"/>
                </a:solidFill>
              </a:rPr>
              <a:t>最适合用户的网络系统结构</a:t>
            </a:r>
            <a:endParaRPr lang="en-US" altLang="zh-CN" dirty="0">
              <a:solidFill>
                <a:schemeClr val="tx1"/>
              </a:solidFill>
            </a:endParaRPr>
          </a:p>
          <a:p>
            <a:pPr lvl="1" eaLnBrk="1" latinLnBrk="1" hangingPunct="1"/>
            <a:r>
              <a:rPr lang="zh-CN" altLang="en-US" dirty="0">
                <a:solidFill>
                  <a:schemeClr val="tx1"/>
                </a:solidFill>
              </a:rPr>
              <a:t>选择什么样的硬见设备</a:t>
            </a:r>
            <a:endParaRPr lang="en-US" altLang="zh-CN" dirty="0">
              <a:solidFill>
                <a:schemeClr val="tx1"/>
              </a:solidFill>
            </a:endParaRPr>
          </a:p>
          <a:p>
            <a:pPr lvl="1" eaLnBrk="1" latinLnBrk="1" hangingPunct="1"/>
            <a:r>
              <a:rPr lang="zh-CN" altLang="en-US" dirty="0">
                <a:solidFill>
                  <a:schemeClr val="tx1"/>
                </a:solidFill>
              </a:rPr>
              <a:t>选择什么样的网络操作系统和网络服务器软件</a:t>
            </a:r>
            <a:endParaRPr lang="en-US" altLang="zh-CN" dirty="0">
              <a:solidFill>
                <a:schemeClr val="tx1"/>
              </a:solidFill>
            </a:endParaRPr>
          </a:p>
          <a:p>
            <a:pPr lvl="1" eaLnBrk="1" latinLnBrk="1" hangingPunct="1"/>
            <a:r>
              <a:rPr lang="zh-CN" altLang="en-US" dirty="0">
                <a:solidFill>
                  <a:schemeClr val="tx1"/>
                </a:solidFill>
              </a:rPr>
              <a:t>网络系统应当提供哪些功能</a:t>
            </a:r>
            <a:endParaRPr lang="en-US" altLang="zh-CN" dirty="0">
              <a:solidFill>
                <a:schemeClr val="tx1"/>
              </a:solidFill>
            </a:endParaRPr>
          </a:p>
          <a:p>
            <a:pPr lvl="1" eaLnBrk="1" latinLnBrk="1" hangingPunct="1"/>
            <a:r>
              <a:rPr lang="zh-CN" altLang="en-US" dirty="0">
                <a:solidFill>
                  <a:schemeClr val="tx1"/>
                </a:solidFill>
              </a:rPr>
              <a:t>网络系统的性能如何</a:t>
            </a:r>
            <a:endParaRPr lang="en-US" altLang="zh-CN" dirty="0">
              <a:solidFill>
                <a:schemeClr val="tx1"/>
              </a:solidFill>
            </a:endParaRPr>
          </a:p>
          <a:p>
            <a:pPr lvl="1" eaLnBrk="1" latinLnBrk="1" hangingPunct="1"/>
            <a:r>
              <a:rPr lang="zh-CN" altLang="en-US" dirty="0">
                <a:solidFill>
                  <a:schemeClr val="tx1"/>
                </a:solidFill>
              </a:rPr>
              <a:t>网络系统的可靠性如何</a:t>
            </a:r>
            <a:endParaRPr lang="en-US" altLang="zh-CN" dirty="0">
              <a:solidFill>
                <a:schemeClr val="tx1"/>
              </a:solidFill>
            </a:endParaRPr>
          </a:p>
          <a:p>
            <a:pPr lvl="1" eaLnBrk="1" latinLnBrk="1" hangingPunct="1"/>
            <a:r>
              <a:rPr lang="zh-CN" altLang="en-US" dirty="0">
                <a:solidFill>
                  <a:schemeClr val="tx1"/>
                </a:solidFill>
              </a:rPr>
              <a:t>网络系统的安全性如何</a:t>
            </a:r>
            <a:endParaRPr lang="en-US" altLang="zh-CN" dirty="0">
              <a:solidFill>
                <a:schemeClr val="tx1"/>
              </a:solidFill>
            </a:endParaRPr>
          </a:p>
          <a:p>
            <a:pPr lvl="1" eaLnBrk="1" latinLnBrk="1" hangingPunct="1"/>
            <a:r>
              <a:rPr lang="zh-CN" altLang="en-US" dirty="0">
                <a:solidFill>
                  <a:schemeClr val="tx1"/>
                </a:solidFill>
              </a:rPr>
              <a:t>网络系统的扩展性如何</a:t>
            </a:r>
            <a:endParaRPr lang="en-US" altLang="zh-CN" dirty="0">
              <a:solidFill>
                <a:schemeClr val="tx1"/>
              </a:solidFill>
            </a:endParaRPr>
          </a:p>
          <a:p>
            <a:pPr lvl="1" eaLnBrk="1" latinLnBrk="1" hangingPunct="1"/>
            <a:r>
              <a:rPr lang="zh-CN" altLang="en-US" dirty="0">
                <a:solidFill>
                  <a:schemeClr val="tx1"/>
                </a:solidFill>
              </a:rPr>
              <a:t>建立什么样的管理机制</a:t>
            </a:r>
          </a:p>
          <a:p>
            <a:pPr marL="0" lvl="0" indent="0" eaLnBrk="1" latinLnBrk="1" hangingPunct="1">
              <a:buNone/>
            </a:pPr>
            <a:endParaRPr lang="zh-CN" altLang="en-US" dirty="0">
              <a:solidFill>
                <a:schemeClr val="tx1"/>
              </a:solidFill>
              <a:ea typeface="华文楷体" pitchFamily="2" charset="-122"/>
            </a:endParaRPr>
          </a:p>
          <a:p>
            <a:pPr lvl="0" eaLnBrk="1" latinLnBrk="1" hangingPunct="1"/>
            <a:endParaRPr lang="en-US" altLang="zh-CN" dirty="0">
              <a:solidFill>
                <a:schemeClr val="tx1"/>
              </a:solidFill>
            </a:endParaRPr>
          </a:p>
        </p:txBody>
      </p:sp>
      <p:sp>
        <p:nvSpPr>
          <p:cNvPr id="1048894" name="Rectangle 2"/>
          <p:cNvSpPr>
            <a:spLocks noGrp="1"/>
          </p:cNvSpPr>
          <p:nvPr>
            <p:ph type="title"/>
          </p:nvPr>
        </p:nvSpPr>
        <p:spPr>
          <a:xfrm>
            <a:off x="0" y="116632"/>
            <a:ext cx="10515600" cy="63795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1.1  </a:t>
            </a:r>
            <a:r>
              <a:rPr lang="zh-CN" altLang="en-US" dirty="0">
                <a:solidFill>
                  <a:schemeClr val="bg1"/>
                </a:solidFill>
              </a:rPr>
              <a:t>网络工程基本特征</a:t>
            </a:r>
          </a:p>
        </p:txBody>
      </p:sp>
    </p:spTree>
    <p:extLst>
      <p:ext uri="{BB962C8B-B14F-4D97-AF65-F5344CB8AC3E}">
        <p14:creationId xmlns:p14="http://schemas.microsoft.com/office/powerpoint/2010/main" val="2041437646"/>
      </p:ext>
    </p:extLst>
  </p:cSld>
  <p:clrMapOvr>
    <a:masterClrMapping/>
  </p:clrMapOvr>
  <p:transition spd="slow">
    <p:zo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00" name="Rectangle 3"/>
          <p:cNvSpPr>
            <a:spLocks noGrp="1"/>
          </p:cNvSpPr>
          <p:nvPr>
            <p:ph idx="1"/>
          </p:nvPr>
        </p:nvSpPr>
        <p:spPr>
          <a:xfrm>
            <a:off x="407368" y="1004887"/>
            <a:ext cx="9649072" cy="605633"/>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buFontTx/>
              <a:buNone/>
            </a:pPr>
            <a:r>
              <a:rPr lang="en-US" altLang="zh-CN" dirty="0">
                <a:solidFill>
                  <a:schemeClr val="tx1"/>
                </a:solidFill>
              </a:rPr>
              <a:t>3.  </a:t>
            </a:r>
            <a:r>
              <a:rPr lang="zh-CN" altLang="en-US" dirty="0">
                <a:solidFill>
                  <a:schemeClr val="tx1"/>
                </a:solidFill>
              </a:rPr>
              <a:t>网络工程的专业定位</a:t>
            </a:r>
          </a:p>
        </p:txBody>
      </p:sp>
      <p:sp>
        <p:nvSpPr>
          <p:cNvPr id="1048899" name="Rectangle 2"/>
          <p:cNvSpPr>
            <a:spLocks noGrp="1"/>
          </p:cNvSpPr>
          <p:nvPr>
            <p:ph type="title"/>
          </p:nvPr>
        </p:nvSpPr>
        <p:spPr>
          <a:xfrm>
            <a:off x="47328" y="152400"/>
            <a:ext cx="10515600" cy="565945"/>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1.1  </a:t>
            </a:r>
            <a:r>
              <a:rPr lang="zh-CN" altLang="en-US" dirty="0">
                <a:solidFill>
                  <a:schemeClr val="bg1"/>
                </a:solidFill>
              </a:rPr>
              <a:t>网络工程基本特征</a:t>
            </a:r>
          </a:p>
        </p:txBody>
      </p:sp>
      <p:pic>
        <p:nvPicPr>
          <p:cNvPr id="2097164" name="Picture 5" descr="图01-03 网络工程的专业定位4"/>
          <p:cNvPicPr>
            <a:picLocks/>
          </p:cNvPicPr>
          <p:nvPr/>
        </p:nvPicPr>
        <p:blipFill>
          <a:blip r:embed="rId5"/>
          <a:srcRect/>
          <a:stretch>
            <a:fillRect/>
          </a:stretch>
        </p:blipFill>
        <p:spPr>
          <a:xfrm>
            <a:off x="999975" y="2132856"/>
            <a:ext cx="9704537" cy="3384376"/>
          </a:xfrm>
          <a:prstGeom prst="rect">
            <a:avLst/>
          </a:prstGeom>
          <a:noFill/>
          <a:ln>
            <a:noFill/>
          </a:ln>
        </p:spPr>
      </p:pic>
    </p:spTree>
  </p:cSld>
  <p:clrMapOvr>
    <a:masterClrMapping/>
  </p:clrMapOvr>
  <p:transition spd="slow">
    <p:zo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05" name="Rectangle 3"/>
          <p:cNvSpPr>
            <a:spLocks noGrp="1"/>
          </p:cNvSpPr>
          <p:nvPr>
            <p:ph idx="1"/>
          </p:nvPr>
        </p:nvSpPr>
        <p:spPr>
          <a:xfrm>
            <a:off x="407368" y="980728"/>
            <a:ext cx="10515600" cy="4351338"/>
          </a:xfrm>
          <a:prstGeom prst="rect">
            <a:avLst/>
          </a:prstGeom>
          <a:noFill/>
          <a:ln>
            <a:noFill/>
          </a:ln>
        </p:spPr>
        <p:txBody>
          <a:bodyPr vert="horz" lIns="91440" tIns="45720" rIns="91440" bIns="45720" anchor="t">
            <a:normAutofit lnSpcReduction="10000"/>
          </a:bodyPr>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buFontTx/>
              <a:buNone/>
            </a:pPr>
            <a:r>
              <a:rPr lang="en-US" altLang="zh-CN" dirty="0">
                <a:solidFill>
                  <a:schemeClr val="tx1"/>
                </a:solidFill>
              </a:rPr>
              <a:t>4.  </a:t>
            </a:r>
            <a:r>
              <a:rPr lang="zh-CN" altLang="en-US" dirty="0">
                <a:solidFill>
                  <a:schemeClr val="tx1"/>
                </a:solidFill>
              </a:rPr>
              <a:t>网络工程师的职业技术要求</a:t>
            </a:r>
          </a:p>
          <a:p>
            <a:pPr lvl="0" eaLnBrk="1" latinLnBrk="1" hangingPunct="1"/>
            <a:r>
              <a:rPr lang="zh-CN" altLang="en-US" b="0" dirty="0">
                <a:solidFill>
                  <a:schemeClr val="tx1"/>
                </a:solidFill>
              </a:rPr>
              <a:t>网络技术</a:t>
            </a:r>
          </a:p>
          <a:p>
            <a:pPr lvl="1" eaLnBrk="1" latinLnBrk="1" hangingPunct="1"/>
            <a:r>
              <a:rPr lang="en-US" altLang="zh-CN" dirty="0" err="1">
                <a:solidFill>
                  <a:schemeClr val="tx1"/>
                </a:solidFill>
              </a:rPr>
              <a:t>理解通信原理、网络技术、操作系统、通信设备、设计规范等知识</a:t>
            </a:r>
            <a:r>
              <a:rPr lang="en-US" altLang="zh-CN" dirty="0">
                <a:solidFill>
                  <a:schemeClr val="tx1"/>
                </a:solidFill>
              </a:rPr>
              <a:t>。</a:t>
            </a:r>
          </a:p>
          <a:p>
            <a:pPr lvl="1" eaLnBrk="1" latinLnBrk="1" hangingPunct="1"/>
            <a:endParaRPr lang="zh-CN" altLang="en-US" dirty="0">
              <a:solidFill>
                <a:schemeClr val="tx1"/>
              </a:solidFill>
            </a:endParaRPr>
          </a:p>
          <a:p>
            <a:pPr lvl="0" eaLnBrk="1" latinLnBrk="1" hangingPunct="1"/>
            <a:r>
              <a:rPr lang="zh-CN" altLang="en-US" b="0" dirty="0">
                <a:solidFill>
                  <a:schemeClr val="tx1"/>
                </a:solidFill>
              </a:rPr>
              <a:t>硬件技术</a:t>
            </a:r>
          </a:p>
          <a:p>
            <a:pPr lvl="1" eaLnBrk="1" latinLnBrk="1" hangingPunct="1"/>
            <a:r>
              <a:rPr lang="en-US" altLang="zh-CN" dirty="0" err="1">
                <a:solidFill>
                  <a:schemeClr val="tx1"/>
                </a:solidFill>
              </a:rPr>
              <a:t>掌握常用设备的功能、性能、调试方法</a:t>
            </a:r>
            <a:r>
              <a:rPr lang="en-US" altLang="zh-CN" dirty="0">
                <a:solidFill>
                  <a:schemeClr val="tx1"/>
                </a:solidFill>
              </a:rPr>
              <a:t>。</a:t>
            </a:r>
          </a:p>
          <a:p>
            <a:pPr lvl="1" eaLnBrk="1" latinLnBrk="1" hangingPunct="1"/>
            <a:endParaRPr lang="zh-CN" altLang="en-US" dirty="0">
              <a:solidFill>
                <a:schemeClr val="tx1"/>
              </a:solidFill>
            </a:endParaRPr>
          </a:p>
          <a:p>
            <a:pPr lvl="0" eaLnBrk="1" latinLnBrk="1" hangingPunct="1"/>
            <a:r>
              <a:rPr lang="zh-CN" altLang="en-US" b="0" dirty="0">
                <a:solidFill>
                  <a:schemeClr val="tx1"/>
                </a:solidFill>
              </a:rPr>
              <a:t>软件技术</a:t>
            </a:r>
          </a:p>
          <a:p>
            <a:pPr lvl="1" eaLnBrk="1" latinLnBrk="1" hangingPunct="1"/>
            <a:r>
              <a:rPr lang="zh-CN" altLang="en-US" dirty="0">
                <a:solidFill>
                  <a:schemeClr val="tx1"/>
                </a:solidFill>
              </a:rPr>
              <a:t>掌握常用工程软件的功能和使用方法。 </a:t>
            </a:r>
          </a:p>
        </p:txBody>
      </p:sp>
      <p:sp>
        <p:nvSpPr>
          <p:cNvPr id="1048904" name="Rectangle 2"/>
          <p:cNvSpPr>
            <a:spLocks noGrp="1"/>
          </p:cNvSpPr>
          <p:nvPr>
            <p:ph type="title"/>
          </p:nvPr>
        </p:nvSpPr>
        <p:spPr>
          <a:xfrm>
            <a:off x="119336" y="152400"/>
            <a:ext cx="10515600" cy="63795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1.1  </a:t>
            </a:r>
            <a:r>
              <a:rPr lang="zh-CN" altLang="en-US" dirty="0">
                <a:solidFill>
                  <a:schemeClr val="bg1"/>
                </a:solidFill>
              </a:rPr>
              <a:t>网络工程基本特征</a:t>
            </a:r>
          </a:p>
        </p:txBody>
      </p:sp>
    </p:spTree>
  </p:cSld>
  <p:clrMapOvr>
    <a:masterClrMapping/>
  </p:clrMapOvr>
  <p:transition spd="slow">
    <p:zo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10" name="Rectangle 3"/>
          <p:cNvSpPr>
            <a:spLocks noGrp="1"/>
          </p:cNvSpPr>
          <p:nvPr>
            <p:ph idx="1"/>
          </p:nvPr>
        </p:nvSpPr>
        <p:spPr>
          <a:xfrm>
            <a:off x="335360" y="980728"/>
            <a:ext cx="10515600" cy="4351338"/>
          </a:xfrm>
          <a:prstGeom prst="rect">
            <a:avLst/>
          </a:prstGeom>
          <a:noFill/>
          <a:ln>
            <a:noFill/>
          </a:ln>
        </p:spPr>
        <p:txBody>
          <a:bodyPr vert="horz" lIns="91440" tIns="45720" rIns="91440" bIns="45720" anchor="t">
            <a:normAutofit fontScale="92500" lnSpcReduction="10000"/>
          </a:bodyPr>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r>
              <a:rPr lang="zh-CN" altLang="en-US" b="0" dirty="0">
                <a:solidFill>
                  <a:schemeClr val="tx1"/>
                </a:solidFill>
              </a:rPr>
              <a:t>设计技术</a:t>
            </a:r>
          </a:p>
          <a:p>
            <a:pPr lvl="1" eaLnBrk="1" latinLnBrk="1" hangingPunct="1"/>
            <a:r>
              <a:rPr lang="zh-CN" altLang="en-US" dirty="0">
                <a:solidFill>
                  <a:schemeClr val="tx1"/>
                </a:solidFill>
              </a:rPr>
              <a:t>评估网络技术，预测技术发展方向；</a:t>
            </a:r>
          </a:p>
          <a:p>
            <a:pPr lvl="1" eaLnBrk="1" latinLnBrk="1" hangingPunct="1"/>
            <a:r>
              <a:rPr lang="zh-CN" altLang="en-US" dirty="0">
                <a:solidFill>
                  <a:schemeClr val="tx1"/>
                </a:solidFill>
                <a:effectLst>
                  <a:outerShdw blurRad="38100" dist="38100" dir="2700000" algn="tl">
                    <a:srgbClr val="C0C0C0"/>
                  </a:outerShdw>
                </a:effectLst>
                <a:ea typeface="黑体" pitchFamily="49" charset="-122"/>
              </a:rPr>
              <a:t>没有文档的设计只是一个设想；</a:t>
            </a:r>
          </a:p>
          <a:p>
            <a:pPr lvl="1" eaLnBrk="1" latinLnBrk="1" hangingPunct="1"/>
            <a:r>
              <a:rPr lang="zh-CN" altLang="en-US" dirty="0">
                <a:solidFill>
                  <a:schemeClr val="tx1"/>
                </a:solidFill>
              </a:rPr>
              <a:t>简单的文档只能说明网络工程师能力不足； </a:t>
            </a:r>
          </a:p>
          <a:p>
            <a:pPr lvl="1" eaLnBrk="1" latinLnBrk="1" hangingPunct="1"/>
            <a:r>
              <a:rPr lang="zh-CN" altLang="en-US" dirty="0">
                <a:solidFill>
                  <a:schemeClr val="tx1"/>
                </a:solidFill>
              </a:rPr>
              <a:t>熟练掌握数个网络工程</a:t>
            </a:r>
            <a:r>
              <a:rPr lang="zh-CN" altLang="en-US" dirty="0">
                <a:solidFill>
                  <a:schemeClr val="tx1"/>
                </a:solidFill>
                <a:effectLst>
                  <a:outerShdw blurRad="38100" dist="38100" dir="2700000" algn="tl">
                    <a:srgbClr val="C0C0C0"/>
                  </a:outerShdw>
                </a:effectLst>
                <a:ea typeface="黑体" pitchFamily="49" charset="-122"/>
              </a:rPr>
              <a:t>经典设计案例</a:t>
            </a:r>
            <a:r>
              <a:rPr lang="en-US" altLang="zh-CN" dirty="0">
                <a:solidFill>
                  <a:schemeClr val="tx1"/>
                </a:solidFill>
                <a:effectLst>
                  <a:outerShdw blurRad="38100" dist="38100" dir="2700000" algn="tl">
                    <a:srgbClr val="C0C0C0"/>
                  </a:outerShdw>
                </a:effectLst>
              </a:rPr>
              <a:t>。</a:t>
            </a:r>
          </a:p>
          <a:p>
            <a:pPr lvl="1">
              <a:lnSpc>
                <a:spcPts val="1200"/>
              </a:lnSpc>
            </a:pPr>
            <a:endParaRPr lang="zh-CN" altLang="en-US" dirty="0">
              <a:solidFill>
                <a:schemeClr val="tx1"/>
              </a:solidFill>
            </a:endParaRPr>
          </a:p>
          <a:p>
            <a:pPr lvl="0" eaLnBrk="1" latinLnBrk="1" hangingPunct="1"/>
            <a:r>
              <a:rPr lang="zh-CN" altLang="en-US" b="0" dirty="0">
                <a:solidFill>
                  <a:schemeClr val="tx1"/>
                </a:solidFill>
              </a:rPr>
              <a:t>管理能力</a:t>
            </a:r>
          </a:p>
          <a:p>
            <a:pPr lvl="1" eaLnBrk="1" latinLnBrk="1" hangingPunct="1"/>
            <a:r>
              <a:rPr lang="zh-CN" altLang="en-US" dirty="0">
                <a:solidFill>
                  <a:schemeClr val="tx1"/>
                </a:solidFill>
              </a:rPr>
              <a:t>组织和实施工程的能力；</a:t>
            </a:r>
          </a:p>
          <a:p>
            <a:pPr lvl="1" eaLnBrk="1" latinLnBrk="1" hangingPunct="1"/>
            <a:r>
              <a:rPr lang="zh-CN" altLang="en-US" dirty="0">
                <a:solidFill>
                  <a:schemeClr val="tx1"/>
                </a:solidFill>
              </a:rPr>
              <a:t>与不同用户进行沟通的能力；</a:t>
            </a:r>
          </a:p>
          <a:p>
            <a:pPr lvl="1" eaLnBrk="1" latinLnBrk="1" hangingPunct="1"/>
            <a:r>
              <a:rPr lang="zh-CN" altLang="en-US" dirty="0">
                <a:solidFill>
                  <a:schemeClr val="tx1"/>
                </a:solidFill>
              </a:rPr>
              <a:t>独立解决问题的能力；</a:t>
            </a:r>
          </a:p>
          <a:p>
            <a:pPr lvl="1" eaLnBrk="1" latinLnBrk="1" hangingPunct="1"/>
            <a:r>
              <a:rPr lang="zh-CN" altLang="en-US" dirty="0">
                <a:solidFill>
                  <a:schemeClr val="tx1"/>
                </a:solidFill>
              </a:rPr>
              <a:t>很强的团队协作精神。 </a:t>
            </a:r>
          </a:p>
          <a:p>
            <a:pPr lvl="0" eaLnBrk="1" latinLnBrk="1" hangingPunct="1"/>
            <a:endParaRPr lang="en-US" altLang="zh-CN" dirty="0">
              <a:solidFill>
                <a:schemeClr val="tx1"/>
              </a:solidFill>
            </a:endParaRPr>
          </a:p>
        </p:txBody>
      </p:sp>
      <p:sp>
        <p:nvSpPr>
          <p:cNvPr id="1048909" name="Rectangle 2"/>
          <p:cNvSpPr>
            <a:spLocks noGrp="1"/>
          </p:cNvSpPr>
          <p:nvPr>
            <p:ph type="title"/>
          </p:nvPr>
        </p:nvSpPr>
        <p:spPr>
          <a:xfrm>
            <a:off x="47328" y="116632"/>
            <a:ext cx="10515600" cy="63795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1.1  </a:t>
            </a:r>
            <a:r>
              <a:rPr lang="zh-CN" altLang="en-US" dirty="0">
                <a:solidFill>
                  <a:schemeClr val="bg1"/>
                </a:solidFill>
              </a:rPr>
              <a:t>网络工程基本特征</a:t>
            </a:r>
          </a:p>
        </p:txBody>
      </p:sp>
    </p:spTree>
  </p:cSld>
  <p:clrMapOvr>
    <a:masterClrMapping/>
  </p:clrMapOvr>
  <p:transition spd="slow">
    <p:zo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15" name="Rectangle 3"/>
          <p:cNvSpPr>
            <a:spLocks noGrp="1"/>
          </p:cNvSpPr>
          <p:nvPr>
            <p:ph idx="1"/>
          </p:nvPr>
        </p:nvSpPr>
        <p:spPr>
          <a:xfrm>
            <a:off x="551384" y="1124744"/>
            <a:ext cx="3889648" cy="4351338"/>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buFontTx/>
              <a:buNone/>
            </a:pPr>
            <a:r>
              <a:rPr lang="en-US" altLang="zh-CN" dirty="0">
                <a:solidFill>
                  <a:schemeClr val="tx1"/>
                </a:solidFill>
              </a:rPr>
              <a:t>1.1.3  </a:t>
            </a:r>
            <a:r>
              <a:rPr lang="zh-CN" altLang="en-US" dirty="0">
                <a:solidFill>
                  <a:schemeClr val="tx1"/>
                </a:solidFill>
              </a:rPr>
              <a:t>网络工程集成</a:t>
            </a:r>
          </a:p>
          <a:p>
            <a:pPr lvl="0" eaLnBrk="1" latinLnBrk="1" hangingPunct="1">
              <a:buFontTx/>
              <a:buNone/>
            </a:pPr>
            <a:endParaRPr lang="en-US" altLang="zh-CN" b="0" dirty="0">
              <a:solidFill>
                <a:schemeClr val="tx1"/>
              </a:solidFill>
            </a:endParaRPr>
          </a:p>
          <a:p>
            <a:pPr lvl="0" eaLnBrk="1" latinLnBrk="1" hangingPunct="1">
              <a:buFontTx/>
              <a:buNone/>
            </a:pPr>
            <a:r>
              <a:rPr lang="en-US" altLang="zh-CN" b="0" dirty="0">
                <a:solidFill>
                  <a:schemeClr val="tx1"/>
                </a:solidFill>
              </a:rPr>
              <a:t>1</a:t>
            </a:r>
            <a:r>
              <a:rPr lang="zh-CN" altLang="en-US" b="0" dirty="0">
                <a:solidFill>
                  <a:schemeClr val="tx1"/>
                </a:solidFill>
              </a:rPr>
              <a:t>．网络系统</a:t>
            </a:r>
            <a:r>
              <a:rPr lang="zh-CN" altLang="en-US" b="0" dirty="0">
                <a:solidFill>
                  <a:schemeClr val="tx1"/>
                </a:solidFill>
                <a:effectLst>
                  <a:outerShdw blurRad="38100" dist="38100" dir="2700000" algn="tl">
                    <a:srgbClr val="C0C0C0"/>
                  </a:outerShdw>
                </a:effectLst>
              </a:rPr>
              <a:t>规划</a:t>
            </a:r>
          </a:p>
          <a:p>
            <a:pPr lvl="0" eaLnBrk="1" latinLnBrk="1" hangingPunct="1">
              <a:buFontTx/>
              <a:buNone/>
            </a:pPr>
            <a:r>
              <a:rPr lang="en-US" altLang="zh-CN" b="0" dirty="0">
                <a:solidFill>
                  <a:schemeClr val="tx1"/>
                </a:solidFill>
              </a:rPr>
              <a:t>2</a:t>
            </a:r>
            <a:r>
              <a:rPr lang="zh-CN" altLang="en-US" b="0" dirty="0">
                <a:solidFill>
                  <a:schemeClr val="tx1"/>
                </a:solidFill>
              </a:rPr>
              <a:t>．网络系统</a:t>
            </a:r>
            <a:r>
              <a:rPr lang="zh-CN" altLang="en-US" b="0" dirty="0">
                <a:solidFill>
                  <a:schemeClr val="tx1"/>
                </a:solidFill>
                <a:effectLst>
                  <a:outerShdw blurRad="38100" dist="38100" dir="2700000" algn="tl">
                    <a:srgbClr val="C0C0C0"/>
                  </a:outerShdw>
                </a:effectLst>
              </a:rPr>
              <a:t>设计</a:t>
            </a:r>
          </a:p>
          <a:p>
            <a:pPr lvl="0" eaLnBrk="1" latinLnBrk="1" hangingPunct="1">
              <a:buFontTx/>
              <a:buNone/>
            </a:pPr>
            <a:r>
              <a:rPr lang="en-US" altLang="zh-CN" b="0" dirty="0">
                <a:solidFill>
                  <a:schemeClr val="tx1"/>
                </a:solidFill>
              </a:rPr>
              <a:t>3</a:t>
            </a:r>
            <a:r>
              <a:rPr lang="zh-CN" altLang="en-US" b="0" dirty="0">
                <a:solidFill>
                  <a:schemeClr val="tx1"/>
                </a:solidFill>
              </a:rPr>
              <a:t>．网络系统</a:t>
            </a:r>
            <a:r>
              <a:rPr lang="zh-CN" altLang="en-US" b="0" dirty="0">
                <a:solidFill>
                  <a:schemeClr val="tx1"/>
                </a:solidFill>
                <a:effectLst>
                  <a:outerShdw blurRad="38100" dist="38100" dir="2700000" algn="tl">
                    <a:srgbClr val="C0C0C0"/>
                  </a:outerShdw>
                </a:effectLst>
              </a:rPr>
              <a:t>实施</a:t>
            </a:r>
          </a:p>
          <a:p>
            <a:pPr lvl="0" eaLnBrk="1" latinLnBrk="1" hangingPunct="1">
              <a:buFontTx/>
              <a:buNone/>
            </a:pPr>
            <a:r>
              <a:rPr lang="en-US" altLang="zh-CN" b="0" dirty="0">
                <a:solidFill>
                  <a:schemeClr val="tx1"/>
                </a:solidFill>
              </a:rPr>
              <a:t>4</a:t>
            </a:r>
            <a:r>
              <a:rPr lang="zh-CN" altLang="en-US" b="0" dirty="0">
                <a:solidFill>
                  <a:schemeClr val="tx1"/>
                </a:solidFill>
              </a:rPr>
              <a:t>．网络系统</a:t>
            </a:r>
            <a:r>
              <a:rPr lang="zh-CN" altLang="en-US" b="0" dirty="0">
                <a:solidFill>
                  <a:schemeClr val="tx1"/>
                </a:solidFill>
                <a:effectLst>
                  <a:outerShdw blurRad="38100" dist="38100" dir="2700000" algn="tl">
                    <a:srgbClr val="C0C0C0"/>
                  </a:outerShdw>
                </a:effectLst>
              </a:rPr>
              <a:t>验收</a:t>
            </a:r>
          </a:p>
        </p:txBody>
      </p:sp>
      <p:sp>
        <p:nvSpPr>
          <p:cNvPr id="1048914" name="Rectangle 2"/>
          <p:cNvSpPr>
            <a:spLocks noGrp="1"/>
          </p:cNvSpPr>
          <p:nvPr>
            <p:ph type="title"/>
          </p:nvPr>
        </p:nvSpPr>
        <p:spPr>
          <a:xfrm>
            <a:off x="47328" y="191604"/>
            <a:ext cx="10515600" cy="493713"/>
          </a:xfrm>
          <a:prstGeom prst="rect">
            <a:avLst/>
          </a:prstGeom>
          <a:noFill/>
          <a:ln>
            <a:noFill/>
          </a:ln>
        </p:spPr>
        <p:txBody>
          <a:bodyPr vert="horz" lIns="91440" tIns="45720" rIns="91440" bIns="45720" anchor="ctr">
            <a:normAutofit fontScale="90000"/>
          </a:bodyP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1.1  </a:t>
            </a:r>
            <a:r>
              <a:rPr lang="zh-CN" altLang="en-US" dirty="0">
                <a:solidFill>
                  <a:schemeClr val="bg1"/>
                </a:solidFill>
              </a:rPr>
              <a:t>网络工程基本特征</a:t>
            </a:r>
          </a:p>
        </p:txBody>
      </p:sp>
      <p:pic>
        <p:nvPicPr>
          <p:cNvPr id="2097165" name="Picture 4" descr="图01-04 系统集成工作流程"/>
          <p:cNvPicPr>
            <a:picLocks/>
          </p:cNvPicPr>
          <p:nvPr/>
        </p:nvPicPr>
        <p:blipFill>
          <a:blip r:embed="rId5"/>
          <a:srcRect/>
          <a:stretch>
            <a:fillRect/>
          </a:stretch>
        </p:blipFill>
        <p:spPr>
          <a:xfrm>
            <a:off x="5305128" y="836712"/>
            <a:ext cx="3309937" cy="5661025"/>
          </a:xfrm>
          <a:prstGeom prst="rect">
            <a:avLst/>
          </a:prstGeom>
          <a:noFill/>
          <a:ln>
            <a:noFill/>
          </a:ln>
        </p:spPr>
      </p:pic>
    </p:spTree>
  </p:cSld>
  <p:clrMapOvr>
    <a:masterClrMapping/>
  </p:clrMapOvr>
  <p:transition spd="slow">
    <p:zo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20" name="Rectangle 3"/>
          <p:cNvSpPr>
            <a:spLocks noGrp="1"/>
          </p:cNvSpPr>
          <p:nvPr>
            <p:ph type="body" sz="half" idx="4294967295"/>
          </p:nvPr>
        </p:nvSpPr>
        <p:spPr>
          <a:xfrm>
            <a:off x="407368" y="908721"/>
            <a:ext cx="8496299" cy="1152128"/>
          </a:xfrm>
          <a:prstGeom prst="rect">
            <a:avLst/>
          </a:prstGeom>
          <a:noFill/>
          <a:ln>
            <a:noFill/>
          </a:ln>
        </p:spPr>
        <p:txBody>
          <a:bodyPr vert="horz" lIns="91440" tIns="45720" rIns="91440" bIns="45720" anchor="t"/>
          <a:lstStyle>
            <a:lvl1pPr marL="342900" indent="-342900">
              <a:lnSpc>
                <a:spcPct val="90000"/>
              </a:lnSpc>
              <a:spcBef>
                <a:spcPct val="0"/>
              </a:spcBef>
              <a:spcAft>
                <a:spcPct val="20000"/>
              </a:spcAft>
              <a:buBlip>
                <a:blip r:embed="rId2"/>
              </a:buBlip>
              <a:defRPr sz="2400">
                <a:solidFill>
                  <a:srgbClr val="0000FF"/>
                </a:solidFill>
              </a:defRPr>
            </a:lvl1pPr>
            <a:lvl2pPr marL="742950" indent="-285750">
              <a:lnSpc>
                <a:spcPct val="90000"/>
              </a:lnSpc>
              <a:spcBef>
                <a:spcPct val="0"/>
              </a:spcBef>
              <a:spcAft>
                <a:spcPct val="20000"/>
              </a:spcAft>
              <a:buBlip>
                <a:blip r:embed="rId3"/>
              </a:buBlip>
              <a:defRPr sz="2400">
                <a:solidFill>
                  <a:srgbClr val="000099"/>
                </a:solidFill>
              </a:defRPr>
            </a:lvl2pPr>
            <a:lvl3pPr marL="1143000" indent="-228600">
              <a:lnSpc>
                <a:spcPct val="90000"/>
              </a:lnSpc>
              <a:spcBef>
                <a:spcPct val="0"/>
              </a:spcBef>
              <a:spcAft>
                <a:spcPct val="20000"/>
              </a:spcAft>
              <a:buBlip>
                <a:blip r:embed="rId4"/>
              </a:buBlip>
              <a:defRPr sz="2000">
                <a:solidFill>
                  <a:srgbClr val="008000"/>
                </a:solidFill>
              </a:defRPr>
            </a:lvl3pPr>
            <a:lvl4pPr marL="1600200" indent="-228600">
              <a:lnSpc>
                <a:spcPct val="90000"/>
              </a:lnSpc>
              <a:spcBef>
                <a:spcPct val="0"/>
              </a:spcBef>
              <a:spcAft>
                <a:spcPct val="20000"/>
              </a:spcAft>
              <a:buBlip>
                <a:blip r:embed="rId4"/>
              </a:buBlip>
              <a:defRPr sz="1800">
                <a:solidFill>
                  <a:srgbClr val="800000"/>
                </a:solidFill>
              </a:defRPr>
            </a:lvl4pPr>
            <a:lvl5pPr marL="2057400" indent="-228600">
              <a:lnSpc>
                <a:spcPct val="90000"/>
              </a:lnSpc>
              <a:spcBef>
                <a:spcPct val="0"/>
              </a:spcBef>
              <a:spcAft>
                <a:spcPct val="20000"/>
              </a:spcAft>
              <a:buBlip>
                <a:blip r:embed="rId4"/>
              </a:buBlip>
              <a:defRPr sz="1800">
                <a:solidFill>
                  <a:srgbClr val="003399"/>
                </a:solidFill>
              </a:defRPr>
            </a:lvl5pPr>
          </a:lstStyle>
          <a:p>
            <a:pPr lvl="0" eaLnBrk="1" latinLnBrk="1" hangingPunct="1">
              <a:buFontTx/>
              <a:buNone/>
            </a:pPr>
            <a:r>
              <a:rPr lang="en-US" altLang="zh-CN" sz="3200" dirty="0">
                <a:solidFill>
                  <a:schemeClr val="tx1"/>
                </a:solidFill>
                <a:effectLst>
                  <a:outerShdw blurRad="38100" dist="38100" dir="2700000" algn="tl">
                    <a:srgbClr val="C0C0C0"/>
                  </a:outerShdw>
                </a:effectLst>
              </a:rPr>
              <a:t>1.1.4  </a:t>
            </a:r>
            <a:r>
              <a:rPr lang="zh-CN" altLang="en-US" sz="3200" dirty="0">
                <a:solidFill>
                  <a:schemeClr val="tx1"/>
                </a:solidFill>
                <a:effectLst>
                  <a:outerShdw blurRad="38100" dist="38100" dir="2700000" algn="tl">
                    <a:srgbClr val="C0C0C0"/>
                  </a:outerShdw>
                </a:effectLst>
              </a:rPr>
              <a:t>常用工具软件</a:t>
            </a:r>
          </a:p>
          <a:p>
            <a:pPr lvl="0" eaLnBrk="1" latinLnBrk="1" hangingPunct="1"/>
            <a:r>
              <a:rPr lang="zh-CN" altLang="en-US" sz="2800" dirty="0">
                <a:solidFill>
                  <a:schemeClr val="tx1"/>
                </a:solidFill>
              </a:rPr>
              <a:t>网络操作系统</a:t>
            </a:r>
          </a:p>
        </p:txBody>
      </p:sp>
      <p:sp>
        <p:nvSpPr>
          <p:cNvPr id="1048919" name="Rectangle 2"/>
          <p:cNvSpPr>
            <a:spLocks noGrp="1"/>
          </p:cNvSpPr>
          <p:nvPr>
            <p:ph type="title"/>
          </p:nvPr>
        </p:nvSpPr>
        <p:spPr>
          <a:xfrm>
            <a:off x="47328" y="167481"/>
            <a:ext cx="8640233" cy="57626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1.1  </a:t>
            </a:r>
            <a:r>
              <a:rPr lang="zh-CN" altLang="en-US" dirty="0">
                <a:solidFill>
                  <a:schemeClr val="bg1"/>
                </a:solidFill>
              </a:rPr>
              <a:t>网络工程基本特征</a:t>
            </a:r>
          </a:p>
        </p:txBody>
      </p:sp>
      <p:graphicFrame>
        <p:nvGraphicFramePr>
          <p:cNvPr id="4194306" name="表格 4194305"/>
          <p:cNvGraphicFramePr>
            <a:graphicFrameLocks/>
          </p:cNvGraphicFramePr>
          <p:nvPr>
            <p:extLst>
              <p:ext uri="{D42A27DB-BD31-4B8C-83A1-F6EECF244321}">
                <p14:modId xmlns:p14="http://schemas.microsoft.com/office/powerpoint/2010/main" val="805585984"/>
              </p:ext>
            </p:extLst>
          </p:nvPr>
        </p:nvGraphicFramePr>
        <p:xfrm>
          <a:off x="1055440" y="2348880"/>
          <a:ext cx="10009112" cy="2808311"/>
        </p:xfrm>
        <a:graphic>
          <a:graphicData uri="http://schemas.openxmlformats.org/drawingml/2006/table">
            <a:tbl>
              <a:tblPr/>
              <a:tblGrid>
                <a:gridCol w="3222291">
                  <a:extLst>
                    <a:ext uri="{9D8B030D-6E8A-4147-A177-3AD203B41FA5}">
                      <a16:colId xmlns:a16="http://schemas.microsoft.com/office/drawing/2014/main" val="20000"/>
                    </a:ext>
                  </a:extLst>
                </a:gridCol>
                <a:gridCol w="6786821">
                  <a:extLst>
                    <a:ext uri="{9D8B030D-6E8A-4147-A177-3AD203B41FA5}">
                      <a16:colId xmlns:a16="http://schemas.microsoft.com/office/drawing/2014/main" val="20001"/>
                    </a:ext>
                  </a:extLst>
                </a:gridCol>
              </a:tblGrid>
              <a:tr h="531916">
                <a:tc>
                  <a:txBody>
                    <a:bodyPr/>
                    <a:lstStyle/>
                    <a:p>
                      <a:pPr marL="342900" lvl="0" indent="-342900" algn="ctr" eaLnBrk="1" latinLnBrk="1" hangingPunct="1">
                        <a:lnSpc>
                          <a:spcPct val="90000"/>
                        </a:lnSpc>
                        <a:spcAft>
                          <a:spcPct val="20000"/>
                        </a:spcAft>
                        <a:buFontTx/>
                        <a:buNone/>
                      </a:pPr>
                      <a:r>
                        <a:rPr lang="zh-CN" altLang="en-US" sz="2400" b="1" dirty="0">
                          <a:solidFill>
                            <a:srgbClr val="006699"/>
                          </a:solidFill>
                          <a:ea typeface="黑体" pitchFamily="49" charset="-122"/>
                        </a:rPr>
                        <a:t>软件名称</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solidFill>
                      <a:srgbClr val="FFCCFF"/>
                    </a:solidFill>
                  </a:tcPr>
                </a:tc>
                <a:tc>
                  <a:txBody>
                    <a:bodyPr/>
                    <a:lstStyle/>
                    <a:p>
                      <a:pPr marL="342900" lvl="0" indent="-342900" algn="ctr" eaLnBrk="1" latinLnBrk="1" hangingPunct="1">
                        <a:lnSpc>
                          <a:spcPct val="90000"/>
                        </a:lnSpc>
                        <a:spcAft>
                          <a:spcPct val="20000"/>
                        </a:spcAft>
                        <a:buFontTx/>
                        <a:buNone/>
                      </a:pPr>
                      <a:r>
                        <a:rPr lang="zh-CN" altLang="en-US" sz="2400" b="1">
                          <a:solidFill>
                            <a:srgbClr val="000099"/>
                          </a:solidFill>
                          <a:ea typeface="黑体" pitchFamily="49" charset="-122"/>
                        </a:rPr>
                        <a:t>网络操作系统软件说明</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solidFill>
                      <a:srgbClr val="FFCCFF"/>
                    </a:solidFill>
                  </a:tcPr>
                </a:tc>
                <a:extLst>
                  <a:ext uri="{0D108BD9-81ED-4DB2-BD59-A6C34878D82A}">
                    <a16:rowId xmlns:a16="http://schemas.microsoft.com/office/drawing/2014/main" val="10000"/>
                  </a:ext>
                </a:extLst>
              </a:tr>
              <a:tr h="531916">
                <a:tc>
                  <a:txBody>
                    <a:bodyPr/>
                    <a:lstStyle/>
                    <a:p>
                      <a:pPr marL="342900" lvl="0" indent="-342900" algn="l" eaLnBrk="1" latinLnBrk="1" hangingPunct="1">
                        <a:lnSpc>
                          <a:spcPct val="90000"/>
                        </a:lnSpc>
                        <a:spcAft>
                          <a:spcPct val="20000"/>
                        </a:spcAft>
                        <a:buFontTx/>
                        <a:buNone/>
                      </a:pPr>
                      <a:r>
                        <a:rPr lang="en-US" altLang="zh-CN" sz="2400" b="1">
                          <a:solidFill>
                            <a:srgbClr val="000099"/>
                          </a:solidFill>
                          <a:ea typeface="黑体" pitchFamily="49" charset="-122"/>
                        </a:rPr>
                        <a:t>Windows Server</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marL="342900" lvl="0" indent="-342900" algn="l" eaLnBrk="1" latinLnBrk="1" hangingPunct="1">
                        <a:lnSpc>
                          <a:spcPct val="90000"/>
                        </a:lnSpc>
                        <a:spcAft>
                          <a:spcPct val="20000"/>
                        </a:spcAft>
                        <a:buFontTx/>
                        <a:buNone/>
                      </a:pPr>
                      <a:r>
                        <a:rPr lang="zh-CN" altLang="en-US" sz="2400" b="1">
                          <a:solidFill>
                            <a:srgbClr val="000099"/>
                          </a:solidFill>
                          <a:ea typeface="楷体_GB2312" pitchFamily="49" charset="-122"/>
                        </a:rPr>
                        <a:t>微软公司网络操作系统</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1"/>
                  </a:ext>
                </a:extLst>
              </a:tr>
              <a:tr h="601907">
                <a:tc>
                  <a:txBody>
                    <a:bodyPr/>
                    <a:lstStyle/>
                    <a:p>
                      <a:pPr marL="342900" lvl="0" indent="-342900" algn="l" eaLnBrk="1" latinLnBrk="1" hangingPunct="1">
                        <a:lnSpc>
                          <a:spcPct val="90000"/>
                        </a:lnSpc>
                        <a:spcAft>
                          <a:spcPct val="20000"/>
                        </a:spcAft>
                        <a:buFontTx/>
                        <a:buNone/>
                      </a:pPr>
                      <a:r>
                        <a:rPr lang="en-US" altLang="zh-CN" sz="2400" b="1">
                          <a:solidFill>
                            <a:srgbClr val="FF0000"/>
                          </a:solidFill>
                          <a:effectLst>
                            <a:outerShdw blurRad="38100" dist="38100" dir="2700000" algn="tl">
                              <a:srgbClr val="C0C0C0"/>
                            </a:outerShdw>
                          </a:effectLst>
                          <a:ea typeface="黑体" pitchFamily="49" charset="-122"/>
                        </a:rPr>
                        <a:t>RedHat Linux</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marL="342900" lvl="0" indent="-342900" algn="l" eaLnBrk="1" latinLnBrk="1" hangingPunct="1">
                        <a:lnSpc>
                          <a:spcPct val="90000"/>
                        </a:lnSpc>
                        <a:spcAft>
                          <a:spcPct val="20000"/>
                        </a:spcAft>
                        <a:buFontTx/>
                        <a:buNone/>
                      </a:pPr>
                      <a:r>
                        <a:rPr lang="zh-CN" altLang="en-US" sz="2400" b="1">
                          <a:solidFill>
                            <a:srgbClr val="000099"/>
                          </a:solidFill>
                          <a:ea typeface="楷体_GB2312" pitchFamily="49" charset="-122"/>
                        </a:rPr>
                        <a:t>红帽子公司网络操作系统</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2"/>
                  </a:ext>
                </a:extLst>
              </a:tr>
              <a:tr h="572161">
                <a:tc>
                  <a:txBody>
                    <a:bodyPr/>
                    <a:lstStyle/>
                    <a:p>
                      <a:pPr marL="342900" lvl="0" indent="-342900" algn="l" eaLnBrk="1" latinLnBrk="1" hangingPunct="1">
                        <a:lnSpc>
                          <a:spcPct val="90000"/>
                        </a:lnSpc>
                        <a:spcAft>
                          <a:spcPct val="20000"/>
                        </a:spcAft>
                        <a:buFontTx/>
                        <a:buNone/>
                      </a:pPr>
                      <a:r>
                        <a:rPr lang="en-US" altLang="zh-CN" sz="2400" b="1" dirty="0">
                          <a:solidFill>
                            <a:srgbClr val="000099"/>
                          </a:solidFill>
                          <a:ea typeface="黑体" pitchFamily="49" charset="-122"/>
                        </a:rPr>
                        <a:t>FreeBSD</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marL="342900" lvl="0" indent="-342900" algn="l" eaLnBrk="1" latinLnBrk="1" hangingPunct="1">
                        <a:lnSpc>
                          <a:spcPct val="90000"/>
                        </a:lnSpc>
                        <a:spcAft>
                          <a:spcPct val="20000"/>
                        </a:spcAft>
                        <a:buFontTx/>
                        <a:buNone/>
                      </a:pPr>
                      <a:r>
                        <a:rPr lang="zh-CN" altLang="en-US" sz="2400" b="1" dirty="0">
                          <a:solidFill>
                            <a:srgbClr val="000099"/>
                          </a:solidFill>
                          <a:ea typeface="楷体_GB2312" pitchFamily="49" charset="-122"/>
                        </a:rPr>
                        <a:t>美国伯克利分校</a:t>
                      </a:r>
                      <a:r>
                        <a:rPr lang="en-US" altLang="zh-CN" sz="2400" b="1" dirty="0">
                          <a:solidFill>
                            <a:srgbClr val="000099"/>
                          </a:solidFill>
                          <a:ea typeface="楷体_GB2312" pitchFamily="49" charset="-122"/>
                        </a:rPr>
                        <a:t>UNIX</a:t>
                      </a:r>
                      <a:r>
                        <a:rPr lang="zh-CN" altLang="en-US" sz="2400" b="1" dirty="0">
                          <a:solidFill>
                            <a:srgbClr val="000099"/>
                          </a:solidFill>
                          <a:ea typeface="楷体_GB2312" pitchFamily="49" charset="-122"/>
                        </a:rPr>
                        <a:t>操作系统</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3"/>
                  </a:ext>
                </a:extLst>
              </a:tr>
              <a:tr h="570411">
                <a:tc>
                  <a:txBody>
                    <a:bodyPr/>
                    <a:lstStyle/>
                    <a:p>
                      <a:pPr marL="342900" lvl="0" indent="-342900" algn="l" eaLnBrk="1" latinLnBrk="1" hangingPunct="1">
                        <a:lnSpc>
                          <a:spcPct val="90000"/>
                        </a:lnSpc>
                        <a:spcAft>
                          <a:spcPct val="20000"/>
                        </a:spcAft>
                        <a:buFontTx/>
                        <a:buNone/>
                      </a:pPr>
                      <a:r>
                        <a:rPr lang="en-US" altLang="zh-CN" sz="2400" b="1" dirty="0">
                          <a:solidFill>
                            <a:srgbClr val="FF0000"/>
                          </a:solidFill>
                          <a:effectLst>
                            <a:outerShdw blurRad="38100" dist="38100" dir="2700000" algn="tl">
                              <a:srgbClr val="C0C0C0"/>
                            </a:outerShdw>
                          </a:effectLst>
                          <a:ea typeface="黑体" pitchFamily="49" charset="-122"/>
                        </a:rPr>
                        <a:t>Cisco IOS</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marL="342900" lvl="0" indent="-342900" algn="l" eaLnBrk="1" latinLnBrk="1" hangingPunct="1">
                        <a:lnSpc>
                          <a:spcPct val="90000"/>
                        </a:lnSpc>
                        <a:spcAft>
                          <a:spcPct val="20000"/>
                        </a:spcAft>
                        <a:buFontTx/>
                        <a:buNone/>
                      </a:pPr>
                      <a:r>
                        <a:rPr lang="zh-CN" altLang="en-US" sz="2400" b="1" dirty="0">
                          <a:solidFill>
                            <a:srgbClr val="000099"/>
                          </a:solidFill>
                          <a:ea typeface="楷体_GB2312" pitchFamily="49" charset="-122"/>
                        </a:rPr>
                        <a:t>思科公司网络设备操作系统</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4"/>
                  </a:ext>
                </a:extLst>
              </a:tr>
            </a:tbl>
          </a:graphicData>
        </a:graphic>
      </p:graphicFrame>
    </p:spTree>
  </p:cSld>
  <p:clrMapOvr>
    <a:masterClrMapping/>
  </p:clrMapOvr>
  <p:transition spd="slow">
    <p:zo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44" name="Rectangle 3"/>
          <p:cNvSpPr>
            <a:spLocks noGrp="1"/>
          </p:cNvSpPr>
          <p:nvPr>
            <p:ph type="body" sz="half" idx="4294967295"/>
          </p:nvPr>
        </p:nvSpPr>
        <p:spPr>
          <a:xfrm>
            <a:off x="335360" y="923925"/>
            <a:ext cx="7741840" cy="576263"/>
          </a:xfrm>
          <a:prstGeom prst="rect">
            <a:avLst/>
          </a:prstGeom>
          <a:noFill/>
          <a:ln>
            <a:noFill/>
          </a:ln>
        </p:spPr>
        <p:txBody>
          <a:bodyPr vert="horz" lIns="91440" tIns="45720" rIns="91440" bIns="45720" anchor="t"/>
          <a:lstStyle>
            <a:lvl1pPr marL="342900" indent="-342900">
              <a:lnSpc>
                <a:spcPct val="90000"/>
              </a:lnSpc>
              <a:spcBef>
                <a:spcPct val="0"/>
              </a:spcBef>
              <a:spcAft>
                <a:spcPct val="20000"/>
              </a:spcAft>
              <a:buBlip>
                <a:blip r:embed="rId2"/>
              </a:buBlip>
              <a:defRPr sz="2400">
                <a:solidFill>
                  <a:srgbClr val="0000FF"/>
                </a:solidFill>
              </a:defRPr>
            </a:lvl1pPr>
            <a:lvl2pPr marL="742950" indent="-285750">
              <a:lnSpc>
                <a:spcPct val="90000"/>
              </a:lnSpc>
              <a:spcBef>
                <a:spcPct val="0"/>
              </a:spcBef>
              <a:spcAft>
                <a:spcPct val="20000"/>
              </a:spcAft>
              <a:buBlip>
                <a:blip r:embed="rId3"/>
              </a:buBlip>
              <a:defRPr sz="2400">
                <a:solidFill>
                  <a:srgbClr val="000099"/>
                </a:solidFill>
              </a:defRPr>
            </a:lvl2pPr>
            <a:lvl3pPr marL="1143000" indent="-228600">
              <a:lnSpc>
                <a:spcPct val="90000"/>
              </a:lnSpc>
              <a:spcBef>
                <a:spcPct val="0"/>
              </a:spcBef>
              <a:spcAft>
                <a:spcPct val="20000"/>
              </a:spcAft>
              <a:buBlip>
                <a:blip r:embed="rId4"/>
              </a:buBlip>
              <a:defRPr sz="2000">
                <a:solidFill>
                  <a:srgbClr val="008000"/>
                </a:solidFill>
              </a:defRPr>
            </a:lvl3pPr>
            <a:lvl4pPr marL="1600200" indent="-228600">
              <a:lnSpc>
                <a:spcPct val="90000"/>
              </a:lnSpc>
              <a:spcBef>
                <a:spcPct val="0"/>
              </a:spcBef>
              <a:spcAft>
                <a:spcPct val="20000"/>
              </a:spcAft>
              <a:buBlip>
                <a:blip r:embed="rId4"/>
              </a:buBlip>
              <a:defRPr sz="1800">
                <a:solidFill>
                  <a:srgbClr val="800000"/>
                </a:solidFill>
              </a:defRPr>
            </a:lvl4pPr>
            <a:lvl5pPr marL="2057400" indent="-228600">
              <a:lnSpc>
                <a:spcPct val="90000"/>
              </a:lnSpc>
              <a:spcBef>
                <a:spcPct val="0"/>
              </a:spcBef>
              <a:spcAft>
                <a:spcPct val="20000"/>
              </a:spcAft>
              <a:buBlip>
                <a:blip r:embed="rId4"/>
              </a:buBlip>
              <a:defRPr sz="1800">
                <a:solidFill>
                  <a:srgbClr val="003399"/>
                </a:solidFill>
              </a:defRPr>
            </a:lvl5pPr>
          </a:lstStyle>
          <a:p>
            <a:pPr lvl="0" eaLnBrk="1" latinLnBrk="1" hangingPunct="1"/>
            <a:r>
              <a:rPr lang="en-US" altLang="zh-CN" sz="2800" dirty="0">
                <a:solidFill>
                  <a:schemeClr val="tx1"/>
                </a:solidFill>
                <a:ea typeface="Times New Roman" pitchFamily="18" charset="0"/>
              </a:rPr>
              <a:t>[</a:t>
            </a:r>
            <a:r>
              <a:rPr lang="zh-CN" altLang="en-US" sz="2800" dirty="0">
                <a:solidFill>
                  <a:schemeClr val="tx1"/>
                </a:solidFill>
                <a:ea typeface="Times New Roman" pitchFamily="18" charset="0"/>
              </a:rPr>
              <a:t>案例</a:t>
            </a:r>
            <a:r>
              <a:rPr lang="en-US" altLang="zh-CN" sz="2800" dirty="0">
                <a:solidFill>
                  <a:schemeClr val="tx1"/>
                </a:solidFill>
                <a:ea typeface="Times New Roman" pitchFamily="18" charset="0"/>
              </a:rPr>
              <a:t>]  </a:t>
            </a:r>
            <a:r>
              <a:rPr lang="zh-CN" altLang="en-US" sz="2800" dirty="0">
                <a:solidFill>
                  <a:schemeClr val="tx1"/>
                </a:solidFill>
              </a:rPr>
              <a:t>全球</a:t>
            </a:r>
            <a:r>
              <a:rPr lang="en-US" altLang="zh-CN" sz="2800" dirty="0">
                <a:solidFill>
                  <a:schemeClr val="tx1"/>
                </a:solidFill>
              </a:rPr>
              <a:t>500</a:t>
            </a:r>
            <a:r>
              <a:rPr lang="zh-CN" altLang="en-US" sz="2800" dirty="0">
                <a:solidFill>
                  <a:schemeClr val="tx1"/>
                </a:solidFill>
              </a:rPr>
              <a:t>强超级计算机采用的操作系统</a:t>
            </a:r>
          </a:p>
        </p:txBody>
      </p:sp>
      <p:sp>
        <p:nvSpPr>
          <p:cNvPr id="1048943" name="Rectangle 2"/>
          <p:cNvSpPr>
            <a:spLocks noGrp="1"/>
          </p:cNvSpPr>
          <p:nvPr>
            <p:ph type="title"/>
          </p:nvPr>
        </p:nvSpPr>
        <p:spPr>
          <a:xfrm>
            <a:off x="22042" y="152400"/>
            <a:ext cx="8640233" cy="57626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1.1  </a:t>
            </a:r>
            <a:r>
              <a:rPr lang="zh-CN" altLang="en-US" dirty="0">
                <a:solidFill>
                  <a:schemeClr val="bg1"/>
                </a:solidFill>
              </a:rPr>
              <a:t>网络工程基本特征</a:t>
            </a:r>
          </a:p>
        </p:txBody>
      </p:sp>
      <p:pic>
        <p:nvPicPr>
          <p:cNvPr id="2097166" name="Picture 28" descr="全球500强超级计算机（按操作系统汇总）"/>
          <p:cNvPicPr>
            <a:picLocks/>
          </p:cNvPicPr>
          <p:nvPr/>
        </p:nvPicPr>
        <p:blipFill>
          <a:blip r:embed="rId5"/>
          <a:srcRect/>
          <a:stretch>
            <a:fillRect/>
          </a:stretch>
        </p:blipFill>
        <p:spPr>
          <a:xfrm>
            <a:off x="2135187" y="1844676"/>
            <a:ext cx="8388350" cy="4351337"/>
          </a:xfrm>
          <a:prstGeom prst="rect">
            <a:avLst/>
          </a:prstGeom>
          <a:noFill/>
          <a:ln w="9525" cap="flat" cmpd="sng">
            <a:solidFill>
              <a:srgbClr val="0000FF">
                <a:alpha val="100000"/>
              </a:srgbClr>
            </a:solidFill>
            <a:prstDash val="solid"/>
            <a:round/>
          </a:ln>
        </p:spPr>
      </p:pic>
    </p:spTree>
  </p:cSld>
  <p:clrMapOvr>
    <a:masterClrMapping/>
  </p:clrMapOvr>
  <p:transition spd="slow">
    <p:zo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49" name="Rectangle 3"/>
          <p:cNvSpPr>
            <a:spLocks noGrp="1"/>
          </p:cNvSpPr>
          <p:nvPr>
            <p:ph type="body" sz="half" idx="4294967295"/>
          </p:nvPr>
        </p:nvSpPr>
        <p:spPr>
          <a:xfrm>
            <a:off x="248510" y="859528"/>
            <a:ext cx="8748712" cy="5400675"/>
          </a:xfrm>
          <a:prstGeom prst="rect">
            <a:avLst/>
          </a:prstGeom>
          <a:noFill/>
          <a:ln>
            <a:noFill/>
          </a:ln>
        </p:spPr>
        <p:txBody>
          <a:bodyPr vert="horz" lIns="91440" tIns="45720" rIns="91440" bIns="45720" anchor="t"/>
          <a:lstStyle>
            <a:lvl1pPr marL="342900" indent="-342900">
              <a:lnSpc>
                <a:spcPct val="90000"/>
              </a:lnSpc>
              <a:spcBef>
                <a:spcPct val="0"/>
              </a:spcBef>
              <a:spcAft>
                <a:spcPct val="20000"/>
              </a:spcAft>
              <a:buBlip>
                <a:blip r:embed="rId2"/>
              </a:buBlip>
              <a:defRPr sz="2400">
                <a:solidFill>
                  <a:srgbClr val="0000FF"/>
                </a:solidFill>
              </a:defRPr>
            </a:lvl1pPr>
            <a:lvl2pPr marL="742950" indent="-285750">
              <a:lnSpc>
                <a:spcPct val="90000"/>
              </a:lnSpc>
              <a:spcBef>
                <a:spcPct val="0"/>
              </a:spcBef>
              <a:spcAft>
                <a:spcPct val="20000"/>
              </a:spcAft>
              <a:buBlip>
                <a:blip r:embed="rId3"/>
              </a:buBlip>
              <a:defRPr sz="2400">
                <a:solidFill>
                  <a:srgbClr val="000099"/>
                </a:solidFill>
              </a:defRPr>
            </a:lvl2pPr>
            <a:lvl3pPr marL="1143000" indent="-228600">
              <a:lnSpc>
                <a:spcPct val="90000"/>
              </a:lnSpc>
              <a:spcBef>
                <a:spcPct val="0"/>
              </a:spcBef>
              <a:spcAft>
                <a:spcPct val="20000"/>
              </a:spcAft>
              <a:buBlip>
                <a:blip r:embed="rId4"/>
              </a:buBlip>
              <a:defRPr sz="2000">
                <a:solidFill>
                  <a:srgbClr val="008000"/>
                </a:solidFill>
              </a:defRPr>
            </a:lvl3pPr>
            <a:lvl4pPr marL="1600200" indent="-228600">
              <a:lnSpc>
                <a:spcPct val="90000"/>
              </a:lnSpc>
              <a:spcBef>
                <a:spcPct val="0"/>
              </a:spcBef>
              <a:spcAft>
                <a:spcPct val="20000"/>
              </a:spcAft>
              <a:buBlip>
                <a:blip r:embed="rId4"/>
              </a:buBlip>
              <a:defRPr sz="1800">
                <a:solidFill>
                  <a:srgbClr val="800000"/>
                </a:solidFill>
              </a:defRPr>
            </a:lvl4pPr>
            <a:lvl5pPr marL="2057400" indent="-228600">
              <a:lnSpc>
                <a:spcPct val="90000"/>
              </a:lnSpc>
              <a:spcBef>
                <a:spcPct val="0"/>
              </a:spcBef>
              <a:spcAft>
                <a:spcPct val="20000"/>
              </a:spcAft>
              <a:buBlip>
                <a:blip r:embed="rId4"/>
              </a:buBlip>
              <a:defRPr sz="1800">
                <a:solidFill>
                  <a:srgbClr val="003399"/>
                </a:solidFill>
              </a:defRPr>
            </a:lvl5pPr>
          </a:lstStyle>
          <a:p>
            <a:pPr lvl="0" eaLnBrk="1" latinLnBrk="1" hangingPunct="1"/>
            <a:r>
              <a:rPr lang="en-US" altLang="zh-CN" sz="2800" dirty="0">
                <a:ea typeface="Times New Roman" pitchFamily="18" charset="0"/>
              </a:rPr>
              <a:t>FreeBSD</a:t>
            </a:r>
            <a:r>
              <a:rPr lang="zh-CN" altLang="en-US" b="0" dirty="0">
                <a:solidFill>
                  <a:srgbClr val="FF0000"/>
                </a:solidFill>
                <a:latin typeface="黑体" pitchFamily="49" charset="-122"/>
              </a:rPr>
              <a:t>(参考</a:t>
            </a:r>
            <a:r>
              <a:rPr lang="en-US" altLang="zh-CN" b="0" dirty="0">
                <a:solidFill>
                  <a:srgbClr val="FF0000"/>
                </a:solidFill>
                <a:latin typeface="黑体" pitchFamily="49" charset="-122"/>
              </a:rPr>
              <a:t>)</a:t>
            </a:r>
          </a:p>
        </p:txBody>
      </p:sp>
      <p:sp>
        <p:nvSpPr>
          <p:cNvPr id="1048948" name="Rectangle 2"/>
          <p:cNvSpPr>
            <a:spLocks noGrp="1"/>
          </p:cNvSpPr>
          <p:nvPr>
            <p:ph type="title"/>
          </p:nvPr>
        </p:nvSpPr>
        <p:spPr>
          <a:xfrm>
            <a:off x="13207" y="130864"/>
            <a:ext cx="8640233" cy="57626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1.1  </a:t>
            </a:r>
            <a:r>
              <a:rPr lang="zh-CN" altLang="en-US" dirty="0">
                <a:solidFill>
                  <a:schemeClr val="bg1"/>
                </a:solidFill>
              </a:rPr>
              <a:t>网络工程概述</a:t>
            </a:r>
          </a:p>
        </p:txBody>
      </p:sp>
      <p:pic>
        <p:nvPicPr>
          <p:cNvPr id="2097167" name="Picture 4" descr="FreeBSD1"/>
          <p:cNvPicPr>
            <a:picLocks/>
          </p:cNvPicPr>
          <p:nvPr/>
        </p:nvPicPr>
        <p:blipFill>
          <a:blip r:embed="rId5"/>
          <a:srcRect/>
          <a:stretch>
            <a:fillRect/>
          </a:stretch>
        </p:blipFill>
        <p:spPr>
          <a:xfrm>
            <a:off x="2279576" y="1472033"/>
            <a:ext cx="7740352" cy="4653136"/>
          </a:xfrm>
          <a:prstGeom prst="rect">
            <a:avLst/>
          </a:prstGeom>
          <a:noFill/>
          <a:ln>
            <a:noFill/>
          </a:ln>
        </p:spPr>
      </p:pic>
      <p:sp>
        <p:nvSpPr>
          <p:cNvPr id="1048950" name="AutoShape 5"/>
          <p:cNvSpPr/>
          <p:nvPr/>
        </p:nvSpPr>
        <p:spPr>
          <a:xfrm>
            <a:off x="8544272" y="814807"/>
            <a:ext cx="3600450" cy="504825"/>
          </a:xfrm>
          <a:prstGeom prst="wedgeRectCallout">
            <a:avLst>
              <a:gd name="adj1" fmla="val -46648"/>
              <a:gd name="adj2" fmla="val -20440"/>
            </a:avLst>
          </a:prstGeom>
          <a:solidFill>
            <a:srgbClr val="CCFFFF"/>
          </a:solidFill>
          <a:ln w="9525" cap="flat" cmpd="sng">
            <a:solidFill>
              <a:srgbClr val="FF0000">
                <a:alpha val="100000"/>
              </a:srgbClr>
            </a:solidFill>
            <a:prstDash val="solid"/>
            <a:round/>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en-US" altLang="zh-CN" sz="2000" b="1" dirty="0">
                <a:solidFill>
                  <a:srgbClr val="0000FF"/>
                </a:solidFill>
              </a:rPr>
              <a:t>[</a:t>
            </a:r>
            <a:r>
              <a:rPr lang="zh-CN" altLang="en-US" sz="2000" b="1" dirty="0">
                <a:solidFill>
                  <a:srgbClr val="0000FF"/>
                </a:solidFill>
              </a:rPr>
              <a:t>案例</a:t>
            </a:r>
            <a:r>
              <a:rPr lang="en-US" altLang="zh-CN" sz="2000" b="1" dirty="0">
                <a:solidFill>
                  <a:srgbClr val="0000FF"/>
                </a:solidFill>
              </a:rPr>
              <a:t>]</a:t>
            </a:r>
            <a:r>
              <a:rPr lang="en-US" altLang="zh-CN" dirty="0"/>
              <a:t> </a:t>
            </a:r>
            <a:r>
              <a:rPr lang="zh-CN" altLang="en-US" sz="2000" b="1" dirty="0">
                <a:solidFill>
                  <a:srgbClr val="0000FF"/>
                </a:solidFill>
              </a:rPr>
              <a:t>FreeBSD操作系统桌面</a:t>
            </a:r>
          </a:p>
        </p:txBody>
      </p:sp>
    </p:spTree>
  </p:cSld>
  <p:clrMapOvr>
    <a:masterClrMapping/>
  </p:clrMapOvr>
  <p:transition spd="slow">
    <p:zo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68" name="Picture 6"/>
          <p:cNvPicPr>
            <a:picLocks/>
          </p:cNvPicPr>
          <p:nvPr/>
        </p:nvPicPr>
        <p:blipFill>
          <a:blip r:embed="rId2"/>
          <a:srcRect/>
          <a:stretch>
            <a:fillRect/>
          </a:stretch>
        </p:blipFill>
        <p:spPr>
          <a:xfrm>
            <a:off x="2135560" y="1653654"/>
            <a:ext cx="7308304" cy="4644033"/>
          </a:xfrm>
          <a:prstGeom prst="rect">
            <a:avLst/>
          </a:prstGeom>
          <a:noFill/>
          <a:ln>
            <a:noFill/>
          </a:ln>
        </p:spPr>
      </p:pic>
      <p:sp>
        <p:nvSpPr>
          <p:cNvPr id="1048954" name="AutoShape 5"/>
          <p:cNvSpPr/>
          <p:nvPr/>
        </p:nvSpPr>
        <p:spPr>
          <a:xfrm>
            <a:off x="335360" y="811857"/>
            <a:ext cx="3528392" cy="384895"/>
          </a:xfrm>
          <a:prstGeom prst="wedgeRectCallout">
            <a:avLst>
              <a:gd name="adj1" fmla="val -46009"/>
              <a:gd name="adj2" fmla="val -15440"/>
            </a:avLst>
          </a:prstGeom>
          <a:solidFill>
            <a:srgbClr val="CCFFFF"/>
          </a:solidFill>
          <a:ln w="9525" cap="flat" cmpd="sng">
            <a:solidFill>
              <a:srgbClr val="FF0000">
                <a:alpha val="100000"/>
              </a:srgbClr>
            </a:solidFill>
            <a:prstDash val="solid"/>
            <a:round/>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en-US" altLang="zh-CN" sz="2000" b="1" dirty="0">
                <a:solidFill>
                  <a:srgbClr val="0000FF"/>
                </a:solidFill>
              </a:rPr>
              <a:t>[</a:t>
            </a:r>
            <a:r>
              <a:rPr lang="zh-CN" altLang="en-US" sz="2000" b="1" dirty="0">
                <a:solidFill>
                  <a:srgbClr val="0000FF"/>
                </a:solidFill>
              </a:rPr>
              <a:t>案例</a:t>
            </a:r>
            <a:r>
              <a:rPr lang="en-US" altLang="zh-CN" sz="2000" b="1" dirty="0">
                <a:solidFill>
                  <a:srgbClr val="0000FF"/>
                </a:solidFill>
              </a:rPr>
              <a:t>] FreeBSD</a:t>
            </a:r>
            <a:r>
              <a:rPr lang="zh-CN" altLang="en-US" sz="2000" b="1" dirty="0">
                <a:solidFill>
                  <a:srgbClr val="0000FF"/>
                </a:solidFill>
              </a:rPr>
              <a:t>版本发展</a:t>
            </a:r>
          </a:p>
        </p:txBody>
      </p:sp>
    </p:spTree>
  </p:cSld>
  <p:clrMapOvr>
    <a:masterClrMapping/>
  </p:clrMapOvr>
  <p:transition spd="slow">
    <p:zo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69" name="Picture 4" descr="cisco ios 特性1"/>
          <p:cNvPicPr>
            <a:picLocks/>
          </p:cNvPicPr>
          <p:nvPr/>
        </p:nvPicPr>
        <p:blipFill>
          <a:blip r:embed="rId2"/>
          <a:srcRect/>
          <a:stretch>
            <a:fillRect/>
          </a:stretch>
        </p:blipFill>
        <p:spPr>
          <a:xfrm>
            <a:off x="4007768" y="991502"/>
            <a:ext cx="6300193" cy="4874996"/>
          </a:xfrm>
          <a:prstGeom prst="rect">
            <a:avLst/>
          </a:prstGeom>
          <a:noFill/>
          <a:ln>
            <a:noFill/>
          </a:ln>
        </p:spPr>
      </p:pic>
      <p:sp>
        <p:nvSpPr>
          <p:cNvPr id="1048958" name="AutoShape 3"/>
          <p:cNvSpPr/>
          <p:nvPr/>
        </p:nvSpPr>
        <p:spPr>
          <a:xfrm>
            <a:off x="263352" y="1052736"/>
            <a:ext cx="3240087" cy="576262"/>
          </a:xfrm>
          <a:prstGeom prst="wedgeRectCallout">
            <a:avLst>
              <a:gd name="adj1" fmla="val 6051"/>
              <a:gd name="adj2" fmla="val -31819"/>
            </a:avLst>
          </a:prstGeom>
          <a:solidFill>
            <a:srgbClr val="CCFFFF"/>
          </a:solidFill>
          <a:ln w="9525" cap="flat" cmpd="sng">
            <a:solidFill>
              <a:srgbClr val="FF0000">
                <a:alpha val="100000"/>
              </a:srgbClr>
            </a:solidFill>
            <a:prstDash val="solid"/>
            <a:round/>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en-US" altLang="zh-CN" sz="2000" b="1">
                <a:solidFill>
                  <a:srgbClr val="0000FF"/>
                </a:solidFill>
              </a:rPr>
              <a:t>[</a:t>
            </a:r>
            <a:r>
              <a:rPr lang="zh-CN" altLang="en-US" sz="2000" b="1">
                <a:solidFill>
                  <a:srgbClr val="0000FF"/>
                </a:solidFill>
              </a:rPr>
              <a:t>案例</a:t>
            </a:r>
            <a:r>
              <a:rPr lang="en-US" altLang="zh-CN" sz="2000" b="1">
                <a:solidFill>
                  <a:srgbClr val="0000FF"/>
                </a:solidFill>
              </a:rPr>
              <a:t>]</a:t>
            </a:r>
            <a:r>
              <a:rPr lang="en-US" altLang="zh-CN"/>
              <a:t> </a:t>
            </a:r>
            <a:r>
              <a:rPr lang="zh-CN" altLang="en-US" sz="2000" b="1">
                <a:solidFill>
                  <a:srgbClr val="0000FF"/>
                </a:solidFill>
              </a:rPr>
              <a:t>Cisco IOS基本组成</a:t>
            </a:r>
          </a:p>
        </p:txBody>
      </p:sp>
    </p:spTree>
  </p:cSld>
  <p:clrMapOvr>
    <a:masterClrMapping/>
  </p:clrMapOvr>
  <p:transition spd="slow">
    <p:zo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70" name="Picture 6" descr="检查进程状态。下面显示了IP路由进程的状态"/>
          <p:cNvPicPr>
            <a:picLocks/>
          </p:cNvPicPr>
          <p:nvPr/>
        </p:nvPicPr>
        <p:blipFill>
          <a:blip r:embed="rId2"/>
          <a:srcRect/>
          <a:stretch>
            <a:fillRect/>
          </a:stretch>
        </p:blipFill>
        <p:spPr>
          <a:xfrm>
            <a:off x="4478987" y="1124744"/>
            <a:ext cx="7524328" cy="4960218"/>
          </a:xfrm>
          <a:prstGeom prst="rect">
            <a:avLst/>
          </a:prstGeom>
          <a:noFill/>
          <a:ln>
            <a:noFill/>
          </a:ln>
        </p:spPr>
      </p:pic>
      <p:sp>
        <p:nvSpPr>
          <p:cNvPr id="1048963" name="AutoShape 3"/>
          <p:cNvSpPr/>
          <p:nvPr/>
        </p:nvSpPr>
        <p:spPr>
          <a:xfrm>
            <a:off x="191344" y="908720"/>
            <a:ext cx="4032250" cy="935037"/>
          </a:xfrm>
          <a:prstGeom prst="wedgeRectCallout">
            <a:avLst>
              <a:gd name="adj1" fmla="val -28977"/>
              <a:gd name="adj2" fmla="val -31833"/>
            </a:avLst>
          </a:prstGeom>
          <a:solidFill>
            <a:srgbClr val="CCFFFF"/>
          </a:solidFill>
          <a:ln w="9525" cap="flat" cmpd="sng">
            <a:solidFill>
              <a:srgbClr val="FF0000">
                <a:alpha val="100000"/>
              </a:srgbClr>
            </a:solidFill>
            <a:prstDash val="solid"/>
            <a:round/>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en-US" altLang="zh-CN" sz="2000" b="1" dirty="0">
                <a:solidFill>
                  <a:srgbClr val="0000FF"/>
                </a:solidFill>
              </a:rPr>
              <a:t>[</a:t>
            </a:r>
            <a:r>
              <a:rPr lang="zh-CN" altLang="en-US" sz="2000" b="1" dirty="0">
                <a:solidFill>
                  <a:srgbClr val="0000FF"/>
                </a:solidFill>
              </a:rPr>
              <a:t>案例</a:t>
            </a:r>
            <a:r>
              <a:rPr lang="en-US" altLang="zh-CN" sz="2000" b="1" dirty="0">
                <a:solidFill>
                  <a:srgbClr val="0000FF"/>
                </a:solidFill>
              </a:rPr>
              <a:t>]</a:t>
            </a:r>
            <a:r>
              <a:rPr lang="en-US" altLang="zh-CN" dirty="0"/>
              <a:t> </a:t>
            </a:r>
            <a:r>
              <a:rPr lang="zh-CN" altLang="en-US" sz="2000" b="1" dirty="0">
                <a:solidFill>
                  <a:srgbClr val="0000FF"/>
                </a:solidFill>
              </a:rPr>
              <a:t>Cisco IOS字符工作界面：</a:t>
            </a:r>
          </a:p>
          <a:p>
            <a:pPr lvl="0" algn="ctr" eaLnBrk="1" latinLnBrk="1" hangingPunct="1"/>
            <a:r>
              <a:rPr lang="zh-CN" altLang="en-US" sz="2000" b="1" dirty="0">
                <a:solidFill>
                  <a:srgbClr val="0000FF"/>
                </a:solidFill>
              </a:rPr>
              <a:t>显示</a:t>
            </a:r>
            <a:r>
              <a:rPr lang="en-US" altLang="zh-CN" sz="2000" b="1" dirty="0">
                <a:solidFill>
                  <a:srgbClr val="0000FF"/>
                </a:solidFill>
              </a:rPr>
              <a:t>IP</a:t>
            </a:r>
            <a:r>
              <a:rPr lang="zh-CN" altLang="en-US" sz="2000" b="1" dirty="0">
                <a:solidFill>
                  <a:srgbClr val="0000FF"/>
                </a:solidFill>
              </a:rPr>
              <a:t>路由进程状态</a:t>
            </a:r>
          </a:p>
        </p:txBody>
      </p:sp>
    </p:spTree>
  </p:cSld>
  <p:clrMapOvr>
    <a:masterClrMapping/>
  </p:clrMapOvr>
  <p:transition spd="slow">
    <p:zoom/>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69" name="Rectangle 3"/>
          <p:cNvSpPr>
            <a:spLocks noGrp="1"/>
          </p:cNvSpPr>
          <p:nvPr>
            <p:ph type="body" sz="half" idx="4294967295"/>
          </p:nvPr>
        </p:nvSpPr>
        <p:spPr>
          <a:xfrm>
            <a:off x="479376" y="908721"/>
            <a:ext cx="8064896" cy="504056"/>
          </a:xfrm>
          <a:prstGeom prst="rect">
            <a:avLst/>
          </a:prstGeom>
          <a:noFill/>
          <a:ln>
            <a:noFill/>
          </a:ln>
        </p:spPr>
        <p:txBody>
          <a:bodyPr vert="horz" lIns="91440" tIns="45720" rIns="91440" bIns="45720" anchor="t"/>
          <a:lstStyle>
            <a:lvl1pPr marL="342900" indent="-342900">
              <a:lnSpc>
                <a:spcPct val="90000"/>
              </a:lnSpc>
              <a:spcBef>
                <a:spcPct val="0"/>
              </a:spcBef>
              <a:spcAft>
                <a:spcPct val="20000"/>
              </a:spcAft>
              <a:buBlip>
                <a:blip r:embed="rId2"/>
              </a:buBlip>
              <a:defRPr sz="2400">
                <a:solidFill>
                  <a:srgbClr val="0000FF"/>
                </a:solidFill>
              </a:defRPr>
            </a:lvl1pPr>
            <a:lvl2pPr marL="742950" indent="-285750">
              <a:lnSpc>
                <a:spcPct val="90000"/>
              </a:lnSpc>
              <a:spcBef>
                <a:spcPct val="0"/>
              </a:spcBef>
              <a:spcAft>
                <a:spcPct val="20000"/>
              </a:spcAft>
              <a:buBlip>
                <a:blip r:embed="rId3"/>
              </a:buBlip>
              <a:defRPr sz="2400">
                <a:solidFill>
                  <a:srgbClr val="000099"/>
                </a:solidFill>
              </a:defRPr>
            </a:lvl2pPr>
            <a:lvl3pPr marL="1143000" indent="-228600">
              <a:lnSpc>
                <a:spcPct val="90000"/>
              </a:lnSpc>
              <a:spcBef>
                <a:spcPct val="0"/>
              </a:spcBef>
              <a:spcAft>
                <a:spcPct val="20000"/>
              </a:spcAft>
              <a:buBlip>
                <a:blip r:embed="rId4"/>
              </a:buBlip>
              <a:defRPr sz="2000">
                <a:solidFill>
                  <a:srgbClr val="008000"/>
                </a:solidFill>
              </a:defRPr>
            </a:lvl3pPr>
            <a:lvl4pPr marL="1600200" indent="-228600">
              <a:lnSpc>
                <a:spcPct val="90000"/>
              </a:lnSpc>
              <a:spcBef>
                <a:spcPct val="0"/>
              </a:spcBef>
              <a:spcAft>
                <a:spcPct val="20000"/>
              </a:spcAft>
              <a:buBlip>
                <a:blip r:embed="rId4"/>
              </a:buBlip>
              <a:defRPr sz="1800">
                <a:solidFill>
                  <a:srgbClr val="800000"/>
                </a:solidFill>
              </a:defRPr>
            </a:lvl4pPr>
            <a:lvl5pPr marL="2057400" indent="-228600">
              <a:lnSpc>
                <a:spcPct val="90000"/>
              </a:lnSpc>
              <a:spcBef>
                <a:spcPct val="0"/>
              </a:spcBef>
              <a:spcAft>
                <a:spcPct val="20000"/>
              </a:spcAft>
              <a:buBlip>
                <a:blip r:embed="rId4"/>
              </a:buBlip>
              <a:defRPr sz="1800">
                <a:solidFill>
                  <a:srgbClr val="003399"/>
                </a:solidFill>
              </a:defRPr>
            </a:lvl5pPr>
          </a:lstStyle>
          <a:p>
            <a:pPr lvl="0" eaLnBrk="1" latinLnBrk="1" hangingPunct="1"/>
            <a:r>
              <a:rPr lang="zh-CN" altLang="en-US" sz="2800" dirty="0">
                <a:solidFill>
                  <a:srgbClr val="000099"/>
                </a:solidFill>
              </a:rPr>
              <a:t>网络服务器软件</a:t>
            </a:r>
          </a:p>
        </p:txBody>
      </p:sp>
      <p:sp>
        <p:nvSpPr>
          <p:cNvPr id="1048968" name="Rectangle 2"/>
          <p:cNvSpPr>
            <a:spLocks noGrp="1"/>
          </p:cNvSpPr>
          <p:nvPr>
            <p:ph type="title"/>
          </p:nvPr>
        </p:nvSpPr>
        <p:spPr>
          <a:xfrm>
            <a:off x="-31012" y="181279"/>
            <a:ext cx="8640233" cy="57626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1.1  </a:t>
            </a:r>
            <a:r>
              <a:rPr lang="zh-CN" altLang="en-US" dirty="0">
                <a:solidFill>
                  <a:schemeClr val="bg1"/>
                </a:solidFill>
              </a:rPr>
              <a:t>网络工程基本特征</a:t>
            </a:r>
          </a:p>
        </p:txBody>
      </p:sp>
      <p:graphicFrame>
        <p:nvGraphicFramePr>
          <p:cNvPr id="4194307" name="表格 4194306"/>
          <p:cNvGraphicFramePr>
            <a:graphicFrameLocks/>
          </p:cNvGraphicFramePr>
          <p:nvPr/>
        </p:nvGraphicFramePr>
        <p:xfrm>
          <a:off x="1992312" y="1922463"/>
          <a:ext cx="8602661" cy="3235324"/>
        </p:xfrm>
        <a:graphic>
          <a:graphicData uri="http://schemas.openxmlformats.org/drawingml/2006/table">
            <a:tbl>
              <a:tblPr/>
              <a:tblGrid>
                <a:gridCol w="2816224">
                  <a:extLst>
                    <a:ext uri="{9D8B030D-6E8A-4147-A177-3AD203B41FA5}">
                      <a16:colId xmlns:a16="http://schemas.microsoft.com/office/drawing/2014/main" val="20000"/>
                    </a:ext>
                  </a:extLst>
                </a:gridCol>
                <a:gridCol w="5786437">
                  <a:extLst>
                    <a:ext uri="{9D8B030D-6E8A-4147-A177-3AD203B41FA5}">
                      <a16:colId xmlns:a16="http://schemas.microsoft.com/office/drawing/2014/main" val="20001"/>
                    </a:ext>
                  </a:extLst>
                </a:gridCol>
              </a:tblGrid>
              <a:tr h="539750">
                <a:tc>
                  <a:txBody>
                    <a:bodyPr/>
                    <a:lstStyle/>
                    <a:p>
                      <a:pPr marL="342900" lvl="0" indent="-342900" algn="ctr" eaLnBrk="1" latinLnBrk="1" hangingPunct="1">
                        <a:lnSpc>
                          <a:spcPct val="90000"/>
                        </a:lnSpc>
                        <a:spcAft>
                          <a:spcPct val="20000"/>
                        </a:spcAft>
                        <a:buFontTx/>
                        <a:buNone/>
                      </a:pPr>
                      <a:r>
                        <a:rPr lang="zh-CN" altLang="en-US" sz="2400" b="1" dirty="0">
                          <a:solidFill>
                            <a:srgbClr val="000099"/>
                          </a:solidFill>
                          <a:ea typeface="黑体" pitchFamily="49" charset="-122"/>
                        </a:rPr>
                        <a:t>软件名称</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solidFill>
                      <a:srgbClr val="FFCCFF"/>
                    </a:solidFill>
                  </a:tcPr>
                </a:tc>
                <a:tc>
                  <a:txBody>
                    <a:bodyPr/>
                    <a:lstStyle/>
                    <a:p>
                      <a:pPr marL="342900" lvl="0" indent="-342900" algn="ctr" eaLnBrk="1" latinLnBrk="1" hangingPunct="1">
                        <a:lnSpc>
                          <a:spcPct val="90000"/>
                        </a:lnSpc>
                        <a:spcAft>
                          <a:spcPct val="20000"/>
                        </a:spcAft>
                        <a:buFontTx/>
                        <a:buNone/>
                      </a:pPr>
                      <a:r>
                        <a:rPr lang="zh-CN" altLang="en-US" sz="2400" b="1">
                          <a:solidFill>
                            <a:srgbClr val="000099"/>
                          </a:solidFill>
                          <a:ea typeface="黑体" pitchFamily="49" charset="-122"/>
                        </a:rPr>
                        <a:t>服务器软件说明</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solidFill>
                      <a:srgbClr val="FFCCFF"/>
                    </a:solidFill>
                  </a:tcPr>
                </a:tc>
                <a:extLst>
                  <a:ext uri="{0D108BD9-81ED-4DB2-BD59-A6C34878D82A}">
                    <a16:rowId xmlns:a16="http://schemas.microsoft.com/office/drawing/2014/main" val="10000"/>
                  </a:ext>
                </a:extLst>
              </a:tr>
              <a:tr h="538162">
                <a:tc>
                  <a:txBody>
                    <a:bodyPr/>
                    <a:lstStyle/>
                    <a:p>
                      <a:pPr marL="342900" lvl="0" indent="-342900" algn="l" eaLnBrk="1" latinLnBrk="1" hangingPunct="1">
                        <a:lnSpc>
                          <a:spcPct val="90000"/>
                        </a:lnSpc>
                        <a:spcAft>
                          <a:spcPct val="20000"/>
                        </a:spcAft>
                        <a:buFontTx/>
                        <a:buNone/>
                      </a:pPr>
                      <a:r>
                        <a:rPr lang="en-US" altLang="zh-CN" sz="2400" b="1">
                          <a:solidFill>
                            <a:srgbClr val="FF0000"/>
                          </a:solidFill>
                          <a:effectLst>
                            <a:outerShdw blurRad="38100" dist="38100" dir="2700000" algn="tl">
                              <a:srgbClr val="C0C0C0"/>
                            </a:outerShdw>
                          </a:effectLst>
                          <a:ea typeface="黑体" pitchFamily="49" charset="-122"/>
                        </a:rPr>
                        <a:t>Apache </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marL="342900" lvl="0" indent="-342900" algn="l" eaLnBrk="1" latinLnBrk="1" hangingPunct="1">
                        <a:lnSpc>
                          <a:spcPct val="90000"/>
                        </a:lnSpc>
                        <a:spcAft>
                          <a:spcPct val="20000"/>
                        </a:spcAft>
                        <a:buFontTx/>
                        <a:buNone/>
                      </a:pPr>
                      <a:r>
                        <a:rPr lang="zh-CN" altLang="en-US" sz="2400" b="1" dirty="0">
                          <a:solidFill>
                            <a:srgbClr val="000099"/>
                          </a:solidFill>
                          <a:ea typeface="楷体_GB2312" pitchFamily="49" charset="-122"/>
                        </a:rPr>
                        <a:t>应用最多的</a:t>
                      </a:r>
                      <a:r>
                        <a:rPr lang="en-US" altLang="zh-CN" sz="2400" b="1" dirty="0">
                          <a:solidFill>
                            <a:srgbClr val="000099"/>
                          </a:solidFill>
                          <a:ea typeface="楷体_GB2312" pitchFamily="49" charset="-122"/>
                        </a:rPr>
                        <a:t>Web</a:t>
                      </a:r>
                      <a:r>
                        <a:rPr lang="zh-CN" altLang="en-US" sz="2400" b="1" dirty="0">
                          <a:solidFill>
                            <a:srgbClr val="000099"/>
                          </a:solidFill>
                          <a:ea typeface="楷体_GB2312" pitchFamily="49" charset="-122"/>
                        </a:rPr>
                        <a:t>服务器开源软件</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1"/>
                  </a:ext>
                </a:extLst>
              </a:tr>
              <a:tr h="539750">
                <a:tc>
                  <a:txBody>
                    <a:bodyPr/>
                    <a:lstStyle/>
                    <a:p>
                      <a:pPr marL="342900" lvl="0" indent="-342900" algn="l" eaLnBrk="1" latinLnBrk="1" hangingPunct="1">
                        <a:lnSpc>
                          <a:spcPct val="90000"/>
                        </a:lnSpc>
                        <a:spcAft>
                          <a:spcPct val="20000"/>
                        </a:spcAft>
                        <a:buFontTx/>
                        <a:buNone/>
                      </a:pPr>
                      <a:r>
                        <a:rPr lang="en-US" altLang="zh-CN" sz="2400" b="1" dirty="0">
                          <a:solidFill>
                            <a:srgbClr val="000099"/>
                          </a:solidFill>
                          <a:ea typeface="黑体" pitchFamily="49" charset="-122"/>
                        </a:rPr>
                        <a:t>IIS </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marL="342900" lvl="0" indent="-342900" algn="l" eaLnBrk="1" latinLnBrk="1" hangingPunct="1">
                        <a:lnSpc>
                          <a:spcPct val="90000"/>
                        </a:lnSpc>
                        <a:spcAft>
                          <a:spcPct val="20000"/>
                        </a:spcAft>
                        <a:buFontTx/>
                        <a:buNone/>
                      </a:pPr>
                      <a:r>
                        <a:rPr lang="zh-CN" altLang="en-US" sz="2400" b="1">
                          <a:solidFill>
                            <a:srgbClr val="000099"/>
                          </a:solidFill>
                          <a:ea typeface="楷体_GB2312" pitchFamily="49" charset="-122"/>
                        </a:rPr>
                        <a:t>微软公司</a:t>
                      </a:r>
                      <a:r>
                        <a:rPr lang="en-US" altLang="zh-CN" sz="2400" b="1">
                          <a:solidFill>
                            <a:srgbClr val="000099"/>
                          </a:solidFill>
                          <a:ea typeface="楷体_GB2312" pitchFamily="49" charset="-122"/>
                        </a:rPr>
                        <a:t>Web</a:t>
                      </a:r>
                      <a:r>
                        <a:rPr lang="zh-CN" altLang="en-US" sz="2400" b="1">
                          <a:solidFill>
                            <a:srgbClr val="000099"/>
                          </a:solidFill>
                          <a:ea typeface="楷体_GB2312" pitchFamily="49" charset="-122"/>
                        </a:rPr>
                        <a:t>、</a:t>
                      </a:r>
                      <a:r>
                        <a:rPr lang="en-US" altLang="zh-CN" sz="2400" b="1">
                          <a:solidFill>
                            <a:srgbClr val="000099"/>
                          </a:solidFill>
                          <a:ea typeface="楷体_GB2312" pitchFamily="49" charset="-122"/>
                        </a:rPr>
                        <a:t>FTP</a:t>
                      </a:r>
                      <a:r>
                        <a:rPr lang="zh-CN" altLang="en-US" sz="2400" b="1">
                          <a:solidFill>
                            <a:srgbClr val="000099"/>
                          </a:solidFill>
                          <a:ea typeface="楷体_GB2312" pitchFamily="49" charset="-122"/>
                        </a:rPr>
                        <a:t>服务器 </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2"/>
                  </a:ext>
                </a:extLst>
              </a:tr>
              <a:tr h="539750">
                <a:tc>
                  <a:txBody>
                    <a:bodyPr/>
                    <a:lstStyle/>
                    <a:p>
                      <a:pPr marL="342900" lvl="0" indent="-342900" algn="l" eaLnBrk="1" latinLnBrk="1" hangingPunct="1">
                        <a:lnSpc>
                          <a:spcPct val="90000"/>
                        </a:lnSpc>
                        <a:spcAft>
                          <a:spcPct val="20000"/>
                        </a:spcAft>
                        <a:buFontTx/>
                        <a:buNone/>
                      </a:pPr>
                      <a:r>
                        <a:rPr lang="en-US" altLang="zh-CN" sz="2400" b="1">
                          <a:solidFill>
                            <a:srgbClr val="000099"/>
                          </a:solidFill>
                          <a:ea typeface="黑体" pitchFamily="49" charset="-122"/>
                        </a:rPr>
                        <a:t>ISA Server </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marL="342900" lvl="0" indent="-342900" algn="l" eaLnBrk="1" latinLnBrk="1" hangingPunct="1">
                        <a:lnSpc>
                          <a:spcPct val="90000"/>
                        </a:lnSpc>
                        <a:spcAft>
                          <a:spcPct val="20000"/>
                        </a:spcAft>
                        <a:buFontTx/>
                        <a:buNone/>
                      </a:pPr>
                      <a:r>
                        <a:rPr lang="zh-CN" altLang="en-US" sz="2400" b="1">
                          <a:solidFill>
                            <a:srgbClr val="000099"/>
                          </a:solidFill>
                          <a:ea typeface="楷体_GB2312" pitchFamily="49" charset="-122"/>
                        </a:rPr>
                        <a:t>微软公司防火墙 </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3"/>
                  </a:ext>
                </a:extLst>
              </a:tr>
              <a:tr h="538162">
                <a:tc>
                  <a:txBody>
                    <a:bodyPr/>
                    <a:lstStyle/>
                    <a:p>
                      <a:pPr marL="342900" lvl="0" indent="-342900" algn="l" eaLnBrk="1" latinLnBrk="1" hangingPunct="1">
                        <a:lnSpc>
                          <a:spcPct val="90000"/>
                        </a:lnSpc>
                        <a:spcAft>
                          <a:spcPct val="20000"/>
                        </a:spcAft>
                        <a:buFontTx/>
                        <a:buNone/>
                      </a:pPr>
                      <a:r>
                        <a:rPr lang="en-US" altLang="zh-CN" sz="2400" b="1">
                          <a:solidFill>
                            <a:srgbClr val="000099"/>
                          </a:solidFill>
                          <a:ea typeface="黑体" pitchFamily="49" charset="-122"/>
                        </a:rPr>
                        <a:t>Exchang Server </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marL="342900" lvl="0" indent="-342900" algn="l" eaLnBrk="1" latinLnBrk="1" hangingPunct="1">
                        <a:lnSpc>
                          <a:spcPct val="90000"/>
                        </a:lnSpc>
                        <a:spcAft>
                          <a:spcPct val="20000"/>
                        </a:spcAft>
                        <a:buFontTx/>
                        <a:buNone/>
                      </a:pPr>
                      <a:r>
                        <a:rPr lang="zh-CN" altLang="en-US" sz="2400" b="1">
                          <a:solidFill>
                            <a:srgbClr val="000099"/>
                          </a:solidFill>
                          <a:ea typeface="楷体_GB2312" pitchFamily="49" charset="-122"/>
                        </a:rPr>
                        <a:t>微软公司群件服务器 </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4"/>
                  </a:ext>
                </a:extLst>
              </a:tr>
              <a:tr h="539750">
                <a:tc>
                  <a:txBody>
                    <a:bodyPr/>
                    <a:lstStyle/>
                    <a:p>
                      <a:pPr marL="342900" lvl="0" indent="-342900" algn="l" eaLnBrk="1" latinLnBrk="1" hangingPunct="1">
                        <a:lnSpc>
                          <a:spcPct val="90000"/>
                        </a:lnSpc>
                        <a:spcAft>
                          <a:spcPct val="20000"/>
                        </a:spcAft>
                        <a:buFontTx/>
                        <a:buNone/>
                      </a:pPr>
                      <a:r>
                        <a:rPr lang="en-US" altLang="zh-CN" sz="2400" b="1">
                          <a:solidFill>
                            <a:srgbClr val="000099"/>
                          </a:solidFill>
                          <a:ea typeface="黑体" pitchFamily="49" charset="-122"/>
                        </a:rPr>
                        <a:t>Heartbeat </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marL="342900" lvl="0" indent="-342900" algn="l" eaLnBrk="1" latinLnBrk="1" hangingPunct="1">
                        <a:lnSpc>
                          <a:spcPct val="90000"/>
                        </a:lnSpc>
                        <a:spcAft>
                          <a:spcPct val="20000"/>
                        </a:spcAft>
                        <a:buFontTx/>
                        <a:buNone/>
                      </a:pPr>
                      <a:r>
                        <a:rPr lang="en-US" altLang="zh-CN" sz="2400" b="1" dirty="0">
                          <a:solidFill>
                            <a:srgbClr val="000099"/>
                          </a:solidFill>
                          <a:ea typeface="楷体_GB2312" pitchFamily="49" charset="-122"/>
                        </a:rPr>
                        <a:t>Linux</a:t>
                      </a:r>
                      <a:r>
                        <a:rPr lang="zh-CN" altLang="en-US" sz="2400" b="1" dirty="0">
                          <a:solidFill>
                            <a:srgbClr val="000099"/>
                          </a:solidFill>
                          <a:ea typeface="楷体_GB2312" pitchFamily="49" charset="-122"/>
                        </a:rPr>
                        <a:t>下高可靠集群和负载均衡软件</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5"/>
                  </a:ext>
                </a:extLst>
              </a:tr>
            </a:tbl>
          </a:graphicData>
        </a:graphic>
      </p:graphicFrame>
    </p:spTree>
  </p:cSld>
  <p:clrMapOvr>
    <a:masterClrMapping/>
  </p:clrMapOvr>
  <p:transition spd="slow">
    <p:zoom/>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96" name="Rectangle 3"/>
          <p:cNvSpPr>
            <a:spLocks noGrp="1"/>
          </p:cNvSpPr>
          <p:nvPr>
            <p:ph type="body" sz="half" idx="4294967295"/>
          </p:nvPr>
        </p:nvSpPr>
        <p:spPr>
          <a:xfrm>
            <a:off x="280988" y="890984"/>
            <a:ext cx="8748712" cy="5400675"/>
          </a:xfrm>
          <a:prstGeom prst="rect">
            <a:avLst/>
          </a:prstGeom>
          <a:noFill/>
          <a:ln>
            <a:noFill/>
          </a:ln>
        </p:spPr>
        <p:txBody>
          <a:bodyPr vert="horz" lIns="91440" tIns="45720" rIns="91440" bIns="45720" anchor="t"/>
          <a:lstStyle>
            <a:lvl1pPr marL="342900" indent="-342900">
              <a:lnSpc>
                <a:spcPct val="90000"/>
              </a:lnSpc>
              <a:spcBef>
                <a:spcPct val="0"/>
              </a:spcBef>
              <a:spcAft>
                <a:spcPct val="20000"/>
              </a:spcAft>
              <a:buBlip>
                <a:blip r:embed="rId2"/>
              </a:buBlip>
              <a:defRPr sz="2400">
                <a:solidFill>
                  <a:srgbClr val="0000FF"/>
                </a:solidFill>
              </a:defRPr>
            </a:lvl1pPr>
            <a:lvl2pPr marL="742950" indent="-285750">
              <a:lnSpc>
                <a:spcPct val="90000"/>
              </a:lnSpc>
              <a:spcBef>
                <a:spcPct val="0"/>
              </a:spcBef>
              <a:spcAft>
                <a:spcPct val="20000"/>
              </a:spcAft>
              <a:buBlip>
                <a:blip r:embed="rId3"/>
              </a:buBlip>
              <a:defRPr sz="2400">
                <a:solidFill>
                  <a:srgbClr val="000099"/>
                </a:solidFill>
              </a:defRPr>
            </a:lvl2pPr>
            <a:lvl3pPr marL="1143000" indent="-228600">
              <a:lnSpc>
                <a:spcPct val="90000"/>
              </a:lnSpc>
              <a:spcBef>
                <a:spcPct val="0"/>
              </a:spcBef>
              <a:spcAft>
                <a:spcPct val="20000"/>
              </a:spcAft>
              <a:buBlip>
                <a:blip r:embed="rId4"/>
              </a:buBlip>
              <a:defRPr sz="2000">
                <a:solidFill>
                  <a:srgbClr val="008000"/>
                </a:solidFill>
              </a:defRPr>
            </a:lvl3pPr>
            <a:lvl4pPr marL="1600200" indent="-228600">
              <a:lnSpc>
                <a:spcPct val="90000"/>
              </a:lnSpc>
              <a:spcBef>
                <a:spcPct val="0"/>
              </a:spcBef>
              <a:spcAft>
                <a:spcPct val="20000"/>
              </a:spcAft>
              <a:buBlip>
                <a:blip r:embed="rId4"/>
              </a:buBlip>
              <a:defRPr sz="1800">
                <a:solidFill>
                  <a:srgbClr val="800000"/>
                </a:solidFill>
              </a:defRPr>
            </a:lvl4pPr>
            <a:lvl5pPr marL="2057400" indent="-228600">
              <a:lnSpc>
                <a:spcPct val="90000"/>
              </a:lnSpc>
              <a:spcBef>
                <a:spcPct val="0"/>
              </a:spcBef>
              <a:spcAft>
                <a:spcPct val="20000"/>
              </a:spcAft>
              <a:buBlip>
                <a:blip r:embed="rId4"/>
              </a:buBlip>
              <a:defRPr sz="1800">
                <a:solidFill>
                  <a:srgbClr val="003399"/>
                </a:solidFill>
              </a:defRPr>
            </a:lvl5pPr>
          </a:lstStyle>
          <a:p>
            <a:pPr lvl="0" eaLnBrk="1" latinLnBrk="1" hangingPunct="1"/>
            <a:r>
              <a:rPr lang="en-US" altLang="zh-CN" sz="2800" dirty="0"/>
              <a:t>Web</a:t>
            </a:r>
            <a:r>
              <a:rPr lang="zh-CN" altLang="en-US" sz="2800" dirty="0"/>
              <a:t>服务器市场调查</a:t>
            </a:r>
            <a:r>
              <a:rPr lang="en-US" altLang="zh-CN" sz="2800" dirty="0">
                <a:solidFill>
                  <a:srgbClr val="FF0000"/>
                </a:solidFill>
                <a:latin typeface="黑体" pitchFamily="49" charset="-122"/>
              </a:rPr>
              <a:t>(</a:t>
            </a:r>
            <a:r>
              <a:rPr lang="zh-CN" altLang="en-US" sz="2800" dirty="0">
                <a:solidFill>
                  <a:srgbClr val="FF0000"/>
                </a:solidFill>
                <a:latin typeface="黑体" pitchFamily="49" charset="-122"/>
              </a:rPr>
              <a:t>参考</a:t>
            </a:r>
            <a:r>
              <a:rPr lang="en-US" altLang="zh-CN" sz="2800" dirty="0">
                <a:solidFill>
                  <a:srgbClr val="FF0000"/>
                </a:solidFill>
                <a:latin typeface="黑体" pitchFamily="49" charset="-122"/>
              </a:rPr>
              <a:t>)</a:t>
            </a:r>
          </a:p>
        </p:txBody>
      </p:sp>
      <p:sp>
        <p:nvSpPr>
          <p:cNvPr id="1048995" name="Rectangle 2"/>
          <p:cNvSpPr>
            <a:spLocks noGrp="1"/>
          </p:cNvSpPr>
          <p:nvPr>
            <p:ph type="title"/>
          </p:nvPr>
        </p:nvSpPr>
        <p:spPr>
          <a:xfrm>
            <a:off x="3471" y="137140"/>
            <a:ext cx="8640233" cy="57626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1.1  </a:t>
            </a:r>
            <a:r>
              <a:rPr lang="zh-CN" altLang="en-US" dirty="0">
                <a:solidFill>
                  <a:schemeClr val="bg1"/>
                </a:solidFill>
              </a:rPr>
              <a:t>网络工程基本特征</a:t>
            </a:r>
          </a:p>
        </p:txBody>
      </p:sp>
      <p:pic>
        <p:nvPicPr>
          <p:cNvPr id="2097171" name="Picture 29" descr="10月Web服务器市场调查"/>
          <p:cNvPicPr>
            <a:picLocks/>
          </p:cNvPicPr>
          <p:nvPr/>
        </p:nvPicPr>
        <p:blipFill>
          <a:blip r:embed="rId5"/>
          <a:srcRect/>
          <a:stretch>
            <a:fillRect/>
          </a:stretch>
        </p:blipFill>
        <p:spPr>
          <a:xfrm>
            <a:off x="1559496" y="1772816"/>
            <a:ext cx="8783960" cy="4823916"/>
          </a:xfrm>
          <a:prstGeom prst="rect">
            <a:avLst/>
          </a:prstGeom>
          <a:noFill/>
          <a:ln>
            <a:noFill/>
          </a:ln>
        </p:spPr>
      </p:pic>
      <p:sp>
        <p:nvSpPr>
          <p:cNvPr id="1048997" name="AutoShape 30"/>
          <p:cNvSpPr/>
          <p:nvPr/>
        </p:nvSpPr>
        <p:spPr>
          <a:xfrm>
            <a:off x="623392" y="1412776"/>
            <a:ext cx="3600450" cy="431800"/>
          </a:xfrm>
          <a:prstGeom prst="wedgeRectCallout">
            <a:avLst>
              <a:gd name="adj1" fmla="val -18782"/>
              <a:gd name="adj2" fmla="val -14704"/>
            </a:avLst>
          </a:prstGeom>
          <a:solidFill>
            <a:srgbClr val="CCFFFF"/>
          </a:solidFill>
          <a:ln w="9525" cap="flat" cmpd="sng">
            <a:solidFill>
              <a:srgbClr val="FF0000">
                <a:alpha val="100000"/>
              </a:srgbClr>
            </a:solidFill>
            <a:prstDash val="solid"/>
            <a:round/>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en-US" altLang="zh-CN" sz="2000" b="1" dirty="0">
                <a:solidFill>
                  <a:srgbClr val="0000FF"/>
                </a:solidFill>
              </a:rPr>
              <a:t>[</a:t>
            </a:r>
            <a:r>
              <a:rPr lang="zh-CN" altLang="en-US" sz="2000" b="1" dirty="0">
                <a:solidFill>
                  <a:srgbClr val="0000FF"/>
                </a:solidFill>
              </a:rPr>
              <a:t>案例</a:t>
            </a:r>
            <a:r>
              <a:rPr lang="en-US" altLang="zh-CN" sz="2000" b="1" dirty="0">
                <a:solidFill>
                  <a:srgbClr val="0000FF"/>
                </a:solidFill>
              </a:rPr>
              <a:t>] Web</a:t>
            </a:r>
            <a:r>
              <a:rPr lang="zh-CN" altLang="en-US" sz="2000" b="1" dirty="0">
                <a:solidFill>
                  <a:srgbClr val="0000FF"/>
                </a:solidFill>
              </a:rPr>
              <a:t>服务器市场调查</a:t>
            </a:r>
          </a:p>
        </p:txBody>
      </p:sp>
      <p:sp>
        <p:nvSpPr>
          <p:cNvPr id="1048998" name="AutoShape 31"/>
          <p:cNvSpPr/>
          <p:nvPr/>
        </p:nvSpPr>
        <p:spPr>
          <a:xfrm>
            <a:off x="7525752" y="2276872"/>
            <a:ext cx="1152525" cy="433387"/>
          </a:xfrm>
          <a:prstGeom prst="wedgeRectCallout">
            <a:avLst>
              <a:gd name="adj1" fmla="val -90356"/>
              <a:gd name="adj2" fmla="val 117032"/>
            </a:avLst>
          </a:prstGeom>
          <a:solidFill>
            <a:srgbClr val="CCFFFF"/>
          </a:solidFill>
          <a:ln w="9525" cap="flat" cmpd="sng">
            <a:solidFill>
              <a:srgbClr val="FF0000">
                <a:alpha val="100000"/>
              </a:srgbClr>
            </a:solidFill>
            <a:prstDash val="solid"/>
            <a:round/>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en-US" altLang="zh-CN" sz="2000" b="1" dirty="0">
                <a:solidFill>
                  <a:srgbClr val="0000FF"/>
                </a:solidFill>
              </a:rPr>
              <a:t>Apache</a:t>
            </a:r>
          </a:p>
        </p:txBody>
      </p:sp>
      <p:sp>
        <p:nvSpPr>
          <p:cNvPr id="1048999" name="AutoShape 32"/>
          <p:cNvSpPr/>
          <p:nvPr/>
        </p:nvSpPr>
        <p:spPr>
          <a:xfrm>
            <a:off x="6528048" y="3602590"/>
            <a:ext cx="719137" cy="360362"/>
          </a:xfrm>
          <a:prstGeom prst="wedgeRectCallout">
            <a:avLst>
              <a:gd name="adj1" fmla="val 78255"/>
              <a:gd name="adj2" fmla="val 203745"/>
            </a:avLst>
          </a:prstGeom>
          <a:solidFill>
            <a:srgbClr val="CCFFFF"/>
          </a:solidFill>
          <a:ln w="9525" cap="flat" cmpd="sng">
            <a:solidFill>
              <a:srgbClr val="FF0000">
                <a:alpha val="100000"/>
              </a:srgbClr>
            </a:solidFill>
            <a:prstDash val="solid"/>
            <a:round/>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en-US" altLang="zh-CN" sz="2000" b="1" dirty="0">
                <a:solidFill>
                  <a:srgbClr val="0000FF"/>
                </a:solidFill>
              </a:rPr>
              <a:t>IIS</a:t>
            </a:r>
          </a:p>
        </p:txBody>
      </p:sp>
    </p:spTree>
  </p:cSld>
  <p:clrMapOvr>
    <a:masterClrMapping/>
  </p:clrMapOvr>
  <p:transition spd="slow">
    <p:zoom/>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04" name="Rectangle 3"/>
          <p:cNvSpPr>
            <a:spLocks noGrp="1"/>
          </p:cNvSpPr>
          <p:nvPr>
            <p:ph type="body" sz="half" idx="4294967295"/>
          </p:nvPr>
        </p:nvSpPr>
        <p:spPr>
          <a:xfrm>
            <a:off x="263352" y="908721"/>
            <a:ext cx="7920880" cy="576264"/>
          </a:xfrm>
          <a:prstGeom prst="rect">
            <a:avLst/>
          </a:prstGeom>
          <a:noFill/>
          <a:ln>
            <a:noFill/>
          </a:ln>
        </p:spPr>
        <p:txBody>
          <a:bodyPr vert="horz" lIns="91440" tIns="45720" rIns="91440" bIns="45720" anchor="t"/>
          <a:lstStyle>
            <a:lvl1pPr marL="342900" indent="-342900">
              <a:lnSpc>
                <a:spcPct val="90000"/>
              </a:lnSpc>
              <a:spcBef>
                <a:spcPct val="0"/>
              </a:spcBef>
              <a:spcAft>
                <a:spcPct val="20000"/>
              </a:spcAft>
              <a:buBlip>
                <a:blip r:embed="rId2"/>
              </a:buBlip>
              <a:defRPr sz="2400">
                <a:solidFill>
                  <a:srgbClr val="0000FF"/>
                </a:solidFill>
              </a:defRPr>
            </a:lvl1pPr>
            <a:lvl2pPr marL="742950" indent="-285750">
              <a:lnSpc>
                <a:spcPct val="90000"/>
              </a:lnSpc>
              <a:spcBef>
                <a:spcPct val="0"/>
              </a:spcBef>
              <a:spcAft>
                <a:spcPct val="20000"/>
              </a:spcAft>
              <a:buBlip>
                <a:blip r:embed="rId3"/>
              </a:buBlip>
              <a:defRPr sz="2400">
                <a:solidFill>
                  <a:srgbClr val="000099"/>
                </a:solidFill>
              </a:defRPr>
            </a:lvl2pPr>
            <a:lvl3pPr marL="1143000" indent="-228600">
              <a:lnSpc>
                <a:spcPct val="90000"/>
              </a:lnSpc>
              <a:spcBef>
                <a:spcPct val="0"/>
              </a:spcBef>
              <a:spcAft>
                <a:spcPct val="20000"/>
              </a:spcAft>
              <a:buBlip>
                <a:blip r:embed="rId4"/>
              </a:buBlip>
              <a:defRPr sz="2000">
                <a:solidFill>
                  <a:srgbClr val="008000"/>
                </a:solidFill>
              </a:defRPr>
            </a:lvl3pPr>
            <a:lvl4pPr marL="1600200" indent="-228600">
              <a:lnSpc>
                <a:spcPct val="90000"/>
              </a:lnSpc>
              <a:spcBef>
                <a:spcPct val="0"/>
              </a:spcBef>
              <a:spcAft>
                <a:spcPct val="20000"/>
              </a:spcAft>
              <a:buBlip>
                <a:blip r:embed="rId4"/>
              </a:buBlip>
              <a:defRPr sz="1800">
                <a:solidFill>
                  <a:srgbClr val="800000"/>
                </a:solidFill>
              </a:defRPr>
            </a:lvl4pPr>
            <a:lvl5pPr marL="2057400" indent="-228600">
              <a:lnSpc>
                <a:spcPct val="90000"/>
              </a:lnSpc>
              <a:spcBef>
                <a:spcPct val="0"/>
              </a:spcBef>
              <a:spcAft>
                <a:spcPct val="20000"/>
              </a:spcAft>
              <a:buBlip>
                <a:blip r:embed="rId4"/>
              </a:buBlip>
              <a:defRPr sz="1800">
                <a:solidFill>
                  <a:srgbClr val="003399"/>
                </a:solidFill>
              </a:defRPr>
            </a:lvl5pPr>
          </a:lstStyle>
          <a:p>
            <a:pPr lvl="0" eaLnBrk="1" latinLnBrk="1" hangingPunct="1"/>
            <a:r>
              <a:rPr lang="zh-CN" altLang="en-US" sz="2800" dirty="0">
                <a:solidFill>
                  <a:srgbClr val="000099"/>
                </a:solidFill>
              </a:rPr>
              <a:t>网络管理软件</a:t>
            </a:r>
          </a:p>
        </p:txBody>
      </p:sp>
      <p:sp>
        <p:nvSpPr>
          <p:cNvPr id="1049003" name="Rectangle 2"/>
          <p:cNvSpPr>
            <a:spLocks noGrp="1"/>
          </p:cNvSpPr>
          <p:nvPr>
            <p:ph type="title"/>
          </p:nvPr>
        </p:nvSpPr>
        <p:spPr>
          <a:xfrm>
            <a:off x="47328" y="152400"/>
            <a:ext cx="8640233" cy="57626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1.1  </a:t>
            </a:r>
            <a:r>
              <a:rPr lang="zh-CN" altLang="en-US" dirty="0">
                <a:solidFill>
                  <a:schemeClr val="bg1"/>
                </a:solidFill>
              </a:rPr>
              <a:t>网络工程基本特征</a:t>
            </a:r>
          </a:p>
        </p:txBody>
      </p:sp>
      <p:graphicFrame>
        <p:nvGraphicFramePr>
          <p:cNvPr id="4194308" name="表格 4194307"/>
          <p:cNvGraphicFramePr>
            <a:graphicFrameLocks/>
          </p:cNvGraphicFramePr>
          <p:nvPr>
            <p:extLst>
              <p:ext uri="{D42A27DB-BD31-4B8C-83A1-F6EECF244321}">
                <p14:modId xmlns:p14="http://schemas.microsoft.com/office/powerpoint/2010/main" val="331078441"/>
              </p:ext>
            </p:extLst>
          </p:nvPr>
        </p:nvGraphicFramePr>
        <p:xfrm>
          <a:off x="1631504" y="1484985"/>
          <a:ext cx="8747124" cy="4494205"/>
        </p:xfrm>
        <a:graphic>
          <a:graphicData uri="http://schemas.openxmlformats.org/drawingml/2006/table">
            <a:tbl>
              <a:tblPr/>
              <a:tblGrid>
                <a:gridCol w="3671887">
                  <a:extLst>
                    <a:ext uri="{9D8B030D-6E8A-4147-A177-3AD203B41FA5}">
                      <a16:colId xmlns:a16="http://schemas.microsoft.com/office/drawing/2014/main" val="20000"/>
                    </a:ext>
                  </a:extLst>
                </a:gridCol>
                <a:gridCol w="5075237">
                  <a:extLst>
                    <a:ext uri="{9D8B030D-6E8A-4147-A177-3AD203B41FA5}">
                      <a16:colId xmlns:a16="http://schemas.microsoft.com/office/drawing/2014/main" val="20001"/>
                    </a:ext>
                  </a:extLst>
                </a:gridCol>
              </a:tblGrid>
              <a:tr h="561974">
                <a:tc>
                  <a:txBody>
                    <a:bodyPr/>
                    <a:lstStyle/>
                    <a:p>
                      <a:pPr marL="342900" lvl="0" indent="-342900" algn="ctr" eaLnBrk="1" latinLnBrk="1" hangingPunct="1">
                        <a:lnSpc>
                          <a:spcPct val="90000"/>
                        </a:lnSpc>
                        <a:spcAft>
                          <a:spcPct val="20000"/>
                        </a:spcAft>
                        <a:buFontTx/>
                        <a:buNone/>
                      </a:pPr>
                      <a:r>
                        <a:rPr lang="zh-CN" altLang="en-US" sz="2400" b="1">
                          <a:solidFill>
                            <a:srgbClr val="000099"/>
                          </a:solidFill>
                          <a:ea typeface="黑体" pitchFamily="49" charset="-122"/>
                        </a:rPr>
                        <a:t>软件名称</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solidFill>
                      <a:srgbClr val="FFCCFF"/>
                    </a:solidFill>
                  </a:tcPr>
                </a:tc>
                <a:tc>
                  <a:txBody>
                    <a:bodyPr/>
                    <a:lstStyle/>
                    <a:p>
                      <a:pPr marL="342900" lvl="0" indent="-342900" algn="ctr" eaLnBrk="1" latinLnBrk="1" hangingPunct="1">
                        <a:lnSpc>
                          <a:spcPct val="90000"/>
                        </a:lnSpc>
                        <a:spcAft>
                          <a:spcPct val="20000"/>
                        </a:spcAft>
                        <a:buFontTx/>
                        <a:buNone/>
                      </a:pPr>
                      <a:r>
                        <a:rPr lang="zh-CN" altLang="en-US" sz="2400" b="1">
                          <a:solidFill>
                            <a:srgbClr val="000099"/>
                          </a:solidFill>
                          <a:ea typeface="黑体" pitchFamily="49" charset="-122"/>
                        </a:rPr>
                        <a:t>网络管理软件说明</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solidFill>
                      <a:srgbClr val="FFCCFF"/>
                    </a:solidFill>
                  </a:tcPr>
                </a:tc>
                <a:extLst>
                  <a:ext uri="{0D108BD9-81ED-4DB2-BD59-A6C34878D82A}">
                    <a16:rowId xmlns:a16="http://schemas.microsoft.com/office/drawing/2014/main" val="10000"/>
                  </a:ext>
                </a:extLst>
              </a:tr>
              <a:tr h="561974">
                <a:tc>
                  <a:txBody>
                    <a:bodyPr/>
                    <a:lstStyle/>
                    <a:p>
                      <a:pPr marL="342900" lvl="0" indent="-342900" algn="l" eaLnBrk="1" latinLnBrk="1" hangingPunct="1">
                        <a:lnSpc>
                          <a:spcPct val="90000"/>
                        </a:lnSpc>
                        <a:spcAft>
                          <a:spcPct val="20000"/>
                        </a:spcAft>
                        <a:buFontTx/>
                        <a:buNone/>
                      </a:pPr>
                      <a:r>
                        <a:rPr lang="en-US" altLang="zh-CN" sz="2400" b="1">
                          <a:solidFill>
                            <a:srgbClr val="000099"/>
                          </a:solidFill>
                          <a:ea typeface="黑体" pitchFamily="49" charset="-122"/>
                        </a:rPr>
                        <a:t>HP OpenView </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marL="342900" lvl="0" indent="-342900" algn="l" eaLnBrk="1" latinLnBrk="1" hangingPunct="1">
                        <a:lnSpc>
                          <a:spcPct val="90000"/>
                        </a:lnSpc>
                        <a:spcAft>
                          <a:spcPct val="20000"/>
                        </a:spcAft>
                        <a:buFontTx/>
                        <a:buNone/>
                      </a:pPr>
                      <a:r>
                        <a:rPr lang="zh-CN" altLang="en-US" sz="2400" b="1">
                          <a:solidFill>
                            <a:srgbClr val="000099"/>
                          </a:solidFill>
                          <a:ea typeface="楷体_GB2312" pitchFamily="49" charset="-122"/>
                        </a:rPr>
                        <a:t>拓扑图、性能分析、故障分析等 </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1"/>
                  </a:ext>
                </a:extLst>
              </a:tr>
              <a:tr h="561974">
                <a:tc>
                  <a:txBody>
                    <a:bodyPr/>
                    <a:lstStyle/>
                    <a:p>
                      <a:pPr marL="342900" lvl="0" indent="-342900" algn="l" eaLnBrk="1" latinLnBrk="1" hangingPunct="1">
                        <a:lnSpc>
                          <a:spcPct val="90000"/>
                        </a:lnSpc>
                        <a:spcAft>
                          <a:spcPct val="20000"/>
                        </a:spcAft>
                        <a:buFontTx/>
                        <a:buNone/>
                      </a:pPr>
                      <a:r>
                        <a:rPr lang="en-US" altLang="zh-CN" sz="2400" b="1">
                          <a:solidFill>
                            <a:srgbClr val="000099"/>
                          </a:solidFill>
                          <a:ea typeface="黑体" pitchFamily="49" charset="-122"/>
                        </a:rPr>
                        <a:t>Ciscoworks </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marL="342900" lvl="0" indent="-342900" algn="l" eaLnBrk="1" latinLnBrk="1" hangingPunct="1">
                        <a:lnSpc>
                          <a:spcPct val="90000"/>
                        </a:lnSpc>
                        <a:spcAft>
                          <a:spcPct val="20000"/>
                        </a:spcAft>
                        <a:buFontTx/>
                        <a:buNone/>
                      </a:pPr>
                      <a:r>
                        <a:rPr lang="zh-CN" altLang="en-US" sz="2400" b="1">
                          <a:solidFill>
                            <a:srgbClr val="000099"/>
                          </a:solidFill>
                          <a:ea typeface="楷体_GB2312" pitchFamily="49" charset="-122"/>
                        </a:rPr>
                        <a:t>思科公司网络管理软件 </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2"/>
                  </a:ext>
                </a:extLst>
              </a:tr>
              <a:tr h="561974">
                <a:tc>
                  <a:txBody>
                    <a:bodyPr/>
                    <a:lstStyle/>
                    <a:p>
                      <a:pPr marL="342900" lvl="0" indent="-342900" algn="l" eaLnBrk="1" latinLnBrk="1" hangingPunct="1">
                        <a:lnSpc>
                          <a:spcPct val="90000"/>
                        </a:lnSpc>
                        <a:spcAft>
                          <a:spcPct val="20000"/>
                        </a:spcAft>
                        <a:buFontTx/>
                        <a:buNone/>
                      </a:pPr>
                      <a:r>
                        <a:rPr lang="en-US" altLang="zh-CN" sz="2400" b="1">
                          <a:solidFill>
                            <a:srgbClr val="000099"/>
                          </a:solidFill>
                          <a:ea typeface="黑体" pitchFamily="49" charset="-122"/>
                        </a:rPr>
                        <a:t>MG-SOFT MIB Browser</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marL="342900" lvl="0" indent="-342900" algn="l" eaLnBrk="1" latinLnBrk="1" hangingPunct="1">
                        <a:lnSpc>
                          <a:spcPct val="90000"/>
                        </a:lnSpc>
                        <a:spcAft>
                          <a:spcPct val="20000"/>
                        </a:spcAft>
                        <a:buFontTx/>
                        <a:buNone/>
                      </a:pPr>
                      <a:r>
                        <a:rPr lang="zh-CN" altLang="en-US" sz="2400" b="1">
                          <a:solidFill>
                            <a:srgbClr val="000099"/>
                          </a:solidFill>
                          <a:ea typeface="楷体_GB2312" pitchFamily="49" charset="-122"/>
                        </a:rPr>
                        <a:t>浏览设备</a:t>
                      </a:r>
                      <a:r>
                        <a:rPr lang="en-US" altLang="zh-CN" sz="2400" b="1">
                          <a:solidFill>
                            <a:srgbClr val="000099"/>
                          </a:solidFill>
                          <a:ea typeface="楷体_GB2312" pitchFamily="49" charset="-122"/>
                        </a:rPr>
                        <a:t>MIB</a:t>
                      </a:r>
                      <a:r>
                        <a:rPr lang="zh-CN" altLang="en-US" sz="2400" b="1">
                          <a:solidFill>
                            <a:srgbClr val="000099"/>
                          </a:solidFill>
                          <a:ea typeface="楷体_GB2312" pitchFamily="49" charset="-122"/>
                        </a:rPr>
                        <a:t>库，管理</a:t>
                      </a:r>
                      <a:r>
                        <a:rPr lang="en-US" altLang="zh-CN" sz="2400" b="1">
                          <a:solidFill>
                            <a:srgbClr val="000099"/>
                          </a:solidFill>
                          <a:ea typeface="楷体_GB2312" pitchFamily="49" charset="-122"/>
                        </a:rPr>
                        <a:t>SNMP</a:t>
                      </a:r>
                      <a:r>
                        <a:rPr lang="zh-CN" altLang="en-US" sz="2400" b="1">
                          <a:solidFill>
                            <a:srgbClr val="000099"/>
                          </a:solidFill>
                          <a:ea typeface="楷体_GB2312" pitchFamily="49" charset="-122"/>
                        </a:rPr>
                        <a:t>设备</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3"/>
                  </a:ext>
                </a:extLst>
              </a:tr>
              <a:tr h="560387">
                <a:tc>
                  <a:txBody>
                    <a:bodyPr/>
                    <a:lstStyle/>
                    <a:p>
                      <a:pPr marL="342900" lvl="0" indent="-342900" algn="l" eaLnBrk="1" latinLnBrk="1" hangingPunct="1">
                        <a:lnSpc>
                          <a:spcPct val="90000"/>
                        </a:lnSpc>
                        <a:spcAft>
                          <a:spcPct val="20000"/>
                        </a:spcAft>
                        <a:buFontTx/>
                        <a:buNone/>
                      </a:pPr>
                      <a:r>
                        <a:rPr lang="en-US" altLang="zh-CN" sz="2400" b="1">
                          <a:solidFill>
                            <a:srgbClr val="FF0000"/>
                          </a:solidFill>
                          <a:effectLst>
                            <a:outerShdw blurRad="38100" dist="38100" dir="2700000" algn="tl">
                              <a:srgbClr val="C0C0C0"/>
                            </a:outerShdw>
                          </a:effectLst>
                          <a:ea typeface="黑体" pitchFamily="49" charset="-122"/>
                        </a:rPr>
                        <a:t>MRTG </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marL="342900" lvl="0" indent="-342900" algn="l" eaLnBrk="1" latinLnBrk="1" hangingPunct="1">
                        <a:lnSpc>
                          <a:spcPct val="90000"/>
                        </a:lnSpc>
                        <a:spcAft>
                          <a:spcPct val="20000"/>
                        </a:spcAft>
                        <a:buFontTx/>
                        <a:buNone/>
                      </a:pPr>
                      <a:r>
                        <a:rPr lang="zh-CN" altLang="en-US" sz="2400" b="1">
                          <a:solidFill>
                            <a:srgbClr val="000099"/>
                          </a:solidFill>
                          <a:ea typeface="楷体_GB2312" pitchFamily="49" charset="-122"/>
                        </a:rPr>
                        <a:t>网络流量监控软件 </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4"/>
                  </a:ext>
                </a:extLst>
              </a:tr>
              <a:tr h="561974">
                <a:tc>
                  <a:txBody>
                    <a:bodyPr/>
                    <a:lstStyle/>
                    <a:p>
                      <a:pPr marL="342900" lvl="0" indent="-342900" algn="l" eaLnBrk="1" latinLnBrk="1" hangingPunct="1">
                        <a:lnSpc>
                          <a:spcPct val="90000"/>
                        </a:lnSpc>
                        <a:spcAft>
                          <a:spcPct val="20000"/>
                        </a:spcAft>
                        <a:buFontTx/>
                        <a:buNone/>
                      </a:pPr>
                      <a:r>
                        <a:rPr lang="en-US" altLang="zh-CN" sz="2400" b="1">
                          <a:solidFill>
                            <a:srgbClr val="000099"/>
                          </a:solidFill>
                          <a:ea typeface="黑体" pitchFamily="49" charset="-122"/>
                        </a:rPr>
                        <a:t>Backup Exec </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marL="342900" lvl="0" indent="-342900" algn="l" eaLnBrk="1" latinLnBrk="1" hangingPunct="1">
                        <a:lnSpc>
                          <a:spcPct val="90000"/>
                        </a:lnSpc>
                        <a:spcAft>
                          <a:spcPct val="20000"/>
                        </a:spcAft>
                        <a:buFontTx/>
                        <a:buNone/>
                      </a:pPr>
                      <a:r>
                        <a:rPr lang="zh-CN" altLang="en-US" sz="2400" b="1">
                          <a:solidFill>
                            <a:srgbClr val="000099"/>
                          </a:solidFill>
                          <a:ea typeface="楷体_GB2312" pitchFamily="49" charset="-122"/>
                        </a:rPr>
                        <a:t>服务器综合备份软件</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5"/>
                  </a:ext>
                </a:extLst>
              </a:tr>
              <a:tr h="561974">
                <a:tc>
                  <a:txBody>
                    <a:bodyPr/>
                    <a:lstStyle/>
                    <a:p>
                      <a:pPr marL="342900" lvl="0" indent="-342900" algn="l" eaLnBrk="1" latinLnBrk="1" hangingPunct="1">
                        <a:lnSpc>
                          <a:spcPct val="90000"/>
                        </a:lnSpc>
                        <a:spcAft>
                          <a:spcPct val="20000"/>
                        </a:spcAft>
                        <a:buFontTx/>
                        <a:buNone/>
                      </a:pPr>
                      <a:r>
                        <a:rPr lang="en-US" altLang="zh-CN" sz="2400" b="1">
                          <a:solidFill>
                            <a:srgbClr val="000099"/>
                          </a:solidFill>
                          <a:ea typeface="楷体_GB2312" pitchFamily="49" charset="-122"/>
                        </a:rPr>
                        <a:t>NetIQ Chariot </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marL="342900" lvl="0" indent="-342900" algn="l" eaLnBrk="1" latinLnBrk="1" hangingPunct="1">
                        <a:lnSpc>
                          <a:spcPct val="90000"/>
                        </a:lnSpc>
                        <a:spcAft>
                          <a:spcPct val="20000"/>
                        </a:spcAft>
                        <a:buFontTx/>
                        <a:buNone/>
                      </a:pPr>
                      <a:r>
                        <a:rPr lang="zh-CN" altLang="en-US" sz="2400" b="1">
                          <a:solidFill>
                            <a:srgbClr val="000099"/>
                          </a:solidFill>
                          <a:ea typeface="楷体_GB2312" pitchFamily="49" charset="-122"/>
                        </a:rPr>
                        <a:t>网络设备性能测试软件</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6"/>
                  </a:ext>
                </a:extLst>
              </a:tr>
              <a:tr h="561974">
                <a:tc>
                  <a:txBody>
                    <a:bodyPr/>
                    <a:lstStyle/>
                    <a:p>
                      <a:pPr marL="342900" lvl="0" indent="-342900" algn="l" eaLnBrk="1" latinLnBrk="1" hangingPunct="1">
                        <a:lnSpc>
                          <a:spcPct val="90000"/>
                        </a:lnSpc>
                        <a:spcAft>
                          <a:spcPct val="20000"/>
                        </a:spcAft>
                        <a:buFontTx/>
                        <a:buNone/>
                      </a:pPr>
                      <a:r>
                        <a:rPr lang="en-US" altLang="zh-CN" sz="2400" b="1">
                          <a:solidFill>
                            <a:srgbClr val="000099"/>
                          </a:solidFill>
                          <a:ea typeface="黑体" pitchFamily="49" charset="-122"/>
                        </a:rPr>
                        <a:t>Sniffer Pro </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marL="342900" lvl="0" indent="-342900" algn="l" eaLnBrk="1" latinLnBrk="1" hangingPunct="1">
                        <a:lnSpc>
                          <a:spcPct val="90000"/>
                        </a:lnSpc>
                        <a:spcAft>
                          <a:spcPct val="20000"/>
                        </a:spcAft>
                        <a:buFontTx/>
                        <a:buNone/>
                      </a:pPr>
                      <a:r>
                        <a:rPr lang="zh-CN" altLang="en-US" sz="2400" b="1" dirty="0">
                          <a:solidFill>
                            <a:srgbClr val="000099"/>
                          </a:solidFill>
                          <a:ea typeface="楷体_GB2312" pitchFamily="49" charset="-122"/>
                        </a:rPr>
                        <a:t>网络协议分析器，数据包检测分析 </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7"/>
                  </a:ext>
                </a:extLst>
              </a:tr>
            </a:tbl>
          </a:graphicData>
        </a:graphic>
      </p:graphicFrame>
    </p:spTree>
  </p:cSld>
  <p:clrMapOvr>
    <a:masterClrMapping/>
  </p:clrMapOvr>
  <p:transition spd="slow">
    <p:zoom/>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37" name="文本占位符 145410"/>
          <p:cNvSpPr>
            <a:spLocks noGrp="1"/>
          </p:cNvSpPr>
          <p:nvPr>
            <p:ph idx="1"/>
          </p:nvPr>
        </p:nvSpPr>
        <p:spPr>
          <a:xfrm>
            <a:off x="335360" y="908720"/>
            <a:ext cx="11017224" cy="1584176"/>
          </a:xfrm>
          <a:prstGeom prst="rect">
            <a:avLst/>
          </a:prstGeom>
          <a:noFill/>
          <a:ln>
            <a:noFill/>
          </a:ln>
        </p:spPr>
        <p:txBody>
          <a:bodyPr vert="horz" lIns="91440" tIns="45720" rIns="91440" bIns="45720" anchor="t">
            <a:normAutofit lnSpcReduction="10000"/>
          </a:bodyPr>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a:r>
              <a:rPr lang="en-US" altLang="zh-CN" b="0" dirty="0">
                <a:solidFill>
                  <a:schemeClr val="tx1"/>
                </a:solidFill>
              </a:rPr>
              <a:t>Multi Router Traffic </a:t>
            </a:r>
            <a:r>
              <a:rPr lang="en-US" altLang="zh-CN" b="0" dirty="0" err="1">
                <a:solidFill>
                  <a:schemeClr val="tx1"/>
                </a:solidFill>
              </a:rPr>
              <a:t>Grapher</a:t>
            </a:r>
            <a:r>
              <a:rPr lang="en-US" altLang="zh-CN" b="0" dirty="0">
                <a:solidFill>
                  <a:schemeClr val="tx1"/>
                </a:solidFill>
              </a:rPr>
              <a:t>------</a:t>
            </a:r>
            <a:r>
              <a:rPr lang="en-US" altLang="zh-CN" b="0" i="1" u="sng" dirty="0">
                <a:solidFill>
                  <a:schemeClr val="tx1"/>
                </a:solidFill>
              </a:rPr>
              <a:t>MRTG</a:t>
            </a:r>
            <a:r>
              <a:rPr lang="zh-CN" altLang="en-US" b="0" dirty="0">
                <a:solidFill>
                  <a:schemeClr val="tx1"/>
                </a:solidFill>
              </a:rPr>
              <a:t>是一个监控网络链路流量负载的工具软件，通过</a:t>
            </a:r>
            <a:r>
              <a:rPr lang="en-US" altLang="zh-CN" b="0" dirty="0" err="1">
                <a:solidFill>
                  <a:schemeClr val="tx1"/>
                </a:solidFill>
              </a:rPr>
              <a:t>snmp</a:t>
            </a:r>
            <a:r>
              <a:rPr lang="zh-CN" altLang="en-US" b="0" dirty="0">
                <a:solidFill>
                  <a:schemeClr val="tx1"/>
                </a:solidFill>
              </a:rPr>
              <a:t>协议得到设备的流量信息，并将流量负载以包含</a:t>
            </a:r>
            <a:r>
              <a:rPr lang="en-US" altLang="zh-CN" b="0" dirty="0">
                <a:solidFill>
                  <a:schemeClr val="tx1"/>
                </a:solidFill>
              </a:rPr>
              <a:t>PNG</a:t>
            </a:r>
            <a:r>
              <a:rPr lang="zh-CN" altLang="en-US" b="0" dirty="0">
                <a:solidFill>
                  <a:schemeClr val="tx1"/>
                </a:solidFill>
              </a:rPr>
              <a:t>格式的图形的</a:t>
            </a:r>
            <a:r>
              <a:rPr lang="en-US" altLang="zh-CN" b="0" dirty="0">
                <a:solidFill>
                  <a:schemeClr val="tx1"/>
                </a:solidFill>
              </a:rPr>
              <a:t>HTML </a:t>
            </a:r>
            <a:r>
              <a:rPr lang="zh-CN" altLang="en-US" b="0" dirty="0">
                <a:solidFill>
                  <a:schemeClr val="tx1"/>
                </a:solidFill>
              </a:rPr>
              <a:t>文档方式显示给用户，以非常直观的形式显示流量负载。</a:t>
            </a:r>
          </a:p>
        </p:txBody>
      </p:sp>
      <p:sp>
        <p:nvSpPr>
          <p:cNvPr id="1049036" name="标题 145409"/>
          <p:cNvSpPr>
            <a:spLocks noGrp="1"/>
          </p:cNvSpPr>
          <p:nvPr>
            <p:ph type="title"/>
          </p:nvPr>
        </p:nvSpPr>
        <p:spPr>
          <a:xfrm>
            <a:off x="47328" y="152400"/>
            <a:ext cx="10515600" cy="587377"/>
          </a:xfrm>
          <a:prstGeom prst="rect">
            <a:avLst/>
          </a:prstGeom>
          <a:noFill/>
          <a:ln>
            <a:noFill/>
          </a:ln>
        </p:spPr>
        <p:txBody>
          <a:bodyPr vert="horz" lIns="91440" tIns="45720" rIns="91440" bIns="45720" anchor="ctr">
            <a:normAutofit fontScale="90000"/>
          </a:bodyP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a:r>
              <a:rPr lang="zh-CN" altLang="zh-CN" sz="4000" dirty="0">
                <a:solidFill>
                  <a:schemeClr val="bg1"/>
                </a:solidFill>
                <a:effectLst>
                  <a:outerShdw blurRad="38100" dist="38100" dir="2700000" algn="tl">
                    <a:srgbClr val="C0C0C0"/>
                  </a:outerShdw>
                </a:effectLst>
              </a:rPr>
              <a:t>MRTG</a:t>
            </a:r>
          </a:p>
        </p:txBody>
      </p:sp>
      <p:pic>
        <p:nvPicPr>
          <p:cNvPr id="2097172" name="图片 145412"/>
          <p:cNvPicPr>
            <a:picLocks/>
          </p:cNvPicPr>
          <p:nvPr/>
        </p:nvPicPr>
        <p:blipFill>
          <a:blip r:embed="rId5"/>
          <a:srcRect/>
          <a:stretch>
            <a:fillRect/>
          </a:stretch>
        </p:blipFill>
        <p:spPr>
          <a:xfrm>
            <a:off x="3791744" y="2132856"/>
            <a:ext cx="8224837" cy="4104456"/>
          </a:xfrm>
          <a:prstGeom prst="rect">
            <a:avLst/>
          </a:prstGeom>
          <a:noFill/>
          <a:ln>
            <a:noFill/>
          </a:ln>
        </p:spPr>
      </p:pic>
    </p:spTree>
  </p:cSld>
  <p:clrMapOvr>
    <a:masterClrMapping/>
  </p:clrMapOvr>
  <p:transition spd="slow">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4" presetClass="path" presetSubtype="0" accel="50000" decel="50000" fill="hold" nodeType="clickEffect">
                                  <p:stCondLst>
                                    <p:cond delay="0"/>
                                  </p:stCondLst>
                                  <p:childTnLst>
                                    <p:animMotion origin="layout" path="M 2.70833E-6 4.81481E-6 L 2.70833E-6 -0.33288 " pathEditMode="relative" rAng="0" ptsTypes="AA">
                                      <p:cBhvr>
                                        <p:cTn id="6" dur="2000" fill="hold"/>
                                        <p:tgtEl>
                                          <p:spTgt spid="2097172"/>
                                        </p:tgtEl>
                                        <p:attrNameLst>
                                          <p:attrName>ppt_x,ppt_y</p:attrName>
                                        </p:attrNameLst>
                                      </p:cBhvr>
                                      <p:rCtr x="0" y="-166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42" name="Rectangle 3"/>
          <p:cNvSpPr>
            <a:spLocks noGrp="1"/>
          </p:cNvSpPr>
          <p:nvPr>
            <p:ph type="body" sz="half" idx="4294967295"/>
          </p:nvPr>
        </p:nvSpPr>
        <p:spPr>
          <a:xfrm>
            <a:off x="263352" y="847725"/>
            <a:ext cx="7488832" cy="493043"/>
          </a:xfrm>
          <a:prstGeom prst="rect">
            <a:avLst/>
          </a:prstGeom>
          <a:noFill/>
          <a:ln>
            <a:noFill/>
          </a:ln>
        </p:spPr>
        <p:txBody>
          <a:bodyPr vert="horz" lIns="91440" tIns="45720" rIns="91440" bIns="45720" anchor="t"/>
          <a:lstStyle>
            <a:lvl1pPr marL="342900" indent="-342900">
              <a:lnSpc>
                <a:spcPct val="90000"/>
              </a:lnSpc>
              <a:spcBef>
                <a:spcPct val="0"/>
              </a:spcBef>
              <a:spcAft>
                <a:spcPct val="20000"/>
              </a:spcAft>
              <a:buBlip>
                <a:blip r:embed="rId2"/>
              </a:buBlip>
              <a:defRPr sz="2400">
                <a:solidFill>
                  <a:srgbClr val="0000FF"/>
                </a:solidFill>
              </a:defRPr>
            </a:lvl1pPr>
            <a:lvl2pPr marL="742950" indent="-285750">
              <a:lnSpc>
                <a:spcPct val="90000"/>
              </a:lnSpc>
              <a:spcBef>
                <a:spcPct val="0"/>
              </a:spcBef>
              <a:spcAft>
                <a:spcPct val="20000"/>
              </a:spcAft>
              <a:buBlip>
                <a:blip r:embed="rId3"/>
              </a:buBlip>
              <a:defRPr sz="2400">
                <a:solidFill>
                  <a:srgbClr val="000099"/>
                </a:solidFill>
              </a:defRPr>
            </a:lvl2pPr>
            <a:lvl3pPr marL="1143000" indent="-228600">
              <a:lnSpc>
                <a:spcPct val="90000"/>
              </a:lnSpc>
              <a:spcBef>
                <a:spcPct val="0"/>
              </a:spcBef>
              <a:spcAft>
                <a:spcPct val="20000"/>
              </a:spcAft>
              <a:buBlip>
                <a:blip r:embed="rId4"/>
              </a:buBlip>
              <a:defRPr sz="2000">
                <a:solidFill>
                  <a:srgbClr val="008000"/>
                </a:solidFill>
              </a:defRPr>
            </a:lvl3pPr>
            <a:lvl4pPr marL="1600200" indent="-228600">
              <a:lnSpc>
                <a:spcPct val="90000"/>
              </a:lnSpc>
              <a:spcBef>
                <a:spcPct val="0"/>
              </a:spcBef>
              <a:spcAft>
                <a:spcPct val="20000"/>
              </a:spcAft>
              <a:buBlip>
                <a:blip r:embed="rId4"/>
              </a:buBlip>
              <a:defRPr sz="1800">
                <a:solidFill>
                  <a:srgbClr val="800000"/>
                </a:solidFill>
              </a:defRPr>
            </a:lvl4pPr>
            <a:lvl5pPr marL="2057400" indent="-228600">
              <a:lnSpc>
                <a:spcPct val="90000"/>
              </a:lnSpc>
              <a:spcBef>
                <a:spcPct val="0"/>
              </a:spcBef>
              <a:spcAft>
                <a:spcPct val="20000"/>
              </a:spcAft>
              <a:buBlip>
                <a:blip r:embed="rId4"/>
              </a:buBlip>
              <a:defRPr sz="1800">
                <a:solidFill>
                  <a:srgbClr val="003399"/>
                </a:solidFill>
              </a:defRPr>
            </a:lvl5pPr>
          </a:lstStyle>
          <a:p>
            <a:pPr lvl="0" eaLnBrk="1" latinLnBrk="1" hangingPunct="1"/>
            <a:r>
              <a:rPr lang="en-US" altLang="zh-CN" sz="2800">
                <a:solidFill>
                  <a:schemeClr val="tx1"/>
                </a:solidFill>
              </a:rPr>
              <a:t>Ciscoworks</a:t>
            </a:r>
            <a:r>
              <a:rPr lang="zh-CN" altLang="en-US" sz="2800">
                <a:solidFill>
                  <a:schemeClr val="tx1"/>
                </a:solidFill>
              </a:rPr>
              <a:t>网络管理软件</a:t>
            </a:r>
            <a:r>
              <a:rPr lang="en-US" altLang="zh-CN" b="0">
                <a:solidFill>
                  <a:schemeClr val="tx1"/>
                </a:solidFill>
                <a:latin typeface="黑体" pitchFamily="49" charset="-122"/>
              </a:rPr>
              <a:t>(</a:t>
            </a:r>
            <a:r>
              <a:rPr lang="zh-CN" altLang="en-US" b="0">
                <a:solidFill>
                  <a:schemeClr val="tx1"/>
                </a:solidFill>
                <a:latin typeface="黑体" pitchFamily="49" charset="-122"/>
              </a:rPr>
              <a:t>参考</a:t>
            </a:r>
            <a:r>
              <a:rPr lang="en-US" altLang="zh-CN" b="0">
                <a:solidFill>
                  <a:schemeClr val="tx1"/>
                </a:solidFill>
                <a:latin typeface="黑体" pitchFamily="49" charset="-122"/>
              </a:rPr>
              <a:t>)</a:t>
            </a:r>
          </a:p>
        </p:txBody>
      </p:sp>
      <p:sp>
        <p:nvSpPr>
          <p:cNvPr id="1049041" name="Rectangle 2"/>
          <p:cNvSpPr>
            <a:spLocks noGrp="1"/>
          </p:cNvSpPr>
          <p:nvPr>
            <p:ph type="title"/>
          </p:nvPr>
        </p:nvSpPr>
        <p:spPr>
          <a:xfrm>
            <a:off x="9939" y="153371"/>
            <a:ext cx="8640233" cy="57626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1.1  </a:t>
            </a:r>
            <a:r>
              <a:rPr lang="zh-CN" altLang="en-US" dirty="0">
                <a:solidFill>
                  <a:schemeClr val="bg1"/>
                </a:solidFill>
              </a:rPr>
              <a:t>网络工程概述</a:t>
            </a:r>
          </a:p>
        </p:txBody>
      </p:sp>
      <p:pic>
        <p:nvPicPr>
          <p:cNvPr id="2097173" name="Picture 34"/>
          <p:cNvPicPr>
            <a:picLocks/>
          </p:cNvPicPr>
          <p:nvPr/>
        </p:nvPicPr>
        <p:blipFill>
          <a:blip r:embed="rId5"/>
          <a:srcRect r="1962"/>
          <a:stretch>
            <a:fillRect/>
          </a:stretch>
        </p:blipFill>
        <p:spPr>
          <a:xfrm>
            <a:off x="1847528" y="1423282"/>
            <a:ext cx="8172400" cy="4797152"/>
          </a:xfrm>
          <a:prstGeom prst="rect">
            <a:avLst/>
          </a:prstGeom>
          <a:noFill/>
          <a:ln>
            <a:noFill/>
          </a:ln>
        </p:spPr>
      </p:pic>
      <p:sp>
        <p:nvSpPr>
          <p:cNvPr id="1049043" name="AutoShape 35"/>
          <p:cNvSpPr/>
          <p:nvPr/>
        </p:nvSpPr>
        <p:spPr>
          <a:xfrm>
            <a:off x="8256240" y="813110"/>
            <a:ext cx="3887787" cy="574675"/>
          </a:xfrm>
          <a:prstGeom prst="wedgeRectCallout">
            <a:avLst>
              <a:gd name="adj1" fmla="val -33995"/>
              <a:gd name="adj2" fmla="val -24032"/>
            </a:avLst>
          </a:prstGeom>
          <a:solidFill>
            <a:srgbClr val="CCFFFF"/>
          </a:solidFill>
          <a:ln w="9525" cap="flat" cmpd="sng">
            <a:solidFill>
              <a:srgbClr val="FF0000">
                <a:alpha val="100000"/>
              </a:srgbClr>
            </a:solidFill>
            <a:prstDash val="solid"/>
            <a:round/>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en-US" altLang="zh-CN" sz="2000" b="1">
                <a:solidFill>
                  <a:srgbClr val="0000FF"/>
                </a:solidFill>
              </a:rPr>
              <a:t>[</a:t>
            </a:r>
            <a:r>
              <a:rPr lang="zh-CN" altLang="en-US" sz="2000" b="1">
                <a:solidFill>
                  <a:srgbClr val="0000FF"/>
                </a:solidFill>
              </a:rPr>
              <a:t>案例</a:t>
            </a:r>
            <a:r>
              <a:rPr lang="en-US" altLang="zh-CN" sz="2000" b="1">
                <a:solidFill>
                  <a:srgbClr val="0000FF"/>
                </a:solidFill>
              </a:rPr>
              <a:t>]</a:t>
            </a:r>
            <a:r>
              <a:rPr lang="en-US" altLang="zh-CN"/>
              <a:t> </a:t>
            </a:r>
            <a:r>
              <a:rPr lang="zh-CN" altLang="en-US" sz="2000" b="1">
                <a:solidFill>
                  <a:srgbClr val="0000FF"/>
                </a:solidFill>
              </a:rPr>
              <a:t>Ciscoworks网络管理软件</a:t>
            </a:r>
          </a:p>
        </p:txBody>
      </p:sp>
    </p:spTree>
  </p:cSld>
  <p:clrMapOvr>
    <a:masterClrMapping/>
  </p:clrMapOvr>
  <p:transition spd="slow">
    <p:zoom/>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48" name="Rectangle 3"/>
          <p:cNvSpPr>
            <a:spLocks noGrp="1"/>
          </p:cNvSpPr>
          <p:nvPr>
            <p:ph type="body" sz="half" idx="4294967295"/>
          </p:nvPr>
        </p:nvSpPr>
        <p:spPr>
          <a:xfrm>
            <a:off x="407368" y="908721"/>
            <a:ext cx="8280193" cy="504056"/>
          </a:xfrm>
          <a:prstGeom prst="rect">
            <a:avLst/>
          </a:prstGeom>
          <a:noFill/>
          <a:ln>
            <a:noFill/>
          </a:ln>
        </p:spPr>
        <p:txBody>
          <a:bodyPr vert="horz" lIns="91440" tIns="45720" rIns="91440" bIns="45720" anchor="t"/>
          <a:lstStyle>
            <a:lvl1pPr marL="342900" indent="-342900">
              <a:lnSpc>
                <a:spcPct val="90000"/>
              </a:lnSpc>
              <a:spcBef>
                <a:spcPct val="0"/>
              </a:spcBef>
              <a:spcAft>
                <a:spcPct val="20000"/>
              </a:spcAft>
              <a:buBlip>
                <a:blip r:embed="rId2"/>
              </a:buBlip>
              <a:defRPr sz="2400">
                <a:solidFill>
                  <a:srgbClr val="0000FF"/>
                </a:solidFill>
              </a:defRPr>
            </a:lvl1pPr>
            <a:lvl2pPr marL="742950" indent="-285750">
              <a:lnSpc>
                <a:spcPct val="90000"/>
              </a:lnSpc>
              <a:spcBef>
                <a:spcPct val="0"/>
              </a:spcBef>
              <a:spcAft>
                <a:spcPct val="20000"/>
              </a:spcAft>
              <a:buBlip>
                <a:blip r:embed="rId3"/>
              </a:buBlip>
              <a:defRPr sz="2400">
                <a:solidFill>
                  <a:srgbClr val="000099"/>
                </a:solidFill>
              </a:defRPr>
            </a:lvl2pPr>
            <a:lvl3pPr marL="1143000" indent="-228600">
              <a:lnSpc>
                <a:spcPct val="90000"/>
              </a:lnSpc>
              <a:spcBef>
                <a:spcPct val="0"/>
              </a:spcBef>
              <a:spcAft>
                <a:spcPct val="20000"/>
              </a:spcAft>
              <a:buBlip>
                <a:blip r:embed="rId4"/>
              </a:buBlip>
              <a:defRPr sz="2000">
                <a:solidFill>
                  <a:srgbClr val="008000"/>
                </a:solidFill>
              </a:defRPr>
            </a:lvl3pPr>
            <a:lvl4pPr marL="1600200" indent="-228600">
              <a:lnSpc>
                <a:spcPct val="90000"/>
              </a:lnSpc>
              <a:spcBef>
                <a:spcPct val="0"/>
              </a:spcBef>
              <a:spcAft>
                <a:spcPct val="20000"/>
              </a:spcAft>
              <a:buBlip>
                <a:blip r:embed="rId4"/>
              </a:buBlip>
              <a:defRPr sz="1800">
                <a:solidFill>
                  <a:srgbClr val="800000"/>
                </a:solidFill>
              </a:defRPr>
            </a:lvl4pPr>
            <a:lvl5pPr marL="2057400" indent="-228600">
              <a:lnSpc>
                <a:spcPct val="90000"/>
              </a:lnSpc>
              <a:spcBef>
                <a:spcPct val="0"/>
              </a:spcBef>
              <a:spcAft>
                <a:spcPct val="20000"/>
              </a:spcAft>
              <a:buBlip>
                <a:blip r:embed="rId4"/>
              </a:buBlip>
              <a:defRPr sz="1800">
                <a:solidFill>
                  <a:srgbClr val="003399"/>
                </a:solidFill>
              </a:defRPr>
            </a:lvl5pPr>
          </a:lstStyle>
          <a:p>
            <a:pPr lvl="0" eaLnBrk="1" latinLnBrk="1" hangingPunct="1"/>
            <a:r>
              <a:rPr lang="zh-CN" altLang="en-US" sz="2800" dirty="0">
                <a:solidFill>
                  <a:srgbClr val="000099"/>
                </a:solidFill>
              </a:rPr>
              <a:t>网络工具软件</a:t>
            </a:r>
          </a:p>
        </p:txBody>
      </p:sp>
      <p:sp>
        <p:nvSpPr>
          <p:cNvPr id="1049047" name="Rectangle 2"/>
          <p:cNvSpPr>
            <a:spLocks noGrp="1"/>
          </p:cNvSpPr>
          <p:nvPr>
            <p:ph type="title"/>
          </p:nvPr>
        </p:nvSpPr>
        <p:spPr>
          <a:xfrm>
            <a:off x="47328" y="141557"/>
            <a:ext cx="8640233" cy="57626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1.1  </a:t>
            </a:r>
            <a:r>
              <a:rPr lang="zh-CN" altLang="en-US" dirty="0">
                <a:solidFill>
                  <a:schemeClr val="bg1"/>
                </a:solidFill>
              </a:rPr>
              <a:t>网络工程基本特征</a:t>
            </a:r>
          </a:p>
        </p:txBody>
      </p:sp>
      <p:graphicFrame>
        <p:nvGraphicFramePr>
          <p:cNvPr id="4194309" name="表格 4194308"/>
          <p:cNvGraphicFramePr>
            <a:graphicFrameLocks/>
          </p:cNvGraphicFramePr>
          <p:nvPr/>
        </p:nvGraphicFramePr>
        <p:xfrm>
          <a:off x="2063751" y="1866901"/>
          <a:ext cx="8280399" cy="3300407"/>
        </p:xfrm>
        <a:graphic>
          <a:graphicData uri="http://schemas.openxmlformats.org/drawingml/2006/table">
            <a:tbl>
              <a:tblPr/>
              <a:tblGrid>
                <a:gridCol w="2808287">
                  <a:extLst>
                    <a:ext uri="{9D8B030D-6E8A-4147-A177-3AD203B41FA5}">
                      <a16:colId xmlns:a16="http://schemas.microsoft.com/office/drawing/2014/main" val="20000"/>
                    </a:ext>
                  </a:extLst>
                </a:gridCol>
                <a:gridCol w="5472112">
                  <a:extLst>
                    <a:ext uri="{9D8B030D-6E8A-4147-A177-3AD203B41FA5}">
                      <a16:colId xmlns:a16="http://schemas.microsoft.com/office/drawing/2014/main" val="20001"/>
                    </a:ext>
                  </a:extLst>
                </a:gridCol>
              </a:tblGrid>
              <a:tr h="507999">
                <a:tc>
                  <a:txBody>
                    <a:bodyPr/>
                    <a:lstStyle/>
                    <a:p>
                      <a:pPr marL="342900" lvl="0" indent="-342900" algn="ctr" eaLnBrk="1" latinLnBrk="1" hangingPunct="1">
                        <a:lnSpc>
                          <a:spcPct val="90000"/>
                        </a:lnSpc>
                        <a:spcAft>
                          <a:spcPct val="20000"/>
                        </a:spcAft>
                        <a:buFontTx/>
                        <a:buNone/>
                      </a:pPr>
                      <a:r>
                        <a:rPr lang="zh-CN" altLang="en-US" sz="2400" b="1" dirty="0">
                          <a:solidFill>
                            <a:srgbClr val="000099"/>
                          </a:solidFill>
                          <a:ea typeface="黑体" pitchFamily="49" charset="-122"/>
                        </a:rPr>
                        <a:t>软件名称</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solidFill>
                      <a:srgbClr val="FFCCFF"/>
                    </a:solidFill>
                  </a:tcPr>
                </a:tc>
                <a:tc>
                  <a:txBody>
                    <a:bodyPr/>
                    <a:lstStyle/>
                    <a:p>
                      <a:pPr marL="342900" lvl="0" indent="-342900" algn="ctr" eaLnBrk="1" latinLnBrk="1" hangingPunct="1">
                        <a:lnSpc>
                          <a:spcPct val="90000"/>
                        </a:lnSpc>
                        <a:spcAft>
                          <a:spcPct val="20000"/>
                        </a:spcAft>
                        <a:buFontTx/>
                        <a:buNone/>
                      </a:pPr>
                      <a:r>
                        <a:rPr lang="zh-CN" altLang="en-US" sz="2400" b="1">
                          <a:solidFill>
                            <a:srgbClr val="000099"/>
                          </a:solidFill>
                          <a:ea typeface="黑体" pitchFamily="49" charset="-122"/>
                        </a:rPr>
                        <a:t>设计和工程管理软件说明</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solidFill>
                      <a:srgbClr val="FFCCFF"/>
                    </a:solidFill>
                  </a:tcPr>
                </a:tc>
                <a:extLst>
                  <a:ext uri="{0D108BD9-81ED-4DB2-BD59-A6C34878D82A}">
                    <a16:rowId xmlns:a16="http://schemas.microsoft.com/office/drawing/2014/main" val="10000"/>
                  </a:ext>
                </a:extLst>
              </a:tr>
              <a:tr h="571499">
                <a:tc>
                  <a:txBody>
                    <a:bodyPr/>
                    <a:lstStyle/>
                    <a:p>
                      <a:pPr marL="342900" lvl="0" indent="-342900" algn="l" eaLnBrk="1" latinLnBrk="1" hangingPunct="1">
                        <a:lnSpc>
                          <a:spcPct val="90000"/>
                        </a:lnSpc>
                        <a:spcAft>
                          <a:spcPct val="20000"/>
                        </a:spcAft>
                        <a:buFontTx/>
                        <a:buNone/>
                      </a:pPr>
                      <a:r>
                        <a:rPr lang="en-US" altLang="zh-CN" sz="2400" b="1">
                          <a:solidFill>
                            <a:srgbClr val="FF0000"/>
                          </a:solidFill>
                          <a:effectLst>
                            <a:outerShdw blurRad="38100" dist="38100" dir="2700000" algn="tl">
                              <a:srgbClr val="C0C0C0"/>
                            </a:outerShdw>
                          </a:effectLst>
                          <a:ea typeface="黑体" pitchFamily="49" charset="-122"/>
                        </a:rPr>
                        <a:t>Office Visio</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marL="342900" lvl="0" indent="-342900" algn="l" eaLnBrk="1" latinLnBrk="1" hangingPunct="1">
                        <a:lnSpc>
                          <a:spcPct val="90000"/>
                        </a:lnSpc>
                        <a:spcAft>
                          <a:spcPct val="20000"/>
                        </a:spcAft>
                        <a:buFontTx/>
                        <a:buNone/>
                      </a:pPr>
                      <a:r>
                        <a:rPr lang="zh-CN" altLang="en-US" sz="2400" b="1">
                          <a:solidFill>
                            <a:srgbClr val="000099"/>
                          </a:solidFill>
                          <a:ea typeface="楷体_GB2312" pitchFamily="49" charset="-122"/>
                        </a:rPr>
                        <a:t>网络拓扑图设计和布线设计</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1"/>
                  </a:ext>
                </a:extLst>
              </a:tr>
              <a:tr h="565149">
                <a:tc>
                  <a:txBody>
                    <a:bodyPr/>
                    <a:lstStyle/>
                    <a:p>
                      <a:pPr marL="342900" lvl="0" indent="-342900" algn="l" eaLnBrk="1" latinLnBrk="1" hangingPunct="1">
                        <a:lnSpc>
                          <a:spcPct val="90000"/>
                        </a:lnSpc>
                        <a:spcAft>
                          <a:spcPct val="20000"/>
                        </a:spcAft>
                        <a:buFontTx/>
                        <a:buNone/>
                      </a:pPr>
                      <a:r>
                        <a:rPr lang="en-US" altLang="zh-CN" sz="2400" b="1">
                          <a:solidFill>
                            <a:srgbClr val="000099"/>
                          </a:solidFill>
                          <a:ea typeface="黑体" pitchFamily="49" charset="-122"/>
                        </a:rPr>
                        <a:t>Packet Tracer </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marL="342900" lvl="0" indent="-342900" algn="l" eaLnBrk="1" latinLnBrk="1" hangingPunct="1">
                        <a:lnSpc>
                          <a:spcPct val="90000"/>
                        </a:lnSpc>
                        <a:spcAft>
                          <a:spcPct val="20000"/>
                        </a:spcAft>
                        <a:buFontTx/>
                        <a:buNone/>
                      </a:pPr>
                      <a:r>
                        <a:rPr lang="zh-CN" altLang="en-US" sz="2400" b="1" dirty="0">
                          <a:solidFill>
                            <a:srgbClr val="000099"/>
                          </a:solidFill>
                          <a:ea typeface="楷体_GB2312" pitchFamily="49" charset="-122"/>
                        </a:rPr>
                        <a:t>思科网络模拟实验软件 </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2"/>
                  </a:ext>
                </a:extLst>
              </a:tr>
              <a:tr h="563562">
                <a:tc>
                  <a:txBody>
                    <a:bodyPr/>
                    <a:lstStyle/>
                    <a:p>
                      <a:pPr marL="342900" lvl="0" indent="-342900" algn="l" eaLnBrk="1" latinLnBrk="1" hangingPunct="1">
                        <a:lnSpc>
                          <a:spcPct val="90000"/>
                        </a:lnSpc>
                        <a:spcAft>
                          <a:spcPct val="20000"/>
                        </a:spcAft>
                        <a:buFontTx/>
                        <a:buNone/>
                      </a:pPr>
                      <a:r>
                        <a:rPr lang="en-US" altLang="zh-CN" sz="2400" b="1">
                          <a:solidFill>
                            <a:srgbClr val="FF0000"/>
                          </a:solidFill>
                          <a:effectLst>
                            <a:outerShdw blurRad="38100" dist="38100" dir="2700000" algn="tl">
                              <a:srgbClr val="C0C0C0"/>
                            </a:outerShdw>
                          </a:effectLst>
                          <a:ea typeface="黑体" pitchFamily="49" charset="-122"/>
                        </a:rPr>
                        <a:t>GNS3 </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marL="342900" lvl="0" indent="-342900" algn="l" eaLnBrk="1" latinLnBrk="1" hangingPunct="1">
                        <a:lnSpc>
                          <a:spcPct val="90000"/>
                        </a:lnSpc>
                        <a:spcAft>
                          <a:spcPct val="20000"/>
                        </a:spcAft>
                        <a:buFontTx/>
                        <a:buNone/>
                      </a:pPr>
                      <a:r>
                        <a:rPr lang="zh-CN" altLang="en-US" sz="2400" b="1" dirty="0">
                          <a:solidFill>
                            <a:srgbClr val="000099"/>
                          </a:solidFill>
                          <a:ea typeface="楷体_GB2312" pitchFamily="49" charset="-122"/>
                        </a:rPr>
                        <a:t>网络设备模拟实验软件</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3"/>
                  </a:ext>
                </a:extLst>
              </a:tr>
              <a:tr h="527049">
                <a:tc>
                  <a:txBody>
                    <a:bodyPr/>
                    <a:lstStyle/>
                    <a:p>
                      <a:pPr marL="342900" lvl="0" indent="-342900" algn="l" eaLnBrk="1" latinLnBrk="1" hangingPunct="1">
                        <a:lnSpc>
                          <a:spcPct val="90000"/>
                        </a:lnSpc>
                        <a:spcAft>
                          <a:spcPct val="20000"/>
                        </a:spcAft>
                        <a:buFontTx/>
                        <a:buNone/>
                      </a:pPr>
                      <a:r>
                        <a:rPr lang="en-US" altLang="zh-CN" sz="2400" b="1">
                          <a:solidFill>
                            <a:srgbClr val="000099"/>
                          </a:solidFill>
                          <a:ea typeface="黑体" pitchFamily="49" charset="-122"/>
                        </a:rPr>
                        <a:t>NS2</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marL="342900" lvl="0" indent="-342900" algn="l" eaLnBrk="1" latinLnBrk="1" hangingPunct="1">
                        <a:lnSpc>
                          <a:spcPct val="90000"/>
                        </a:lnSpc>
                        <a:spcAft>
                          <a:spcPct val="20000"/>
                        </a:spcAft>
                        <a:buFontTx/>
                        <a:buNone/>
                      </a:pPr>
                      <a:r>
                        <a:rPr lang="zh-CN" altLang="en-US" sz="2400" b="1">
                          <a:solidFill>
                            <a:srgbClr val="000099"/>
                          </a:solidFill>
                          <a:ea typeface="楷体_GB2312" pitchFamily="49" charset="-122"/>
                        </a:rPr>
                        <a:t>开源网络仿真模拟器</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4"/>
                  </a:ext>
                </a:extLst>
              </a:tr>
              <a:tr h="565149">
                <a:tc>
                  <a:txBody>
                    <a:bodyPr/>
                    <a:lstStyle/>
                    <a:p>
                      <a:pPr marL="342900" lvl="0" indent="-342900" algn="l" eaLnBrk="1" latinLnBrk="1" hangingPunct="1">
                        <a:lnSpc>
                          <a:spcPct val="90000"/>
                        </a:lnSpc>
                        <a:spcAft>
                          <a:spcPct val="20000"/>
                        </a:spcAft>
                        <a:buFontTx/>
                        <a:buNone/>
                      </a:pPr>
                      <a:r>
                        <a:rPr lang="en-US" altLang="zh-CN" sz="2400" b="1">
                          <a:solidFill>
                            <a:srgbClr val="000099"/>
                          </a:solidFill>
                          <a:ea typeface="黑体" pitchFamily="49" charset="-122"/>
                        </a:rPr>
                        <a:t>Dreamweaver </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marL="342900" lvl="0" indent="-342900" algn="l" eaLnBrk="1" latinLnBrk="1" hangingPunct="1">
                        <a:lnSpc>
                          <a:spcPct val="90000"/>
                        </a:lnSpc>
                        <a:spcAft>
                          <a:spcPct val="20000"/>
                        </a:spcAft>
                        <a:buFontTx/>
                        <a:buNone/>
                      </a:pPr>
                      <a:r>
                        <a:rPr lang="zh-CN" altLang="en-US" sz="2400" b="1" dirty="0">
                          <a:solidFill>
                            <a:srgbClr val="000099"/>
                          </a:solidFill>
                          <a:ea typeface="楷体_GB2312" pitchFamily="49" charset="-122"/>
                        </a:rPr>
                        <a:t>网站设计工具 </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5"/>
                  </a:ext>
                </a:extLst>
              </a:tr>
            </a:tbl>
          </a:graphicData>
        </a:graphic>
      </p:graphicFrame>
    </p:spTree>
  </p:cSld>
  <p:clrMapOvr>
    <a:masterClrMapping/>
  </p:clrMapOvr>
  <p:transition spd="slow">
    <p:zoom/>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75" name="Rectangle 3"/>
          <p:cNvSpPr>
            <a:spLocks noGrp="1"/>
          </p:cNvSpPr>
          <p:nvPr>
            <p:ph type="body" sz="half" idx="4294967295"/>
          </p:nvPr>
        </p:nvSpPr>
        <p:spPr>
          <a:xfrm>
            <a:off x="335360" y="897967"/>
            <a:ext cx="7741840" cy="442801"/>
          </a:xfrm>
          <a:prstGeom prst="rect">
            <a:avLst/>
          </a:prstGeom>
          <a:noFill/>
          <a:ln>
            <a:noFill/>
          </a:ln>
        </p:spPr>
        <p:txBody>
          <a:bodyPr vert="horz" lIns="91440" tIns="45720" rIns="91440" bIns="45720" anchor="t">
            <a:normAutofit lnSpcReduction="10000"/>
          </a:bodyPr>
          <a:lstStyle>
            <a:lvl1pPr marL="342900" indent="-342900">
              <a:lnSpc>
                <a:spcPct val="90000"/>
              </a:lnSpc>
              <a:spcBef>
                <a:spcPct val="0"/>
              </a:spcBef>
              <a:spcAft>
                <a:spcPct val="20000"/>
              </a:spcAft>
              <a:buBlip>
                <a:blip r:embed="rId2"/>
              </a:buBlip>
              <a:defRPr sz="2400">
                <a:solidFill>
                  <a:srgbClr val="0000FF"/>
                </a:solidFill>
              </a:defRPr>
            </a:lvl1pPr>
            <a:lvl2pPr marL="742950" indent="-285750">
              <a:lnSpc>
                <a:spcPct val="90000"/>
              </a:lnSpc>
              <a:spcBef>
                <a:spcPct val="0"/>
              </a:spcBef>
              <a:spcAft>
                <a:spcPct val="20000"/>
              </a:spcAft>
              <a:buBlip>
                <a:blip r:embed="rId3"/>
              </a:buBlip>
              <a:defRPr sz="2400">
                <a:solidFill>
                  <a:srgbClr val="000099"/>
                </a:solidFill>
              </a:defRPr>
            </a:lvl2pPr>
            <a:lvl3pPr marL="1143000" indent="-228600">
              <a:lnSpc>
                <a:spcPct val="90000"/>
              </a:lnSpc>
              <a:spcBef>
                <a:spcPct val="0"/>
              </a:spcBef>
              <a:spcAft>
                <a:spcPct val="20000"/>
              </a:spcAft>
              <a:buBlip>
                <a:blip r:embed="rId4"/>
              </a:buBlip>
              <a:defRPr sz="2000">
                <a:solidFill>
                  <a:srgbClr val="008000"/>
                </a:solidFill>
              </a:defRPr>
            </a:lvl3pPr>
            <a:lvl4pPr marL="1600200" indent="-228600">
              <a:lnSpc>
                <a:spcPct val="90000"/>
              </a:lnSpc>
              <a:spcBef>
                <a:spcPct val="0"/>
              </a:spcBef>
              <a:spcAft>
                <a:spcPct val="20000"/>
              </a:spcAft>
              <a:buBlip>
                <a:blip r:embed="rId4"/>
              </a:buBlip>
              <a:defRPr sz="1800">
                <a:solidFill>
                  <a:srgbClr val="800000"/>
                </a:solidFill>
              </a:defRPr>
            </a:lvl4pPr>
            <a:lvl5pPr marL="2057400" indent="-228600">
              <a:lnSpc>
                <a:spcPct val="90000"/>
              </a:lnSpc>
              <a:spcBef>
                <a:spcPct val="0"/>
              </a:spcBef>
              <a:spcAft>
                <a:spcPct val="20000"/>
              </a:spcAft>
              <a:buBlip>
                <a:blip r:embed="rId4"/>
              </a:buBlip>
              <a:defRPr sz="1800">
                <a:solidFill>
                  <a:srgbClr val="003399"/>
                </a:solidFill>
              </a:defRPr>
            </a:lvl5pPr>
          </a:lstStyle>
          <a:p>
            <a:pPr lvl="0" eaLnBrk="1" latinLnBrk="1" hangingPunct="1"/>
            <a:r>
              <a:rPr lang="en-US" altLang="zh-CN" sz="2800" dirty="0" err="1"/>
              <a:t>Ciscoworks</a:t>
            </a:r>
            <a:r>
              <a:rPr lang="zh-CN" altLang="en-US" sz="2800" dirty="0"/>
              <a:t>网络管理软件</a:t>
            </a:r>
            <a:r>
              <a:rPr lang="en-US" altLang="zh-CN" b="0" dirty="0">
                <a:solidFill>
                  <a:srgbClr val="FF0000"/>
                </a:solidFill>
                <a:latin typeface="黑体" pitchFamily="49" charset="-122"/>
              </a:rPr>
              <a:t>(</a:t>
            </a:r>
            <a:r>
              <a:rPr lang="zh-CN" altLang="en-US" b="0" dirty="0">
                <a:solidFill>
                  <a:srgbClr val="FF0000"/>
                </a:solidFill>
                <a:latin typeface="黑体" pitchFamily="49" charset="-122"/>
              </a:rPr>
              <a:t>参考</a:t>
            </a:r>
            <a:r>
              <a:rPr lang="en-US" altLang="zh-CN" b="0" dirty="0">
                <a:solidFill>
                  <a:srgbClr val="FF0000"/>
                </a:solidFill>
                <a:latin typeface="黑体" pitchFamily="49" charset="-122"/>
              </a:rPr>
              <a:t>)</a:t>
            </a:r>
          </a:p>
        </p:txBody>
      </p:sp>
      <p:sp>
        <p:nvSpPr>
          <p:cNvPr id="1049074" name="Rectangle 2"/>
          <p:cNvSpPr>
            <a:spLocks noGrp="1"/>
          </p:cNvSpPr>
          <p:nvPr>
            <p:ph type="title"/>
          </p:nvPr>
        </p:nvSpPr>
        <p:spPr>
          <a:xfrm>
            <a:off x="0" y="167160"/>
            <a:ext cx="8640233" cy="57626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1.1  </a:t>
            </a:r>
            <a:r>
              <a:rPr lang="zh-CN" altLang="en-US" dirty="0">
                <a:solidFill>
                  <a:schemeClr val="bg1"/>
                </a:solidFill>
              </a:rPr>
              <a:t>网络工程概述</a:t>
            </a:r>
          </a:p>
        </p:txBody>
      </p:sp>
      <p:pic>
        <p:nvPicPr>
          <p:cNvPr id="2097174" name="Picture 4" descr="8bad191be14035c1ac6e7519"/>
          <p:cNvPicPr>
            <a:picLocks/>
          </p:cNvPicPr>
          <p:nvPr/>
        </p:nvPicPr>
        <p:blipFill>
          <a:blip r:embed="rId5"/>
          <a:srcRect/>
          <a:stretch>
            <a:fillRect/>
          </a:stretch>
        </p:blipFill>
        <p:spPr>
          <a:xfrm>
            <a:off x="1559496" y="1412776"/>
            <a:ext cx="8712968" cy="4443066"/>
          </a:xfrm>
          <a:prstGeom prst="rect">
            <a:avLst/>
          </a:prstGeom>
          <a:noFill/>
          <a:ln>
            <a:noFill/>
          </a:ln>
        </p:spPr>
      </p:pic>
      <p:sp>
        <p:nvSpPr>
          <p:cNvPr id="1049076" name="AutoShape 5"/>
          <p:cNvSpPr/>
          <p:nvPr/>
        </p:nvSpPr>
        <p:spPr>
          <a:xfrm>
            <a:off x="8903890" y="812921"/>
            <a:ext cx="2952750" cy="504825"/>
          </a:xfrm>
          <a:prstGeom prst="wedgeRectCallout">
            <a:avLst>
              <a:gd name="adj1" fmla="val -41074"/>
              <a:gd name="adj2" fmla="val -20440"/>
            </a:avLst>
          </a:prstGeom>
          <a:solidFill>
            <a:srgbClr val="CCFFFF"/>
          </a:solidFill>
          <a:ln w="9525" cap="flat" cmpd="sng">
            <a:solidFill>
              <a:srgbClr val="FF0000">
                <a:alpha val="100000"/>
              </a:srgbClr>
            </a:solidFill>
            <a:prstDash val="solid"/>
            <a:round/>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en-US" altLang="zh-CN" sz="2000" b="1" dirty="0">
                <a:solidFill>
                  <a:srgbClr val="0000FF"/>
                </a:solidFill>
              </a:rPr>
              <a:t>[</a:t>
            </a:r>
            <a:r>
              <a:rPr lang="zh-CN" altLang="en-US" sz="2000" b="1" dirty="0">
                <a:solidFill>
                  <a:srgbClr val="0000FF"/>
                </a:solidFill>
              </a:rPr>
              <a:t>案例</a:t>
            </a:r>
            <a:r>
              <a:rPr lang="en-US" altLang="zh-CN" sz="2000" b="1" dirty="0">
                <a:solidFill>
                  <a:srgbClr val="0000FF"/>
                </a:solidFill>
              </a:rPr>
              <a:t>]</a:t>
            </a:r>
            <a:r>
              <a:rPr lang="en-US" altLang="zh-CN" dirty="0"/>
              <a:t> </a:t>
            </a:r>
            <a:r>
              <a:rPr lang="zh-CN" altLang="en-US" sz="2000" b="1" dirty="0">
                <a:solidFill>
                  <a:srgbClr val="0000FF"/>
                </a:solidFill>
              </a:rPr>
              <a:t>Office Visio软件</a:t>
            </a:r>
          </a:p>
        </p:txBody>
      </p:sp>
    </p:spTree>
  </p:cSld>
  <p:clrMapOvr>
    <a:masterClrMapping/>
  </p:clrMapOvr>
  <p:transition spd="slow">
    <p:zoom/>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81" name="Rectangle 3"/>
          <p:cNvSpPr>
            <a:spLocks noGrp="1"/>
          </p:cNvSpPr>
          <p:nvPr>
            <p:ph type="body" sz="half" idx="4294967295"/>
          </p:nvPr>
        </p:nvSpPr>
        <p:spPr>
          <a:xfrm>
            <a:off x="335360" y="854441"/>
            <a:ext cx="6984776" cy="576263"/>
          </a:xfrm>
          <a:prstGeom prst="rect">
            <a:avLst/>
          </a:prstGeom>
          <a:noFill/>
          <a:ln>
            <a:noFill/>
          </a:ln>
        </p:spPr>
        <p:txBody>
          <a:bodyPr vert="horz" lIns="91440" tIns="45720" rIns="91440" bIns="45720" anchor="t"/>
          <a:lstStyle>
            <a:lvl1pPr marL="342900" indent="-342900">
              <a:lnSpc>
                <a:spcPct val="90000"/>
              </a:lnSpc>
              <a:spcBef>
                <a:spcPct val="0"/>
              </a:spcBef>
              <a:spcAft>
                <a:spcPct val="20000"/>
              </a:spcAft>
              <a:buBlip>
                <a:blip r:embed="rId2"/>
              </a:buBlip>
              <a:defRPr sz="2400">
                <a:solidFill>
                  <a:srgbClr val="0000FF"/>
                </a:solidFill>
              </a:defRPr>
            </a:lvl1pPr>
            <a:lvl2pPr marL="742950" indent="-285750">
              <a:lnSpc>
                <a:spcPct val="90000"/>
              </a:lnSpc>
              <a:spcBef>
                <a:spcPct val="0"/>
              </a:spcBef>
              <a:spcAft>
                <a:spcPct val="20000"/>
              </a:spcAft>
              <a:buBlip>
                <a:blip r:embed="rId3"/>
              </a:buBlip>
              <a:defRPr sz="2400">
                <a:solidFill>
                  <a:srgbClr val="000099"/>
                </a:solidFill>
              </a:defRPr>
            </a:lvl2pPr>
            <a:lvl3pPr marL="1143000" indent="-228600">
              <a:lnSpc>
                <a:spcPct val="90000"/>
              </a:lnSpc>
              <a:spcBef>
                <a:spcPct val="0"/>
              </a:spcBef>
              <a:spcAft>
                <a:spcPct val="20000"/>
              </a:spcAft>
              <a:buBlip>
                <a:blip r:embed="rId4"/>
              </a:buBlip>
              <a:defRPr sz="2000">
                <a:solidFill>
                  <a:srgbClr val="008000"/>
                </a:solidFill>
              </a:defRPr>
            </a:lvl3pPr>
            <a:lvl4pPr marL="1600200" indent="-228600">
              <a:lnSpc>
                <a:spcPct val="90000"/>
              </a:lnSpc>
              <a:spcBef>
                <a:spcPct val="0"/>
              </a:spcBef>
              <a:spcAft>
                <a:spcPct val="20000"/>
              </a:spcAft>
              <a:buBlip>
                <a:blip r:embed="rId4"/>
              </a:buBlip>
              <a:defRPr sz="1800">
                <a:solidFill>
                  <a:srgbClr val="800000"/>
                </a:solidFill>
              </a:defRPr>
            </a:lvl4pPr>
            <a:lvl5pPr marL="2057400" indent="-228600">
              <a:lnSpc>
                <a:spcPct val="90000"/>
              </a:lnSpc>
              <a:spcBef>
                <a:spcPct val="0"/>
              </a:spcBef>
              <a:spcAft>
                <a:spcPct val="20000"/>
              </a:spcAft>
              <a:buBlip>
                <a:blip r:embed="rId4"/>
              </a:buBlip>
              <a:defRPr sz="1800">
                <a:solidFill>
                  <a:srgbClr val="003399"/>
                </a:solidFill>
              </a:defRPr>
            </a:lvl5pPr>
          </a:lstStyle>
          <a:p>
            <a:pPr lvl="0" eaLnBrk="1" latinLnBrk="1" hangingPunct="1"/>
            <a:r>
              <a:rPr lang="zh-CN" altLang="en-US" sz="2800" dirty="0"/>
              <a:t>网络工具软件</a:t>
            </a:r>
            <a:r>
              <a:rPr lang="en-US" altLang="zh-CN" b="0" dirty="0">
                <a:solidFill>
                  <a:srgbClr val="FF0000"/>
                </a:solidFill>
                <a:latin typeface="黑体" pitchFamily="49" charset="-122"/>
              </a:rPr>
              <a:t>(</a:t>
            </a:r>
            <a:r>
              <a:rPr lang="zh-CN" altLang="en-US" b="0" dirty="0">
                <a:solidFill>
                  <a:srgbClr val="FF0000"/>
                </a:solidFill>
                <a:latin typeface="黑体" pitchFamily="49" charset="-122"/>
              </a:rPr>
              <a:t>参考</a:t>
            </a:r>
            <a:r>
              <a:rPr lang="en-US" altLang="zh-CN" b="0" dirty="0">
                <a:solidFill>
                  <a:srgbClr val="FF0000"/>
                </a:solidFill>
                <a:latin typeface="黑体" pitchFamily="49" charset="-122"/>
              </a:rPr>
              <a:t>)</a:t>
            </a:r>
          </a:p>
        </p:txBody>
      </p:sp>
      <p:sp>
        <p:nvSpPr>
          <p:cNvPr id="1049080" name="Rectangle 2"/>
          <p:cNvSpPr>
            <a:spLocks noGrp="1"/>
          </p:cNvSpPr>
          <p:nvPr>
            <p:ph type="title"/>
          </p:nvPr>
        </p:nvSpPr>
        <p:spPr>
          <a:xfrm>
            <a:off x="47328" y="160400"/>
            <a:ext cx="8640233" cy="57626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1.1  </a:t>
            </a:r>
            <a:r>
              <a:rPr lang="zh-CN" altLang="en-US" dirty="0">
                <a:solidFill>
                  <a:schemeClr val="bg1"/>
                </a:solidFill>
              </a:rPr>
              <a:t>网络工程概述</a:t>
            </a:r>
          </a:p>
        </p:txBody>
      </p:sp>
      <p:pic>
        <p:nvPicPr>
          <p:cNvPr id="2097175" name="Picture 28" descr="虚拟实验室"/>
          <p:cNvPicPr>
            <a:picLocks/>
          </p:cNvPicPr>
          <p:nvPr/>
        </p:nvPicPr>
        <p:blipFill>
          <a:blip r:embed="rId5"/>
          <a:srcRect/>
          <a:stretch>
            <a:fillRect/>
          </a:stretch>
        </p:blipFill>
        <p:spPr>
          <a:xfrm>
            <a:off x="1271464" y="1343328"/>
            <a:ext cx="8568952" cy="4821975"/>
          </a:xfrm>
          <a:prstGeom prst="rect">
            <a:avLst/>
          </a:prstGeom>
          <a:noFill/>
          <a:ln>
            <a:noFill/>
          </a:ln>
        </p:spPr>
      </p:pic>
      <p:sp>
        <p:nvSpPr>
          <p:cNvPr id="1049082" name="AutoShape 29"/>
          <p:cNvSpPr/>
          <p:nvPr/>
        </p:nvSpPr>
        <p:spPr>
          <a:xfrm>
            <a:off x="8616280" y="793751"/>
            <a:ext cx="3527425" cy="431800"/>
          </a:xfrm>
          <a:prstGeom prst="wedgeRectCallout">
            <a:avLst>
              <a:gd name="adj1" fmla="val -42528"/>
              <a:gd name="adj2" fmla="val -15440"/>
            </a:avLst>
          </a:prstGeom>
          <a:solidFill>
            <a:srgbClr val="CCFFFF"/>
          </a:solidFill>
          <a:ln w="9525" cap="flat" cmpd="sng">
            <a:solidFill>
              <a:srgbClr val="FF0000">
                <a:alpha val="100000"/>
              </a:srgbClr>
            </a:solidFill>
            <a:prstDash val="solid"/>
            <a:round/>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en-US" altLang="zh-CN" sz="2000" b="1" dirty="0">
                <a:solidFill>
                  <a:srgbClr val="0000FF"/>
                </a:solidFill>
              </a:rPr>
              <a:t>[</a:t>
            </a:r>
            <a:r>
              <a:rPr lang="zh-CN" altLang="en-US" sz="2000" b="1" dirty="0">
                <a:solidFill>
                  <a:srgbClr val="0000FF"/>
                </a:solidFill>
              </a:rPr>
              <a:t>案例</a:t>
            </a:r>
            <a:r>
              <a:rPr lang="en-US" altLang="zh-CN" sz="2000" b="1" dirty="0">
                <a:solidFill>
                  <a:srgbClr val="0000FF"/>
                </a:solidFill>
              </a:rPr>
              <a:t>] </a:t>
            </a:r>
            <a:r>
              <a:rPr lang="zh-CN" altLang="en-US" sz="2000" b="1" dirty="0">
                <a:solidFill>
                  <a:srgbClr val="0000FF"/>
                </a:solidFill>
              </a:rPr>
              <a:t>网络工程虚拟实验软件</a:t>
            </a:r>
          </a:p>
        </p:txBody>
      </p:sp>
    </p:spTree>
  </p:cSld>
  <p:clrMapOvr>
    <a:masterClrMapping/>
  </p:clrMapOvr>
  <p:transition spd="slow">
    <p:zoom/>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a:extLst>
              <a:ext uri="{FF2B5EF4-FFF2-40B4-BE49-F238E27FC236}">
                <a16:creationId xmlns:a16="http://schemas.microsoft.com/office/drawing/2014/main" id="{CD748BD9-D565-486C-98D2-FADC8597EEA7}"/>
              </a:ext>
            </a:extLst>
          </p:cNvPr>
          <p:cNvGrpSpPr/>
          <p:nvPr/>
        </p:nvGrpSpPr>
        <p:grpSpPr>
          <a:xfrm>
            <a:off x="279471" y="2164991"/>
            <a:ext cx="2960721" cy="2350284"/>
            <a:chOff x="400216" y="1425650"/>
            <a:chExt cx="3711212" cy="2882853"/>
          </a:xfrm>
        </p:grpSpPr>
        <p:grpSp>
          <p:nvGrpSpPr>
            <p:cNvPr id="14" name="组合 13">
              <a:extLst>
                <a:ext uri="{FF2B5EF4-FFF2-40B4-BE49-F238E27FC236}">
                  <a16:creationId xmlns:a16="http://schemas.microsoft.com/office/drawing/2014/main" id="{51077B62-17CF-4B61-B4F9-BDB0314C4782}"/>
                </a:ext>
              </a:extLst>
            </p:cNvPr>
            <p:cNvGrpSpPr/>
            <p:nvPr/>
          </p:nvGrpSpPr>
          <p:grpSpPr>
            <a:xfrm>
              <a:off x="400216" y="1425650"/>
              <a:ext cx="3711212" cy="2882853"/>
              <a:chOff x="445935" y="809294"/>
              <a:chExt cx="6990119" cy="5470972"/>
            </a:xfrm>
          </p:grpSpPr>
          <p:sp>
            <p:nvSpPr>
              <p:cNvPr id="18" name="íśļïḋé">
                <a:extLst>
                  <a:ext uri="{FF2B5EF4-FFF2-40B4-BE49-F238E27FC236}">
                    <a16:creationId xmlns:a16="http://schemas.microsoft.com/office/drawing/2014/main" id="{976C2238-92B1-43CC-8A8D-718726B4C86F}"/>
                  </a:ext>
                </a:extLst>
              </p:cNvPr>
              <p:cNvSpPr/>
              <p:nvPr/>
            </p:nvSpPr>
            <p:spPr bwMode="auto">
              <a:xfrm rot="12330823">
                <a:off x="1684541" y="809294"/>
                <a:ext cx="5751513" cy="2876549"/>
              </a:xfrm>
              <a:custGeom>
                <a:avLst/>
                <a:gdLst>
                  <a:gd name="connsiteX0" fmla="*/ 842247 w 5751228"/>
                  <a:gd name="connsiteY0" fmla="*/ 2033366 h 2875614"/>
                  <a:gd name="connsiteX1" fmla="*/ 0 w 5751228"/>
                  <a:gd name="connsiteY1" fmla="*/ 0 h 2875614"/>
                  <a:gd name="connsiteX2" fmla="*/ 408346 w 5751228"/>
                  <a:gd name="connsiteY2" fmla="*/ 0 h 2875614"/>
                  <a:gd name="connsiteX3" fmla="*/ 407043 w 5751228"/>
                  <a:gd name="connsiteY3" fmla="*/ 74793 h 2875614"/>
                  <a:gd name="connsiteX4" fmla="*/ 1182959 w 5751228"/>
                  <a:gd name="connsiteY4" fmla="*/ 1798429 h 2875614"/>
                  <a:gd name="connsiteX5" fmla="*/ 4674044 w 5751228"/>
                  <a:gd name="connsiteY5" fmla="*/ 1692653 h 2875614"/>
                  <a:gd name="connsiteX6" fmla="*/ 5340056 w 5751228"/>
                  <a:gd name="connsiteY6" fmla="*/ 162164 h 2875614"/>
                  <a:gd name="connsiteX7" fmla="*/ 5342881 w 5751228"/>
                  <a:gd name="connsiteY7" fmla="*/ 0 h 2875614"/>
                  <a:gd name="connsiteX8" fmla="*/ 5751228 w 5751228"/>
                  <a:gd name="connsiteY8" fmla="*/ 0 h 2875614"/>
                  <a:gd name="connsiteX9" fmla="*/ 2875614 w 5751228"/>
                  <a:gd name="connsiteY9" fmla="*/ 2875614 h 2875614"/>
                  <a:gd name="connsiteX10" fmla="*/ 842247 w 5751228"/>
                  <a:gd name="connsiteY10" fmla="*/ 2033366 h 2875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51228" h="2875614">
                    <a:moveTo>
                      <a:pt x="842247" y="2033366"/>
                    </a:moveTo>
                    <a:cubicBezTo>
                      <a:pt x="321864" y="1512982"/>
                      <a:pt x="0" y="794078"/>
                      <a:pt x="0" y="0"/>
                    </a:cubicBezTo>
                    <a:lnTo>
                      <a:pt x="408346" y="0"/>
                    </a:lnTo>
                    <a:lnTo>
                      <a:pt x="407043" y="74793"/>
                    </a:lnTo>
                    <a:cubicBezTo>
                      <a:pt x="426185" y="706556"/>
                      <a:pt x="686336" y="1331016"/>
                      <a:pt x="1182959" y="1798429"/>
                    </a:cubicBezTo>
                    <a:cubicBezTo>
                      <a:pt x="2176205" y="2733256"/>
                      <a:pt x="3739217" y="2685899"/>
                      <a:pt x="4674044" y="1692653"/>
                    </a:cubicBezTo>
                    <a:cubicBezTo>
                      <a:pt x="5083031" y="1258108"/>
                      <a:pt x="5304022" y="714506"/>
                      <a:pt x="5340056" y="162164"/>
                    </a:cubicBezTo>
                    <a:lnTo>
                      <a:pt x="5342881" y="0"/>
                    </a:lnTo>
                    <a:lnTo>
                      <a:pt x="5751228" y="0"/>
                    </a:lnTo>
                    <a:cubicBezTo>
                      <a:pt x="5751228" y="1588157"/>
                      <a:pt x="4463771" y="2875614"/>
                      <a:pt x="2875614" y="2875614"/>
                    </a:cubicBezTo>
                    <a:cubicBezTo>
                      <a:pt x="2081535" y="2875614"/>
                      <a:pt x="1362632" y="2553750"/>
                      <a:pt x="842247" y="2033366"/>
                    </a:cubicBezTo>
                    <a:close/>
                  </a:path>
                </a:pathLst>
              </a:custGeom>
              <a:solidFill>
                <a:srgbClr val="0AA39D">
                  <a:alpha val="75000"/>
                </a:srgbClr>
              </a:solidFill>
              <a:ln w="19050">
                <a:noFill/>
                <a:round/>
                <a:headEnd/>
                <a:tailEnd/>
              </a:ln>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000000"/>
                  </a:solidFill>
                  <a:effectLst/>
                  <a:uLnTx/>
                  <a:uFillTx/>
                  <a:latin typeface="Arial"/>
                  <a:ea typeface="微软雅黑" panose="020B0503020204020204" pitchFamily="34" charset="-122"/>
                </a:endParaRPr>
              </a:p>
            </p:txBody>
          </p:sp>
          <p:sp>
            <p:nvSpPr>
              <p:cNvPr id="19" name="íSḷîďê">
                <a:extLst>
                  <a:ext uri="{FF2B5EF4-FFF2-40B4-BE49-F238E27FC236}">
                    <a16:creationId xmlns:a16="http://schemas.microsoft.com/office/drawing/2014/main" id="{7AB1AF71-AAC3-4B0C-8E29-199DDE974FCE}"/>
                  </a:ext>
                </a:extLst>
              </p:cNvPr>
              <p:cNvSpPr>
                <a:spLocks/>
              </p:cNvSpPr>
              <p:nvPr/>
            </p:nvSpPr>
            <p:spPr bwMode="auto">
              <a:xfrm rot="12330823">
                <a:off x="445935" y="3404681"/>
                <a:ext cx="5751328" cy="2875585"/>
              </a:xfrm>
              <a:custGeom>
                <a:avLst/>
                <a:gdLst>
                  <a:gd name="T0" fmla="*/ 0 w 5751227"/>
                  <a:gd name="T1" fmla="*/ 2875615 h 2875615"/>
                  <a:gd name="T2" fmla="*/ 2875628 w 5751227"/>
                  <a:gd name="T3" fmla="*/ 0 h 2875615"/>
                  <a:gd name="T4" fmla="*/ 5751227 w 5751227"/>
                  <a:gd name="T5" fmla="*/ 2875615 h 2875615"/>
                  <a:gd name="T6" fmla="*/ 5342883 w 5751227"/>
                  <a:gd name="T7" fmla="*/ 2875615 h 2875615"/>
                  <a:gd name="T8" fmla="*/ 5344183 w 5751227"/>
                  <a:gd name="T9" fmla="*/ 2800821 h 2875615"/>
                  <a:gd name="T10" fmla="*/ 4568267 w 5751227"/>
                  <a:gd name="T11" fmla="*/ 1077193 h 2875615"/>
                  <a:gd name="T12" fmla="*/ 1077190 w 5751227"/>
                  <a:gd name="T13" fmla="*/ 1182968 h 2875615"/>
                  <a:gd name="T14" fmla="*/ 411171 w 5751227"/>
                  <a:gd name="T15" fmla="*/ 2713449 h 2875615"/>
                  <a:gd name="T16" fmla="*/ 408345 w 5751227"/>
                  <a:gd name="T17" fmla="*/ 2875615 h 2875615"/>
                  <a:gd name="T18" fmla="*/ 0 w 5751227"/>
                  <a:gd name="T19" fmla="*/ 2875615 h 28756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51227"/>
                  <a:gd name="T31" fmla="*/ 0 h 2875615"/>
                  <a:gd name="T32" fmla="*/ 5751227 w 5751227"/>
                  <a:gd name="T33" fmla="*/ 2875615 h 287561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51227" h="2875615">
                    <a:moveTo>
                      <a:pt x="0" y="2875615"/>
                    </a:moveTo>
                    <a:cubicBezTo>
                      <a:pt x="0" y="1287457"/>
                      <a:pt x="1287456" y="0"/>
                      <a:pt x="2875613" y="0"/>
                    </a:cubicBezTo>
                    <a:cubicBezTo>
                      <a:pt x="4463770" y="0"/>
                      <a:pt x="5751227" y="1287457"/>
                      <a:pt x="5751227" y="2875614"/>
                    </a:cubicBezTo>
                    <a:lnTo>
                      <a:pt x="5342880" y="2875614"/>
                    </a:lnTo>
                    <a:lnTo>
                      <a:pt x="5344183" y="2800820"/>
                    </a:lnTo>
                    <a:cubicBezTo>
                      <a:pt x="5325041" y="2169058"/>
                      <a:pt x="5064890" y="1544598"/>
                      <a:pt x="4568267" y="1077185"/>
                    </a:cubicBezTo>
                    <a:cubicBezTo>
                      <a:pt x="3575022" y="142357"/>
                      <a:pt x="2012009" y="189715"/>
                      <a:pt x="1077182" y="1182960"/>
                    </a:cubicBezTo>
                    <a:cubicBezTo>
                      <a:pt x="668195" y="1617505"/>
                      <a:pt x="447204" y="2161107"/>
                      <a:pt x="411171" y="2713449"/>
                    </a:cubicBezTo>
                    <a:lnTo>
                      <a:pt x="408345" y="2875614"/>
                    </a:lnTo>
                    <a:lnTo>
                      <a:pt x="0" y="2875615"/>
                    </a:lnTo>
                    <a:close/>
                  </a:path>
                </a:pathLst>
              </a:custGeom>
              <a:solidFill>
                <a:srgbClr val="003F98">
                  <a:alpha val="73000"/>
                </a:srgbClr>
              </a:solidFill>
              <a:ln>
                <a:noFill/>
              </a:ln>
              <a:extLst>
                <a:ext uri="{91240B29-F687-4F45-9708-019B960494DF}">
                  <a14:hiddenLine xmlns:a14="http://schemas.microsoft.com/office/drawing/2010/main" w="19050">
                    <a:solidFill>
                      <a:srgbClr val="000000"/>
                    </a:solidFill>
                    <a:round/>
                    <a:headEnd/>
                    <a:tailEnd/>
                  </a14:hiddenLine>
                </a:ext>
              </a:extLst>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a:ea typeface="微软雅黑" panose="020B0503020204020204" pitchFamily="34" charset="-122"/>
                </a:endParaRPr>
              </a:p>
            </p:txBody>
          </p:sp>
        </p:grpSp>
        <p:grpSp>
          <p:nvGrpSpPr>
            <p:cNvPr id="15" name="iṧľiďe">
              <a:extLst>
                <a:ext uri="{FF2B5EF4-FFF2-40B4-BE49-F238E27FC236}">
                  <a16:creationId xmlns:a16="http://schemas.microsoft.com/office/drawing/2014/main" id="{891052D4-C542-414B-91C5-DB7B72CDD9F2}"/>
                </a:ext>
              </a:extLst>
            </p:cNvPr>
            <p:cNvGrpSpPr>
              <a:grpSpLocks/>
            </p:cNvGrpSpPr>
            <p:nvPr/>
          </p:nvGrpSpPr>
          <p:grpSpPr bwMode="auto">
            <a:xfrm>
              <a:off x="1507376" y="1987353"/>
              <a:ext cx="1391523" cy="1797372"/>
              <a:chOff x="1987251" y="3051050"/>
              <a:chExt cx="1826411" cy="2359035"/>
            </a:xfrm>
          </p:grpSpPr>
          <p:sp>
            <p:nvSpPr>
              <p:cNvPr id="16" name="iSlïḓé">
                <a:extLst>
                  <a:ext uri="{FF2B5EF4-FFF2-40B4-BE49-F238E27FC236}">
                    <a16:creationId xmlns:a16="http://schemas.microsoft.com/office/drawing/2014/main" id="{068C083D-D9FD-4334-828B-B06B75F8977F}"/>
                  </a:ext>
                </a:extLst>
              </p:cNvPr>
              <p:cNvSpPr txBox="1">
                <a:spLocks noChangeArrowheads="1"/>
              </p:cNvSpPr>
              <p:nvPr/>
            </p:nvSpPr>
            <p:spPr bwMode="auto">
              <a:xfrm>
                <a:off x="2301494" y="3051050"/>
                <a:ext cx="1512168" cy="2308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Times New Roman" panose="02020603050405020304" pitchFamily="18" charset="0"/>
                    <a:ea typeface="微软雅黑" panose="020B0503020204020204" pitchFamily="34" charset="-122"/>
                  </a:defRPr>
                </a:lvl1pPr>
                <a:lvl2pPr marL="742950" indent="-285750">
                  <a:defRPr>
                    <a:solidFill>
                      <a:schemeClr val="tx1"/>
                    </a:solidFill>
                    <a:latin typeface="Times New Roman" panose="02020603050405020304" pitchFamily="18" charset="0"/>
                    <a:ea typeface="微软雅黑" panose="020B0503020204020204" pitchFamily="34" charset="-122"/>
                  </a:defRPr>
                </a:lvl2pPr>
                <a:lvl3pPr marL="1143000" indent="-228600">
                  <a:defRPr>
                    <a:solidFill>
                      <a:schemeClr val="tx1"/>
                    </a:solidFill>
                    <a:latin typeface="Times New Roman" panose="02020603050405020304" pitchFamily="18" charset="0"/>
                    <a:ea typeface="微软雅黑" panose="020B0503020204020204" pitchFamily="34" charset="-122"/>
                  </a:defRPr>
                </a:lvl3pPr>
                <a:lvl4pPr marL="1600200" indent="-228600">
                  <a:defRPr>
                    <a:solidFill>
                      <a:schemeClr val="tx1"/>
                    </a:solidFill>
                    <a:latin typeface="Times New Roman" panose="02020603050405020304" pitchFamily="18" charset="0"/>
                    <a:ea typeface="微软雅黑" panose="020B0503020204020204" pitchFamily="34" charset="-122"/>
                  </a:defRPr>
                </a:lvl4pPr>
                <a:lvl5pPr marL="2057400" indent="-228600">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48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rPr>
                  <a:t>目录</a:t>
                </a:r>
              </a:p>
            </p:txBody>
          </p:sp>
          <p:sp>
            <p:nvSpPr>
              <p:cNvPr id="17" name="îsļïdé">
                <a:extLst>
                  <a:ext uri="{FF2B5EF4-FFF2-40B4-BE49-F238E27FC236}">
                    <a16:creationId xmlns:a16="http://schemas.microsoft.com/office/drawing/2014/main" id="{53CBF4E9-5B09-4897-BB1F-C3B8F9B2F91D}"/>
                  </a:ext>
                </a:extLst>
              </p:cNvPr>
              <p:cNvSpPr txBox="1">
                <a:spLocks noChangeArrowheads="1"/>
              </p:cNvSpPr>
              <p:nvPr/>
            </p:nvSpPr>
            <p:spPr bwMode="auto">
              <a:xfrm rot="5400000">
                <a:off x="1044712" y="4077375"/>
                <a:ext cx="2275249" cy="390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imes New Roman" panose="02020603050405020304" pitchFamily="18" charset="0"/>
                    <a:ea typeface="微软雅黑" panose="020B0503020204020204" pitchFamily="34" charset="-122"/>
                  </a:defRPr>
                </a:lvl1pPr>
                <a:lvl2pPr marL="742950" indent="-285750">
                  <a:defRPr>
                    <a:solidFill>
                      <a:schemeClr val="tx1"/>
                    </a:solidFill>
                    <a:latin typeface="Times New Roman" panose="02020603050405020304" pitchFamily="18" charset="0"/>
                    <a:ea typeface="微软雅黑" panose="020B0503020204020204" pitchFamily="34" charset="-122"/>
                  </a:defRPr>
                </a:lvl2pPr>
                <a:lvl3pPr marL="1143000" indent="-228600">
                  <a:defRPr>
                    <a:solidFill>
                      <a:schemeClr val="tx1"/>
                    </a:solidFill>
                    <a:latin typeface="Times New Roman" panose="02020603050405020304" pitchFamily="18" charset="0"/>
                    <a:ea typeface="微软雅黑" panose="020B0503020204020204" pitchFamily="34" charset="-122"/>
                  </a:defRPr>
                </a:lvl3pPr>
                <a:lvl4pPr marL="1600200" indent="-228600">
                  <a:defRPr>
                    <a:solidFill>
                      <a:schemeClr val="tx1"/>
                    </a:solidFill>
                    <a:latin typeface="Times New Roman" panose="02020603050405020304" pitchFamily="18" charset="0"/>
                    <a:ea typeface="微软雅黑" panose="020B0503020204020204" pitchFamily="34" charset="-122"/>
                  </a:defRPr>
                </a:lvl4pPr>
                <a:lvl5pPr marL="2057400" indent="-228600">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rPr>
                  <a:t>CONTENT</a:t>
                </a:r>
              </a:p>
            </p:txBody>
          </p:sp>
        </p:grpSp>
      </p:grpSp>
      <p:sp>
        <p:nvSpPr>
          <p:cNvPr id="21" name="í$1iďê">
            <a:extLst>
              <a:ext uri="{FF2B5EF4-FFF2-40B4-BE49-F238E27FC236}">
                <a16:creationId xmlns:a16="http://schemas.microsoft.com/office/drawing/2014/main" id="{C541662A-52BD-4B26-B8C7-EF7AE024A9BF}"/>
              </a:ext>
            </a:extLst>
          </p:cNvPr>
          <p:cNvSpPr txBox="1"/>
          <p:nvPr/>
        </p:nvSpPr>
        <p:spPr bwMode="auto">
          <a:xfrm>
            <a:off x="3287688" y="2996952"/>
            <a:ext cx="7168405" cy="539442"/>
          </a:xfrm>
          <a:prstGeom prst="rect">
            <a:avLst/>
          </a:prstGeom>
          <a:noFill/>
        </p:spPr>
        <p:txBody>
          <a:bodyPr wrap="none" anchor="ctr">
            <a:noAutofit/>
          </a:bodyPr>
          <a:lstStyle/>
          <a:p>
            <a:pPr>
              <a:defRPr/>
            </a:pPr>
            <a:r>
              <a:rPr lang="en-US" altLang="zh-CN" sz="3600" b="1" dirty="0">
                <a:solidFill>
                  <a:srgbClr val="11406C">
                    <a:lumMod val="100000"/>
                  </a:srgbClr>
                </a:solidFill>
                <a:latin typeface="Impact" panose="020B0806030902050204" pitchFamily="34" charset="0"/>
                <a:ea typeface="微软雅黑" panose="020B0503020204020204" pitchFamily="34" charset="-122"/>
              </a:rPr>
              <a:t>1.2  </a:t>
            </a:r>
            <a:r>
              <a:rPr lang="zh-CN" altLang="en-US" sz="3600" b="1" dirty="0">
                <a:solidFill>
                  <a:srgbClr val="11406C">
                    <a:lumMod val="100000"/>
                  </a:srgbClr>
                </a:solidFill>
                <a:latin typeface="Impact" panose="020B0806030902050204" pitchFamily="34" charset="0"/>
                <a:ea typeface="微软雅黑" panose="020B0503020204020204" pitchFamily="34" charset="-122"/>
              </a:rPr>
              <a:t>网络工程设计规范</a:t>
            </a:r>
          </a:p>
        </p:txBody>
      </p:sp>
    </p:spTree>
    <p:extLst>
      <p:ext uri="{BB962C8B-B14F-4D97-AF65-F5344CB8AC3E}">
        <p14:creationId xmlns:p14="http://schemas.microsoft.com/office/powerpoint/2010/main" val="1433353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99" name="Rectangle 3"/>
          <p:cNvSpPr>
            <a:spLocks noGrp="1"/>
          </p:cNvSpPr>
          <p:nvPr>
            <p:ph idx="1"/>
          </p:nvPr>
        </p:nvSpPr>
        <p:spPr>
          <a:xfrm>
            <a:off x="335360" y="908720"/>
            <a:ext cx="10515600" cy="4351338"/>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buFontTx/>
              <a:buNone/>
            </a:pPr>
            <a:r>
              <a:rPr lang="en-US" altLang="zh-CN" sz="3200" dirty="0">
                <a:solidFill>
                  <a:schemeClr val="tx1"/>
                </a:solidFill>
                <a:effectLst>
                  <a:outerShdw blurRad="38100" dist="38100" dir="2700000" algn="tl">
                    <a:srgbClr val="C0C0C0"/>
                  </a:outerShdw>
                </a:effectLst>
              </a:rPr>
              <a:t>1.2.1  </a:t>
            </a:r>
            <a:r>
              <a:rPr lang="zh-CN" altLang="en-US" sz="3200" dirty="0">
                <a:solidFill>
                  <a:schemeClr val="tx1"/>
                </a:solidFill>
                <a:effectLst>
                  <a:outerShdw blurRad="38100" dist="38100" dir="2700000" algn="tl">
                    <a:srgbClr val="C0C0C0"/>
                  </a:outerShdw>
                </a:effectLst>
              </a:rPr>
              <a:t>网络工程标准</a:t>
            </a:r>
          </a:p>
          <a:p>
            <a:pPr lvl="0" eaLnBrk="1" latinLnBrk="1" hangingPunct="1">
              <a:buFontTx/>
              <a:buNone/>
            </a:pPr>
            <a:r>
              <a:rPr lang="en-US" altLang="zh-CN" dirty="0">
                <a:solidFill>
                  <a:schemeClr val="tx1"/>
                </a:solidFill>
              </a:rPr>
              <a:t>1.  </a:t>
            </a:r>
            <a:r>
              <a:rPr lang="zh-CN" altLang="en-US" dirty="0">
                <a:solidFill>
                  <a:schemeClr val="tx1"/>
                </a:solidFill>
              </a:rPr>
              <a:t>标准制定的目的</a:t>
            </a:r>
          </a:p>
          <a:p>
            <a:pPr lvl="1" eaLnBrk="1" latinLnBrk="1" hangingPunct="1"/>
            <a:r>
              <a:rPr lang="zh-CN" altLang="en-US" dirty="0">
                <a:solidFill>
                  <a:schemeClr val="tx1"/>
                </a:solidFill>
              </a:rPr>
              <a:t>保障硬件设备之间的</a:t>
            </a:r>
            <a:r>
              <a:rPr lang="zh-CN" altLang="en-US" dirty="0">
                <a:solidFill>
                  <a:schemeClr val="tx1"/>
                </a:solidFill>
                <a:effectLst>
                  <a:outerShdw blurRad="38100" dist="38100" dir="2700000" algn="tl">
                    <a:srgbClr val="C0C0C0"/>
                  </a:outerShdw>
                </a:effectLst>
                <a:ea typeface="黑体" pitchFamily="49" charset="-122"/>
              </a:rPr>
              <a:t>兼容性；</a:t>
            </a:r>
          </a:p>
          <a:p>
            <a:pPr lvl="1" eaLnBrk="1" latinLnBrk="1" hangingPunct="1"/>
            <a:r>
              <a:rPr lang="zh-CN" altLang="en-US" dirty="0">
                <a:solidFill>
                  <a:schemeClr val="tx1"/>
                </a:solidFill>
              </a:rPr>
              <a:t>保证应用软件之间的数据交换；</a:t>
            </a:r>
          </a:p>
          <a:p>
            <a:pPr lvl="1" eaLnBrk="1" latinLnBrk="1" hangingPunct="1"/>
            <a:r>
              <a:rPr lang="zh-CN" altLang="en-US" dirty="0">
                <a:solidFill>
                  <a:schemeClr val="tx1"/>
                </a:solidFill>
              </a:rPr>
              <a:t>保障不同产品、服务达到公认的</a:t>
            </a:r>
            <a:r>
              <a:rPr lang="zh-CN" altLang="en-US" dirty="0">
                <a:solidFill>
                  <a:schemeClr val="tx1"/>
                </a:solidFill>
                <a:effectLst>
                  <a:outerShdw blurRad="38100" dist="38100" dir="2700000" algn="tl">
                    <a:srgbClr val="C0C0C0"/>
                  </a:outerShdw>
                </a:effectLst>
                <a:ea typeface="黑体" pitchFamily="49" charset="-122"/>
              </a:rPr>
              <a:t>规定品质</a:t>
            </a:r>
            <a:r>
              <a:rPr lang="zh-CN" altLang="en-US" dirty="0">
                <a:solidFill>
                  <a:schemeClr val="tx1"/>
                </a:solidFill>
              </a:rPr>
              <a:t>；</a:t>
            </a:r>
          </a:p>
          <a:p>
            <a:pPr lvl="1" eaLnBrk="1" latinLnBrk="1" hangingPunct="1"/>
            <a:r>
              <a:rPr lang="zh-CN" altLang="en-US" dirty="0">
                <a:solidFill>
                  <a:schemeClr val="tx1"/>
                </a:solidFill>
              </a:rPr>
              <a:t>保护标准制定者的</a:t>
            </a:r>
            <a:r>
              <a:rPr lang="zh-CN" altLang="en-US" dirty="0">
                <a:solidFill>
                  <a:schemeClr val="tx1"/>
                </a:solidFill>
                <a:effectLst>
                  <a:outerShdw blurRad="38100" dist="38100" dir="2700000" algn="tl">
                    <a:srgbClr val="C0C0C0"/>
                  </a:outerShdw>
                </a:effectLst>
                <a:ea typeface="黑体" pitchFamily="49" charset="-122"/>
              </a:rPr>
              <a:t>利益</a:t>
            </a:r>
            <a:r>
              <a:rPr lang="zh-CN" altLang="en-US" dirty="0">
                <a:solidFill>
                  <a:schemeClr val="tx1"/>
                </a:solidFill>
              </a:rPr>
              <a:t>；</a:t>
            </a:r>
          </a:p>
          <a:p>
            <a:pPr lvl="1" eaLnBrk="1" latinLnBrk="1" hangingPunct="1"/>
            <a:r>
              <a:rPr lang="zh-CN" altLang="en-US" dirty="0">
                <a:solidFill>
                  <a:schemeClr val="tx1"/>
                </a:solidFill>
              </a:rPr>
              <a:t>降低系统集成商和用户的</a:t>
            </a:r>
            <a:r>
              <a:rPr lang="zh-CN" altLang="en-US" dirty="0">
                <a:solidFill>
                  <a:schemeClr val="tx1"/>
                </a:solidFill>
                <a:effectLst>
                  <a:outerShdw blurRad="38100" dist="38100" dir="2700000" algn="tl">
                    <a:srgbClr val="C0C0C0"/>
                  </a:outerShdw>
                </a:effectLst>
                <a:ea typeface="黑体" pitchFamily="49" charset="-122"/>
              </a:rPr>
              <a:t>成本</a:t>
            </a:r>
            <a:r>
              <a:rPr lang="zh-CN" altLang="en-US" dirty="0">
                <a:solidFill>
                  <a:schemeClr val="tx1"/>
                </a:solidFill>
              </a:rPr>
              <a:t>。</a:t>
            </a:r>
          </a:p>
        </p:txBody>
      </p:sp>
      <p:sp>
        <p:nvSpPr>
          <p:cNvPr id="1049098" name="Rectangle 2"/>
          <p:cNvSpPr>
            <a:spLocks noGrp="1"/>
          </p:cNvSpPr>
          <p:nvPr>
            <p:ph type="title"/>
          </p:nvPr>
        </p:nvSpPr>
        <p:spPr>
          <a:xfrm>
            <a:off x="47328" y="155127"/>
            <a:ext cx="10515600" cy="565945"/>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1.2  </a:t>
            </a:r>
            <a:r>
              <a:rPr lang="zh-CN" altLang="en-US" dirty="0">
                <a:solidFill>
                  <a:schemeClr val="bg1"/>
                </a:solidFill>
              </a:rPr>
              <a:t>网络工程设计规范</a:t>
            </a:r>
          </a:p>
        </p:txBody>
      </p:sp>
    </p:spTree>
  </p:cSld>
  <p:clrMapOvr>
    <a:masterClrMapping/>
  </p:clrMapOvr>
  <p:transition spd="slow">
    <p:zoom/>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04" name="Rectangle 3"/>
          <p:cNvSpPr>
            <a:spLocks noGrp="1"/>
          </p:cNvSpPr>
          <p:nvPr>
            <p:ph idx="1"/>
          </p:nvPr>
        </p:nvSpPr>
        <p:spPr>
          <a:xfrm>
            <a:off x="407368" y="980728"/>
            <a:ext cx="10515600" cy="4351338"/>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r>
              <a:rPr lang="zh-CN" altLang="en-US" b="0" dirty="0">
                <a:solidFill>
                  <a:schemeClr val="tx1"/>
                </a:solidFill>
              </a:rPr>
              <a:t>网络设计标准主要有：</a:t>
            </a:r>
          </a:p>
          <a:p>
            <a:pPr lvl="1" eaLnBrk="1" latinLnBrk="1" hangingPunct="1"/>
            <a:r>
              <a:rPr lang="en-US" altLang="zh-CN" dirty="0">
                <a:solidFill>
                  <a:srgbClr val="FF0000"/>
                </a:solidFill>
                <a:effectLst>
                  <a:outerShdw blurRad="38100" dist="38100" dir="2700000" algn="tl">
                    <a:srgbClr val="C0C0C0"/>
                  </a:outerShdw>
                </a:effectLst>
              </a:rPr>
              <a:t>ITU-T</a:t>
            </a:r>
            <a:r>
              <a:rPr lang="zh-CN" altLang="en-US" sz="2000" b="1" dirty="0">
                <a:solidFill>
                  <a:srgbClr val="FF0000"/>
                </a:solidFill>
              </a:rPr>
              <a:t>（国际电信联盟）</a:t>
            </a:r>
          </a:p>
          <a:p>
            <a:pPr lvl="1" eaLnBrk="1" latinLnBrk="1" hangingPunct="1"/>
            <a:r>
              <a:rPr lang="en-US" altLang="zh-CN" dirty="0">
                <a:solidFill>
                  <a:srgbClr val="FF0000"/>
                </a:solidFill>
                <a:effectLst>
                  <a:outerShdw blurRad="38100" dist="38100" dir="2700000" algn="tl">
                    <a:srgbClr val="C0C0C0"/>
                  </a:outerShdw>
                </a:effectLst>
              </a:rPr>
              <a:t>IEEE</a:t>
            </a:r>
            <a:r>
              <a:rPr lang="zh-CN" altLang="en-US" sz="2000" b="1" dirty="0">
                <a:solidFill>
                  <a:srgbClr val="FF0000"/>
                </a:solidFill>
              </a:rPr>
              <a:t>（国际电子电气工程师协会）</a:t>
            </a:r>
          </a:p>
          <a:p>
            <a:pPr lvl="1" eaLnBrk="1" latinLnBrk="1" hangingPunct="1"/>
            <a:r>
              <a:rPr lang="en-US" altLang="zh-CN" dirty="0">
                <a:solidFill>
                  <a:srgbClr val="FF0000"/>
                </a:solidFill>
                <a:effectLst>
                  <a:outerShdw blurRad="38100" dist="38100" dir="2700000" algn="tl">
                    <a:srgbClr val="C0C0C0"/>
                  </a:outerShdw>
                </a:effectLst>
              </a:rPr>
              <a:t>IETF</a:t>
            </a:r>
            <a:r>
              <a:rPr lang="zh-CN" altLang="en-US" sz="2000" b="1" dirty="0">
                <a:solidFill>
                  <a:srgbClr val="FF0000"/>
                </a:solidFill>
              </a:rPr>
              <a:t>（国际因特网工程组）</a:t>
            </a:r>
          </a:p>
          <a:p>
            <a:pPr lvl="1" eaLnBrk="1" latinLnBrk="1" hangingPunct="1"/>
            <a:endParaRPr lang="zh-CN" altLang="en-US" sz="2000" b="1" dirty="0">
              <a:solidFill>
                <a:schemeClr val="tx1"/>
              </a:solidFill>
            </a:endParaRPr>
          </a:p>
          <a:p>
            <a:pPr lvl="0" eaLnBrk="1" latinLnBrk="1" hangingPunct="1"/>
            <a:r>
              <a:rPr lang="zh-CN" altLang="en-US" b="0" dirty="0">
                <a:solidFill>
                  <a:schemeClr val="tx1"/>
                </a:solidFill>
              </a:rPr>
              <a:t>三大标准的特点：</a:t>
            </a:r>
          </a:p>
          <a:p>
            <a:pPr lvl="1" eaLnBrk="1" latinLnBrk="1" hangingPunct="1"/>
            <a:r>
              <a:rPr lang="en-US" altLang="zh-CN" dirty="0">
                <a:solidFill>
                  <a:schemeClr val="tx1"/>
                </a:solidFill>
              </a:rPr>
              <a:t>ITU-T</a:t>
            </a:r>
            <a:r>
              <a:rPr lang="zh-CN" altLang="en-US" dirty="0">
                <a:solidFill>
                  <a:schemeClr val="tx1"/>
                </a:solidFill>
              </a:rPr>
              <a:t>标准关注城域网物理层的定义；</a:t>
            </a:r>
          </a:p>
          <a:p>
            <a:pPr lvl="1" eaLnBrk="1" latinLnBrk="1" hangingPunct="1"/>
            <a:r>
              <a:rPr lang="en-US" altLang="zh-CN" dirty="0">
                <a:solidFill>
                  <a:schemeClr val="tx1"/>
                </a:solidFill>
              </a:rPr>
              <a:t>IEEE</a:t>
            </a:r>
            <a:r>
              <a:rPr lang="zh-CN" altLang="en-US" dirty="0">
                <a:solidFill>
                  <a:schemeClr val="tx1"/>
                </a:solidFill>
              </a:rPr>
              <a:t>标准关注局域网物理层和数据链路层；</a:t>
            </a:r>
          </a:p>
          <a:p>
            <a:pPr lvl="1" eaLnBrk="1" latinLnBrk="1" hangingPunct="1"/>
            <a:r>
              <a:rPr lang="en-US" altLang="zh-CN" dirty="0">
                <a:solidFill>
                  <a:schemeClr val="tx1"/>
                </a:solidFill>
              </a:rPr>
              <a:t>IETF</a:t>
            </a:r>
            <a:r>
              <a:rPr lang="zh-CN" altLang="en-US" dirty="0">
                <a:solidFill>
                  <a:schemeClr val="tx1"/>
                </a:solidFill>
              </a:rPr>
              <a:t>标准注重数据链路层以上的规范。</a:t>
            </a:r>
          </a:p>
        </p:txBody>
      </p:sp>
      <p:sp>
        <p:nvSpPr>
          <p:cNvPr id="1049103" name="Rectangle 2"/>
          <p:cNvSpPr>
            <a:spLocks noGrp="1"/>
          </p:cNvSpPr>
          <p:nvPr>
            <p:ph type="title"/>
          </p:nvPr>
        </p:nvSpPr>
        <p:spPr>
          <a:xfrm>
            <a:off x="47328" y="126653"/>
            <a:ext cx="10515600" cy="565945"/>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1.2  </a:t>
            </a:r>
            <a:r>
              <a:rPr lang="zh-CN" altLang="en-US" dirty="0">
                <a:solidFill>
                  <a:schemeClr val="bg1"/>
                </a:solidFill>
              </a:rPr>
              <a:t>网络工程设计规范</a:t>
            </a:r>
          </a:p>
        </p:txBody>
      </p:sp>
    </p:spTree>
  </p:cSld>
  <p:clrMapOvr>
    <a:masterClrMapping/>
  </p:clrMapOvr>
  <p:transition spd="slow">
    <p:zoom/>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09" name="Rectangle 3"/>
          <p:cNvSpPr>
            <a:spLocks noGrp="1"/>
          </p:cNvSpPr>
          <p:nvPr>
            <p:ph idx="1"/>
          </p:nvPr>
        </p:nvSpPr>
        <p:spPr>
          <a:xfrm>
            <a:off x="407368" y="908720"/>
            <a:ext cx="10515600" cy="4351338"/>
          </a:xfrm>
          <a:prstGeom prst="rect">
            <a:avLst/>
          </a:prstGeom>
          <a:noFill/>
          <a:ln>
            <a:noFill/>
          </a:ln>
        </p:spPr>
        <p:txBody>
          <a:bodyPr vert="horz" lIns="91440" tIns="45720" rIns="91440" bIns="45720" anchor="t">
            <a:normAutofit lnSpcReduction="10000"/>
          </a:bodyPr>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buFontTx/>
              <a:buNone/>
            </a:pPr>
            <a:r>
              <a:rPr lang="en-US" altLang="zh-CN" dirty="0">
                <a:solidFill>
                  <a:schemeClr val="tx1"/>
                </a:solidFill>
              </a:rPr>
              <a:t>2.  </a:t>
            </a:r>
            <a:r>
              <a:rPr lang="zh-CN" altLang="en-US" dirty="0">
                <a:solidFill>
                  <a:schemeClr val="tx1"/>
                </a:solidFill>
              </a:rPr>
              <a:t>标准制定中的利益群体</a:t>
            </a:r>
          </a:p>
          <a:p>
            <a:pPr lvl="0" eaLnBrk="1" latinLnBrk="1" hangingPunct="1"/>
            <a:r>
              <a:rPr lang="zh-CN" altLang="en-US" b="0" dirty="0">
                <a:solidFill>
                  <a:schemeClr val="tx1"/>
                </a:solidFill>
              </a:rPr>
              <a:t>标准的制定往往源于利益集团的需求。</a:t>
            </a:r>
          </a:p>
          <a:p>
            <a:pPr lvl="1" eaLnBrk="1" latinLnBrk="1" hangingPunct="1"/>
            <a:r>
              <a:rPr lang="en-US" altLang="zh-CN" dirty="0">
                <a:solidFill>
                  <a:schemeClr val="tx1"/>
                </a:solidFill>
              </a:rPr>
              <a:t>ITU</a:t>
            </a:r>
            <a:r>
              <a:rPr lang="zh-CN" altLang="en-US" dirty="0">
                <a:solidFill>
                  <a:schemeClr val="tx1"/>
                </a:solidFill>
              </a:rPr>
              <a:t>为联合国官方组织，它制定的标准更多的反映了各国电信运营商的利益。</a:t>
            </a:r>
          </a:p>
          <a:p>
            <a:pPr lvl="1" eaLnBrk="1" latinLnBrk="1" hangingPunct="1"/>
            <a:r>
              <a:rPr lang="en-US" altLang="zh-CN" dirty="0">
                <a:solidFill>
                  <a:schemeClr val="tx1"/>
                </a:solidFill>
              </a:rPr>
              <a:t>IEEE</a:t>
            </a:r>
            <a:r>
              <a:rPr lang="zh-CN" altLang="en-US" dirty="0">
                <a:solidFill>
                  <a:schemeClr val="tx1"/>
                </a:solidFill>
              </a:rPr>
              <a:t>是世界上最大的民间工程师组织，它制定的标准反映了各个设备制造厂商和用户的利益。</a:t>
            </a:r>
          </a:p>
          <a:p>
            <a:pPr lvl="1" eaLnBrk="1" latinLnBrk="1" hangingPunct="1"/>
            <a:r>
              <a:rPr lang="en-US" altLang="zh-CN" dirty="0">
                <a:solidFill>
                  <a:schemeClr val="tx1"/>
                </a:solidFill>
              </a:rPr>
              <a:t>IETF</a:t>
            </a:r>
            <a:r>
              <a:rPr lang="zh-CN" altLang="en-US" dirty="0">
                <a:solidFill>
                  <a:schemeClr val="tx1"/>
                </a:solidFill>
              </a:rPr>
              <a:t>是一个开放性组织，它的利益诉求是建立一个互联的因特网。</a:t>
            </a:r>
          </a:p>
          <a:p>
            <a:pPr lvl="1" eaLnBrk="1" latinLnBrk="1" hangingPunct="1"/>
            <a:endParaRPr lang="zh-CN" altLang="en-US" dirty="0">
              <a:solidFill>
                <a:schemeClr val="tx1"/>
              </a:solidFill>
            </a:endParaRPr>
          </a:p>
          <a:p>
            <a:pPr lvl="0" eaLnBrk="1" latinLnBrk="1" hangingPunct="1"/>
            <a:r>
              <a:rPr lang="zh-CN" altLang="en-US" b="0" dirty="0">
                <a:solidFill>
                  <a:schemeClr val="tx1"/>
                </a:solidFill>
                <a:effectLst>
                  <a:outerShdw blurRad="38100" dist="38100" dir="2700000" algn="tl">
                    <a:srgbClr val="C0C0C0"/>
                  </a:outerShdw>
                </a:effectLst>
              </a:rPr>
              <a:t>标准是各方利益博弈的结果</a:t>
            </a:r>
            <a:r>
              <a:rPr lang="zh-CN" altLang="en-US" dirty="0">
                <a:solidFill>
                  <a:schemeClr val="tx1"/>
                </a:solidFill>
              </a:rPr>
              <a:t>。 </a:t>
            </a:r>
          </a:p>
        </p:txBody>
      </p:sp>
      <p:sp>
        <p:nvSpPr>
          <p:cNvPr id="1049108" name="Rectangle 2"/>
          <p:cNvSpPr>
            <a:spLocks noGrp="1"/>
          </p:cNvSpPr>
          <p:nvPr>
            <p:ph type="title"/>
          </p:nvPr>
        </p:nvSpPr>
        <p:spPr>
          <a:xfrm>
            <a:off x="47328" y="155127"/>
            <a:ext cx="10515600" cy="565945"/>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1.2  </a:t>
            </a:r>
            <a:r>
              <a:rPr lang="zh-CN" altLang="en-US" dirty="0">
                <a:solidFill>
                  <a:schemeClr val="bg1"/>
                </a:solidFill>
              </a:rPr>
              <a:t>网络工程设计规范</a:t>
            </a:r>
          </a:p>
        </p:txBody>
      </p:sp>
    </p:spTree>
  </p:cSld>
  <p:clrMapOvr>
    <a:masterClrMapping/>
  </p:clrMapOvr>
  <p:transition spd="slow">
    <p:zoom/>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14" name="Rectangle 3"/>
          <p:cNvSpPr>
            <a:spLocks noGrp="1"/>
          </p:cNvSpPr>
          <p:nvPr>
            <p:ph idx="1"/>
          </p:nvPr>
        </p:nvSpPr>
        <p:spPr>
          <a:xfrm>
            <a:off x="263352" y="878485"/>
            <a:ext cx="8496944" cy="503239"/>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buFontTx/>
              <a:buNone/>
            </a:pPr>
            <a:r>
              <a:rPr lang="en-US" altLang="zh-CN" dirty="0">
                <a:solidFill>
                  <a:schemeClr val="tx1"/>
                </a:solidFill>
              </a:rPr>
              <a:t>4.  </a:t>
            </a:r>
            <a:r>
              <a:rPr lang="zh-CN" altLang="en-US" dirty="0">
                <a:solidFill>
                  <a:schemeClr val="tx1"/>
                </a:solidFill>
              </a:rPr>
              <a:t>网络标准的分布</a:t>
            </a:r>
          </a:p>
        </p:txBody>
      </p:sp>
      <p:sp>
        <p:nvSpPr>
          <p:cNvPr id="1049113" name="Rectangle 2"/>
          <p:cNvSpPr>
            <a:spLocks noGrp="1"/>
          </p:cNvSpPr>
          <p:nvPr>
            <p:ph type="title"/>
          </p:nvPr>
        </p:nvSpPr>
        <p:spPr>
          <a:xfrm>
            <a:off x="47328" y="164824"/>
            <a:ext cx="10515600" cy="503239"/>
          </a:xfrm>
          <a:prstGeom prst="rect">
            <a:avLst/>
          </a:prstGeom>
          <a:noFill/>
          <a:ln>
            <a:noFill/>
          </a:ln>
        </p:spPr>
        <p:txBody>
          <a:bodyPr vert="horz" lIns="91440" tIns="45720" rIns="91440" bIns="45720" anchor="ctr">
            <a:normAutofit fontScale="90000"/>
          </a:bodyP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1.2  </a:t>
            </a:r>
            <a:r>
              <a:rPr lang="zh-CN" altLang="en-US" dirty="0">
                <a:solidFill>
                  <a:schemeClr val="bg1"/>
                </a:solidFill>
              </a:rPr>
              <a:t>网络工程设计规范</a:t>
            </a:r>
          </a:p>
        </p:txBody>
      </p:sp>
      <p:grpSp>
        <p:nvGrpSpPr>
          <p:cNvPr id="227" name="组合 226"/>
          <p:cNvGrpSpPr/>
          <p:nvPr/>
        </p:nvGrpSpPr>
        <p:grpSpPr>
          <a:xfrm>
            <a:off x="1775520" y="1556792"/>
            <a:ext cx="8424862" cy="4249737"/>
            <a:chOff x="249" y="1207"/>
            <a:chExt cx="5307" cy="2677"/>
          </a:xfrm>
        </p:grpSpPr>
        <p:sp>
          <p:nvSpPr>
            <p:cNvPr id="1049115" name="AutoShape 10"/>
            <p:cNvSpPr/>
            <p:nvPr/>
          </p:nvSpPr>
          <p:spPr>
            <a:xfrm>
              <a:off x="1655" y="1297"/>
              <a:ext cx="1089" cy="273"/>
            </a:xfrm>
            <a:prstGeom prst="flowChartProcess">
              <a:avLst/>
            </a:prstGeom>
            <a:solidFill>
              <a:srgbClr val="FFCCFF"/>
            </a:solidFill>
            <a:ln w="19050" cap="flat" cmpd="sng">
              <a:solidFill>
                <a:schemeClr val="dk1">
                  <a:alpha val="100000"/>
                </a:schemeClr>
              </a:solidFill>
              <a:prstDash val="solid"/>
              <a:round/>
            </a:ln>
          </p:spPr>
          <p:txBody>
            <a:bodyPr vert="horz" wrap="none"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zh-CN" altLang="en-US" sz="2000" b="1">
                  <a:solidFill>
                    <a:srgbClr val="0000FF"/>
                  </a:solidFill>
                </a:rPr>
                <a:t>应用层协议</a:t>
              </a:r>
            </a:p>
          </p:txBody>
        </p:sp>
        <p:sp>
          <p:nvSpPr>
            <p:cNvPr id="1049116" name="AutoShape 12"/>
            <p:cNvSpPr/>
            <p:nvPr/>
          </p:nvSpPr>
          <p:spPr>
            <a:xfrm>
              <a:off x="3877" y="1297"/>
              <a:ext cx="1089" cy="273"/>
            </a:xfrm>
            <a:prstGeom prst="flowChartProcess">
              <a:avLst/>
            </a:prstGeom>
            <a:solidFill>
              <a:srgbClr val="FFCCFF"/>
            </a:solidFill>
            <a:ln w="19050" cap="flat" cmpd="sng">
              <a:solidFill>
                <a:schemeClr val="dk1">
                  <a:alpha val="100000"/>
                </a:schemeClr>
              </a:solidFill>
              <a:prstDash val="solid"/>
              <a:round/>
            </a:ln>
          </p:spPr>
          <p:txBody>
            <a:bodyPr vert="horz" wrap="none"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zh-CN" altLang="en-US" sz="2000" b="1">
                  <a:solidFill>
                    <a:srgbClr val="0000FF"/>
                  </a:solidFill>
                </a:rPr>
                <a:t>应用层协议</a:t>
              </a:r>
            </a:p>
          </p:txBody>
        </p:sp>
        <p:sp>
          <p:nvSpPr>
            <p:cNvPr id="1049117" name="AutoShape 13"/>
            <p:cNvSpPr/>
            <p:nvPr/>
          </p:nvSpPr>
          <p:spPr>
            <a:xfrm>
              <a:off x="1656" y="1751"/>
              <a:ext cx="1089" cy="273"/>
            </a:xfrm>
            <a:prstGeom prst="flowChartProcess">
              <a:avLst/>
            </a:prstGeom>
            <a:solidFill>
              <a:srgbClr val="FFCCFF"/>
            </a:solidFill>
            <a:ln w="19050" cap="flat" cmpd="sng">
              <a:solidFill>
                <a:schemeClr val="dk1">
                  <a:alpha val="100000"/>
                </a:schemeClr>
              </a:solidFill>
              <a:prstDash val="solid"/>
              <a:round/>
            </a:ln>
          </p:spPr>
          <p:txBody>
            <a:bodyPr vert="horz" wrap="none"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en-US" altLang="zh-CN" sz="2000" b="1">
                  <a:solidFill>
                    <a:srgbClr val="0000FF"/>
                  </a:solidFill>
                </a:rPr>
                <a:t>TCP</a:t>
              </a:r>
            </a:p>
          </p:txBody>
        </p:sp>
        <p:sp>
          <p:nvSpPr>
            <p:cNvPr id="1049118" name="AutoShape 14"/>
            <p:cNvSpPr/>
            <p:nvPr/>
          </p:nvSpPr>
          <p:spPr>
            <a:xfrm>
              <a:off x="3878" y="1751"/>
              <a:ext cx="1089" cy="273"/>
            </a:xfrm>
            <a:prstGeom prst="flowChartProcess">
              <a:avLst/>
            </a:prstGeom>
            <a:solidFill>
              <a:srgbClr val="FFCCFF"/>
            </a:solidFill>
            <a:ln w="19050" cap="flat" cmpd="sng">
              <a:solidFill>
                <a:schemeClr val="dk1">
                  <a:alpha val="100000"/>
                </a:schemeClr>
              </a:solidFill>
              <a:prstDash val="solid"/>
              <a:round/>
            </a:ln>
          </p:spPr>
          <p:txBody>
            <a:bodyPr vert="horz" wrap="none"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en-US" altLang="zh-CN" sz="2000" b="1">
                  <a:solidFill>
                    <a:srgbClr val="0000FF"/>
                  </a:solidFill>
                </a:rPr>
                <a:t>UDP</a:t>
              </a:r>
            </a:p>
          </p:txBody>
        </p:sp>
        <p:sp>
          <p:nvSpPr>
            <p:cNvPr id="1049119" name="AutoShape 15"/>
            <p:cNvSpPr/>
            <p:nvPr/>
          </p:nvSpPr>
          <p:spPr>
            <a:xfrm>
              <a:off x="2790" y="2294"/>
              <a:ext cx="1089" cy="273"/>
            </a:xfrm>
            <a:prstGeom prst="flowChartProcess">
              <a:avLst/>
            </a:prstGeom>
            <a:solidFill>
              <a:srgbClr val="FFCCFF"/>
            </a:solidFill>
            <a:ln w="19050" cap="flat" cmpd="sng">
              <a:solidFill>
                <a:schemeClr val="dk1">
                  <a:alpha val="100000"/>
                </a:schemeClr>
              </a:solidFill>
              <a:prstDash val="solid"/>
              <a:round/>
            </a:ln>
          </p:spPr>
          <p:txBody>
            <a:bodyPr vert="horz" wrap="none"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en-US" altLang="zh-CN" sz="2000" b="1">
                  <a:solidFill>
                    <a:srgbClr val="0000FF"/>
                  </a:solidFill>
                </a:rPr>
                <a:t>IP</a:t>
              </a:r>
            </a:p>
          </p:txBody>
        </p:sp>
        <p:sp>
          <p:nvSpPr>
            <p:cNvPr id="1049120" name="AutoShape 16"/>
            <p:cNvSpPr/>
            <p:nvPr/>
          </p:nvSpPr>
          <p:spPr>
            <a:xfrm>
              <a:off x="1656" y="2883"/>
              <a:ext cx="1089" cy="273"/>
            </a:xfrm>
            <a:prstGeom prst="flowChartProcess">
              <a:avLst/>
            </a:prstGeom>
            <a:solidFill>
              <a:srgbClr val="FFCCFF"/>
            </a:solidFill>
            <a:ln w="19050" cap="flat" cmpd="sng">
              <a:solidFill>
                <a:schemeClr val="dk1">
                  <a:alpha val="100000"/>
                </a:schemeClr>
              </a:solidFill>
              <a:prstDash val="solid"/>
              <a:round/>
            </a:ln>
          </p:spPr>
          <p:txBody>
            <a:bodyPr vert="horz" wrap="none"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en-US" altLang="zh-CN" sz="2000" b="1">
                  <a:solidFill>
                    <a:srgbClr val="0000FF"/>
                  </a:solidFill>
                </a:rPr>
                <a:t>IEEE 802</a:t>
              </a:r>
            </a:p>
          </p:txBody>
        </p:sp>
        <p:sp>
          <p:nvSpPr>
            <p:cNvPr id="1049121" name="AutoShape 17"/>
            <p:cNvSpPr/>
            <p:nvPr/>
          </p:nvSpPr>
          <p:spPr>
            <a:xfrm>
              <a:off x="3923" y="2885"/>
              <a:ext cx="1089" cy="273"/>
            </a:xfrm>
            <a:prstGeom prst="flowChartProcess">
              <a:avLst/>
            </a:prstGeom>
            <a:solidFill>
              <a:srgbClr val="FFCCFF"/>
            </a:solidFill>
            <a:ln w="19050" cap="flat" cmpd="sng">
              <a:solidFill>
                <a:schemeClr val="dk1">
                  <a:alpha val="100000"/>
                </a:schemeClr>
              </a:solidFill>
              <a:prstDash val="solid"/>
              <a:round/>
            </a:ln>
          </p:spPr>
          <p:txBody>
            <a:bodyPr vert="horz" wrap="none"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en-US" altLang="zh-CN" sz="2000" b="1">
                  <a:solidFill>
                    <a:srgbClr val="0000FF"/>
                  </a:solidFill>
                </a:rPr>
                <a:t>ITU-T</a:t>
              </a:r>
            </a:p>
          </p:txBody>
        </p:sp>
        <p:sp>
          <p:nvSpPr>
            <p:cNvPr id="1049122" name="AutoShape 18"/>
            <p:cNvSpPr/>
            <p:nvPr/>
          </p:nvSpPr>
          <p:spPr>
            <a:xfrm>
              <a:off x="1883" y="3518"/>
              <a:ext cx="726" cy="273"/>
            </a:xfrm>
            <a:prstGeom prst="flowChartProcess">
              <a:avLst/>
            </a:prstGeom>
            <a:solidFill>
              <a:srgbClr val="FFCCFF"/>
            </a:solidFill>
            <a:ln w="19050" cap="flat" cmpd="sng">
              <a:solidFill>
                <a:schemeClr val="dk1">
                  <a:alpha val="100000"/>
                </a:schemeClr>
              </a:solidFill>
              <a:prstDash val="solid"/>
              <a:round/>
            </a:ln>
          </p:spPr>
          <p:txBody>
            <a:bodyPr vert="horz" wrap="none"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en-US" altLang="zh-CN" sz="2000" b="1">
                  <a:solidFill>
                    <a:srgbClr val="0000FF"/>
                  </a:solidFill>
                </a:rPr>
                <a:t>802.3</a:t>
              </a:r>
            </a:p>
          </p:txBody>
        </p:sp>
        <p:sp>
          <p:nvSpPr>
            <p:cNvPr id="1049123" name="AutoShape 19"/>
            <p:cNvSpPr/>
            <p:nvPr/>
          </p:nvSpPr>
          <p:spPr>
            <a:xfrm>
              <a:off x="975" y="3519"/>
              <a:ext cx="726" cy="273"/>
            </a:xfrm>
            <a:prstGeom prst="flowChartProcess">
              <a:avLst/>
            </a:prstGeom>
            <a:solidFill>
              <a:srgbClr val="FFCCFF"/>
            </a:solidFill>
            <a:ln w="19050" cap="flat" cmpd="sng">
              <a:solidFill>
                <a:schemeClr val="dk1">
                  <a:alpha val="100000"/>
                </a:schemeClr>
              </a:solidFill>
              <a:prstDash val="solid"/>
              <a:round/>
            </a:ln>
          </p:spPr>
          <p:txBody>
            <a:bodyPr vert="horz" wrap="none"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en-US" altLang="zh-CN" sz="2000" b="1">
                  <a:solidFill>
                    <a:srgbClr val="0000FF"/>
                  </a:solidFill>
                </a:rPr>
                <a:t>802.1</a:t>
              </a:r>
            </a:p>
          </p:txBody>
        </p:sp>
        <p:sp>
          <p:nvSpPr>
            <p:cNvPr id="1049124" name="AutoShape 20"/>
            <p:cNvSpPr/>
            <p:nvPr/>
          </p:nvSpPr>
          <p:spPr>
            <a:xfrm>
              <a:off x="2789" y="3519"/>
              <a:ext cx="726" cy="273"/>
            </a:xfrm>
            <a:prstGeom prst="flowChartProcess">
              <a:avLst/>
            </a:prstGeom>
            <a:solidFill>
              <a:srgbClr val="FFCCFF"/>
            </a:solidFill>
            <a:ln w="19050" cap="flat" cmpd="sng">
              <a:solidFill>
                <a:schemeClr val="dk1">
                  <a:alpha val="100000"/>
                </a:schemeClr>
              </a:solidFill>
              <a:prstDash val="solid"/>
              <a:round/>
            </a:ln>
          </p:spPr>
          <p:txBody>
            <a:bodyPr vert="horz" wrap="none"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en-US" altLang="zh-CN" sz="2000" b="1">
                  <a:solidFill>
                    <a:srgbClr val="0000FF"/>
                  </a:solidFill>
                </a:rPr>
                <a:t>802.11</a:t>
              </a:r>
            </a:p>
          </p:txBody>
        </p:sp>
        <p:sp>
          <p:nvSpPr>
            <p:cNvPr id="1049125" name="AutoShape 21"/>
            <p:cNvSpPr/>
            <p:nvPr/>
          </p:nvSpPr>
          <p:spPr>
            <a:xfrm>
              <a:off x="3697" y="3520"/>
              <a:ext cx="726" cy="273"/>
            </a:xfrm>
            <a:prstGeom prst="flowChartProcess">
              <a:avLst/>
            </a:prstGeom>
            <a:solidFill>
              <a:srgbClr val="FFCCFF"/>
            </a:solidFill>
            <a:ln w="19050" cap="flat" cmpd="sng">
              <a:solidFill>
                <a:schemeClr val="dk1">
                  <a:alpha val="100000"/>
                </a:schemeClr>
              </a:solidFill>
              <a:prstDash val="solid"/>
              <a:round/>
            </a:ln>
          </p:spPr>
          <p:txBody>
            <a:bodyPr vert="horz" wrap="none"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zh-CN" altLang="en-US" sz="2000" b="1">
                  <a:solidFill>
                    <a:srgbClr val="0000FF"/>
                  </a:solidFill>
                </a:rPr>
                <a:t>有线</a:t>
              </a:r>
              <a:r>
                <a:rPr lang="en-US" altLang="zh-CN" sz="2000" b="1">
                  <a:solidFill>
                    <a:srgbClr val="0000FF"/>
                  </a:solidFill>
                </a:rPr>
                <a:t>AN</a:t>
              </a:r>
            </a:p>
          </p:txBody>
        </p:sp>
        <p:sp>
          <p:nvSpPr>
            <p:cNvPr id="1049126" name="AutoShape 22"/>
            <p:cNvSpPr/>
            <p:nvPr/>
          </p:nvSpPr>
          <p:spPr>
            <a:xfrm>
              <a:off x="4604" y="3519"/>
              <a:ext cx="726" cy="273"/>
            </a:xfrm>
            <a:prstGeom prst="flowChartProcess">
              <a:avLst/>
            </a:prstGeom>
            <a:solidFill>
              <a:srgbClr val="FFCCFF"/>
            </a:solidFill>
            <a:ln w="19050" cap="flat" cmpd="sng">
              <a:solidFill>
                <a:schemeClr val="dk1">
                  <a:alpha val="100000"/>
                </a:schemeClr>
              </a:solidFill>
              <a:prstDash val="solid"/>
              <a:round/>
            </a:ln>
          </p:spPr>
          <p:txBody>
            <a:bodyPr vert="horz" wrap="none"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zh-CN" altLang="en-US" sz="2000" b="1">
                  <a:solidFill>
                    <a:srgbClr val="0000FF"/>
                  </a:solidFill>
                </a:rPr>
                <a:t>无线</a:t>
              </a:r>
              <a:r>
                <a:rPr lang="en-US" altLang="zh-CN" sz="2000" b="1">
                  <a:solidFill>
                    <a:srgbClr val="0000FF"/>
                  </a:solidFill>
                </a:rPr>
                <a:t>AN</a:t>
              </a:r>
            </a:p>
          </p:txBody>
        </p:sp>
        <p:sp>
          <p:nvSpPr>
            <p:cNvPr id="1049127" name="Line 23"/>
            <p:cNvSpPr/>
            <p:nvPr/>
          </p:nvSpPr>
          <p:spPr>
            <a:xfrm>
              <a:off x="2200" y="1569"/>
              <a:ext cx="0" cy="182"/>
            </a:xfrm>
            <a:prstGeom prst="line">
              <a:avLst/>
            </a:prstGeom>
            <a:noFill/>
            <a:ln w="28575" cap="flat" cmpd="sng">
              <a:solidFill>
                <a:schemeClr val="dk1">
                  <a:alpha val="100000"/>
                </a:schemeClr>
              </a:solidFill>
              <a:prstDash val="solid"/>
              <a:round/>
            </a:ln>
          </p:spPr>
          <p:txBody>
            <a:bodyPr/>
            <a:lstStyle/>
            <a:p>
              <a:endParaRPr lang="zh-CN" altLang="en-US"/>
            </a:p>
          </p:txBody>
        </p:sp>
        <p:sp>
          <p:nvSpPr>
            <p:cNvPr id="1049128" name="Line 24"/>
            <p:cNvSpPr/>
            <p:nvPr/>
          </p:nvSpPr>
          <p:spPr>
            <a:xfrm>
              <a:off x="4423" y="1569"/>
              <a:ext cx="0" cy="182"/>
            </a:xfrm>
            <a:prstGeom prst="line">
              <a:avLst/>
            </a:prstGeom>
            <a:noFill/>
            <a:ln w="28575" cap="flat" cmpd="sng">
              <a:solidFill>
                <a:schemeClr val="dk1">
                  <a:alpha val="100000"/>
                </a:schemeClr>
              </a:solidFill>
              <a:prstDash val="solid"/>
              <a:round/>
            </a:ln>
          </p:spPr>
          <p:txBody>
            <a:bodyPr/>
            <a:lstStyle/>
            <a:p>
              <a:endParaRPr lang="zh-CN" altLang="en-US"/>
            </a:p>
          </p:txBody>
        </p:sp>
        <p:sp>
          <p:nvSpPr>
            <p:cNvPr id="1049129" name="Line 25"/>
            <p:cNvSpPr/>
            <p:nvPr/>
          </p:nvSpPr>
          <p:spPr>
            <a:xfrm>
              <a:off x="2200" y="2022"/>
              <a:ext cx="590" cy="273"/>
            </a:xfrm>
            <a:prstGeom prst="line">
              <a:avLst/>
            </a:prstGeom>
            <a:noFill/>
            <a:ln w="28575" cap="flat" cmpd="sng">
              <a:solidFill>
                <a:schemeClr val="dk1">
                  <a:alpha val="100000"/>
                </a:schemeClr>
              </a:solidFill>
              <a:prstDash val="solid"/>
              <a:round/>
            </a:ln>
          </p:spPr>
          <p:txBody>
            <a:bodyPr/>
            <a:lstStyle/>
            <a:p>
              <a:endParaRPr lang="zh-CN" altLang="en-US"/>
            </a:p>
          </p:txBody>
        </p:sp>
        <p:sp>
          <p:nvSpPr>
            <p:cNvPr id="1049130" name="Line 26"/>
            <p:cNvSpPr/>
            <p:nvPr/>
          </p:nvSpPr>
          <p:spPr>
            <a:xfrm flipH="1">
              <a:off x="3878" y="2022"/>
              <a:ext cx="545" cy="273"/>
            </a:xfrm>
            <a:prstGeom prst="line">
              <a:avLst/>
            </a:prstGeom>
            <a:noFill/>
            <a:ln w="28575" cap="flat" cmpd="sng">
              <a:solidFill>
                <a:schemeClr val="dk1">
                  <a:alpha val="100000"/>
                </a:schemeClr>
              </a:solidFill>
              <a:prstDash val="solid"/>
              <a:round/>
            </a:ln>
          </p:spPr>
          <p:txBody>
            <a:bodyPr/>
            <a:lstStyle/>
            <a:p>
              <a:endParaRPr lang="zh-CN" altLang="en-US"/>
            </a:p>
          </p:txBody>
        </p:sp>
        <p:sp>
          <p:nvSpPr>
            <p:cNvPr id="1049131" name="Line 27"/>
            <p:cNvSpPr/>
            <p:nvPr/>
          </p:nvSpPr>
          <p:spPr>
            <a:xfrm flipH="1">
              <a:off x="2200" y="2567"/>
              <a:ext cx="590" cy="318"/>
            </a:xfrm>
            <a:prstGeom prst="line">
              <a:avLst/>
            </a:prstGeom>
            <a:noFill/>
            <a:ln w="28575" cap="flat" cmpd="sng">
              <a:solidFill>
                <a:schemeClr val="dk1">
                  <a:alpha val="100000"/>
                </a:schemeClr>
              </a:solidFill>
              <a:prstDash val="solid"/>
              <a:round/>
            </a:ln>
          </p:spPr>
          <p:txBody>
            <a:bodyPr/>
            <a:lstStyle/>
            <a:p>
              <a:endParaRPr lang="zh-CN" altLang="en-US"/>
            </a:p>
          </p:txBody>
        </p:sp>
        <p:sp>
          <p:nvSpPr>
            <p:cNvPr id="1049132" name="Line 29"/>
            <p:cNvSpPr/>
            <p:nvPr/>
          </p:nvSpPr>
          <p:spPr>
            <a:xfrm>
              <a:off x="3878" y="2567"/>
              <a:ext cx="545" cy="318"/>
            </a:xfrm>
            <a:prstGeom prst="line">
              <a:avLst/>
            </a:prstGeom>
            <a:noFill/>
            <a:ln w="28575" cap="flat" cmpd="sng">
              <a:solidFill>
                <a:schemeClr val="dk1">
                  <a:alpha val="100000"/>
                </a:schemeClr>
              </a:solidFill>
              <a:prstDash val="solid"/>
              <a:round/>
            </a:ln>
          </p:spPr>
          <p:txBody>
            <a:bodyPr/>
            <a:lstStyle/>
            <a:p>
              <a:endParaRPr lang="zh-CN" altLang="en-US"/>
            </a:p>
          </p:txBody>
        </p:sp>
        <p:sp>
          <p:nvSpPr>
            <p:cNvPr id="1049133" name="Line 30"/>
            <p:cNvSpPr/>
            <p:nvPr/>
          </p:nvSpPr>
          <p:spPr>
            <a:xfrm>
              <a:off x="2245" y="3157"/>
              <a:ext cx="0" cy="363"/>
            </a:xfrm>
            <a:prstGeom prst="line">
              <a:avLst/>
            </a:prstGeom>
            <a:noFill/>
            <a:ln w="28575" cap="flat" cmpd="sng">
              <a:solidFill>
                <a:schemeClr val="dk1">
                  <a:alpha val="100000"/>
                </a:schemeClr>
              </a:solidFill>
              <a:prstDash val="solid"/>
              <a:round/>
            </a:ln>
          </p:spPr>
          <p:txBody>
            <a:bodyPr/>
            <a:lstStyle/>
            <a:p>
              <a:endParaRPr lang="zh-CN" altLang="en-US"/>
            </a:p>
          </p:txBody>
        </p:sp>
        <p:sp>
          <p:nvSpPr>
            <p:cNvPr id="1049134" name="Line 31"/>
            <p:cNvSpPr/>
            <p:nvPr/>
          </p:nvSpPr>
          <p:spPr>
            <a:xfrm flipH="1">
              <a:off x="1338" y="3157"/>
              <a:ext cx="318" cy="363"/>
            </a:xfrm>
            <a:prstGeom prst="line">
              <a:avLst/>
            </a:prstGeom>
            <a:noFill/>
            <a:ln w="28575" cap="flat" cmpd="sng">
              <a:solidFill>
                <a:schemeClr val="dk1">
                  <a:alpha val="100000"/>
                </a:schemeClr>
              </a:solidFill>
              <a:prstDash val="solid"/>
              <a:round/>
            </a:ln>
          </p:spPr>
          <p:txBody>
            <a:bodyPr/>
            <a:lstStyle/>
            <a:p>
              <a:endParaRPr lang="zh-CN" altLang="en-US"/>
            </a:p>
          </p:txBody>
        </p:sp>
        <p:sp>
          <p:nvSpPr>
            <p:cNvPr id="1049135" name="Line 32"/>
            <p:cNvSpPr/>
            <p:nvPr/>
          </p:nvSpPr>
          <p:spPr>
            <a:xfrm>
              <a:off x="2744" y="3157"/>
              <a:ext cx="409" cy="363"/>
            </a:xfrm>
            <a:prstGeom prst="line">
              <a:avLst/>
            </a:prstGeom>
            <a:noFill/>
            <a:ln w="28575" cap="flat" cmpd="sng">
              <a:solidFill>
                <a:schemeClr val="dk1">
                  <a:alpha val="100000"/>
                </a:schemeClr>
              </a:solidFill>
              <a:prstDash val="solid"/>
              <a:round/>
            </a:ln>
          </p:spPr>
          <p:txBody>
            <a:bodyPr/>
            <a:lstStyle/>
            <a:p>
              <a:endParaRPr lang="zh-CN" altLang="en-US"/>
            </a:p>
          </p:txBody>
        </p:sp>
        <p:sp>
          <p:nvSpPr>
            <p:cNvPr id="1049136" name="Line 33"/>
            <p:cNvSpPr/>
            <p:nvPr/>
          </p:nvSpPr>
          <p:spPr>
            <a:xfrm>
              <a:off x="4105" y="3157"/>
              <a:ext cx="0" cy="363"/>
            </a:xfrm>
            <a:prstGeom prst="line">
              <a:avLst/>
            </a:prstGeom>
            <a:noFill/>
            <a:ln w="28575" cap="flat" cmpd="sng">
              <a:solidFill>
                <a:schemeClr val="dk1">
                  <a:alpha val="100000"/>
                </a:schemeClr>
              </a:solidFill>
              <a:prstDash val="solid"/>
              <a:round/>
            </a:ln>
          </p:spPr>
          <p:txBody>
            <a:bodyPr/>
            <a:lstStyle/>
            <a:p>
              <a:endParaRPr lang="zh-CN" altLang="en-US"/>
            </a:p>
          </p:txBody>
        </p:sp>
        <p:sp>
          <p:nvSpPr>
            <p:cNvPr id="1049137" name="Line 34"/>
            <p:cNvSpPr/>
            <p:nvPr/>
          </p:nvSpPr>
          <p:spPr>
            <a:xfrm>
              <a:off x="4876" y="3157"/>
              <a:ext cx="0" cy="363"/>
            </a:xfrm>
            <a:prstGeom prst="line">
              <a:avLst/>
            </a:prstGeom>
            <a:noFill/>
            <a:ln w="28575" cap="flat" cmpd="sng">
              <a:solidFill>
                <a:schemeClr val="dk1">
                  <a:alpha val="100000"/>
                </a:schemeClr>
              </a:solidFill>
              <a:prstDash val="solid"/>
              <a:round/>
            </a:ln>
          </p:spPr>
          <p:txBody>
            <a:bodyPr/>
            <a:lstStyle/>
            <a:p>
              <a:endParaRPr lang="zh-CN" altLang="en-US"/>
            </a:p>
          </p:txBody>
        </p:sp>
        <p:sp>
          <p:nvSpPr>
            <p:cNvPr id="1049138" name="Rectangle 36"/>
            <p:cNvSpPr/>
            <p:nvPr/>
          </p:nvSpPr>
          <p:spPr>
            <a:xfrm>
              <a:off x="884" y="2795"/>
              <a:ext cx="2676" cy="1089"/>
            </a:xfrm>
            <a:prstGeom prst="rect">
              <a:avLst/>
            </a:prstGeom>
            <a:noFill/>
            <a:ln w="12700" cap="flat" cmpd="sng">
              <a:solidFill>
                <a:schemeClr val="dk1">
                  <a:alpha val="100000"/>
                </a:schemeClr>
              </a:solidFill>
              <a:prstDash val="dash"/>
              <a:round/>
            </a:ln>
          </p:spPr>
          <p:txBody>
            <a:bodyPr vert="horz" wrap="none"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endParaRPr lang="zh-CN" altLang="en-US"/>
            </a:p>
          </p:txBody>
        </p:sp>
        <p:sp>
          <p:nvSpPr>
            <p:cNvPr id="1049139" name="Rectangle 37"/>
            <p:cNvSpPr/>
            <p:nvPr/>
          </p:nvSpPr>
          <p:spPr>
            <a:xfrm>
              <a:off x="3651" y="2795"/>
              <a:ext cx="1769" cy="1089"/>
            </a:xfrm>
            <a:prstGeom prst="rect">
              <a:avLst/>
            </a:prstGeom>
            <a:noFill/>
            <a:ln w="12700" cap="flat" cmpd="sng">
              <a:solidFill>
                <a:schemeClr val="dk1">
                  <a:alpha val="100000"/>
                </a:schemeClr>
              </a:solidFill>
              <a:prstDash val="dash"/>
              <a:round/>
            </a:ln>
          </p:spPr>
          <p:txBody>
            <a:bodyPr vert="horz" wrap="none"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endParaRPr lang="zh-CN" altLang="en-US"/>
            </a:p>
          </p:txBody>
        </p:sp>
        <p:sp>
          <p:nvSpPr>
            <p:cNvPr id="1049140" name="Rectangle 38"/>
            <p:cNvSpPr/>
            <p:nvPr/>
          </p:nvSpPr>
          <p:spPr>
            <a:xfrm>
              <a:off x="884" y="1207"/>
              <a:ext cx="4536" cy="1497"/>
            </a:xfrm>
            <a:prstGeom prst="rect">
              <a:avLst/>
            </a:prstGeom>
            <a:noFill/>
            <a:ln w="12700" cap="flat" cmpd="sng">
              <a:solidFill>
                <a:schemeClr val="dk1">
                  <a:alpha val="100000"/>
                </a:schemeClr>
              </a:solidFill>
              <a:prstDash val="dash"/>
              <a:round/>
            </a:ln>
          </p:spPr>
          <p:txBody>
            <a:bodyPr vert="horz" wrap="none"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endParaRPr lang="zh-CN" altLang="en-US"/>
            </a:p>
          </p:txBody>
        </p:sp>
        <p:sp>
          <p:nvSpPr>
            <p:cNvPr id="1049141" name="AutoShape 39"/>
            <p:cNvSpPr/>
            <p:nvPr/>
          </p:nvSpPr>
          <p:spPr>
            <a:xfrm>
              <a:off x="929" y="2886"/>
              <a:ext cx="545" cy="272"/>
            </a:xfrm>
            <a:prstGeom prst="wedgeRectCallout">
              <a:avLst>
                <a:gd name="adj1" fmla="val 43579"/>
                <a:gd name="adj2" fmla="val -366"/>
              </a:avLst>
            </a:prstGeom>
            <a:solidFill>
              <a:srgbClr val="CCFFFF"/>
            </a:solidFill>
            <a:ln w="9525" cap="flat" cmpd="sng">
              <a:solidFill>
                <a:srgbClr val="FF0000">
                  <a:alpha val="100000"/>
                </a:srgbClr>
              </a:solidFill>
              <a:prstDash val="solid"/>
              <a:round/>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en-US" altLang="zh-CN" sz="2000" b="1">
                  <a:solidFill>
                    <a:srgbClr val="FF0066"/>
                  </a:solidFill>
                </a:rPr>
                <a:t>IEEE</a:t>
              </a:r>
            </a:p>
          </p:txBody>
        </p:sp>
        <p:sp>
          <p:nvSpPr>
            <p:cNvPr id="1049142" name="AutoShape 40"/>
            <p:cNvSpPr/>
            <p:nvPr/>
          </p:nvSpPr>
          <p:spPr>
            <a:xfrm>
              <a:off x="5102" y="2886"/>
              <a:ext cx="454" cy="272"/>
            </a:xfrm>
            <a:prstGeom prst="wedgeRectCallout">
              <a:avLst>
                <a:gd name="adj1" fmla="val 25773"/>
                <a:gd name="adj2" fmla="val -366"/>
              </a:avLst>
            </a:prstGeom>
            <a:solidFill>
              <a:srgbClr val="CCFFFF"/>
            </a:solidFill>
            <a:ln w="9525" cap="flat" cmpd="sng">
              <a:solidFill>
                <a:srgbClr val="FF0000">
                  <a:alpha val="100000"/>
                </a:srgbClr>
              </a:solidFill>
              <a:prstDash val="solid"/>
              <a:round/>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en-US" altLang="zh-CN" sz="2000" b="1">
                  <a:solidFill>
                    <a:srgbClr val="FF0066"/>
                  </a:solidFill>
                </a:rPr>
                <a:t>ITU</a:t>
              </a:r>
            </a:p>
          </p:txBody>
        </p:sp>
        <p:sp>
          <p:nvSpPr>
            <p:cNvPr id="1049143" name="AutoShape 41"/>
            <p:cNvSpPr/>
            <p:nvPr/>
          </p:nvSpPr>
          <p:spPr>
            <a:xfrm>
              <a:off x="2971" y="1298"/>
              <a:ext cx="635" cy="272"/>
            </a:xfrm>
            <a:prstGeom prst="wedgeRectCallout">
              <a:avLst>
                <a:gd name="adj1" fmla="val 30315"/>
                <a:gd name="adj2" fmla="val -366"/>
              </a:avLst>
            </a:prstGeom>
            <a:solidFill>
              <a:srgbClr val="CCFFFF"/>
            </a:solidFill>
            <a:ln w="9525" cap="flat" cmpd="sng">
              <a:solidFill>
                <a:srgbClr val="FF0000">
                  <a:alpha val="100000"/>
                </a:srgbClr>
              </a:solidFill>
              <a:prstDash val="solid"/>
              <a:round/>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en-US" altLang="zh-CN" sz="2000" b="1">
                  <a:solidFill>
                    <a:srgbClr val="FF0066"/>
                  </a:solidFill>
                </a:rPr>
                <a:t>IETF</a:t>
              </a:r>
            </a:p>
          </p:txBody>
        </p:sp>
        <p:sp>
          <p:nvSpPr>
            <p:cNvPr id="1049144" name="Rectangle 42"/>
            <p:cNvSpPr/>
            <p:nvPr/>
          </p:nvSpPr>
          <p:spPr>
            <a:xfrm>
              <a:off x="878" y="3135"/>
              <a:ext cx="604" cy="252"/>
            </a:xfrm>
            <a:prstGeom prst="rect">
              <a:avLst/>
            </a:prstGeom>
            <a:noFill/>
            <a:ln>
              <a:noFill/>
            </a:ln>
          </p:spPr>
          <p:txBody>
            <a:bodyPr vert="horz" wrap="none" lIns="91440" tIns="45720" rIns="91440" bIns="4572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r>
                <a:rPr lang="zh-CN" altLang="en-US" sz="2000" b="1">
                  <a:solidFill>
                    <a:srgbClr val="0000FF"/>
                  </a:solidFill>
                </a:rPr>
                <a:t>局域网</a:t>
              </a:r>
            </a:p>
          </p:txBody>
        </p:sp>
        <p:sp>
          <p:nvSpPr>
            <p:cNvPr id="1049145" name="Rectangle 43"/>
            <p:cNvSpPr/>
            <p:nvPr/>
          </p:nvSpPr>
          <p:spPr>
            <a:xfrm>
              <a:off x="4869" y="3180"/>
              <a:ext cx="604" cy="252"/>
            </a:xfrm>
            <a:prstGeom prst="rect">
              <a:avLst/>
            </a:prstGeom>
            <a:noFill/>
            <a:ln>
              <a:noFill/>
            </a:ln>
          </p:spPr>
          <p:txBody>
            <a:bodyPr vert="horz" wrap="none" lIns="91440" tIns="45720" rIns="91440" bIns="4572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r>
                <a:rPr lang="zh-CN" altLang="en-US" sz="2000" b="1">
                  <a:solidFill>
                    <a:srgbClr val="0000FF"/>
                  </a:solidFill>
                </a:rPr>
                <a:t>广域网</a:t>
              </a:r>
            </a:p>
          </p:txBody>
        </p:sp>
        <p:sp>
          <p:nvSpPr>
            <p:cNvPr id="1049146" name="Rectangle 44"/>
            <p:cNvSpPr/>
            <p:nvPr/>
          </p:nvSpPr>
          <p:spPr>
            <a:xfrm>
              <a:off x="3243" y="2886"/>
              <a:ext cx="604" cy="252"/>
            </a:xfrm>
            <a:prstGeom prst="rect">
              <a:avLst/>
            </a:prstGeom>
            <a:noFill/>
            <a:ln>
              <a:noFill/>
            </a:ln>
          </p:spPr>
          <p:txBody>
            <a:bodyPr vert="horz" wrap="none" lIns="91440" tIns="45720" rIns="91440" bIns="4572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r>
                <a:rPr lang="zh-CN" altLang="en-US" sz="2000" b="1">
                  <a:solidFill>
                    <a:srgbClr val="0000FF"/>
                  </a:solidFill>
                </a:rPr>
                <a:t>城域网</a:t>
              </a:r>
            </a:p>
          </p:txBody>
        </p:sp>
        <p:sp>
          <p:nvSpPr>
            <p:cNvPr id="1049147" name="Rectangle 45"/>
            <p:cNvSpPr/>
            <p:nvPr/>
          </p:nvSpPr>
          <p:spPr>
            <a:xfrm>
              <a:off x="249" y="3271"/>
              <a:ext cx="604" cy="252"/>
            </a:xfrm>
            <a:prstGeom prst="rect">
              <a:avLst/>
            </a:prstGeom>
            <a:noFill/>
            <a:ln>
              <a:noFill/>
            </a:ln>
          </p:spPr>
          <p:txBody>
            <a:bodyPr vert="horz" wrap="none" lIns="91440" tIns="45720" rIns="91440" bIns="4572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r>
                <a:rPr lang="zh-CN" altLang="en-US" sz="2000" b="1">
                  <a:solidFill>
                    <a:srgbClr val="0000FF"/>
                  </a:solidFill>
                </a:rPr>
                <a:t>接口层</a:t>
              </a:r>
            </a:p>
          </p:txBody>
        </p:sp>
        <p:sp>
          <p:nvSpPr>
            <p:cNvPr id="1049148" name="Rectangle 46"/>
            <p:cNvSpPr/>
            <p:nvPr/>
          </p:nvSpPr>
          <p:spPr>
            <a:xfrm>
              <a:off x="249" y="2251"/>
              <a:ext cx="604" cy="252"/>
            </a:xfrm>
            <a:prstGeom prst="rect">
              <a:avLst/>
            </a:prstGeom>
            <a:noFill/>
            <a:ln>
              <a:noFill/>
            </a:ln>
          </p:spPr>
          <p:txBody>
            <a:bodyPr vert="horz" wrap="none" lIns="91440" tIns="45720" rIns="91440" bIns="4572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r>
                <a:rPr lang="zh-CN" altLang="en-US" sz="2000" b="1">
                  <a:solidFill>
                    <a:srgbClr val="0000FF"/>
                  </a:solidFill>
                </a:rPr>
                <a:t>网络层</a:t>
              </a:r>
            </a:p>
          </p:txBody>
        </p:sp>
        <p:sp>
          <p:nvSpPr>
            <p:cNvPr id="1049149" name="Rectangle 47"/>
            <p:cNvSpPr/>
            <p:nvPr/>
          </p:nvSpPr>
          <p:spPr>
            <a:xfrm>
              <a:off x="249" y="1774"/>
              <a:ext cx="604" cy="252"/>
            </a:xfrm>
            <a:prstGeom prst="rect">
              <a:avLst/>
            </a:prstGeom>
            <a:noFill/>
            <a:ln>
              <a:noFill/>
            </a:ln>
          </p:spPr>
          <p:txBody>
            <a:bodyPr vert="horz" wrap="none" lIns="91440" tIns="45720" rIns="91440" bIns="4572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r>
                <a:rPr lang="zh-CN" altLang="en-US" sz="2000" b="1">
                  <a:solidFill>
                    <a:srgbClr val="0000FF"/>
                  </a:solidFill>
                </a:rPr>
                <a:t>传输层</a:t>
              </a:r>
            </a:p>
          </p:txBody>
        </p:sp>
        <p:sp>
          <p:nvSpPr>
            <p:cNvPr id="1049150" name="Rectangle 48"/>
            <p:cNvSpPr/>
            <p:nvPr/>
          </p:nvSpPr>
          <p:spPr>
            <a:xfrm>
              <a:off x="249" y="1275"/>
              <a:ext cx="604" cy="252"/>
            </a:xfrm>
            <a:prstGeom prst="rect">
              <a:avLst/>
            </a:prstGeom>
            <a:noFill/>
            <a:ln>
              <a:noFill/>
            </a:ln>
          </p:spPr>
          <p:txBody>
            <a:bodyPr vert="horz" wrap="none" lIns="91440" tIns="45720" rIns="91440" bIns="4572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r>
                <a:rPr lang="zh-CN" altLang="en-US" sz="2000" b="1" dirty="0">
                  <a:solidFill>
                    <a:srgbClr val="0000FF"/>
                  </a:solidFill>
                </a:rPr>
                <a:t>应用层</a:t>
              </a:r>
            </a:p>
          </p:txBody>
        </p:sp>
      </p:grpSp>
    </p:spTree>
  </p:cSld>
  <p:clrMapOvr>
    <a:masterClrMapping/>
  </p:clrMapOvr>
  <p:transition spd="slow">
    <p:zoom/>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55" name="Rectangle 3"/>
          <p:cNvSpPr>
            <a:spLocks noGrp="1"/>
          </p:cNvSpPr>
          <p:nvPr>
            <p:ph idx="1"/>
          </p:nvPr>
        </p:nvSpPr>
        <p:spPr>
          <a:xfrm>
            <a:off x="335360" y="908720"/>
            <a:ext cx="10515600" cy="4351338"/>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buFontTx/>
              <a:buNone/>
            </a:pPr>
            <a:r>
              <a:rPr lang="en-US" altLang="zh-CN" sz="3200" dirty="0">
                <a:solidFill>
                  <a:schemeClr val="tx1"/>
                </a:solidFill>
                <a:effectLst>
                  <a:outerShdw blurRad="38100" dist="38100" dir="2700000" algn="tl">
                    <a:srgbClr val="C0C0C0"/>
                  </a:outerShdw>
                </a:effectLst>
              </a:rPr>
              <a:t>1.2.2  </a:t>
            </a:r>
            <a:r>
              <a:rPr lang="zh-CN" altLang="en-US" sz="3200" dirty="0">
                <a:solidFill>
                  <a:schemeClr val="tx1"/>
                </a:solidFill>
                <a:effectLst>
                  <a:outerShdw blurRad="38100" dist="38100" dir="2700000" algn="tl">
                    <a:srgbClr val="C0C0C0"/>
                  </a:outerShdw>
                </a:effectLst>
              </a:rPr>
              <a:t>通信网标准</a:t>
            </a:r>
            <a:r>
              <a:rPr lang="en-US" altLang="zh-CN" sz="3200" dirty="0">
                <a:solidFill>
                  <a:schemeClr val="tx1"/>
                </a:solidFill>
                <a:effectLst>
                  <a:outerShdw blurRad="38100" dist="38100" dir="2700000" algn="tl">
                    <a:srgbClr val="C0C0C0"/>
                  </a:outerShdw>
                </a:effectLst>
              </a:rPr>
              <a:t>ITU-T</a:t>
            </a:r>
          </a:p>
          <a:p>
            <a:pPr lvl="0" eaLnBrk="1" latinLnBrk="1" hangingPunct="1"/>
            <a:r>
              <a:rPr lang="en-US" altLang="zh-CN" b="0" dirty="0">
                <a:solidFill>
                  <a:schemeClr val="tx1"/>
                </a:solidFill>
              </a:rPr>
              <a:t>ITU</a:t>
            </a:r>
            <a:r>
              <a:rPr lang="zh-CN" altLang="en-US" b="0" dirty="0">
                <a:solidFill>
                  <a:schemeClr val="tx1"/>
                </a:solidFill>
              </a:rPr>
              <a:t>制定了许多通信和网络方面的标准；</a:t>
            </a:r>
          </a:p>
          <a:p>
            <a:pPr lvl="0" eaLnBrk="1" latinLnBrk="1" hangingPunct="1"/>
            <a:r>
              <a:rPr lang="zh-CN" altLang="en-US" b="0" dirty="0">
                <a:solidFill>
                  <a:schemeClr val="tx1"/>
                </a:solidFill>
              </a:rPr>
              <a:t>这些标准称为“</a:t>
            </a:r>
            <a:r>
              <a:rPr lang="zh-CN" altLang="en-US" b="0" dirty="0">
                <a:solidFill>
                  <a:schemeClr val="tx1"/>
                </a:solidFill>
                <a:effectLst>
                  <a:outerShdw blurRad="38100" dist="38100" dir="2700000" algn="tl">
                    <a:srgbClr val="C0C0C0"/>
                  </a:outerShdw>
                </a:effectLst>
              </a:rPr>
              <a:t>建议</a:t>
            </a:r>
            <a:r>
              <a:rPr lang="zh-CN" altLang="en-US" b="0" dirty="0">
                <a:solidFill>
                  <a:schemeClr val="tx1"/>
                </a:solidFill>
              </a:rPr>
              <a:t>”；</a:t>
            </a:r>
          </a:p>
          <a:p>
            <a:pPr lvl="0" eaLnBrk="1" latinLnBrk="1" hangingPunct="1"/>
            <a:r>
              <a:rPr lang="en-US" altLang="zh-CN" b="0" dirty="0" err="1">
                <a:solidFill>
                  <a:schemeClr val="tx1"/>
                </a:solidFill>
              </a:rPr>
              <a:t>标准往往以英文字母A</a:t>
            </a:r>
            <a:r>
              <a:rPr lang="zh-CN" altLang="en-US" b="0" dirty="0">
                <a:solidFill>
                  <a:schemeClr val="tx1"/>
                </a:solidFill>
              </a:rPr>
              <a:t>～</a:t>
            </a:r>
            <a:r>
              <a:rPr lang="en-US" altLang="zh-CN" b="0" dirty="0">
                <a:solidFill>
                  <a:schemeClr val="tx1"/>
                </a:solidFill>
              </a:rPr>
              <a:t>Z</a:t>
            </a:r>
            <a:r>
              <a:rPr lang="zh-CN" altLang="en-US" b="0" dirty="0">
                <a:solidFill>
                  <a:schemeClr val="tx1"/>
                </a:solidFill>
              </a:rPr>
              <a:t>开头作为分类。</a:t>
            </a:r>
          </a:p>
        </p:txBody>
      </p:sp>
      <p:sp>
        <p:nvSpPr>
          <p:cNvPr id="1049154" name="Rectangle 2"/>
          <p:cNvSpPr>
            <a:spLocks noGrp="1"/>
          </p:cNvSpPr>
          <p:nvPr>
            <p:ph type="title"/>
          </p:nvPr>
        </p:nvSpPr>
        <p:spPr>
          <a:xfrm>
            <a:off x="47328" y="186739"/>
            <a:ext cx="10515600" cy="493937"/>
          </a:xfrm>
          <a:prstGeom prst="rect">
            <a:avLst/>
          </a:prstGeom>
          <a:noFill/>
          <a:ln>
            <a:noFill/>
          </a:ln>
        </p:spPr>
        <p:txBody>
          <a:bodyPr vert="horz" lIns="91440" tIns="45720" rIns="91440" bIns="45720" anchor="ctr">
            <a:normAutofit fontScale="90000"/>
          </a:bodyP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1.2  </a:t>
            </a:r>
            <a:r>
              <a:rPr lang="zh-CN" altLang="en-US" dirty="0">
                <a:solidFill>
                  <a:schemeClr val="bg1"/>
                </a:solidFill>
              </a:rPr>
              <a:t>网络工程设计规范</a:t>
            </a:r>
          </a:p>
        </p:txBody>
      </p:sp>
      <p:pic>
        <p:nvPicPr>
          <p:cNvPr id="2097178" name="图片 1"/>
          <p:cNvPicPr>
            <a:picLocks/>
          </p:cNvPicPr>
          <p:nvPr/>
        </p:nvPicPr>
        <p:blipFill>
          <a:blip r:embed="rId5"/>
          <a:srcRect/>
          <a:stretch>
            <a:fillRect/>
          </a:stretch>
        </p:blipFill>
        <p:spPr>
          <a:xfrm>
            <a:off x="8183562" y="3933825"/>
            <a:ext cx="1905000" cy="2095500"/>
          </a:xfrm>
          <a:prstGeom prst="rect">
            <a:avLst/>
          </a:prstGeom>
          <a:noFill/>
          <a:ln>
            <a:noFill/>
          </a:ln>
        </p:spPr>
      </p:pic>
    </p:spTree>
  </p:cSld>
  <p:clrMapOvr>
    <a:masterClrMapping/>
  </p:clrMapOvr>
  <p:transition spd="slow">
    <p:zoom/>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60" name="Rectangle 3"/>
          <p:cNvSpPr>
            <a:spLocks noGrp="1"/>
          </p:cNvSpPr>
          <p:nvPr>
            <p:ph type="body" sz="half" idx="4294967295"/>
          </p:nvPr>
        </p:nvSpPr>
        <p:spPr>
          <a:xfrm>
            <a:off x="407368" y="863351"/>
            <a:ext cx="8136904" cy="549426"/>
          </a:xfrm>
          <a:prstGeom prst="rect">
            <a:avLst/>
          </a:prstGeom>
          <a:noFill/>
          <a:ln>
            <a:noFill/>
          </a:ln>
        </p:spPr>
        <p:txBody>
          <a:bodyPr vert="horz" lIns="91440" tIns="45720" rIns="91440" bIns="45720" anchor="t"/>
          <a:lstStyle>
            <a:lvl1pPr marL="342900" indent="-342900">
              <a:lnSpc>
                <a:spcPct val="90000"/>
              </a:lnSpc>
              <a:spcBef>
                <a:spcPct val="0"/>
              </a:spcBef>
              <a:spcAft>
                <a:spcPct val="20000"/>
              </a:spcAft>
              <a:buBlip>
                <a:blip r:embed="rId2"/>
              </a:buBlip>
              <a:defRPr sz="2400">
                <a:solidFill>
                  <a:srgbClr val="0000FF"/>
                </a:solidFill>
              </a:defRPr>
            </a:lvl1pPr>
            <a:lvl2pPr marL="742950" indent="-285750">
              <a:lnSpc>
                <a:spcPct val="90000"/>
              </a:lnSpc>
              <a:spcBef>
                <a:spcPct val="0"/>
              </a:spcBef>
              <a:spcAft>
                <a:spcPct val="20000"/>
              </a:spcAft>
              <a:buBlip>
                <a:blip r:embed="rId3"/>
              </a:buBlip>
              <a:defRPr sz="2400">
                <a:solidFill>
                  <a:srgbClr val="000099"/>
                </a:solidFill>
              </a:defRPr>
            </a:lvl2pPr>
            <a:lvl3pPr marL="1143000" indent="-228600">
              <a:lnSpc>
                <a:spcPct val="90000"/>
              </a:lnSpc>
              <a:spcBef>
                <a:spcPct val="0"/>
              </a:spcBef>
              <a:spcAft>
                <a:spcPct val="20000"/>
              </a:spcAft>
              <a:buBlip>
                <a:blip r:embed="rId4"/>
              </a:buBlip>
              <a:defRPr sz="2000">
                <a:solidFill>
                  <a:srgbClr val="008000"/>
                </a:solidFill>
              </a:defRPr>
            </a:lvl3pPr>
            <a:lvl4pPr marL="1600200" indent="-228600">
              <a:lnSpc>
                <a:spcPct val="90000"/>
              </a:lnSpc>
              <a:spcBef>
                <a:spcPct val="0"/>
              </a:spcBef>
              <a:spcAft>
                <a:spcPct val="20000"/>
              </a:spcAft>
              <a:buBlip>
                <a:blip r:embed="rId4"/>
              </a:buBlip>
              <a:defRPr sz="1800">
                <a:solidFill>
                  <a:srgbClr val="800000"/>
                </a:solidFill>
              </a:defRPr>
            </a:lvl4pPr>
            <a:lvl5pPr marL="2057400" indent="-228600">
              <a:lnSpc>
                <a:spcPct val="90000"/>
              </a:lnSpc>
              <a:spcBef>
                <a:spcPct val="0"/>
              </a:spcBef>
              <a:spcAft>
                <a:spcPct val="20000"/>
              </a:spcAft>
              <a:buBlip>
                <a:blip r:embed="rId4"/>
              </a:buBlip>
              <a:defRPr sz="1800">
                <a:solidFill>
                  <a:srgbClr val="003399"/>
                </a:solidFill>
              </a:defRPr>
            </a:lvl5pPr>
          </a:lstStyle>
          <a:p>
            <a:pPr lvl="0" eaLnBrk="1" latinLnBrk="1" hangingPunct="1"/>
            <a:r>
              <a:rPr lang="zh-CN" altLang="en-US" sz="2800" dirty="0">
                <a:solidFill>
                  <a:srgbClr val="000099"/>
                </a:solidFill>
              </a:rPr>
              <a:t>通信网络常用</a:t>
            </a:r>
            <a:r>
              <a:rPr lang="en-US" altLang="zh-CN" sz="2800" dirty="0">
                <a:solidFill>
                  <a:srgbClr val="000099"/>
                </a:solidFill>
              </a:rPr>
              <a:t>ITU-T</a:t>
            </a:r>
            <a:r>
              <a:rPr lang="zh-CN" altLang="en-US" sz="2800" dirty="0">
                <a:solidFill>
                  <a:srgbClr val="000099"/>
                </a:solidFill>
              </a:rPr>
              <a:t>系列标准</a:t>
            </a:r>
          </a:p>
        </p:txBody>
      </p:sp>
      <p:sp>
        <p:nvSpPr>
          <p:cNvPr id="1049159" name="Rectangle 2"/>
          <p:cNvSpPr>
            <a:spLocks noGrp="1"/>
          </p:cNvSpPr>
          <p:nvPr>
            <p:ph type="title"/>
          </p:nvPr>
        </p:nvSpPr>
        <p:spPr>
          <a:xfrm>
            <a:off x="17151" y="155983"/>
            <a:ext cx="8640233" cy="57626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1.2  </a:t>
            </a:r>
            <a:r>
              <a:rPr lang="zh-CN" altLang="en-US" dirty="0">
                <a:solidFill>
                  <a:schemeClr val="bg1"/>
                </a:solidFill>
              </a:rPr>
              <a:t>网络工程设计规范</a:t>
            </a:r>
          </a:p>
        </p:txBody>
      </p:sp>
      <p:graphicFrame>
        <p:nvGraphicFramePr>
          <p:cNvPr id="4194310" name="表格 4194309"/>
          <p:cNvGraphicFramePr>
            <a:graphicFrameLocks/>
          </p:cNvGraphicFramePr>
          <p:nvPr>
            <p:extLst>
              <p:ext uri="{D42A27DB-BD31-4B8C-83A1-F6EECF244321}">
                <p14:modId xmlns:p14="http://schemas.microsoft.com/office/powerpoint/2010/main" val="1654581451"/>
              </p:ext>
            </p:extLst>
          </p:nvPr>
        </p:nvGraphicFramePr>
        <p:xfrm>
          <a:off x="1631504" y="1628800"/>
          <a:ext cx="8857108" cy="4241278"/>
        </p:xfrm>
        <a:graphic>
          <a:graphicData uri="http://schemas.openxmlformats.org/drawingml/2006/table">
            <a:tbl>
              <a:tblPr/>
              <a:tblGrid>
                <a:gridCol w="1893623">
                  <a:extLst>
                    <a:ext uri="{9D8B030D-6E8A-4147-A177-3AD203B41FA5}">
                      <a16:colId xmlns:a16="http://schemas.microsoft.com/office/drawing/2014/main" val="20000"/>
                    </a:ext>
                  </a:extLst>
                </a:gridCol>
                <a:gridCol w="6963485">
                  <a:extLst>
                    <a:ext uri="{9D8B030D-6E8A-4147-A177-3AD203B41FA5}">
                      <a16:colId xmlns:a16="http://schemas.microsoft.com/office/drawing/2014/main" val="20001"/>
                    </a:ext>
                  </a:extLst>
                </a:gridCol>
              </a:tblGrid>
              <a:tr h="353208">
                <a:tc>
                  <a:txBody>
                    <a:bodyPr/>
                    <a:lstStyle/>
                    <a:p>
                      <a:pPr lvl="0" algn="ctr" eaLnBrk="1" latinLnBrk="1" hangingPunct="1">
                        <a:spcAft>
                          <a:spcPct val="20000"/>
                        </a:spcAft>
                        <a:buFontTx/>
                        <a:buNone/>
                      </a:pPr>
                      <a:r>
                        <a:rPr lang="zh-CN" altLang="en-US" sz="1600" b="0">
                          <a:solidFill>
                            <a:srgbClr val="000000"/>
                          </a:solidFill>
                          <a:effectLst>
                            <a:outerShdw blurRad="38100" dist="38100" dir="2700000" algn="tl">
                              <a:srgbClr val="C0C0C0"/>
                            </a:outerShdw>
                          </a:effectLst>
                          <a:latin typeface="黑体" pitchFamily="49" charset="-122"/>
                          <a:ea typeface="黑体" pitchFamily="49" charset="-122"/>
                        </a:rPr>
                        <a:t>标 准 系 列</a:t>
                      </a:r>
                    </a:p>
                  </a:txBody>
                  <a:tcPr marT="45695" marB="45695">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solidFill>
                      <a:srgbClr val="FFCCFF"/>
                    </a:solidFill>
                  </a:tcPr>
                </a:tc>
                <a:tc>
                  <a:txBody>
                    <a:bodyPr/>
                    <a:lstStyle/>
                    <a:p>
                      <a:pPr lvl="0" algn="ctr" eaLnBrk="1" latinLnBrk="1" hangingPunct="1">
                        <a:spcAft>
                          <a:spcPct val="20000"/>
                        </a:spcAft>
                        <a:buFontTx/>
                        <a:buNone/>
                      </a:pPr>
                      <a:r>
                        <a:rPr lang="zh-CN" altLang="en-US" sz="1600" b="0">
                          <a:solidFill>
                            <a:srgbClr val="000000"/>
                          </a:solidFill>
                          <a:effectLst>
                            <a:outerShdw blurRad="38100" dist="38100" dir="2700000" algn="tl">
                              <a:srgbClr val="C0C0C0"/>
                            </a:outerShdw>
                          </a:effectLst>
                          <a:latin typeface="黑体" pitchFamily="49" charset="-122"/>
                          <a:ea typeface="黑体" pitchFamily="49" charset="-122"/>
                        </a:rPr>
                        <a:t>标 准 内 容</a:t>
                      </a:r>
                    </a:p>
                  </a:txBody>
                  <a:tcPr marT="45695" marB="45695">
                    <a:lnL w="12700" cap="flat" cmpd="sng">
                      <a:solidFill>
                        <a:srgbClr val="000000">
                          <a:alpha val="100000"/>
                        </a:srgbClr>
                      </a:solidFill>
                      <a:prstDash val="solid"/>
                      <a:round/>
                    </a:lnL>
                    <a:lnR w="9525"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solidFill>
                      <a:srgbClr val="FFCCFF"/>
                    </a:solidFill>
                  </a:tcPr>
                </a:tc>
                <a:extLst>
                  <a:ext uri="{0D108BD9-81ED-4DB2-BD59-A6C34878D82A}">
                    <a16:rowId xmlns:a16="http://schemas.microsoft.com/office/drawing/2014/main" val="10000"/>
                  </a:ext>
                </a:extLst>
              </a:tr>
              <a:tr h="353208">
                <a:tc>
                  <a:txBody>
                    <a:bodyPr/>
                    <a:lstStyle/>
                    <a:p>
                      <a:pPr lvl="0" algn="ctr" eaLnBrk="1" latinLnBrk="1" hangingPunct="1">
                        <a:spcAft>
                          <a:spcPct val="20000"/>
                        </a:spcAft>
                        <a:buFontTx/>
                        <a:buNone/>
                      </a:pPr>
                      <a:r>
                        <a:rPr lang="en-US" altLang="zh-CN" sz="1600" b="0" dirty="0">
                          <a:solidFill>
                            <a:srgbClr val="000000"/>
                          </a:solidFill>
                          <a:ea typeface="黑体" pitchFamily="49" charset="-122"/>
                        </a:rPr>
                        <a:t>E</a:t>
                      </a:r>
                      <a:r>
                        <a:rPr lang="zh-CN" altLang="en-US" sz="1600" b="0" dirty="0">
                          <a:solidFill>
                            <a:srgbClr val="000000"/>
                          </a:solidFill>
                          <a:ea typeface="黑体" pitchFamily="49" charset="-122"/>
                        </a:rPr>
                        <a:t>系列建议</a:t>
                      </a:r>
                    </a:p>
                  </a:txBody>
                  <a:tcPr marT="45695" marB="45695">
                    <a:lnL w="9525"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l" eaLnBrk="1" latinLnBrk="1" hangingPunct="1">
                        <a:spcAft>
                          <a:spcPct val="20000"/>
                        </a:spcAft>
                        <a:buFontTx/>
                        <a:buNone/>
                      </a:pPr>
                      <a:r>
                        <a:rPr lang="zh-CN" altLang="en-US" sz="1600" b="0">
                          <a:solidFill>
                            <a:srgbClr val="000000"/>
                          </a:solidFill>
                          <a:ea typeface="黑体" pitchFamily="49" charset="-122"/>
                        </a:rPr>
                        <a:t>网络运营、电话业务、业务运营。如</a:t>
                      </a:r>
                      <a:r>
                        <a:rPr lang="en-US" altLang="zh-CN" sz="1600" b="0">
                          <a:solidFill>
                            <a:srgbClr val="000000"/>
                          </a:solidFill>
                          <a:ea typeface="黑体" pitchFamily="49" charset="-122"/>
                        </a:rPr>
                        <a:t>E.750</a:t>
                      </a:r>
                      <a:r>
                        <a:rPr lang="zh-CN" altLang="en-US" sz="1600" b="0">
                          <a:solidFill>
                            <a:srgbClr val="000000"/>
                          </a:solidFill>
                          <a:ea typeface="黑体" pitchFamily="49" charset="-122"/>
                        </a:rPr>
                        <a:t>个人通信</a:t>
                      </a:r>
                    </a:p>
                  </a:txBody>
                  <a:tcPr marT="45695" marB="45695">
                    <a:lnL w="12700" cap="flat" cmpd="sng">
                      <a:solidFill>
                        <a:srgbClr val="000000">
                          <a:alpha val="100000"/>
                        </a:srgbClr>
                      </a:solidFill>
                      <a:prstDash val="solid"/>
                      <a:round/>
                    </a:lnL>
                    <a:lnR w="9525"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1"/>
                  </a:ext>
                </a:extLst>
              </a:tr>
              <a:tr h="354599">
                <a:tc>
                  <a:txBody>
                    <a:bodyPr/>
                    <a:lstStyle/>
                    <a:p>
                      <a:pPr lvl="0" algn="ctr" eaLnBrk="1" latinLnBrk="1" hangingPunct="1">
                        <a:spcAft>
                          <a:spcPct val="20000"/>
                        </a:spcAft>
                        <a:buFontTx/>
                        <a:buNone/>
                      </a:pPr>
                      <a:r>
                        <a:rPr lang="en-US" altLang="zh-CN" sz="1600" b="0">
                          <a:solidFill>
                            <a:srgbClr val="000000"/>
                          </a:solidFill>
                          <a:ea typeface="黑体" pitchFamily="49" charset="-122"/>
                        </a:rPr>
                        <a:t>F</a:t>
                      </a:r>
                      <a:r>
                        <a:rPr lang="zh-CN" altLang="en-US" sz="1600" b="0">
                          <a:solidFill>
                            <a:srgbClr val="000000"/>
                          </a:solidFill>
                          <a:ea typeface="黑体" pitchFamily="49" charset="-122"/>
                        </a:rPr>
                        <a:t>系列建议</a:t>
                      </a:r>
                    </a:p>
                  </a:txBody>
                  <a:tcPr marT="45695" marB="45695">
                    <a:lnL w="9525"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l" eaLnBrk="1" latinLnBrk="1" hangingPunct="1">
                        <a:spcAft>
                          <a:spcPct val="20000"/>
                        </a:spcAft>
                        <a:buFontTx/>
                        <a:buNone/>
                      </a:pPr>
                      <a:r>
                        <a:rPr lang="zh-CN" altLang="en-US" sz="1600" b="0" dirty="0">
                          <a:solidFill>
                            <a:srgbClr val="000000"/>
                          </a:solidFill>
                          <a:ea typeface="黑体" pitchFamily="49" charset="-122"/>
                        </a:rPr>
                        <a:t>有关电报、数据传输和远程通信业务。如</a:t>
                      </a:r>
                      <a:r>
                        <a:rPr lang="en-US" altLang="zh-CN" sz="1600" b="0" dirty="0">
                          <a:solidFill>
                            <a:srgbClr val="000000"/>
                          </a:solidFill>
                          <a:ea typeface="黑体" pitchFamily="49" charset="-122"/>
                        </a:rPr>
                        <a:t>F.742</a:t>
                      </a:r>
                      <a:r>
                        <a:rPr lang="zh-CN" altLang="en-US" sz="1600" b="0" dirty="0">
                          <a:solidFill>
                            <a:srgbClr val="000000"/>
                          </a:solidFill>
                          <a:ea typeface="黑体" pitchFamily="49" charset="-122"/>
                        </a:rPr>
                        <a:t>：远程学习业务</a:t>
                      </a:r>
                    </a:p>
                  </a:txBody>
                  <a:tcPr marT="45695" marB="45695">
                    <a:lnL w="12700" cap="flat" cmpd="sng">
                      <a:solidFill>
                        <a:srgbClr val="000000">
                          <a:alpha val="100000"/>
                        </a:srgbClr>
                      </a:solidFill>
                      <a:prstDash val="solid"/>
                      <a:round/>
                    </a:lnL>
                    <a:lnR w="9525"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2"/>
                  </a:ext>
                </a:extLst>
              </a:tr>
              <a:tr h="353208">
                <a:tc>
                  <a:txBody>
                    <a:bodyPr/>
                    <a:lstStyle/>
                    <a:p>
                      <a:pPr lvl="0" algn="ctr" eaLnBrk="1" latinLnBrk="1" hangingPunct="1">
                        <a:spcAft>
                          <a:spcPct val="20000"/>
                        </a:spcAft>
                        <a:buFontTx/>
                        <a:buNone/>
                      </a:pPr>
                      <a:r>
                        <a:rPr lang="en-US" altLang="zh-CN" sz="1600" b="1">
                          <a:solidFill>
                            <a:srgbClr val="FF0000"/>
                          </a:solidFill>
                          <a:ea typeface="黑体" pitchFamily="49" charset="-122"/>
                        </a:rPr>
                        <a:t>G</a:t>
                      </a:r>
                      <a:r>
                        <a:rPr lang="zh-CN" altLang="en-US" sz="1600" b="1">
                          <a:solidFill>
                            <a:srgbClr val="FF0000"/>
                          </a:solidFill>
                          <a:ea typeface="黑体" pitchFamily="49" charset="-122"/>
                        </a:rPr>
                        <a:t>系列建议</a:t>
                      </a:r>
                    </a:p>
                  </a:txBody>
                  <a:tcPr marT="45695" marB="45695">
                    <a:lnL w="9525"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l" eaLnBrk="1" latinLnBrk="1" hangingPunct="1">
                        <a:spcAft>
                          <a:spcPct val="20000"/>
                        </a:spcAft>
                        <a:buFontTx/>
                        <a:buNone/>
                      </a:pPr>
                      <a:r>
                        <a:rPr lang="zh-CN" altLang="en-US" sz="1600" b="0">
                          <a:solidFill>
                            <a:srgbClr val="000000"/>
                          </a:solidFill>
                          <a:ea typeface="黑体" pitchFamily="49" charset="-122"/>
                        </a:rPr>
                        <a:t>传输系统、数字系统、网络系统。如</a:t>
                      </a:r>
                      <a:r>
                        <a:rPr lang="en-US" altLang="zh-CN" sz="1600" b="0">
                          <a:solidFill>
                            <a:srgbClr val="000000"/>
                          </a:solidFill>
                          <a:ea typeface="黑体" pitchFamily="49" charset="-122"/>
                        </a:rPr>
                        <a:t>G.703</a:t>
                      </a:r>
                      <a:r>
                        <a:rPr lang="zh-CN" altLang="en-US" sz="1600" b="0">
                          <a:solidFill>
                            <a:srgbClr val="000000"/>
                          </a:solidFill>
                          <a:ea typeface="黑体" pitchFamily="49" charset="-122"/>
                        </a:rPr>
                        <a:t>定义的</a:t>
                      </a:r>
                      <a:r>
                        <a:rPr lang="en-US" altLang="zh-CN" sz="1600" b="0">
                          <a:solidFill>
                            <a:srgbClr val="000000"/>
                          </a:solidFill>
                          <a:ea typeface="黑体" pitchFamily="49" charset="-122"/>
                        </a:rPr>
                        <a:t>E1</a:t>
                      </a:r>
                      <a:r>
                        <a:rPr lang="zh-CN" altLang="en-US" sz="1600" b="0">
                          <a:solidFill>
                            <a:srgbClr val="000000"/>
                          </a:solidFill>
                          <a:ea typeface="黑体" pitchFamily="49" charset="-122"/>
                        </a:rPr>
                        <a:t>接口标准</a:t>
                      </a:r>
                    </a:p>
                  </a:txBody>
                  <a:tcPr marT="45695" marB="45695">
                    <a:lnL w="12700" cap="flat" cmpd="sng">
                      <a:solidFill>
                        <a:srgbClr val="000000">
                          <a:alpha val="100000"/>
                        </a:srgbClr>
                      </a:solidFill>
                      <a:prstDash val="solid"/>
                      <a:round/>
                    </a:lnL>
                    <a:lnR w="9525"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3"/>
                  </a:ext>
                </a:extLst>
              </a:tr>
              <a:tr h="353208">
                <a:tc>
                  <a:txBody>
                    <a:bodyPr/>
                    <a:lstStyle/>
                    <a:p>
                      <a:pPr lvl="0" algn="ctr" eaLnBrk="1" latinLnBrk="1" hangingPunct="1">
                        <a:spcAft>
                          <a:spcPct val="20000"/>
                        </a:spcAft>
                        <a:buFontTx/>
                        <a:buNone/>
                      </a:pPr>
                      <a:r>
                        <a:rPr lang="en-US" altLang="zh-CN" sz="1600" b="1">
                          <a:solidFill>
                            <a:srgbClr val="FF0000"/>
                          </a:solidFill>
                          <a:ea typeface="黑体" pitchFamily="49" charset="-122"/>
                        </a:rPr>
                        <a:t>H</a:t>
                      </a:r>
                      <a:r>
                        <a:rPr lang="zh-CN" altLang="en-US" sz="1600" b="1">
                          <a:solidFill>
                            <a:srgbClr val="FF0000"/>
                          </a:solidFill>
                          <a:ea typeface="黑体" pitchFamily="49" charset="-122"/>
                        </a:rPr>
                        <a:t>系列建议</a:t>
                      </a:r>
                    </a:p>
                  </a:txBody>
                  <a:tcPr marT="45695" marB="45695">
                    <a:lnL w="9525"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l" eaLnBrk="1" latinLnBrk="1" hangingPunct="1">
                        <a:spcAft>
                          <a:spcPct val="20000"/>
                        </a:spcAft>
                        <a:buFontTx/>
                        <a:buNone/>
                      </a:pPr>
                      <a:r>
                        <a:rPr lang="zh-CN" altLang="en-US" sz="1600" b="0">
                          <a:solidFill>
                            <a:srgbClr val="000000"/>
                          </a:solidFill>
                          <a:ea typeface="黑体" pitchFamily="49" charset="-122"/>
                        </a:rPr>
                        <a:t>视频、音频和多媒体系统。如</a:t>
                      </a:r>
                      <a:r>
                        <a:rPr lang="en-US" altLang="zh-CN" sz="1600" b="0">
                          <a:solidFill>
                            <a:srgbClr val="000000"/>
                          </a:solidFill>
                          <a:ea typeface="黑体" pitchFamily="49" charset="-122"/>
                        </a:rPr>
                        <a:t>H.323 </a:t>
                      </a:r>
                      <a:r>
                        <a:rPr lang="zh-CN" altLang="en-US" sz="1600" b="0">
                          <a:solidFill>
                            <a:srgbClr val="000000"/>
                          </a:solidFill>
                          <a:ea typeface="黑体" pitchFamily="49" charset="-122"/>
                        </a:rPr>
                        <a:t>定义的</a:t>
                      </a:r>
                      <a:r>
                        <a:rPr lang="en-US" altLang="zh-CN" sz="1600" b="0">
                          <a:solidFill>
                            <a:srgbClr val="000000"/>
                          </a:solidFill>
                          <a:ea typeface="黑体" pitchFamily="49" charset="-122"/>
                        </a:rPr>
                        <a:t>IP</a:t>
                      </a:r>
                      <a:r>
                        <a:rPr lang="zh-CN" altLang="en-US" sz="1600" b="0">
                          <a:solidFill>
                            <a:srgbClr val="000000"/>
                          </a:solidFill>
                          <a:ea typeface="黑体" pitchFamily="49" charset="-122"/>
                        </a:rPr>
                        <a:t>电话标准</a:t>
                      </a:r>
                    </a:p>
                  </a:txBody>
                  <a:tcPr marT="45695" marB="45695">
                    <a:lnL w="12700" cap="flat" cmpd="sng">
                      <a:solidFill>
                        <a:srgbClr val="000000">
                          <a:alpha val="100000"/>
                        </a:srgbClr>
                      </a:solidFill>
                      <a:prstDash val="solid"/>
                      <a:round/>
                    </a:lnL>
                    <a:lnR w="9525"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4"/>
                  </a:ext>
                </a:extLst>
              </a:tr>
              <a:tr h="353208">
                <a:tc>
                  <a:txBody>
                    <a:bodyPr/>
                    <a:lstStyle/>
                    <a:p>
                      <a:pPr lvl="0" algn="ctr" eaLnBrk="1" latinLnBrk="1" hangingPunct="1">
                        <a:spcAft>
                          <a:spcPct val="20000"/>
                        </a:spcAft>
                        <a:buFontTx/>
                        <a:buNone/>
                      </a:pPr>
                      <a:r>
                        <a:rPr lang="en-US" altLang="zh-CN" sz="1600" b="0">
                          <a:solidFill>
                            <a:srgbClr val="000000"/>
                          </a:solidFill>
                          <a:ea typeface="黑体" pitchFamily="49" charset="-122"/>
                        </a:rPr>
                        <a:t>I</a:t>
                      </a:r>
                      <a:r>
                        <a:rPr lang="zh-CN" altLang="en-US" sz="1600" b="0">
                          <a:solidFill>
                            <a:srgbClr val="000000"/>
                          </a:solidFill>
                          <a:ea typeface="黑体" pitchFamily="49" charset="-122"/>
                        </a:rPr>
                        <a:t>系列建议</a:t>
                      </a:r>
                    </a:p>
                  </a:txBody>
                  <a:tcPr marT="45695" marB="45695">
                    <a:lnL w="9525"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l" eaLnBrk="1" latinLnBrk="1" hangingPunct="1">
                        <a:spcAft>
                          <a:spcPct val="20000"/>
                        </a:spcAft>
                        <a:buFontTx/>
                        <a:buNone/>
                      </a:pPr>
                      <a:r>
                        <a:rPr lang="en-US" altLang="zh-CN" sz="1600" b="0">
                          <a:solidFill>
                            <a:srgbClr val="000000"/>
                          </a:solidFill>
                          <a:ea typeface="黑体" pitchFamily="49" charset="-122"/>
                        </a:rPr>
                        <a:t>ISDN</a:t>
                      </a:r>
                      <a:r>
                        <a:rPr lang="zh-CN" altLang="en-US" sz="1600" b="0">
                          <a:solidFill>
                            <a:srgbClr val="000000"/>
                          </a:solidFill>
                          <a:ea typeface="黑体" pitchFamily="49" charset="-122"/>
                        </a:rPr>
                        <a:t>（综合业务数字网）系列标准</a:t>
                      </a:r>
                    </a:p>
                  </a:txBody>
                  <a:tcPr marT="45695" marB="45695">
                    <a:lnL w="12700" cap="flat" cmpd="sng">
                      <a:solidFill>
                        <a:srgbClr val="000000">
                          <a:alpha val="100000"/>
                        </a:srgbClr>
                      </a:solidFill>
                      <a:prstDash val="solid"/>
                      <a:round/>
                    </a:lnL>
                    <a:lnR w="9525"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5"/>
                  </a:ext>
                </a:extLst>
              </a:tr>
              <a:tr h="353208">
                <a:tc>
                  <a:txBody>
                    <a:bodyPr/>
                    <a:lstStyle/>
                    <a:p>
                      <a:pPr lvl="0" algn="ctr" eaLnBrk="1" latinLnBrk="1" hangingPunct="1">
                        <a:spcAft>
                          <a:spcPct val="20000"/>
                        </a:spcAft>
                        <a:buFontTx/>
                        <a:buNone/>
                      </a:pPr>
                      <a:r>
                        <a:rPr lang="en-US" altLang="zh-CN" sz="1600" b="0">
                          <a:solidFill>
                            <a:srgbClr val="000000"/>
                          </a:solidFill>
                          <a:ea typeface="黑体" pitchFamily="49" charset="-122"/>
                        </a:rPr>
                        <a:t>J</a:t>
                      </a:r>
                      <a:r>
                        <a:rPr lang="zh-CN" altLang="en-US" sz="1600" b="0">
                          <a:solidFill>
                            <a:srgbClr val="000000"/>
                          </a:solidFill>
                          <a:ea typeface="黑体" pitchFamily="49" charset="-122"/>
                        </a:rPr>
                        <a:t>系列建议</a:t>
                      </a:r>
                    </a:p>
                  </a:txBody>
                  <a:tcPr marT="45695" marB="45695">
                    <a:lnL w="9525"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l" eaLnBrk="1" latinLnBrk="1" hangingPunct="1">
                        <a:spcAft>
                          <a:spcPct val="20000"/>
                        </a:spcAft>
                        <a:buFontTx/>
                        <a:buNone/>
                      </a:pPr>
                      <a:r>
                        <a:rPr lang="zh-CN" altLang="en-US" sz="1600" b="0">
                          <a:solidFill>
                            <a:srgbClr val="000000"/>
                          </a:solidFill>
                          <a:ea typeface="黑体" pitchFamily="49" charset="-122"/>
                        </a:rPr>
                        <a:t>广播或组播方式的业务。如</a:t>
                      </a:r>
                      <a:r>
                        <a:rPr lang="en-US" altLang="zh-CN" sz="1600" b="0">
                          <a:solidFill>
                            <a:srgbClr val="000000"/>
                          </a:solidFill>
                          <a:ea typeface="黑体" pitchFamily="49" charset="-122"/>
                        </a:rPr>
                        <a:t>J.83</a:t>
                      </a:r>
                      <a:r>
                        <a:rPr lang="zh-CN" altLang="en-US" sz="1600" b="0">
                          <a:solidFill>
                            <a:srgbClr val="000000"/>
                          </a:solidFill>
                          <a:ea typeface="黑体" pitchFamily="49" charset="-122"/>
                        </a:rPr>
                        <a:t>关于电视多节目系统的标准</a:t>
                      </a:r>
                    </a:p>
                  </a:txBody>
                  <a:tcPr marT="45695" marB="45695">
                    <a:lnL w="12700" cap="flat" cmpd="sng">
                      <a:solidFill>
                        <a:srgbClr val="000000">
                          <a:alpha val="100000"/>
                        </a:srgbClr>
                      </a:solidFill>
                      <a:prstDash val="solid"/>
                      <a:round/>
                    </a:lnL>
                    <a:lnR w="9525"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6"/>
                  </a:ext>
                </a:extLst>
              </a:tr>
              <a:tr h="353208">
                <a:tc>
                  <a:txBody>
                    <a:bodyPr/>
                    <a:lstStyle/>
                    <a:p>
                      <a:pPr lvl="0" algn="ctr" eaLnBrk="1" latinLnBrk="1" hangingPunct="1">
                        <a:spcAft>
                          <a:spcPct val="20000"/>
                        </a:spcAft>
                        <a:buFontTx/>
                        <a:buNone/>
                      </a:pPr>
                      <a:r>
                        <a:rPr lang="en-US" altLang="zh-CN" sz="1600" b="0">
                          <a:solidFill>
                            <a:srgbClr val="000000"/>
                          </a:solidFill>
                          <a:ea typeface="黑体" pitchFamily="49" charset="-122"/>
                        </a:rPr>
                        <a:t>M</a:t>
                      </a:r>
                      <a:r>
                        <a:rPr lang="zh-CN" altLang="en-US" sz="1600" b="0">
                          <a:solidFill>
                            <a:srgbClr val="000000"/>
                          </a:solidFill>
                          <a:ea typeface="黑体" pitchFamily="49" charset="-122"/>
                        </a:rPr>
                        <a:t>系列建议</a:t>
                      </a:r>
                    </a:p>
                  </a:txBody>
                  <a:tcPr marT="45695" marB="45695">
                    <a:lnL w="9525"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l" eaLnBrk="1" latinLnBrk="1" hangingPunct="1">
                        <a:spcAft>
                          <a:spcPct val="20000"/>
                        </a:spcAft>
                        <a:buFontTx/>
                        <a:buNone/>
                      </a:pPr>
                      <a:r>
                        <a:rPr lang="zh-CN" altLang="en-US" sz="1600" b="0">
                          <a:solidFill>
                            <a:srgbClr val="000000"/>
                          </a:solidFill>
                          <a:ea typeface="黑体" pitchFamily="49" charset="-122"/>
                        </a:rPr>
                        <a:t>电信管理网络。如</a:t>
                      </a:r>
                      <a:r>
                        <a:rPr lang="en-US" altLang="zh-CN" sz="1600" b="0">
                          <a:solidFill>
                            <a:srgbClr val="000000"/>
                          </a:solidFill>
                          <a:ea typeface="黑体" pitchFamily="49" charset="-122"/>
                        </a:rPr>
                        <a:t>M.3 010</a:t>
                      </a:r>
                      <a:r>
                        <a:rPr lang="zh-CN" altLang="en-US" sz="1600" b="0">
                          <a:solidFill>
                            <a:srgbClr val="000000"/>
                          </a:solidFill>
                          <a:ea typeface="黑体" pitchFamily="49" charset="-122"/>
                        </a:rPr>
                        <a:t>电信管理网的原则</a:t>
                      </a:r>
                    </a:p>
                  </a:txBody>
                  <a:tcPr marT="45695" marB="45695">
                    <a:lnL w="12700" cap="flat" cmpd="sng">
                      <a:solidFill>
                        <a:srgbClr val="000000">
                          <a:alpha val="100000"/>
                        </a:srgbClr>
                      </a:solidFill>
                      <a:prstDash val="solid"/>
                      <a:round/>
                    </a:lnL>
                    <a:lnR w="9525"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7"/>
                  </a:ext>
                </a:extLst>
              </a:tr>
              <a:tr h="354599">
                <a:tc>
                  <a:txBody>
                    <a:bodyPr/>
                    <a:lstStyle/>
                    <a:p>
                      <a:pPr lvl="0" algn="ctr" eaLnBrk="1" latinLnBrk="1" hangingPunct="1">
                        <a:spcAft>
                          <a:spcPct val="20000"/>
                        </a:spcAft>
                        <a:buFontTx/>
                        <a:buNone/>
                      </a:pPr>
                      <a:r>
                        <a:rPr lang="en-US" altLang="zh-CN" sz="1600" b="0">
                          <a:solidFill>
                            <a:srgbClr val="000000"/>
                          </a:solidFill>
                          <a:ea typeface="黑体" pitchFamily="49" charset="-122"/>
                        </a:rPr>
                        <a:t>T</a:t>
                      </a:r>
                      <a:r>
                        <a:rPr lang="zh-CN" altLang="en-US" sz="1600" b="0">
                          <a:solidFill>
                            <a:srgbClr val="000000"/>
                          </a:solidFill>
                          <a:ea typeface="黑体" pitchFamily="49" charset="-122"/>
                        </a:rPr>
                        <a:t>系列建议</a:t>
                      </a:r>
                    </a:p>
                  </a:txBody>
                  <a:tcPr marT="45695" marB="45695">
                    <a:lnL w="9525"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l" eaLnBrk="1" latinLnBrk="1" hangingPunct="1">
                        <a:spcAft>
                          <a:spcPct val="20000"/>
                        </a:spcAft>
                        <a:buFontTx/>
                        <a:buNone/>
                      </a:pPr>
                      <a:r>
                        <a:rPr lang="zh-CN" altLang="en-US" sz="1600" b="0">
                          <a:solidFill>
                            <a:srgbClr val="000000"/>
                          </a:solidFill>
                          <a:ea typeface="黑体" pitchFamily="49" charset="-122"/>
                        </a:rPr>
                        <a:t>多媒体通信规范。如</a:t>
                      </a:r>
                      <a:r>
                        <a:rPr lang="en-US" altLang="zh-CN" sz="1600" b="0">
                          <a:solidFill>
                            <a:srgbClr val="000000"/>
                          </a:solidFill>
                          <a:ea typeface="黑体" pitchFamily="49" charset="-122"/>
                        </a:rPr>
                        <a:t>T.120</a:t>
                      </a:r>
                      <a:r>
                        <a:rPr lang="zh-CN" altLang="en-US" sz="1600" b="0">
                          <a:solidFill>
                            <a:srgbClr val="000000"/>
                          </a:solidFill>
                          <a:ea typeface="黑体" pitchFamily="49" charset="-122"/>
                        </a:rPr>
                        <a:t>多媒体数据会议系统</a:t>
                      </a:r>
                    </a:p>
                  </a:txBody>
                  <a:tcPr marT="45695" marB="45695">
                    <a:lnL w="12700" cap="flat" cmpd="sng">
                      <a:solidFill>
                        <a:srgbClr val="000000">
                          <a:alpha val="100000"/>
                        </a:srgbClr>
                      </a:solidFill>
                      <a:prstDash val="solid"/>
                      <a:round/>
                    </a:lnL>
                    <a:lnR w="9525"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8"/>
                  </a:ext>
                </a:extLst>
              </a:tr>
              <a:tr h="353208">
                <a:tc>
                  <a:txBody>
                    <a:bodyPr/>
                    <a:lstStyle/>
                    <a:p>
                      <a:pPr lvl="0" algn="ctr" eaLnBrk="1" latinLnBrk="1" hangingPunct="1">
                        <a:spcAft>
                          <a:spcPct val="20000"/>
                        </a:spcAft>
                        <a:buFontTx/>
                        <a:buNone/>
                      </a:pPr>
                      <a:r>
                        <a:rPr lang="en-US" altLang="zh-CN" sz="1600" b="0">
                          <a:solidFill>
                            <a:srgbClr val="000000"/>
                          </a:solidFill>
                          <a:ea typeface="黑体" pitchFamily="49" charset="-122"/>
                        </a:rPr>
                        <a:t>V</a:t>
                      </a:r>
                      <a:r>
                        <a:rPr lang="zh-CN" altLang="en-US" sz="1600" b="0">
                          <a:solidFill>
                            <a:srgbClr val="000000"/>
                          </a:solidFill>
                          <a:ea typeface="黑体" pitchFamily="49" charset="-122"/>
                        </a:rPr>
                        <a:t>系列建议</a:t>
                      </a:r>
                    </a:p>
                  </a:txBody>
                  <a:tcPr marT="45695" marB="45695">
                    <a:lnL w="9525"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l" eaLnBrk="1" latinLnBrk="1" hangingPunct="1">
                        <a:spcAft>
                          <a:spcPct val="20000"/>
                        </a:spcAft>
                        <a:buFontTx/>
                        <a:buNone/>
                      </a:pPr>
                      <a:r>
                        <a:rPr lang="zh-CN" altLang="en-US" sz="1600" b="0">
                          <a:solidFill>
                            <a:srgbClr val="000000"/>
                          </a:solidFill>
                          <a:ea typeface="黑体" pitchFamily="49" charset="-122"/>
                        </a:rPr>
                        <a:t>电话通信、调制解调器、模拟数据通信等。如</a:t>
                      </a:r>
                      <a:r>
                        <a:rPr lang="en-US" altLang="zh-CN" sz="1600" b="0">
                          <a:solidFill>
                            <a:srgbClr val="000000"/>
                          </a:solidFill>
                          <a:ea typeface="黑体" pitchFamily="49" charset="-122"/>
                        </a:rPr>
                        <a:t>V.92 Modem</a:t>
                      </a:r>
                      <a:r>
                        <a:rPr lang="zh-CN" altLang="en-US" sz="1600" b="0">
                          <a:solidFill>
                            <a:srgbClr val="000000"/>
                          </a:solidFill>
                          <a:ea typeface="黑体" pitchFamily="49" charset="-122"/>
                        </a:rPr>
                        <a:t>通信标准</a:t>
                      </a:r>
                    </a:p>
                  </a:txBody>
                  <a:tcPr marT="45695" marB="45695">
                    <a:lnL w="12700" cap="flat" cmpd="sng">
                      <a:solidFill>
                        <a:srgbClr val="000000">
                          <a:alpha val="100000"/>
                        </a:srgbClr>
                      </a:solidFill>
                      <a:prstDash val="solid"/>
                      <a:round/>
                    </a:lnL>
                    <a:lnR w="9525"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9"/>
                  </a:ext>
                </a:extLst>
              </a:tr>
              <a:tr h="353208">
                <a:tc>
                  <a:txBody>
                    <a:bodyPr/>
                    <a:lstStyle/>
                    <a:p>
                      <a:pPr lvl="0" algn="ctr" eaLnBrk="1" latinLnBrk="1" hangingPunct="1">
                        <a:spcAft>
                          <a:spcPct val="20000"/>
                        </a:spcAft>
                        <a:buFontTx/>
                        <a:buNone/>
                      </a:pPr>
                      <a:r>
                        <a:rPr lang="en-US" altLang="zh-CN" sz="1600" b="0">
                          <a:solidFill>
                            <a:srgbClr val="000000"/>
                          </a:solidFill>
                          <a:ea typeface="黑体" pitchFamily="49" charset="-122"/>
                        </a:rPr>
                        <a:t>X</a:t>
                      </a:r>
                      <a:r>
                        <a:rPr lang="zh-CN" altLang="en-US" sz="1600" b="0">
                          <a:solidFill>
                            <a:srgbClr val="000000"/>
                          </a:solidFill>
                          <a:ea typeface="黑体" pitchFamily="49" charset="-122"/>
                        </a:rPr>
                        <a:t>系列建议</a:t>
                      </a:r>
                    </a:p>
                  </a:txBody>
                  <a:tcPr marT="45695" marB="45695">
                    <a:lnL w="9525"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l" eaLnBrk="1" latinLnBrk="1" hangingPunct="1">
                        <a:spcAft>
                          <a:spcPct val="20000"/>
                        </a:spcAft>
                        <a:buFontTx/>
                        <a:buNone/>
                      </a:pPr>
                      <a:r>
                        <a:rPr lang="zh-CN" altLang="en-US" sz="1600" b="0">
                          <a:solidFill>
                            <a:srgbClr val="000000"/>
                          </a:solidFill>
                          <a:ea typeface="黑体" pitchFamily="49" charset="-122"/>
                        </a:rPr>
                        <a:t>通过公网进行数据传输。如</a:t>
                      </a:r>
                      <a:r>
                        <a:rPr lang="en-US" altLang="zh-CN" sz="1600" b="0">
                          <a:solidFill>
                            <a:srgbClr val="000000"/>
                          </a:solidFill>
                          <a:ea typeface="黑体" pitchFamily="49" charset="-122"/>
                        </a:rPr>
                        <a:t>X.25</a:t>
                      </a:r>
                      <a:r>
                        <a:rPr lang="zh-CN" altLang="en-US" sz="1600" b="0">
                          <a:solidFill>
                            <a:srgbClr val="000000"/>
                          </a:solidFill>
                          <a:ea typeface="黑体" pitchFamily="49" charset="-122"/>
                        </a:rPr>
                        <a:t>分组交换网，</a:t>
                      </a:r>
                      <a:r>
                        <a:rPr lang="en-US" altLang="zh-CN" sz="1600" b="0">
                          <a:solidFill>
                            <a:srgbClr val="000000"/>
                          </a:solidFill>
                          <a:ea typeface="黑体" pitchFamily="49" charset="-122"/>
                        </a:rPr>
                        <a:t>X.61</a:t>
                      </a:r>
                      <a:r>
                        <a:rPr lang="zh-CN" altLang="en-US" sz="1600" b="0">
                          <a:solidFill>
                            <a:srgbClr val="000000"/>
                          </a:solidFill>
                          <a:ea typeface="黑体" pitchFamily="49" charset="-122"/>
                        </a:rPr>
                        <a:t>定义的</a:t>
                      </a:r>
                      <a:r>
                        <a:rPr lang="en-US" altLang="zh-CN" sz="1600" b="0">
                          <a:solidFill>
                            <a:srgbClr val="000000"/>
                          </a:solidFill>
                          <a:ea typeface="黑体" pitchFamily="49" charset="-122"/>
                        </a:rPr>
                        <a:t>7</a:t>
                      </a:r>
                      <a:r>
                        <a:rPr lang="zh-CN" altLang="en-US" sz="1600" b="0">
                          <a:solidFill>
                            <a:srgbClr val="000000"/>
                          </a:solidFill>
                          <a:ea typeface="黑体" pitchFamily="49" charset="-122"/>
                        </a:rPr>
                        <a:t>号信令标准</a:t>
                      </a:r>
                    </a:p>
                  </a:txBody>
                  <a:tcPr marT="45695" marB="45695">
                    <a:lnL w="12700" cap="flat" cmpd="sng">
                      <a:solidFill>
                        <a:srgbClr val="000000">
                          <a:alpha val="100000"/>
                        </a:srgbClr>
                      </a:solidFill>
                      <a:prstDash val="solid"/>
                      <a:round/>
                    </a:lnL>
                    <a:lnR w="9525"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10"/>
                  </a:ext>
                </a:extLst>
              </a:tr>
              <a:tr h="353208">
                <a:tc>
                  <a:txBody>
                    <a:bodyPr/>
                    <a:lstStyle/>
                    <a:p>
                      <a:pPr lvl="0" algn="ctr" eaLnBrk="1" latinLnBrk="1" hangingPunct="1">
                        <a:spcAft>
                          <a:spcPct val="20000"/>
                        </a:spcAft>
                        <a:buFontTx/>
                        <a:buNone/>
                      </a:pPr>
                      <a:r>
                        <a:rPr lang="en-US" altLang="zh-CN" sz="1600" b="1">
                          <a:solidFill>
                            <a:srgbClr val="FF0000"/>
                          </a:solidFill>
                          <a:ea typeface="黑体" pitchFamily="49" charset="-122"/>
                        </a:rPr>
                        <a:t>Y</a:t>
                      </a:r>
                      <a:r>
                        <a:rPr lang="zh-CN" altLang="en-US" sz="1600" b="1">
                          <a:solidFill>
                            <a:srgbClr val="FF0000"/>
                          </a:solidFill>
                          <a:ea typeface="黑体" pitchFamily="49" charset="-122"/>
                        </a:rPr>
                        <a:t>系列建议</a:t>
                      </a:r>
                    </a:p>
                  </a:txBody>
                  <a:tcPr marT="45695" marB="45695">
                    <a:lnL w="9525"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l" eaLnBrk="1" latinLnBrk="1" hangingPunct="1">
                        <a:spcAft>
                          <a:spcPct val="20000"/>
                        </a:spcAft>
                        <a:buFontTx/>
                        <a:buNone/>
                      </a:pPr>
                      <a:r>
                        <a:rPr lang="en-US" altLang="zh-CN" sz="1600" b="0" dirty="0">
                          <a:solidFill>
                            <a:srgbClr val="000000"/>
                          </a:solidFill>
                          <a:ea typeface="黑体" pitchFamily="49" charset="-122"/>
                        </a:rPr>
                        <a:t>IP</a:t>
                      </a:r>
                      <a:r>
                        <a:rPr lang="zh-CN" altLang="en-US" sz="1600" b="0" dirty="0">
                          <a:solidFill>
                            <a:srgbClr val="000000"/>
                          </a:solidFill>
                          <a:ea typeface="黑体" pitchFamily="49" charset="-122"/>
                        </a:rPr>
                        <a:t>网络规范。如</a:t>
                      </a:r>
                      <a:r>
                        <a:rPr lang="en-US" altLang="zh-CN" sz="1600" b="0" dirty="0">
                          <a:solidFill>
                            <a:srgbClr val="000000"/>
                          </a:solidFill>
                          <a:ea typeface="黑体" pitchFamily="49" charset="-122"/>
                        </a:rPr>
                        <a:t>Y.1231</a:t>
                      </a:r>
                      <a:r>
                        <a:rPr lang="zh-CN" altLang="en-US" sz="1600" b="0" dirty="0">
                          <a:solidFill>
                            <a:srgbClr val="000000"/>
                          </a:solidFill>
                          <a:ea typeface="黑体" pitchFamily="49" charset="-122"/>
                        </a:rPr>
                        <a:t>定义的</a:t>
                      </a:r>
                      <a:r>
                        <a:rPr lang="en-US" altLang="zh-CN" sz="1600" b="0" dirty="0">
                          <a:solidFill>
                            <a:srgbClr val="000000"/>
                          </a:solidFill>
                          <a:ea typeface="黑体" pitchFamily="49" charset="-122"/>
                        </a:rPr>
                        <a:t>IP</a:t>
                      </a:r>
                      <a:r>
                        <a:rPr lang="zh-CN" altLang="en-US" sz="1600" b="0" dirty="0">
                          <a:solidFill>
                            <a:srgbClr val="000000"/>
                          </a:solidFill>
                          <a:ea typeface="黑体" pitchFamily="49" charset="-122"/>
                        </a:rPr>
                        <a:t>接入网结构</a:t>
                      </a:r>
                    </a:p>
                  </a:txBody>
                  <a:tcPr marT="45695" marB="45695">
                    <a:lnL w="12700" cap="flat" cmpd="sng">
                      <a:solidFill>
                        <a:srgbClr val="000000">
                          <a:alpha val="100000"/>
                        </a:srgbClr>
                      </a:solidFill>
                      <a:prstDash val="solid"/>
                      <a:round/>
                    </a:lnL>
                    <a:lnR w="9525"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11"/>
                  </a:ext>
                </a:extLst>
              </a:tr>
            </a:tbl>
          </a:graphicData>
        </a:graphic>
      </p:graphicFrame>
    </p:spTree>
  </p:cSld>
  <p:clrMapOvr>
    <a:masterClrMapping/>
  </p:clrMapOvr>
  <p:transition spd="slow">
    <p:zoom/>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06" name="Rectangle 3"/>
          <p:cNvSpPr>
            <a:spLocks noGrp="1"/>
          </p:cNvSpPr>
          <p:nvPr>
            <p:ph idx="1"/>
          </p:nvPr>
        </p:nvSpPr>
        <p:spPr>
          <a:xfrm>
            <a:off x="479376" y="908720"/>
            <a:ext cx="10515600" cy="4351338"/>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buFontTx/>
              <a:buNone/>
            </a:pPr>
            <a:r>
              <a:rPr lang="en-US" altLang="zh-CN" sz="3200" dirty="0">
                <a:solidFill>
                  <a:schemeClr val="tx1"/>
                </a:solidFill>
                <a:effectLst>
                  <a:outerShdw blurRad="38100" dist="38100" dir="2700000" algn="tl">
                    <a:srgbClr val="C0C0C0"/>
                  </a:outerShdw>
                </a:effectLst>
              </a:rPr>
              <a:t>1.2.3  </a:t>
            </a:r>
            <a:r>
              <a:rPr lang="zh-CN" altLang="en-US" sz="3200" dirty="0">
                <a:solidFill>
                  <a:schemeClr val="tx1"/>
                </a:solidFill>
                <a:effectLst>
                  <a:outerShdw blurRad="38100" dist="38100" dir="2700000" algn="tl">
                    <a:srgbClr val="C0C0C0"/>
                  </a:outerShdw>
                </a:effectLst>
              </a:rPr>
              <a:t>局域网标准</a:t>
            </a:r>
            <a:r>
              <a:rPr lang="en-US" altLang="zh-CN" sz="3200" dirty="0">
                <a:solidFill>
                  <a:schemeClr val="tx1"/>
                </a:solidFill>
                <a:effectLst>
                  <a:outerShdw blurRad="38100" dist="38100" dir="2700000" algn="tl">
                    <a:srgbClr val="C0C0C0"/>
                  </a:outerShdw>
                </a:effectLst>
              </a:rPr>
              <a:t>IEEE</a:t>
            </a:r>
          </a:p>
          <a:p>
            <a:pPr lvl="0" eaLnBrk="1" latinLnBrk="1" hangingPunct="1"/>
            <a:r>
              <a:rPr lang="en-US" altLang="zh-CN" b="0" dirty="0">
                <a:solidFill>
                  <a:schemeClr val="tx1"/>
                </a:solidFill>
              </a:rPr>
              <a:t>IEEE</a:t>
            </a:r>
            <a:r>
              <a:rPr lang="zh-CN" altLang="en-US" b="0" dirty="0">
                <a:solidFill>
                  <a:schemeClr val="tx1"/>
                </a:solidFill>
              </a:rPr>
              <a:t>是世界上最大的专业性学会</a:t>
            </a:r>
          </a:p>
          <a:p>
            <a:pPr lvl="0" eaLnBrk="1" latinLnBrk="1" hangingPunct="1"/>
            <a:r>
              <a:rPr lang="en-US" altLang="zh-CN" b="0" dirty="0">
                <a:solidFill>
                  <a:schemeClr val="tx1"/>
                </a:solidFill>
              </a:rPr>
              <a:t>IEEE</a:t>
            </a:r>
            <a:r>
              <a:rPr lang="zh-CN" altLang="en-US" b="0" dirty="0">
                <a:solidFill>
                  <a:schemeClr val="tx1"/>
                </a:solidFill>
              </a:rPr>
              <a:t>在</a:t>
            </a:r>
            <a:r>
              <a:rPr lang="en-US" altLang="zh-CN" b="0" dirty="0">
                <a:solidFill>
                  <a:schemeClr val="tx1"/>
                </a:solidFill>
              </a:rPr>
              <a:t>20</a:t>
            </a:r>
            <a:r>
              <a:rPr lang="zh-CN" altLang="en-US" b="0" dirty="0">
                <a:solidFill>
                  <a:schemeClr val="tx1"/>
                </a:solidFill>
              </a:rPr>
              <a:t>世纪</a:t>
            </a:r>
            <a:r>
              <a:rPr lang="en-US" altLang="zh-CN" b="0" dirty="0">
                <a:solidFill>
                  <a:schemeClr val="tx1"/>
                </a:solidFill>
              </a:rPr>
              <a:t>80</a:t>
            </a:r>
            <a:r>
              <a:rPr lang="zh-CN" altLang="en-US" b="0" dirty="0">
                <a:solidFill>
                  <a:schemeClr val="tx1"/>
                </a:solidFill>
              </a:rPr>
              <a:t>年代开始制定以太网标准</a:t>
            </a:r>
          </a:p>
          <a:p>
            <a:pPr lvl="0" eaLnBrk="1" latinLnBrk="1" hangingPunct="1"/>
            <a:endParaRPr lang="zh-CN" altLang="en-US" b="0" dirty="0">
              <a:solidFill>
                <a:schemeClr val="tx1"/>
              </a:solidFill>
            </a:endParaRPr>
          </a:p>
          <a:p>
            <a:pPr lvl="0" eaLnBrk="1" latinLnBrk="1" hangingPunct="1"/>
            <a:r>
              <a:rPr lang="zh-CN" altLang="en-US" b="0" dirty="0">
                <a:solidFill>
                  <a:schemeClr val="tx1"/>
                </a:solidFill>
              </a:rPr>
              <a:t>以太网特点：</a:t>
            </a:r>
          </a:p>
          <a:p>
            <a:pPr lvl="1" eaLnBrk="1" latinLnBrk="1" hangingPunct="1"/>
            <a:r>
              <a:rPr lang="zh-CN" altLang="en-US" dirty="0">
                <a:solidFill>
                  <a:srgbClr val="FF0000"/>
                </a:solidFill>
              </a:rPr>
              <a:t>结构简单；</a:t>
            </a:r>
          </a:p>
          <a:p>
            <a:pPr lvl="1" eaLnBrk="1" latinLnBrk="1" hangingPunct="1"/>
            <a:r>
              <a:rPr lang="zh-CN" altLang="en-US" dirty="0">
                <a:solidFill>
                  <a:srgbClr val="FF0000"/>
                </a:solidFill>
              </a:rPr>
              <a:t>成本低廉；</a:t>
            </a:r>
          </a:p>
          <a:p>
            <a:pPr lvl="1" eaLnBrk="1" latinLnBrk="1" hangingPunct="1"/>
            <a:r>
              <a:rPr lang="zh-CN" altLang="en-US" dirty="0">
                <a:solidFill>
                  <a:srgbClr val="FF0000"/>
                </a:solidFill>
              </a:rPr>
              <a:t>易于扩展；</a:t>
            </a:r>
          </a:p>
          <a:p>
            <a:pPr lvl="1" eaLnBrk="1" latinLnBrk="1" hangingPunct="1"/>
            <a:r>
              <a:rPr lang="zh-CN" altLang="en-US" dirty="0">
                <a:solidFill>
                  <a:srgbClr val="FF0000"/>
                </a:solidFill>
              </a:rPr>
              <a:t>兼容性好等。</a:t>
            </a:r>
          </a:p>
        </p:txBody>
      </p:sp>
      <p:sp>
        <p:nvSpPr>
          <p:cNvPr id="1049205" name="Rectangle 2"/>
          <p:cNvSpPr>
            <a:spLocks noGrp="1"/>
          </p:cNvSpPr>
          <p:nvPr>
            <p:ph type="title"/>
          </p:nvPr>
        </p:nvSpPr>
        <p:spPr>
          <a:xfrm>
            <a:off x="0" y="141874"/>
            <a:ext cx="10515600" cy="565945"/>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1.2  </a:t>
            </a:r>
            <a:r>
              <a:rPr lang="zh-CN" altLang="en-US" dirty="0">
                <a:solidFill>
                  <a:schemeClr val="bg1"/>
                </a:solidFill>
              </a:rPr>
              <a:t>网络工程设计规范</a:t>
            </a:r>
          </a:p>
        </p:txBody>
      </p:sp>
      <p:pic>
        <p:nvPicPr>
          <p:cNvPr id="2097179" name="图片 2"/>
          <p:cNvPicPr>
            <a:picLocks/>
          </p:cNvPicPr>
          <p:nvPr/>
        </p:nvPicPr>
        <p:blipFill>
          <a:blip r:embed="rId5"/>
          <a:srcRect/>
          <a:stretch>
            <a:fillRect/>
          </a:stretch>
        </p:blipFill>
        <p:spPr>
          <a:xfrm>
            <a:off x="6383338" y="4221163"/>
            <a:ext cx="3730625" cy="1368425"/>
          </a:xfrm>
          <a:prstGeom prst="rect">
            <a:avLst/>
          </a:prstGeom>
          <a:noFill/>
          <a:ln>
            <a:noFill/>
          </a:ln>
        </p:spPr>
      </p:pic>
    </p:spTree>
  </p:cSld>
  <p:clrMapOvr>
    <a:masterClrMapping/>
  </p:clrMapOvr>
  <p:transition spd="slow">
    <p:zoom/>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11" name="Rectangle 3"/>
          <p:cNvSpPr>
            <a:spLocks noGrp="1"/>
          </p:cNvSpPr>
          <p:nvPr>
            <p:ph type="body" sz="half" idx="4294967295"/>
          </p:nvPr>
        </p:nvSpPr>
        <p:spPr>
          <a:xfrm>
            <a:off x="335360" y="841190"/>
            <a:ext cx="9289032" cy="472628"/>
          </a:xfrm>
          <a:prstGeom prst="rect">
            <a:avLst/>
          </a:prstGeom>
          <a:noFill/>
          <a:ln>
            <a:noFill/>
          </a:ln>
        </p:spPr>
        <p:txBody>
          <a:bodyPr vert="horz" lIns="91440" tIns="45720" rIns="91440" bIns="45720" anchor="t">
            <a:normAutofit lnSpcReduction="10000"/>
          </a:bodyPr>
          <a:lstStyle>
            <a:lvl1pPr marL="342900" indent="-342900">
              <a:lnSpc>
                <a:spcPct val="90000"/>
              </a:lnSpc>
              <a:spcBef>
                <a:spcPct val="0"/>
              </a:spcBef>
              <a:spcAft>
                <a:spcPct val="20000"/>
              </a:spcAft>
              <a:buBlip>
                <a:blip r:embed="rId2"/>
              </a:buBlip>
              <a:defRPr sz="2400">
                <a:solidFill>
                  <a:srgbClr val="0000FF"/>
                </a:solidFill>
              </a:defRPr>
            </a:lvl1pPr>
            <a:lvl2pPr marL="742950" indent="-285750">
              <a:lnSpc>
                <a:spcPct val="90000"/>
              </a:lnSpc>
              <a:spcBef>
                <a:spcPct val="0"/>
              </a:spcBef>
              <a:spcAft>
                <a:spcPct val="20000"/>
              </a:spcAft>
              <a:buBlip>
                <a:blip r:embed="rId3"/>
              </a:buBlip>
              <a:defRPr sz="2400">
                <a:solidFill>
                  <a:srgbClr val="000099"/>
                </a:solidFill>
              </a:defRPr>
            </a:lvl2pPr>
            <a:lvl3pPr marL="1143000" indent="-228600">
              <a:lnSpc>
                <a:spcPct val="90000"/>
              </a:lnSpc>
              <a:spcBef>
                <a:spcPct val="0"/>
              </a:spcBef>
              <a:spcAft>
                <a:spcPct val="20000"/>
              </a:spcAft>
              <a:buBlip>
                <a:blip r:embed="rId4"/>
              </a:buBlip>
              <a:defRPr sz="2000">
                <a:solidFill>
                  <a:srgbClr val="008000"/>
                </a:solidFill>
              </a:defRPr>
            </a:lvl3pPr>
            <a:lvl4pPr marL="1600200" indent="-228600">
              <a:lnSpc>
                <a:spcPct val="90000"/>
              </a:lnSpc>
              <a:spcBef>
                <a:spcPct val="0"/>
              </a:spcBef>
              <a:spcAft>
                <a:spcPct val="20000"/>
              </a:spcAft>
              <a:buBlip>
                <a:blip r:embed="rId4"/>
              </a:buBlip>
              <a:defRPr sz="1800">
                <a:solidFill>
                  <a:srgbClr val="800000"/>
                </a:solidFill>
              </a:defRPr>
            </a:lvl4pPr>
            <a:lvl5pPr marL="2057400" indent="-228600">
              <a:lnSpc>
                <a:spcPct val="90000"/>
              </a:lnSpc>
              <a:spcBef>
                <a:spcPct val="0"/>
              </a:spcBef>
              <a:spcAft>
                <a:spcPct val="20000"/>
              </a:spcAft>
              <a:buBlip>
                <a:blip r:embed="rId4"/>
              </a:buBlip>
              <a:defRPr sz="1800">
                <a:solidFill>
                  <a:srgbClr val="003399"/>
                </a:solidFill>
              </a:defRPr>
            </a:lvl5pPr>
          </a:lstStyle>
          <a:p>
            <a:pPr lvl="0" eaLnBrk="1" latinLnBrk="1" hangingPunct="1"/>
            <a:r>
              <a:rPr lang="zh-CN" altLang="en-US" sz="2800" dirty="0">
                <a:solidFill>
                  <a:srgbClr val="000099"/>
                </a:solidFill>
              </a:rPr>
              <a:t>网络工程常用</a:t>
            </a:r>
            <a:r>
              <a:rPr lang="en-US" altLang="zh-CN" sz="2800" dirty="0">
                <a:solidFill>
                  <a:srgbClr val="000099"/>
                </a:solidFill>
              </a:rPr>
              <a:t>IEEE802</a:t>
            </a:r>
            <a:r>
              <a:rPr lang="zh-CN" altLang="en-US" sz="2800" dirty="0">
                <a:solidFill>
                  <a:srgbClr val="000099"/>
                </a:solidFill>
              </a:rPr>
              <a:t>系列标准</a:t>
            </a:r>
          </a:p>
        </p:txBody>
      </p:sp>
      <p:sp>
        <p:nvSpPr>
          <p:cNvPr id="1049210" name="Rectangle 2"/>
          <p:cNvSpPr>
            <a:spLocks noGrp="1"/>
          </p:cNvSpPr>
          <p:nvPr>
            <p:ph type="title"/>
          </p:nvPr>
        </p:nvSpPr>
        <p:spPr>
          <a:xfrm>
            <a:off x="47328" y="152400"/>
            <a:ext cx="8640233" cy="57626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1.2  </a:t>
            </a:r>
            <a:r>
              <a:rPr lang="zh-CN" altLang="en-US" dirty="0">
                <a:solidFill>
                  <a:schemeClr val="bg1"/>
                </a:solidFill>
              </a:rPr>
              <a:t>网络工程设计规范</a:t>
            </a:r>
          </a:p>
        </p:txBody>
      </p:sp>
      <p:graphicFrame>
        <p:nvGraphicFramePr>
          <p:cNvPr id="4194311" name="表格 4194310"/>
          <p:cNvGraphicFramePr>
            <a:graphicFrameLocks/>
          </p:cNvGraphicFramePr>
          <p:nvPr/>
        </p:nvGraphicFramePr>
        <p:xfrm>
          <a:off x="1992312" y="1882775"/>
          <a:ext cx="8602660" cy="3661408"/>
        </p:xfrm>
        <a:graphic>
          <a:graphicData uri="http://schemas.openxmlformats.org/drawingml/2006/table">
            <a:tbl>
              <a:tblPr/>
              <a:tblGrid>
                <a:gridCol w="1922462">
                  <a:extLst>
                    <a:ext uri="{9D8B030D-6E8A-4147-A177-3AD203B41FA5}">
                      <a16:colId xmlns:a16="http://schemas.microsoft.com/office/drawing/2014/main" val="20000"/>
                    </a:ext>
                  </a:extLst>
                </a:gridCol>
                <a:gridCol w="4629149">
                  <a:extLst>
                    <a:ext uri="{9D8B030D-6E8A-4147-A177-3AD203B41FA5}">
                      <a16:colId xmlns:a16="http://schemas.microsoft.com/office/drawing/2014/main" val="20001"/>
                    </a:ext>
                  </a:extLst>
                </a:gridCol>
                <a:gridCol w="2051049">
                  <a:extLst>
                    <a:ext uri="{9D8B030D-6E8A-4147-A177-3AD203B41FA5}">
                      <a16:colId xmlns:a16="http://schemas.microsoft.com/office/drawing/2014/main" val="20002"/>
                    </a:ext>
                  </a:extLst>
                </a:gridCol>
              </a:tblGrid>
              <a:tr h="365125">
                <a:tc>
                  <a:txBody>
                    <a:bodyPr/>
                    <a:lstStyle/>
                    <a:p>
                      <a:pPr lvl="0" algn="ctr" eaLnBrk="1" latinLnBrk="1" hangingPunct="1">
                        <a:spcAft>
                          <a:spcPct val="20000"/>
                        </a:spcAft>
                        <a:buFontTx/>
                        <a:buNone/>
                      </a:pPr>
                      <a:r>
                        <a:rPr lang="zh-CN" altLang="en-US" sz="1800" b="0">
                          <a:solidFill>
                            <a:srgbClr val="000000"/>
                          </a:solidFill>
                          <a:effectLst>
                            <a:outerShdw blurRad="38100" dist="38100" dir="2700000" algn="tl">
                              <a:srgbClr val="C0C0C0"/>
                            </a:outerShdw>
                          </a:effectLst>
                          <a:latin typeface="黑体" pitchFamily="49" charset="-122"/>
                          <a:ea typeface="黑体" pitchFamily="49" charset="-122"/>
                        </a:rPr>
                        <a:t>标 准 名 称</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solidFill>
                      <a:srgbClr val="FFCCFF"/>
                    </a:solidFill>
                  </a:tcPr>
                </a:tc>
                <a:tc>
                  <a:txBody>
                    <a:bodyPr/>
                    <a:lstStyle/>
                    <a:p>
                      <a:pPr lvl="0" algn="ctr" eaLnBrk="1" latinLnBrk="1" hangingPunct="1">
                        <a:spcAft>
                          <a:spcPct val="20000"/>
                        </a:spcAft>
                        <a:buFontTx/>
                        <a:buNone/>
                      </a:pPr>
                      <a:r>
                        <a:rPr lang="zh-CN" altLang="en-US" sz="1800" b="0">
                          <a:solidFill>
                            <a:srgbClr val="000000"/>
                          </a:solidFill>
                          <a:effectLst>
                            <a:outerShdw blurRad="38100" dist="38100" dir="2700000" algn="tl">
                              <a:srgbClr val="C0C0C0"/>
                            </a:outerShdw>
                          </a:effectLst>
                          <a:latin typeface="黑体" pitchFamily="49" charset="-122"/>
                          <a:ea typeface="黑体" pitchFamily="49" charset="-122"/>
                        </a:rPr>
                        <a:t>标 准 内 容</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solidFill>
                      <a:srgbClr val="FFCCFF"/>
                    </a:solidFill>
                  </a:tcPr>
                </a:tc>
                <a:tc>
                  <a:txBody>
                    <a:bodyPr/>
                    <a:lstStyle/>
                    <a:p>
                      <a:pPr lvl="0" algn="ctr" eaLnBrk="1" latinLnBrk="1" hangingPunct="1">
                        <a:spcAft>
                          <a:spcPct val="20000"/>
                        </a:spcAft>
                        <a:buFontTx/>
                        <a:buNone/>
                      </a:pPr>
                      <a:r>
                        <a:rPr lang="zh-CN" altLang="en-US" sz="1800" b="0">
                          <a:solidFill>
                            <a:srgbClr val="000000"/>
                          </a:solidFill>
                          <a:effectLst>
                            <a:outerShdw blurRad="38100" dist="38100" dir="2700000" algn="tl">
                              <a:srgbClr val="C0C0C0"/>
                            </a:outerShdw>
                          </a:effectLst>
                          <a:latin typeface="黑体" pitchFamily="49" charset="-122"/>
                          <a:ea typeface="黑体" pitchFamily="49" charset="-122"/>
                        </a:rPr>
                        <a:t>标 准 状 态</a:t>
                      </a:r>
                    </a:p>
                  </a:txBody>
                  <a:tcPr>
                    <a:lnL w="12700" cap="flat" cmpd="sng">
                      <a:solidFill>
                        <a:srgbClr val="000000">
                          <a:alpha val="100000"/>
                        </a:srgbClr>
                      </a:solidFill>
                      <a:prstDash val="solid"/>
                      <a:round/>
                    </a:lnL>
                    <a:lnR w="9525"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solidFill>
                      <a:srgbClr val="FFCCFF"/>
                    </a:solidFill>
                  </a:tcPr>
                </a:tc>
                <a:extLst>
                  <a:ext uri="{0D108BD9-81ED-4DB2-BD59-A6C34878D82A}">
                    <a16:rowId xmlns:a16="http://schemas.microsoft.com/office/drawing/2014/main" val="10000"/>
                  </a:ext>
                </a:extLst>
              </a:tr>
              <a:tr h="366712">
                <a:tc>
                  <a:txBody>
                    <a:bodyPr/>
                    <a:lstStyle/>
                    <a:p>
                      <a:pPr lvl="0" algn="ctr" eaLnBrk="1" latinLnBrk="1" hangingPunct="1">
                        <a:spcAft>
                          <a:spcPct val="20000"/>
                        </a:spcAft>
                        <a:buFontTx/>
                        <a:buNone/>
                      </a:pPr>
                      <a:r>
                        <a:rPr lang="en-US" altLang="zh-CN" sz="1800" b="1">
                          <a:solidFill>
                            <a:srgbClr val="FF0000"/>
                          </a:solidFill>
                          <a:ea typeface="黑体" pitchFamily="49" charset="-122"/>
                        </a:rPr>
                        <a:t>IEEE 802.1</a:t>
                      </a:r>
                    </a:p>
                  </a:txBody>
                  <a:tcPr>
                    <a:lnL w="9525"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l" eaLnBrk="1" latinLnBrk="1" hangingPunct="1">
                        <a:spcAft>
                          <a:spcPct val="20000"/>
                        </a:spcAft>
                        <a:buFontTx/>
                        <a:buNone/>
                      </a:pPr>
                      <a:r>
                        <a:rPr lang="zh-CN" altLang="en-US" sz="1800" b="1">
                          <a:solidFill>
                            <a:srgbClr val="FF0000"/>
                          </a:solidFill>
                          <a:ea typeface="黑体" pitchFamily="49" charset="-122"/>
                        </a:rPr>
                        <a:t>局域网总体介绍和体系结构</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ctr" eaLnBrk="1" latinLnBrk="1" hangingPunct="1">
                        <a:spcAft>
                          <a:spcPct val="20000"/>
                        </a:spcAft>
                        <a:buFontTx/>
                        <a:buNone/>
                      </a:pPr>
                      <a:r>
                        <a:rPr lang="zh-CN" altLang="en-US" sz="1800" b="0">
                          <a:solidFill>
                            <a:srgbClr val="000000"/>
                          </a:solidFill>
                          <a:ea typeface="黑体" pitchFamily="49" charset="-122"/>
                        </a:rPr>
                        <a:t>正常</a:t>
                      </a:r>
                    </a:p>
                  </a:txBody>
                  <a:tcPr>
                    <a:lnL w="12700" cap="flat" cmpd="sng">
                      <a:solidFill>
                        <a:srgbClr val="000000">
                          <a:alpha val="100000"/>
                        </a:srgbClr>
                      </a:solidFill>
                      <a:prstDash val="solid"/>
                      <a:round/>
                    </a:lnL>
                    <a:lnR w="9525"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1"/>
                  </a:ext>
                </a:extLst>
              </a:tr>
              <a:tr h="365125">
                <a:tc>
                  <a:txBody>
                    <a:bodyPr/>
                    <a:lstStyle/>
                    <a:p>
                      <a:pPr lvl="0" algn="ctr" eaLnBrk="1" latinLnBrk="1" hangingPunct="1">
                        <a:spcAft>
                          <a:spcPct val="20000"/>
                        </a:spcAft>
                        <a:buFontTx/>
                        <a:buNone/>
                      </a:pPr>
                      <a:r>
                        <a:rPr lang="en-US" altLang="zh-CN" sz="1800" b="1">
                          <a:solidFill>
                            <a:srgbClr val="FF0000"/>
                          </a:solidFill>
                          <a:ea typeface="黑体" pitchFamily="49" charset="-122"/>
                        </a:rPr>
                        <a:t>IEEE 802.3</a:t>
                      </a:r>
                    </a:p>
                  </a:txBody>
                  <a:tcPr>
                    <a:lnL w="9525"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l" eaLnBrk="1" latinLnBrk="1" hangingPunct="1">
                        <a:spcAft>
                          <a:spcPct val="20000"/>
                        </a:spcAft>
                        <a:buFontTx/>
                        <a:buNone/>
                      </a:pPr>
                      <a:r>
                        <a:rPr lang="zh-CN" altLang="en-US" sz="1800" b="1" dirty="0">
                          <a:solidFill>
                            <a:srgbClr val="FF0000"/>
                          </a:solidFill>
                          <a:ea typeface="黑体" pitchFamily="49" charset="-122"/>
                        </a:rPr>
                        <a:t>以太网系列规范</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ctr" eaLnBrk="1" latinLnBrk="1" hangingPunct="1">
                        <a:spcAft>
                          <a:spcPct val="20000"/>
                        </a:spcAft>
                        <a:buFontTx/>
                        <a:buNone/>
                      </a:pPr>
                      <a:r>
                        <a:rPr lang="zh-CN" altLang="en-US" sz="1800" b="0">
                          <a:solidFill>
                            <a:srgbClr val="000000"/>
                          </a:solidFill>
                          <a:ea typeface="黑体" pitchFamily="49" charset="-122"/>
                        </a:rPr>
                        <a:t>正常</a:t>
                      </a:r>
                    </a:p>
                  </a:txBody>
                  <a:tcPr>
                    <a:lnL w="12700" cap="flat" cmpd="sng">
                      <a:solidFill>
                        <a:srgbClr val="000000">
                          <a:alpha val="100000"/>
                        </a:srgbClr>
                      </a:solidFill>
                      <a:prstDash val="solid"/>
                      <a:round/>
                    </a:lnL>
                    <a:lnR w="9525"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2"/>
                  </a:ext>
                </a:extLst>
              </a:tr>
              <a:tr h="366712">
                <a:tc>
                  <a:txBody>
                    <a:bodyPr/>
                    <a:lstStyle/>
                    <a:p>
                      <a:pPr lvl="0" algn="ctr" eaLnBrk="1" latinLnBrk="1" hangingPunct="1">
                        <a:spcAft>
                          <a:spcPct val="20000"/>
                        </a:spcAft>
                        <a:buFontTx/>
                        <a:buNone/>
                      </a:pPr>
                      <a:r>
                        <a:rPr lang="en-US" altLang="zh-CN" sz="1800" b="1">
                          <a:solidFill>
                            <a:srgbClr val="FF0000"/>
                          </a:solidFill>
                          <a:ea typeface="黑体" pitchFamily="49" charset="-122"/>
                        </a:rPr>
                        <a:t>IEEE 802.11</a:t>
                      </a:r>
                    </a:p>
                  </a:txBody>
                  <a:tcPr>
                    <a:lnL w="9525"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l" eaLnBrk="1" latinLnBrk="1" hangingPunct="1">
                        <a:spcAft>
                          <a:spcPct val="20000"/>
                        </a:spcAft>
                        <a:buFontTx/>
                        <a:buNone/>
                      </a:pPr>
                      <a:r>
                        <a:rPr lang="en-US" altLang="zh-CN" sz="1800" b="1" dirty="0">
                          <a:solidFill>
                            <a:srgbClr val="FF0000"/>
                          </a:solidFill>
                          <a:ea typeface="黑体" pitchFamily="49" charset="-122"/>
                        </a:rPr>
                        <a:t>WLAN</a:t>
                      </a:r>
                      <a:r>
                        <a:rPr lang="zh-CN" altLang="en-US" sz="1800" b="1" dirty="0">
                          <a:solidFill>
                            <a:srgbClr val="FF0000"/>
                          </a:solidFill>
                          <a:ea typeface="黑体" pitchFamily="49" charset="-122"/>
                        </a:rPr>
                        <a:t>无线局域网规范</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ctr" eaLnBrk="1" latinLnBrk="1" hangingPunct="1">
                        <a:spcAft>
                          <a:spcPct val="20000"/>
                        </a:spcAft>
                        <a:buFontTx/>
                        <a:buNone/>
                      </a:pPr>
                      <a:r>
                        <a:rPr lang="zh-CN" altLang="en-US" sz="1800" b="0">
                          <a:solidFill>
                            <a:srgbClr val="000000"/>
                          </a:solidFill>
                          <a:ea typeface="黑体" pitchFamily="49" charset="-122"/>
                        </a:rPr>
                        <a:t>正常</a:t>
                      </a:r>
                    </a:p>
                  </a:txBody>
                  <a:tcPr>
                    <a:lnL w="12700" cap="flat" cmpd="sng">
                      <a:solidFill>
                        <a:srgbClr val="000000">
                          <a:alpha val="100000"/>
                        </a:srgbClr>
                      </a:solidFill>
                      <a:prstDash val="solid"/>
                      <a:round/>
                    </a:lnL>
                    <a:lnR w="9525"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3"/>
                  </a:ext>
                </a:extLst>
              </a:tr>
              <a:tr h="365125">
                <a:tc>
                  <a:txBody>
                    <a:bodyPr/>
                    <a:lstStyle/>
                    <a:p>
                      <a:pPr lvl="0" algn="ctr" eaLnBrk="1" latinLnBrk="1" hangingPunct="1">
                        <a:spcAft>
                          <a:spcPct val="20000"/>
                        </a:spcAft>
                        <a:buFontTx/>
                        <a:buNone/>
                      </a:pPr>
                      <a:r>
                        <a:rPr lang="en-US" altLang="zh-CN" sz="1800" b="0">
                          <a:solidFill>
                            <a:srgbClr val="000000"/>
                          </a:solidFill>
                          <a:ea typeface="黑体" pitchFamily="49" charset="-122"/>
                        </a:rPr>
                        <a:t>IEEE 802.15</a:t>
                      </a:r>
                    </a:p>
                  </a:txBody>
                  <a:tcPr>
                    <a:lnL w="9525"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l" eaLnBrk="1" latinLnBrk="1" hangingPunct="1">
                        <a:spcAft>
                          <a:spcPct val="20000"/>
                        </a:spcAft>
                        <a:buFontTx/>
                        <a:buNone/>
                      </a:pPr>
                      <a:r>
                        <a:rPr lang="zh-CN" altLang="en-US" sz="1800" b="0" dirty="0">
                          <a:solidFill>
                            <a:srgbClr val="000000"/>
                          </a:solidFill>
                          <a:ea typeface="黑体" pitchFamily="49" charset="-122"/>
                        </a:rPr>
                        <a:t>无线个人区域网络规范（蓝牙技术）</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ctr" eaLnBrk="1" latinLnBrk="1" hangingPunct="1">
                        <a:spcAft>
                          <a:spcPct val="20000"/>
                        </a:spcAft>
                        <a:buFontTx/>
                        <a:buNone/>
                      </a:pPr>
                      <a:r>
                        <a:rPr lang="zh-CN" altLang="en-US" sz="1800" b="0">
                          <a:solidFill>
                            <a:srgbClr val="000000"/>
                          </a:solidFill>
                          <a:ea typeface="黑体" pitchFamily="49" charset="-122"/>
                        </a:rPr>
                        <a:t>正常</a:t>
                      </a:r>
                    </a:p>
                  </a:txBody>
                  <a:tcPr>
                    <a:lnL w="12700" cap="flat" cmpd="sng">
                      <a:solidFill>
                        <a:srgbClr val="000000">
                          <a:alpha val="100000"/>
                        </a:srgbClr>
                      </a:solidFill>
                      <a:prstDash val="solid"/>
                      <a:round/>
                    </a:lnL>
                    <a:lnR w="9525"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4"/>
                  </a:ext>
                </a:extLst>
              </a:tr>
              <a:tr h="365125">
                <a:tc>
                  <a:txBody>
                    <a:bodyPr/>
                    <a:lstStyle/>
                    <a:p>
                      <a:pPr lvl="0" algn="ctr" eaLnBrk="1" latinLnBrk="1" hangingPunct="1">
                        <a:spcAft>
                          <a:spcPct val="20000"/>
                        </a:spcAft>
                        <a:buFontTx/>
                        <a:buNone/>
                      </a:pPr>
                      <a:r>
                        <a:rPr lang="en-US" altLang="zh-CN" sz="1800" b="0">
                          <a:solidFill>
                            <a:srgbClr val="000000"/>
                          </a:solidFill>
                          <a:ea typeface="黑体" pitchFamily="49" charset="-122"/>
                        </a:rPr>
                        <a:t>IEEE 802.16</a:t>
                      </a:r>
                    </a:p>
                  </a:txBody>
                  <a:tcPr>
                    <a:lnL w="9525"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l" eaLnBrk="1" latinLnBrk="1" hangingPunct="1">
                        <a:spcAft>
                          <a:spcPct val="20000"/>
                        </a:spcAft>
                        <a:buFontTx/>
                        <a:buNone/>
                      </a:pPr>
                      <a:r>
                        <a:rPr lang="zh-CN" altLang="en-US" sz="1800" b="0">
                          <a:solidFill>
                            <a:srgbClr val="000000"/>
                          </a:solidFill>
                          <a:ea typeface="黑体" pitchFamily="49" charset="-122"/>
                        </a:rPr>
                        <a:t>宽带无线网络规范（如</a:t>
                      </a:r>
                      <a:r>
                        <a:rPr lang="en-US" altLang="zh-CN" sz="1800" b="0">
                          <a:solidFill>
                            <a:srgbClr val="000000"/>
                          </a:solidFill>
                          <a:ea typeface="黑体" pitchFamily="49" charset="-122"/>
                        </a:rPr>
                        <a:t>LMDS</a:t>
                      </a:r>
                      <a:r>
                        <a:rPr lang="zh-CN" altLang="en-US" sz="1800" b="0">
                          <a:solidFill>
                            <a:srgbClr val="000000"/>
                          </a:solidFill>
                          <a:ea typeface="黑体" pitchFamily="49" charset="-122"/>
                        </a:rPr>
                        <a:t>等）</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ctr" eaLnBrk="1" latinLnBrk="1" hangingPunct="1">
                        <a:spcAft>
                          <a:spcPct val="20000"/>
                        </a:spcAft>
                        <a:buFontTx/>
                        <a:buNone/>
                      </a:pPr>
                      <a:r>
                        <a:rPr lang="zh-CN" altLang="en-US" sz="1800" b="0">
                          <a:solidFill>
                            <a:srgbClr val="000000"/>
                          </a:solidFill>
                          <a:ea typeface="黑体" pitchFamily="49" charset="-122"/>
                        </a:rPr>
                        <a:t>正常</a:t>
                      </a:r>
                    </a:p>
                  </a:txBody>
                  <a:tcPr>
                    <a:lnL w="12700" cap="flat" cmpd="sng">
                      <a:solidFill>
                        <a:srgbClr val="000000">
                          <a:alpha val="100000"/>
                        </a:srgbClr>
                      </a:solidFill>
                      <a:prstDash val="solid"/>
                      <a:round/>
                    </a:lnL>
                    <a:lnR w="9525"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5"/>
                  </a:ext>
                </a:extLst>
              </a:tr>
              <a:tr h="366712">
                <a:tc>
                  <a:txBody>
                    <a:bodyPr/>
                    <a:lstStyle/>
                    <a:p>
                      <a:pPr lvl="0" algn="ctr" eaLnBrk="1" latinLnBrk="1" hangingPunct="1">
                        <a:spcAft>
                          <a:spcPct val="20000"/>
                        </a:spcAft>
                        <a:buFontTx/>
                        <a:buNone/>
                      </a:pPr>
                      <a:r>
                        <a:rPr lang="en-US" altLang="zh-CN" sz="1800" b="0">
                          <a:solidFill>
                            <a:srgbClr val="000000"/>
                          </a:solidFill>
                          <a:ea typeface="黑体" pitchFamily="49" charset="-122"/>
                        </a:rPr>
                        <a:t>IEEE 802.17</a:t>
                      </a:r>
                    </a:p>
                  </a:txBody>
                  <a:tcPr>
                    <a:lnL w="9525"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l" eaLnBrk="1" latinLnBrk="1" hangingPunct="1">
                        <a:spcAft>
                          <a:spcPct val="20000"/>
                        </a:spcAft>
                        <a:buFontTx/>
                        <a:buNone/>
                      </a:pPr>
                      <a:r>
                        <a:rPr lang="en-US" altLang="zh-CN" sz="1800" b="0">
                          <a:solidFill>
                            <a:srgbClr val="000000"/>
                          </a:solidFill>
                          <a:ea typeface="黑体" pitchFamily="49" charset="-122"/>
                        </a:rPr>
                        <a:t>RPR</a:t>
                      </a:r>
                      <a:r>
                        <a:rPr lang="zh-CN" altLang="en-US" sz="1800" b="0">
                          <a:solidFill>
                            <a:srgbClr val="000000"/>
                          </a:solidFill>
                          <a:ea typeface="黑体" pitchFamily="49" charset="-122"/>
                        </a:rPr>
                        <a:t>弹性分组环规范</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ctr" eaLnBrk="1" latinLnBrk="1" hangingPunct="1">
                        <a:spcAft>
                          <a:spcPct val="20000"/>
                        </a:spcAft>
                        <a:buFontTx/>
                        <a:buNone/>
                      </a:pPr>
                      <a:r>
                        <a:rPr lang="zh-CN" altLang="en-US" sz="1800" b="0">
                          <a:solidFill>
                            <a:srgbClr val="000000"/>
                          </a:solidFill>
                          <a:ea typeface="黑体" pitchFamily="49" charset="-122"/>
                        </a:rPr>
                        <a:t>正常</a:t>
                      </a:r>
                    </a:p>
                  </a:txBody>
                  <a:tcPr>
                    <a:lnL w="12700" cap="flat" cmpd="sng">
                      <a:solidFill>
                        <a:srgbClr val="000000">
                          <a:alpha val="100000"/>
                        </a:srgbClr>
                      </a:solidFill>
                      <a:prstDash val="solid"/>
                      <a:round/>
                    </a:lnL>
                    <a:lnR w="9525"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6"/>
                  </a:ext>
                </a:extLst>
              </a:tr>
              <a:tr h="365125">
                <a:tc>
                  <a:txBody>
                    <a:bodyPr/>
                    <a:lstStyle/>
                    <a:p>
                      <a:pPr lvl="0" algn="ctr" eaLnBrk="1" latinLnBrk="1" hangingPunct="1">
                        <a:spcAft>
                          <a:spcPct val="20000"/>
                        </a:spcAft>
                        <a:buFontTx/>
                        <a:buNone/>
                      </a:pPr>
                      <a:r>
                        <a:rPr lang="en-US" altLang="zh-CN" sz="1800" b="0">
                          <a:solidFill>
                            <a:srgbClr val="000000"/>
                          </a:solidFill>
                          <a:ea typeface="黑体" pitchFamily="49" charset="-122"/>
                        </a:rPr>
                        <a:t>IEEE 802.18</a:t>
                      </a:r>
                    </a:p>
                  </a:txBody>
                  <a:tcPr>
                    <a:lnL w="9525"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l" eaLnBrk="1" latinLnBrk="1" hangingPunct="1">
                        <a:spcAft>
                          <a:spcPct val="20000"/>
                        </a:spcAft>
                        <a:buFontTx/>
                        <a:buNone/>
                      </a:pPr>
                      <a:r>
                        <a:rPr lang="zh-CN" altLang="en-US" sz="1800" b="0">
                          <a:solidFill>
                            <a:srgbClr val="000000"/>
                          </a:solidFill>
                          <a:ea typeface="黑体" pitchFamily="49" charset="-122"/>
                        </a:rPr>
                        <a:t>无线管制技术专家顾问组</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ctr" eaLnBrk="1" latinLnBrk="1" hangingPunct="1">
                        <a:spcAft>
                          <a:spcPct val="20000"/>
                        </a:spcAft>
                        <a:buFontTx/>
                        <a:buNone/>
                      </a:pPr>
                      <a:r>
                        <a:rPr lang="zh-CN" altLang="en-US" sz="1800" b="0">
                          <a:solidFill>
                            <a:srgbClr val="000000"/>
                          </a:solidFill>
                          <a:ea typeface="黑体" pitchFamily="49" charset="-122"/>
                        </a:rPr>
                        <a:t>正常</a:t>
                      </a:r>
                    </a:p>
                  </a:txBody>
                  <a:tcPr>
                    <a:lnL w="12700" cap="flat" cmpd="sng">
                      <a:solidFill>
                        <a:srgbClr val="000000">
                          <a:alpha val="100000"/>
                        </a:srgbClr>
                      </a:solidFill>
                      <a:prstDash val="solid"/>
                      <a:round/>
                    </a:lnL>
                    <a:lnR w="9525"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7"/>
                  </a:ext>
                </a:extLst>
              </a:tr>
              <a:tr h="366712">
                <a:tc>
                  <a:txBody>
                    <a:bodyPr/>
                    <a:lstStyle/>
                    <a:p>
                      <a:pPr lvl="0" algn="ctr" eaLnBrk="1" latinLnBrk="1" hangingPunct="1">
                        <a:spcAft>
                          <a:spcPct val="20000"/>
                        </a:spcAft>
                        <a:buFontTx/>
                        <a:buNone/>
                      </a:pPr>
                      <a:r>
                        <a:rPr lang="en-US" altLang="zh-CN" sz="1800" b="0">
                          <a:solidFill>
                            <a:srgbClr val="000000"/>
                          </a:solidFill>
                          <a:ea typeface="黑体" pitchFamily="49" charset="-122"/>
                        </a:rPr>
                        <a:t>IEEE 802.22</a:t>
                      </a:r>
                    </a:p>
                  </a:txBody>
                  <a:tcPr>
                    <a:lnL w="9525"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l" eaLnBrk="1" latinLnBrk="1" hangingPunct="1">
                        <a:spcAft>
                          <a:spcPct val="20000"/>
                        </a:spcAft>
                        <a:buFontTx/>
                        <a:buNone/>
                      </a:pPr>
                      <a:r>
                        <a:rPr lang="zh-CN" altLang="en-US" sz="1800" b="0">
                          <a:solidFill>
                            <a:srgbClr val="000000"/>
                          </a:solidFill>
                          <a:ea typeface="黑体" pitchFamily="49" charset="-122"/>
                        </a:rPr>
                        <a:t>固定无线区域网络规范（</a:t>
                      </a:r>
                      <a:r>
                        <a:rPr lang="en-US" altLang="zh-CN" sz="1800" b="0">
                          <a:solidFill>
                            <a:srgbClr val="000000"/>
                          </a:solidFill>
                          <a:ea typeface="黑体" pitchFamily="49" charset="-122"/>
                        </a:rPr>
                        <a:t>WRAN</a:t>
                      </a:r>
                      <a:r>
                        <a:rPr lang="zh-CN" altLang="en-US" sz="1800" b="0">
                          <a:solidFill>
                            <a:srgbClr val="000000"/>
                          </a:solidFill>
                          <a:ea typeface="黑体" pitchFamily="49" charset="-122"/>
                        </a:rPr>
                        <a:t>）</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ctr" eaLnBrk="1" latinLnBrk="1" hangingPunct="1">
                        <a:spcAft>
                          <a:spcPct val="20000"/>
                        </a:spcAft>
                        <a:buFontTx/>
                        <a:buNone/>
                      </a:pPr>
                      <a:r>
                        <a:rPr lang="zh-CN" altLang="en-US" sz="1800" b="0">
                          <a:solidFill>
                            <a:srgbClr val="000000"/>
                          </a:solidFill>
                          <a:ea typeface="黑体" pitchFamily="49" charset="-122"/>
                        </a:rPr>
                        <a:t>正常</a:t>
                      </a:r>
                    </a:p>
                  </a:txBody>
                  <a:tcPr>
                    <a:lnL w="12700" cap="flat" cmpd="sng">
                      <a:solidFill>
                        <a:srgbClr val="000000">
                          <a:alpha val="100000"/>
                        </a:srgbClr>
                      </a:solidFill>
                      <a:prstDash val="solid"/>
                      <a:round/>
                    </a:lnL>
                    <a:lnR w="9525"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8"/>
                  </a:ext>
                </a:extLst>
              </a:tr>
              <a:tr h="365125">
                <a:tc>
                  <a:txBody>
                    <a:bodyPr/>
                    <a:lstStyle/>
                    <a:p>
                      <a:pPr lvl="0" algn="ctr" eaLnBrk="1" latinLnBrk="1" hangingPunct="1">
                        <a:spcAft>
                          <a:spcPct val="20000"/>
                        </a:spcAft>
                        <a:buFontTx/>
                        <a:buNone/>
                      </a:pPr>
                      <a:r>
                        <a:rPr lang="en-US" altLang="zh-CN" sz="1800" b="0">
                          <a:solidFill>
                            <a:srgbClr val="000000"/>
                          </a:solidFill>
                          <a:ea typeface="黑体" pitchFamily="49" charset="-122"/>
                        </a:rPr>
                        <a:t>IEEE 1902</a:t>
                      </a:r>
                    </a:p>
                  </a:txBody>
                  <a:tcPr>
                    <a:lnL w="9525"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l" eaLnBrk="1" latinLnBrk="1" hangingPunct="1">
                        <a:spcAft>
                          <a:spcPct val="20000"/>
                        </a:spcAft>
                        <a:buFontTx/>
                        <a:buNone/>
                      </a:pPr>
                      <a:r>
                        <a:rPr lang="zh-CN" altLang="en-US" sz="1800" b="0">
                          <a:solidFill>
                            <a:srgbClr val="000000"/>
                          </a:solidFill>
                          <a:ea typeface="黑体" pitchFamily="49" charset="-122"/>
                        </a:rPr>
                        <a:t>长波长无线网络协议（物联网） </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ctr" eaLnBrk="1" latinLnBrk="1" hangingPunct="1">
                        <a:spcAft>
                          <a:spcPct val="20000"/>
                        </a:spcAft>
                        <a:buFontTx/>
                        <a:buNone/>
                      </a:pPr>
                      <a:r>
                        <a:rPr lang="zh-CN" altLang="en-US" sz="1800" b="0" dirty="0">
                          <a:solidFill>
                            <a:srgbClr val="000000"/>
                          </a:solidFill>
                          <a:ea typeface="黑体" pitchFamily="49" charset="-122"/>
                        </a:rPr>
                        <a:t>正常</a:t>
                      </a:r>
                    </a:p>
                  </a:txBody>
                  <a:tcPr>
                    <a:lnL w="12700" cap="flat" cmpd="sng">
                      <a:solidFill>
                        <a:srgbClr val="000000">
                          <a:alpha val="100000"/>
                        </a:srgbClr>
                      </a:solidFill>
                      <a:prstDash val="solid"/>
                      <a:round/>
                    </a:lnL>
                    <a:lnR w="9525"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9"/>
                  </a:ext>
                </a:extLst>
              </a:tr>
            </a:tbl>
          </a:graphicData>
        </a:graphic>
      </p:graphicFrame>
    </p:spTree>
  </p:cSld>
  <p:clrMapOvr>
    <a:masterClrMapping/>
  </p:clrMapOvr>
  <p:transition spd="slow">
    <p:zoom/>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62" name="Rectangle 3"/>
          <p:cNvSpPr>
            <a:spLocks noGrp="1"/>
          </p:cNvSpPr>
          <p:nvPr>
            <p:ph type="body" sz="half" idx="4294967295"/>
          </p:nvPr>
        </p:nvSpPr>
        <p:spPr>
          <a:xfrm>
            <a:off x="407368" y="903101"/>
            <a:ext cx="9361040" cy="437668"/>
          </a:xfrm>
          <a:prstGeom prst="rect">
            <a:avLst/>
          </a:prstGeom>
          <a:noFill/>
          <a:ln>
            <a:noFill/>
          </a:ln>
        </p:spPr>
        <p:txBody>
          <a:bodyPr vert="horz" lIns="91440" tIns="45720" rIns="91440" bIns="45720" anchor="t">
            <a:normAutofit fontScale="92500" lnSpcReduction="10000"/>
          </a:bodyPr>
          <a:lstStyle>
            <a:lvl1pPr marL="342900" indent="-342900">
              <a:lnSpc>
                <a:spcPct val="90000"/>
              </a:lnSpc>
              <a:spcBef>
                <a:spcPct val="0"/>
              </a:spcBef>
              <a:spcAft>
                <a:spcPct val="20000"/>
              </a:spcAft>
              <a:buBlip>
                <a:blip r:embed="rId2"/>
              </a:buBlip>
              <a:defRPr sz="2400">
                <a:solidFill>
                  <a:srgbClr val="0000FF"/>
                </a:solidFill>
              </a:defRPr>
            </a:lvl1pPr>
            <a:lvl2pPr marL="742950" indent="-285750">
              <a:lnSpc>
                <a:spcPct val="90000"/>
              </a:lnSpc>
              <a:spcBef>
                <a:spcPct val="0"/>
              </a:spcBef>
              <a:spcAft>
                <a:spcPct val="20000"/>
              </a:spcAft>
              <a:buBlip>
                <a:blip r:embed="rId3"/>
              </a:buBlip>
              <a:defRPr sz="2400">
                <a:solidFill>
                  <a:srgbClr val="000099"/>
                </a:solidFill>
              </a:defRPr>
            </a:lvl2pPr>
            <a:lvl3pPr marL="1143000" indent="-228600">
              <a:lnSpc>
                <a:spcPct val="90000"/>
              </a:lnSpc>
              <a:spcBef>
                <a:spcPct val="0"/>
              </a:spcBef>
              <a:spcAft>
                <a:spcPct val="20000"/>
              </a:spcAft>
              <a:buBlip>
                <a:blip r:embed="rId4"/>
              </a:buBlip>
              <a:defRPr sz="2000">
                <a:solidFill>
                  <a:srgbClr val="008000"/>
                </a:solidFill>
              </a:defRPr>
            </a:lvl3pPr>
            <a:lvl4pPr marL="1600200" indent="-228600">
              <a:lnSpc>
                <a:spcPct val="90000"/>
              </a:lnSpc>
              <a:spcBef>
                <a:spcPct val="0"/>
              </a:spcBef>
              <a:spcAft>
                <a:spcPct val="20000"/>
              </a:spcAft>
              <a:buBlip>
                <a:blip r:embed="rId4"/>
              </a:buBlip>
              <a:defRPr sz="1800">
                <a:solidFill>
                  <a:srgbClr val="800000"/>
                </a:solidFill>
              </a:defRPr>
            </a:lvl4pPr>
            <a:lvl5pPr marL="2057400" indent="-228600">
              <a:lnSpc>
                <a:spcPct val="90000"/>
              </a:lnSpc>
              <a:spcBef>
                <a:spcPct val="0"/>
              </a:spcBef>
              <a:spcAft>
                <a:spcPct val="20000"/>
              </a:spcAft>
              <a:buBlip>
                <a:blip r:embed="rId4"/>
              </a:buBlip>
              <a:defRPr sz="1800">
                <a:solidFill>
                  <a:srgbClr val="003399"/>
                </a:solidFill>
              </a:defRPr>
            </a:lvl5pPr>
          </a:lstStyle>
          <a:p>
            <a:pPr lvl="0" eaLnBrk="1" latinLnBrk="1" hangingPunct="1"/>
            <a:r>
              <a:rPr lang="en-US" altLang="zh-CN" sz="2800" dirty="0">
                <a:solidFill>
                  <a:srgbClr val="000099"/>
                </a:solidFill>
              </a:rPr>
              <a:t>[</a:t>
            </a:r>
            <a:r>
              <a:rPr lang="zh-CN" altLang="en-US" sz="2800" dirty="0">
                <a:solidFill>
                  <a:srgbClr val="000099"/>
                </a:solidFill>
              </a:rPr>
              <a:t>案例</a:t>
            </a:r>
            <a:r>
              <a:rPr lang="en-US" altLang="zh-CN" sz="2800" dirty="0">
                <a:solidFill>
                  <a:srgbClr val="000099"/>
                </a:solidFill>
              </a:rPr>
              <a:t>] </a:t>
            </a:r>
            <a:r>
              <a:rPr lang="zh-CN" altLang="en-US" sz="2800" dirty="0">
                <a:solidFill>
                  <a:srgbClr val="000099"/>
                </a:solidFill>
              </a:rPr>
              <a:t>各种业务融入到以太网中</a:t>
            </a:r>
          </a:p>
        </p:txBody>
      </p:sp>
      <p:sp>
        <p:nvSpPr>
          <p:cNvPr id="1049261" name="Rectangle 2"/>
          <p:cNvSpPr>
            <a:spLocks noGrp="1"/>
          </p:cNvSpPr>
          <p:nvPr>
            <p:ph type="title"/>
          </p:nvPr>
        </p:nvSpPr>
        <p:spPr>
          <a:xfrm>
            <a:off x="23800" y="137140"/>
            <a:ext cx="8640233" cy="57626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1.2  </a:t>
            </a:r>
            <a:r>
              <a:rPr lang="zh-CN" altLang="en-US" dirty="0">
                <a:solidFill>
                  <a:schemeClr val="bg1"/>
                </a:solidFill>
              </a:rPr>
              <a:t>网络工程设计规范</a:t>
            </a:r>
          </a:p>
        </p:txBody>
      </p:sp>
      <p:pic>
        <p:nvPicPr>
          <p:cNvPr id="2097180" name="Picture 52"/>
          <p:cNvPicPr>
            <a:picLocks/>
          </p:cNvPicPr>
          <p:nvPr/>
        </p:nvPicPr>
        <p:blipFill>
          <a:blip r:embed="rId5"/>
          <a:srcRect t="6357"/>
          <a:stretch>
            <a:fillRect/>
          </a:stretch>
        </p:blipFill>
        <p:spPr>
          <a:xfrm>
            <a:off x="2585244" y="1516561"/>
            <a:ext cx="7021512" cy="5075237"/>
          </a:xfrm>
          <a:prstGeom prst="rect">
            <a:avLst/>
          </a:prstGeom>
          <a:noFill/>
          <a:ln>
            <a:noFill/>
          </a:ln>
        </p:spPr>
      </p:pic>
    </p:spTree>
  </p:cSld>
  <p:clrMapOvr>
    <a:masterClrMapping/>
  </p:clrMapOvr>
  <p:transition spd="slow">
    <p:zoom/>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67" name="Rectangle 3"/>
          <p:cNvSpPr>
            <a:spLocks noGrp="1"/>
          </p:cNvSpPr>
          <p:nvPr>
            <p:ph idx="1"/>
          </p:nvPr>
        </p:nvSpPr>
        <p:spPr>
          <a:xfrm>
            <a:off x="263352" y="836712"/>
            <a:ext cx="10441160" cy="3024336"/>
          </a:xfrm>
          <a:prstGeom prst="rect">
            <a:avLst/>
          </a:prstGeom>
          <a:noFill/>
          <a:ln>
            <a:noFill/>
          </a:ln>
        </p:spPr>
        <p:txBody>
          <a:bodyPr vert="horz" lIns="91440" tIns="45720" rIns="91440" bIns="45720" anchor="t">
            <a:normAutofit/>
          </a:bodyPr>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buFontTx/>
              <a:buNone/>
            </a:pPr>
            <a:r>
              <a:rPr lang="en-US" altLang="zh-CN" sz="3200" dirty="0">
                <a:solidFill>
                  <a:schemeClr val="tx1"/>
                </a:solidFill>
                <a:effectLst>
                  <a:outerShdw blurRad="38100" dist="38100" dir="2700000" algn="tl">
                    <a:srgbClr val="C0C0C0"/>
                  </a:outerShdw>
                </a:effectLst>
              </a:rPr>
              <a:t>1.2.4  </a:t>
            </a:r>
            <a:r>
              <a:rPr lang="zh-CN" altLang="en-US" sz="3200" dirty="0">
                <a:solidFill>
                  <a:schemeClr val="tx1"/>
                </a:solidFill>
                <a:effectLst>
                  <a:outerShdw blurRad="38100" dist="38100" dir="2700000" algn="tl">
                    <a:srgbClr val="C0C0C0"/>
                  </a:outerShdw>
                </a:effectLst>
              </a:rPr>
              <a:t>因特网标准</a:t>
            </a:r>
            <a:r>
              <a:rPr lang="en-US" altLang="zh-CN" sz="3200" dirty="0">
                <a:solidFill>
                  <a:schemeClr val="tx1"/>
                </a:solidFill>
                <a:effectLst>
                  <a:outerShdw blurRad="38100" dist="38100" dir="2700000" algn="tl">
                    <a:srgbClr val="C0C0C0"/>
                  </a:outerShdw>
                </a:effectLst>
              </a:rPr>
              <a:t>IETF</a:t>
            </a:r>
          </a:p>
          <a:p>
            <a:pPr lvl="0" eaLnBrk="1" latinLnBrk="1" hangingPunct="1"/>
            <a:r>
              <a:rPr lang="en-US" altLang="zh-CN" b="0" dirty="0">
                <a:solidFill>
                  <a:schemeClr val="tx1"/>
                </a:solidFill>
              </a:rPr>
              <a:t>从1969</a:t>
            </a:r>
            <a:r>
              <a:rPr lang="zh-CN" altLang="en-US" b="0" dirty="0">
                <a:solidFill>
                  <a:schemeClr val="tx1"/>
                </a:solidFill>
              </a:rPr>
              <a:t>年</a:t>
            </a:r>
            <a:r>
              <a:rPr lang="en-US" altLang="zh-CN" b="0" dirty="0">
                <a:solidFill>
                  <a:schemeClr val="tx1"/>
                </a:solidFill>
              </a:rPr>
              <a:t>4</a:t>
            </a:r>
            <a:r>
              <a:rPr lang="zh-CN" altLang="en-US" b="0" dirty="0">
                <a:solidFill>
                  <a:schemeClr val="tx1"/>
                </a:solidFill>
              </a:rPr>
              <a:t>月</a:t>
            </a:r>
            <a:r>
              <a:rPr lang="en-US" altLang="zh-CN" b="0" dirty="0">
                <a:solidFill>
                  <a:schemeClr val="tx1"/>
                </a:solidFill>
              </a:rPr>
              <a:t>7</a:t>
            </a:r>
            <a:r>
              <a:rPr lang="zh-CN" altLang="en-US" b="0" dirty="0">
                <a:solidFill>
                  <a:schemeClr val="tx1"/>
                </a:solidFill>
              </a:rPr>
              <a:t>日至</a:t>
            </a:r>
            <a:r>
              <a:rPr lang="en-US" altLang="zh-CN" b="0" dirty="0">
                <a:solidFill>
                  <a:schemeClr val="tx1"/>
                </a:solidFill>
              </a:rPr>
              <a:t>2017</a:t>
            </a:r>
            <a:r>
              <a:rPr lang="zh-CN" altLang="en-US" b="0" dirty="0">
                <a:solidFill>
                  <a:schemeClr val="tx1"/>
                </a:solidFill>
              </a:rPr>
              <a:t>年</a:t>
            </a:r>
            <a:r>
              <a:rPr lang="en-US" altLang="zh-CN" b="0" dirty="0">
                <a:solidFill>
                  <a:schemeClr val="tx1"/>
                </a:solidFill>
              </a:rPr>
              <a:t>8</a:t>
            </a:r>
            <a:r>
              <a:rPr lang="zh-CN" altLang="en-US" b="0" dirty="0">
                <a:solidFill>
                  <a:schemeClr val="tx1"/>
                </a:solidFill>
              </a:rPr>
              <a:t>月，</a:t>
            </a:r>
            <a:r>
              <a:rPr lang="en-US" altLang="zh-CN" b="0" dirty="0">
                <a:solidFill>
                  <a:schemeClr val="tx1"/>
                </a:solidFill>
              </a:rPr>
              <a:t>IETF</a:t>
            </a:r>
            <a:r>
              <a:rPr lang="zh-CN" altLang="en-US" b="0" dirty="0">
                <a:solidFill>
                  <a:schemeClr val="tx1"/>
                </a:solidFill>
              </a:rPr>
              <a:t>组织一共发布了</a:t>
            </a:r>
            <a:r>
              <a:rPr lang="en-US" altLang="zh-CN" b="0" dirty="0">
                <a:solidFill>
                  <a:schemeClr val="tx1"/>
                </a:solidFill>
              </a:rPr>
              <a:t>8239</a:t>
            </a:r>
            <a:r>
              <a:rPr lang="zh-CN" altLang="en-US" b="0" dirty="0">
                <a:solidFill>
                  <a:schemeClr val="tx1"/>
                </a:solidFill>
              </a:rPr>
              <a:t>篇</a:t>
            </a:r>
            <a:r>
              <a:rPr lang="en-US" altLang="zh-CN" b="0" dirty="0">
                <a:solidFill>
                  <a:schemeClr val="tx1"/>
                </a:solidFill>
              </a:rPr>
              <a:t>RFC</a:t>
            </a:r>
            <a:r>
              <a:rPr lang="zh-CN" altLang="en-US" b="0" dirty="0">
                <a:solidFill>
                  <a:schemeClr val="tx1"/>
                </a:solidFill>
              </a:rPr>
              <a:t>文档。</a:t>
            </a:r>
            <a:r>
              <a:rPr lang="zh-CN" altLang="en-US" sz="1800" dirty="0">
                <a:solidFill>
                  <a:schemeClr val="tx1"/>
                </a:solidFill>
                <a:sym typeface="+mn-ea"/>
              </a:rPr>
              <a:t>从</a:t>
            </a:r>
            <a:r>
              <a:rPr lang="zh-CN" altLang="zh-CN" sz="1800" dirty="0">
                <a:solidFill>
                  <a:schemeClr val="tx1"/>
                </a:solidFill>
                <a:sym typeface="+mn-ea"/>
              </a:rPr>
              <a:t>1969</a:t>
            </a:r>
            <a:r>
              <a:rPr lang="zh-CN" altLang="en-US" sz="1800" dirty="0">
                <a:solidFill>
                  <a:schemeClr val="tx1"/>
                </a:solidFill>
                <a:sym typeface="+mn-ea"/>
              </a:rPr>
              <a:t>年</a:t>
            </a:r>
            <a:r>
              <a:rPr lang="zh-CN" altLang="zh-CN" sz="1800" dirty="0">
                <a:solidFill>
                  <a:schemeClr val="tx1"/>
                </a:solidFill>
                <a:sym typeface="+mn-ea"/>
              </a:rPr>
              <a:t>4</a:t>
            </a:r>
            <a:r>
              <a:rPr lang="zh-CN" altLang="en-US" sz="1800" dirty="0">
                <a:solidFill>
                  <a:schemeClr val="tx1"/>
                </a:solidFill>
                <a:sym typeface="+mn-ea"/>
              </a:rPr>
              <a:t>月</a:t>
            </a:r>
            <a:r>
              <a:rPr lang="zh-CN" altLang="zh-CN" sz="1800" dirty="0">
                <a:solidFill>
                  <a:schemeClr val="tx1"/>
                </a:solidFill>
                <a:sym typeface="+mn-ea"/>
              </a:rPr>
              <a:t>7</a:t>
            </a:r>
            <a:r>
              <a:rPr lang="zh-CN" altLang="en-US" sz="1800" dirty="0">
                <a:solidFill>
                  <a:schemeClr val="tx1"/>
                </a:solidFill>
                <a:sym typeface="+mn-ea"/>
              </a:rPr>
              <a:t>日至</a:t>
            </a:r>
            <a:r>
              <a:rPr lang="zh-CN" altLang="zh-CN" sz="1800" dirty="0">
                <a:solidFill>
                  <a:schemeClr val="tx1"/>
                </a:solidFill>
                <a:sym typeface="+mn-ea"/>
              </a:rPr>
              <a:t>2015</a:t>
            </a:r>
            <a:r>
              <a:rPr lang="zh-CN" altLang="en-US" sz="1800" dirty="0">
                <a:solidFill>
                  <a:schemeClr val="tx1"/>
                </a:solidFill>
                <a:sym typeface="+mn-ea"/>
              </a:rPr>
              <a:t>年</a:t>
            </a:r>
            <a:r>
              <a:rPr lang="zh-CN" altLang="zh-CN" sz="1800" dirty="0">
                <a:solidFill>
                  <a:schemeClr val="tx1"/>
                </a:solidFill>
                <a:sym typeface="+mn-ea"/>
              </a:rPr>
              <a:t>3</a:t>
            </a:r>
            <a:r>
              <a:rPr lang="zh-CN" altLang="en-US" sz="1800" dirty="0">
                <a:solidFill>
                  <a:schemeClr val="tx1"/>
                </a:solidFill>
                <a:sym typeface="+mn-ea"/>
              </a:rPr>
              <a:t>月，</a:t>
            </a:r>
            <a:r>
              <a:rPr lang="zh-CN" altLang="zh-CN" sz="1800" dirty="0">
                <a:solidFill>
                  <a:schemeClr val="tx1"/>
                </a:solidFill>
                <a:sym typeface="+mn-ea"/>
              </a:rPr>
              <a:t>IETF</a:t>
            </a:r>
            <a:r>
              <a:rPr lang="zh-CN" altLang="en-US" sz="1800" dirty="0">
                <a:solidFill>
                  <a:schemeClr val="tx1"/>
                </a:solidFill>
                <a:sym typeface="+mn-ea"/>
              </a:rPr>
              <a:t>组织一共发布了</a:t>
            </a:r>
            <a:r>
              <a:rPr lang="zh-CN" altLang="zh-CN" sz="1800" dirty="0">
                <a:solidFill>
                  <a:schemeClr val="tx1"/>
                </a:solidFill>
                <a:sym typeface="+mn-ea"/>
              </a:rPr>
              <a:t>7488</a:t>
            </a:r>
            <a:r>
              <a:rPr lang="zh-CN" altLang="en-US" sz="1800" dirty="0">
                <a:solidFill>
                  <a:schemeClr val="tx1"/>
                </a:solidFill>
                <a:sym typeface="+mn-ea"/>
              </a:rPr>
              <a:t>篇</a:t>
            </a:r>
            <a:r>
              <a:rPr lang="zh-CN" altLang="zh-CN" sz="1800" dirty="0">
                <a:solidFill>
                  <a:schemeClr val="tx1"/>
                </a:solidFill>
                <a:sym typeface="+mn-ea"/>
              </a:rPr>
              <a:t>RFC</a:t>
            </a:r>
            <a:r>
              <a:rPr lang="zh-CN" altLang="en-US" sz="1800" dirty="0">
                <a:solidFill>
                  <a:schemeClr val="tx1"/>
                </a:solidFill>
                <a:sym typeface="+mn-ea"/>
              </a:rPr>
              <a:t>文档。 </a:t>
            </a:r>
            <a:r>
              <a:rPr lang="zh-CN" altLang="zh-CN" sz="1800" dirty="0">
                <a:solidFill>
                  <a:schemeClr val="tx1"/>
                </a:solidFill>
                <a:sym typeface="+mn-ea"/>
              </a:rPr>
              <a:t>(</a:t>
            </a:r>
            <a:r>
              <a:rPr lang="zh-CN" altLang="en-US" sz="1800" dirty="0">
                <a:solidFill>
                  <a:schemeClr val="tx1"/>
                </a:solidFill>
                <a:sym typeface="+mn-ea"/>
              </a:rPr>
              <a:t>至</a:t>
            </a:r>
            <a:r>
              <a:rPr lang="zh-CN" altLang="zh-CN" sz="1800" dirty="0">
                <a:solidFill>
                  <a:schemeClr val="tx1"/>
                </a:solidFill>
                <a:sym typeface="+mn-ea"/>
              </a:rPr>
              <a:t>2014</a:t>
            </a:r>
            <a:r>
              <a:rPr lang="zh-CN" altLang="en-US" sz="1800" dirty="0">
                <a:solidFill>
                  <a:schemeClr val="tx1"/>
                </a:solidFill>
                <a:sym typeface="+mn-ea"/>
              </a:rPr>
              <a:t>年</a:t>
            </a:r>
            <a:r>
              <a:rPr lang="zh-CN" altLang="zh-CN" sz="1800" dirty="0">
                <a:solidFill>
                  <a:schemeClr val="tx1"/>
                </a:solidFill>
                <a:sym typeface="+mn-ea"/>
              </a:rPr>
              <a:t>5</a:t>
            </a:r>
            <a:r>
              <a:rPr lang="zh-CN" altLang="en-US" sz="1800" dirty="0">
                <a:solidFill>
                  <a:schemeClr val="tx1"/>
                </a:solidFill>
                <a:sym typeface="+mn-ea"/>
              </a:rPr>
              <a:t>月</a:t>
            </a:r>
            <a:r>
              <a:rPr lang="zh-CN" altLang="zh-CN" sz="1800" dirty="0">
                <a:solidFill>
                  <a:schemeClr val="tx1"/>
                </a:solidFill>
                <a:sym typeface="+mn-ea"/>
              </a:rPr>
              <a:t>7259</a:t>
            </a:r>
            <a:r>
              <a:rPr lang="zh-CN" altLang="en-US" sz="1800" dirty="0">
                <a:solidFill>
                  <a:schemeClr val="tx1"/>
                </a:solidFill>
                <a:sym typeface="+mn-ea"/>
              </a:rPr>
              <a:t>篇，</a:t>
            </a:r>
            <a:r>
              <a:rPr lang="zh-CN" altLang="zh-CN" sz="1800" dirty="0">
                <a:solidFill>
                  <a:schemeClr val="tx1"/>
                </a:solidFill>
                <a:sym typeface="+mn-ea"/>
              </a:rPr>
              <a:t>至2013</a:t>
            </a:r>
            <a:r>
              <a:rPr lang="zh-CN" altLang="en-US" sz="1800" dirty="0">
                <a:solidFill>
                  <a:schemeClr val="tx1"/>
                </a:solidFill>
                <a:sym typeface="+mn-ea"/>
              </a:rPr>
              <a:t>年</a:t>
            </a:r>
            <a:r>
              <a:rPr lang="zh-CN" altLang="zh-CN" sz="1800" dirty="0">
                <a:solidFill>
                  <a:schemeClr val="tx1"/>
                </a:solidFill>
                <a:sym typeface="+mn-ea"/>
              </a:rPr>
              <a:t>5</a:t>
            </a:r>
            <a:r>
              <a:rPr lang="zh-CN" altLang="en-US" sz="1800" dirty="0">
                <a:solidFill>
                  <a:schemeClr val="tx1"/>
                </a:solidFill>
                <a:sym typeface="+mn-ea"/>
              </a:rPr>
              <a:t>月是</a:t>
            </a:r>
            <a:r>
              <a:rPr lang="zh-CN" altLang="zh-CN" sz="1800" dirty="0">
                <a:solidFill>
                  <a:schemeClr val="tx1"/>
                </a:solidFill>
                <a:sym typeface="+mn-ea"/>
              </a:rPr>
              <a:t>6959</a:t>
            </a:r>
            <a:r>
              <a:rPr lang="zh-CN" altLang="en-US" sz="1800" dirty="0">
                <a:solidFill>
                  <a:schemeClr val="tx1"/>
                </a:solidFill>
                <a:sym typeface="+mn-ea"/>
              </a:rPr>
              <a:t>篇，</a:t>
            </a:r>
            <a:r>
              <a:rPr lang="zh-CN" altLang="zh-CN" sz="1800" dirty="0">
                <a:solidFill>
                  <a:schemeClr val="tx1"/>
                </a:solidFill>
                <a:sym typeface="+mn-ea"/>
              </a:rPr>
              <a:t>至2012</a:t>
            </a:r>
            <a:r>
              <a:rPr lang="zh-CN" altLang="en-US" sz="1800" dirty="0">
                <a:solidFill>
                  <a:schemeClr val="tx1"/>
                </a:solidFill>
                <a:sym typeface="+mn-ea"/>
              </a:rPr>
              <a:t>年</a:t>
            </a:r>
            <a:r>
              <a:rPr lang="zh-CN" altLang="zh-CN" sz="1800" dirty="0">
                <a:solidFill>
                  <a:schemeClr val="tx1"/>
                </a:solidFill>
                <a:sym typeface="+mn-ea"/>
              </a:rPr>
              <a:t>5</a:t>
            </a:r>
            <a:r>
              <a:rPr lang="zh-CN" altLang="en-US" sz="1800" dirty="0">
                <a:solidFill>
                  <a:schemeClr val="tx1"/>
                </a:solidFill>
                <a:sym typeface="+mn-ea"/>
              </a:rPr>
              <a:t>月是</a:t>
            </a:r>
            <a:r>
              <a:rPr lang="zh-CN" altLang="zh-CN" sz="1800" dirty="0">
                <a:solidFill>
                  <a:schemeClr val="tx1"/>
                </a:solidFill>
                <a:sym typeface="+mn-ea"/>
              </a:rPr>
              <a:t>6620</a:t>
            </a:r>
            <a:r>
              <a:rPr lang="zh-CN" altLang="en-US" sz="1800" dirty="0">
                <a:solidFill>
                  <a:schemeClr val="tx1"/>
                </a:solidFill>
                <a:sym typeface="+mn-ea"/>
              </a:rPr>
              <a:t>篇，</a:t>
            </a:r>
            <a:r>
              <a:rPr lang="zh-CN" altLang="zh-CN" sz="1800" dirty="0">
                <a:solidFill>
                  <a:schemeClr val="tx1"/>
                </a:solidFill>
                <a:sym typeface="+mn-ea"/>
              </a:rPr>
              <a:t>至2011</a:t>
            </a:r>
            <a:r>
              <a:rPr lang="zh-CN" altLang="en-US" sz="1800" dirty="0">
                <a:solidFill>
                  <a:schemeClr val="tx1"/>
                </a:solidFill>
                <a:sym typeface="+mn-ea"/>
              </a:rPr>
              <a:t>年</a:t>
            </a:r>
            <a:r>
              <a:rPr lang="zh-CN" altLang="zh-CN" sz="1800" dirty="0">
                <a:solidFill>
                  <a:schemeClr val="tx1"/>
                </a:solidFill>
                <a:sym typeface="+mn-ea"/>
              </a:rPr>
              <a:t>3</a:t>
            </a:r>
            <a:r>
              <a:rPr lang="zh-CN" altLang="en-US" sz="1800" dirty="0">
                <a:solidFill>
                  <a:schemeClr val="tx1"/>
                </a:solidFill>
                <a:sym typeface="+mn-ea"/>
              </a:rPr>
              <a:t>月是</a:t>
            </a:r>
            <a:r>
              <a:rPr lang="zh-CN" altLang="zh-CN" sz="1800" dirty="0">
                <a:solidFill>
                  <a:schemeClr val="tx1"/>
                </a:solidFill>
                <a:sym typeface="+mn-ea"/>
              </a:rPr>
              <a:t>6154</a:t>
            </a:r>
            <a:r>
              <a:rPr lang="zh-CN" altLang="en-US" sz="1800" dirty="0">
                <a:solidFill>
                  <a:schemeClr val="tx1"/>
                </a:solidFill>
                <a:sym typeface="+mn-ea"/>
              </a:rPr>
              <a:t>篇</a:t>
            </a:r>
            <a:r>
              <a:rPr lang="zh-CN" altLang="zh-CN" sz="1800" dirty="0">
                <a:solidFill>
                  <a:schemeClr val="tx1"/>
                </a:solidFill>
                <a:sym typeface="+mn-ea"/>
              </a:rPr>
              <a:t>)</a:t>
            </a:r>
          </a:p>
          <a:p>
            <a:pPr lvl="0">
              <a:buFontTx/>
              <a:buNone/>
            </a:pPr>
            <a:r>
              <a:rPr lang="zh-CN" altLang="zh-CN" sz="1800" dirty="0">
                <a:solidFill>
                  <a:schemeClr val="tx1"/>
                </a:solidFill>
                <a:sym typeface="+mn-ea"/>
              </a:rPr>
              <a:t>      http://www.rfc-editor.org/rfc.html</a:t>
            </a:r>
          </a:p>
          <a:p>
            <a:pPr lvl="0" eaLnBrk="1" latinLnBrk="1" hangingPunct="1"/>
            <a:endParaRPr lang="en-US" altLang="zh-CN" sz="1800" b="0" dirty="0">
              <a:solidFill>
                <a:schemeClr val="tx1"/>
              </a:solidFill>
            </a:endParaRPr>
          </a:p>
          <a:p>
            <a:pPr lvl="0" eaLnBrk="1" latinLnBrk="1" hangingPunct="1"/>
            <a:r>
              <a:rPr lang="en-US" altLang="zh-CN" b="0" dirty="0">
                <a:solidFill>
                  <a:schemeClr val="tx1"/>
                </a:solidFill>
              </a:rPr>
              <a:t>RFC</a:t>
            </a:r>
            <a:r>
              <a:rPr lang="zh-CN" altLang="en-US" b="0" dirty="0">
                <a:solidFill>
                  <a:schemeClr val="tx1"/>
                </a:solidFill>
              </a:rPr>
              <a:t>文档包含了因特网的所有重要标准。</a:t>
            </a:r>
          </a:p>
        </p:txBody>
      </p:sp>
      <p:sp>
        <p:nvSpPr>
          <p:cNvPr id="1049266" name="Rectangle 2"/>
          <p:cNvSpPr>
            <a:spLocks noGrp="1"/>
          </p:cNvSpPr>
          <p:nvPr>
            <p:ph type="title"/>
          </p:nvPr>
        </p:nvSpPr>
        <p:spPr>
          <a:xfrm>
            <a:off x="0" y="157302"/>
            <a:ext cx="10515600" cy="546100"/>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1.2  </a:t>
            </a:r>
            <a:r>
              <a:rPr lang="zh-CN" altLang="en-US" dirty="0">
                <a:solidFill>
                  <a:schemeClr val="bg1"/>
                </a:solidFill>
              </a:rPr>
              <a:t>网络工程设计规范</a:t>
            </a:r>
          </a:p>
        </p:txBody>
      </p:sp>
      <p:pic>
        <p:nvPicPr>
          <p:cNvPr id="2097181" name="图片 1"/>
          <p:cNvPicPr>
            <a:picLocks/>
          </p:cNvPicPr>
          <p:nvPr/>
        </p:nvPicPr>
        <p:blipFill>
          <a:blip r:embed="rId5"/>
          <a:srcRect/>
          <a:stretch>
            <a:fillRect/>
          </a:stretch>
        </p:blipFill>
        <p:spPr>
          <a:xfrm>
            <a:off x="1487488" y="3573016"/>
            <a:ext cx="4393629" cy="2781622"/>
          </a:xfrm>
          <a:prstGeom prst="rect">
            <a:avLst/>
          </a:prstGeom>
          <a:noFill/>
          <a:ln>
            <a:noFill/>
          </a:ln>
        </p:spPr>
      </p:pic>
      <p:pic>
        <p:nvPicPr>
          <p:cNvPr id="2097182" name="图片 1"/>
          <p:cNvPicPr>
            <a:picLocks/>
          </p:cNvPicPr>
          <p:nvPr/>
        </p:nvPicPr>
        <p:blipFill>
          <a:blip r:embed="rId6"/>
          <a:srcRect/>
          <a:stretch>
            <a:fillRect/>
          </a:stretch>
        </p:blipFill>
        <p:spPr>
          <a:xfrm>
            <a:off x="7032626" y="4071937"/>
            <a:ext cx="3367087" cy="1789112"/>
          </a:xfrm>
          <a:prstGeom prst="rect">
            <a:avLst/>
          </a:prstGeom>
          <a:noFill/>
          <a:ln>
            <a:noFill/>
          </a:ln>
        </p:spPr>
      </p:pic>
    </p:spTree>
  </p:cSld>
  <p:clrMapOvr>
    <a:masterClrMapping/>
  </p:clrMapOvr>
  <p:transition spd="slow">
    <p:zoom/>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83" name="内容占位符 4"/>
          <p:cNvPicPr>
            <a:picLocks noGrp="1"/>
          </p:cNvPicPr>
          <p:nvPr>
            <p:ph idx="1"/>
          </p:nvPr>
        </p:nvPicPr>
        <p:blipFill>
          <a:blip r:embed="rId2"/>
          <a:stretch>
            <a:fillRect/>
          </a:stretch>
        </p:blipFill>
        <p:spPr>
          <a:xfrm>
            <a:off x="2135560" y="1412776"/>
            <a:ext cx="7735712" cy="4351338"/>
          </a:xfrm>
          <a:prstGeom prst="rect">
            <a:avLst/>
          </a:prstGeom>
          <a:noFill/>
          <a:ln>
            <a:noFill/>
          </a:ln>
        </p:spPr>
      </p:pic>
      <p:sp>
        <p:nvSpPr>
          <p:cNvPr id="1049271" name="标题 1"/>
          <p:cNvSpPr>
            <a:spLocks noGrp="1"/>
          </p:cNvSpPr>
          <p:nvPr>
            <p:ph type="title"/>
          </p:nvPr>
        </p:nvSpPr>
        <p:spPr>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a:r>
              <a:rPr lang="zh-CN" altLang="en-US" sz="1800" dirty="0">
                <a:hlinkClick r:id="rId3"/>
              </a:rPr>
              <a:t>https://www.rfc-editor.org/rfc-index-100d.html</a:t>
            </a:r>
            <a:endParaRPr lang="zh-CN" altLang="en-US" sz="1800" dirty="0"/>
          </a:p>
        </p:txBody>
      </p:sp>
    </p:spTree>
  </p:cSld>
  <p:clrMapOvr>
    <a:masterClrMapping/>
  </p:clrMapOvr>
  <p:transition spd="slow">
    <p:zoom/>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77" name="矩形 157699"/>
          <p:cNvSpPr/>
          <p:nvPr/>
        </p:nvSpPr>
        <p:spPr>
          <a:xfrm>
            <a:off x="2135187" y="692151"/>
            <a:ext cx="11461750" cy="274637"/>
          </a:xfrm>
          <a:prstGeom prst="rect">
            <a:avLst/>
          </a:prstGeom>
          <a:noFill/>
          <a:ln>
            <a:noFill/>
          </a:ln>
        </p:spPr>
        <p:txBody>
          <a:bodyPr vert="horz" lIns="91440" tIns="45720" rIns="91440" bIns="4572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r>
              <a:rPr lang="en-US" altLang="zh-CN" sz="1200" dirty="0"/>
              <a:t>http://www.rfc-editor.org/search/rfc_search_detail.php?title=security&amp;pubstatus%5B%5D=Any&amp;pub_date_type=any</a:t>
            </a:r>
          </a:p>
        </p:txBody>
      </p:sp>
      <p:pic>
        <p:nvPicPr>
          <p:cNvPr id="2097184" name="图片 157700"/>
          <p:cNvPicPr>
            <a:picLocks/>
          </p:cNvPicPr>
          <p:nvPr/>
        </p:nvPicPr>
        <p:blipFill>
          <a:blip r:embed="rId2"/>
          <a:srcRect l="-333" t="13116" r="1576" b="5518"/>
          <a:stretch>
            <a:fillRect/>
          </a:stretch>
        </p:blipFill>
        <p:spPr>
          <a:xfrm>
            <a:off x="2027237" y="1136649"/>
            <a:ext cx="8137525" cy="5029200"/>
          </a:xfrm>
          <a:prstGeom prst="rect">
            <a:avLst/>
          </a:prstGeom>
          <a:noFill/>
          <a:ln>
            <a:noFill/>
          </a:ln>
        </p:spPr>
      </p:pic>
    </p:spTree>
  </p:cSld>
  <p:clrMapOvr>
    <a:masterClrMapping/>
  </p:clrMapOvr>
  <p:transition spd="slow">
    <p:zoom/>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82" name="Rectangle 3"/>
          <p:cNvSpPr>
            <a:spLocks noGrp="1"/>
          </p:cNvSpPr>
          <p:nvPr>
            <p:ph type="body" sz="half" idx="4294967295"/>
          </p:nvPr>
        </p:nvSpPr>
        <p:spPr>
          <a:xfrm>
            <a:off x="407368" y="891212"/>
            <a:ext cx="8064896" cy="399424"/>
          </a:xfrm>
          <a:prstGeom prst="rect">
            <a:avLst/>
          </a:prstGeom>
          <a:noFill/>
          <a:ln>
            <a:noFill/>
          </a:ln>
        </p:spPr>
        <p:txBody>
          <a:bodyPr vert="horz" lIns="91440" tIns="45720" rIns="91440" bIns="45720" anchor="t">
            <a:normAutofit fontScale="92500" lnSpcReduction="20000"/>
          </a:bodyPr>
          <a:lstStyle>
            <a:lvl1pPr marL="342900" indent="-342900">
              <a:lnSpc>
                <a:spcPct val="90000"/>
              </a:lnSpc>
              <a:spcBef>
                <a:spcPct val="0"/>
              </a:spcBef>
              <a:spcAft>
                <a:spcPct val="20000"/>
              </a:spcAft>
              <a:buBlip>
                <a:blip r:embed="rId2"/>
              </a:buBlip>
              <a:defRPr sz="2400">
                <a:solidFill>
                  <a:srgbClr val="0000FF"/>
                </a:solidFill>
              </a:defRPr>
            </a:lvl1pPr>
            <a:lvl2pPr marL="742950" indent="-285750">
              <a:lnSpc>
                <a:spcPct val="90000"/>
              </a:lnSpc>
              <a:spcBef>
                <a:spcPct val="0"/>
              </a:spcBef>
              <a:spcAft>
                <a:spcPct val="20000"/>
              </a:spcAft>
              <a:buBlip>
                <a:blip r:embed="rId3"/>
              </a:buBlip>
              <a:defRPr sz="2400">
                <a:solidFill>
                  <a:srgbClr val="000099"/>
                </a:solidFill>
              </a:defRPr>
            </a:lvl2pPr>
            <a:lvl3pPr marL="1143000" indent="-228600">
              <a:lnSpc>
                <a:spcPct val="90000"/>
              </a:lnSpc>
              <a:spcBef>
                <a:spcPct val="0"/>
              </a:spcBef>
              <a:spcAft>
                <a:spcPct val="20000"/>
              </a:spcAft>
              <a:buBlip>
                <a:blip r:embed="rId4"/>
              </a:buBlip>
              <a:defRPr sz="2000">
                <a:solidFill>
                  <a:srgbClr val="008000"/>
                </a:solidFill>
              </a:defRPr>
            </a:lvl3pPr>
            <a:lvl4pPr marL="1600200" indent="-228600">
              <a:lnSpc>
                <a:spcPct val="90000"/>
              </a:lnSpc>
              <a:spcBef>
                <a:spcPct val="0"/>
              </a:spcBef>
              <a:spcAft>
                <a:spcPct val="20000"/>
              </a:spcAft>
              <a:buBlip>
                <a:blip r:embed="rId4"/>
              </a:buBlip>
              <a:defRPr sz="1800">
                <a:solidFill>
                  <a:srgbClr val="800000"/>
                </a:solidFill>
              </a:defRPr>
            </a:lvl4pPr>
            <a:lvl5pPr marL="2057400" indent="-228600">
              <a:lnSpc>
                <a:spcPct val="90000"/>
              </a:lnSpc>
              <a:spcBef>
                <a:spcPct val="0"/>
              </a:spcBef>
              <a:spcAft>
                <a:spcPct val="20000"/>
              </a:spcAft>
              <a:buBlip>
                <a:blip r:embed="rId4"/>
              </a:buBlip>
              <a:defRPr sz="1800">
                <a:solidFill>
                  <a:srgbClr val="003399"/>
                </a:solidFill>
              </a:defRPr>
            </a:lvl5pPr>
          </a:lstStyle>
          <a:p>
            <a:pPr lvl="0" eaLnBrk="1" latinLnBrk="1" hangingPunct="1"/>
            <a:r>
              <a:rPr lang="zh-CN" altLang="en-US" sz="2800" dirty="0">
                <a:solidFill>
                  <a:srgbClr val="000099"/>
                </a:solidFill>
              </a:rPr>
              <a:t>网络工程常用</a:t>
            </a:r>
            <a:r>
              <a:rPr lang="en-US" altLang="zh-CN" sz="2800" dirty="0">
                <a:solidFill>
                  <a:srgbClr val="000099"/>
                </a:solidFill>
              </a:rPr>
              <a:t>RFC</a:t>
            </a:r>
            <a:r>
              <a:rPr lang="zh-CN" altLang="en-US" sz="2800" dirty="0">
                <a:solidFill>
                  <a:srgbClr val="000099"/>
                </a:solidFill>
              </a:rPr>
              <a:t>文档</a:t>
            </a:r>
          </a:p>
        </p:txBody>
      </p:sp>
      <p:sp>
        <p:nvSpPr>
          <p:cNvPr id="1049281" name="Rectangle 2"/>
          <p:cNvSpPr>
            <a:spLocks noGrp="1"/>
          </p:cNvSpPr>
          <p:nvPr>
            <p:ph type="title"/>
          </p:nvPr>
        </p:nvSpPr>
        <p:spPr>
          <a:xfrm>
            <a:off x="47328" y="152400"/>
            <a:ext cx="8640233" cy="57626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1.2  </a:t>
            </a:r>
            <a:r>
              <a:rPr lang="zh-CN" altLang="en-US" dirty="0">
                <a:solidFill>
                  <a:schemeClr val="bg1"/>
                </a:solidFill>
              </a:rPr>
              <a:t>网络工程设计规范</a:t>
            </a:r>
          </a:p>
        </p:txBody>
      </p:sp>
      <p:graphicFrame>
        <p:nvGraphicFramePr>
          <p:cNvPr id="4194312" name="表格 4194311"/>
          <p:cNvGraphicFramePr>
            <a:graphicFrameLocks/>
          </p:cNvGraphicFramePr>
          <p:nvPr>
            <p:extLst>
              <p:ext uri="{D42A27DB-BD31-4B8C-83A1-F6EECF244321}">
                <p14:modId xmlns:p14="http://schemas.microsoft.com/office/powerpoint/2010/main" val="2592234135"/>
              </p:ext>
            </p:extLst>
          </p:nvPr>
        </p:nvGraphicFramePr>
        <p:xfrm>
          <a:off x="839416" y="1453185"/>
          <a:ext cx="9683352" cy="4595812"/>
        </p:xfrm>
        <a:graphic>
          <a:graphicData uri="http://schemas.openxmlformats.org/drawingml/2006/table">
            <a:tbl>
              <a:tblPr/>
              <a:tblGrid>
                <a:gridCol w="1886578">
                  <a:extLst>
                    <a:ext uri="{9D8B030D-6E8A-4147-A177-3AD203B41FA5}">
                      <a16:colId xmlns:a16="http://schemas.microsoft.com/office/drawing/2014/main" val="20000"/>
                    </a:ext>
                  </a:extLst>
                </a:gridCol>
                <a:gridCol w="2297408">
                  <a:extLst>
                    <a:ext uri="{9D8B030D-6E8A-4147-A177-3AD203B41FA5}">
                      <a16:colId xmlns:a16="http://schemas.microsoft.com/office/drawing/2014/main" val="20001"/>
                    </a:ext>
                  </a:extLst>
                </a:gridCol>
                <a:gridCol w="5499366">
                  <a:extLst>
                    <a:ext uri="{9D8B030D-6E8A-4147-A177-3AD203B41FA5}">
                      <a16:colId xmlns:a16="http://schemas.microsoft.com/office/drawing/2014/main" val="20002"/>
                    </a:ext>
                  </a:extLst>
                </a:gridCol>
              </a:tblGrid>
              <a:tr h="304799">
                <a:tc>
                  <a:txBody>
                    <a:bodyPr/>
                    <a:lstStyle/>
                    <a:p>
                      <a:pPr lvl="0" algn="ctr" eaLnBrk="1" latinLnBrk="1" hangingPunct="1">
                        <a:spcAft>
                          <a:spcPct val="20000"/>
                        </a:spcAft>
                        <a:buFontTx/>
                        <a:buNone/>
                      </a:pPr>
                      <a:r>
                        <a:rPr lang="zh-CN" altLang="en-US" sz="1400" b="0">
                          <a:solidFill>
                            <a:srgbClr val="000000"/>
                          </a:solidFill>
                          <a:effectLst>
                            <a:outerShdw blurRad="38100" dist="38100" dir="2700000" algn="tl">
                              <a:srgbClr val="C0C0C0"/>
                            </a:outerShdw>
                          </a:effectLst>
                          <a:latin typeface="黑体" pitchFamily="49" charset="-122"/>
                          <a:ea typeface="黑体" pitchFamily="49" charset="-122"/>
                        </a:rPr>
                        <a:t>协 议 类 型</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solidFill>
                      <a:srgbClr val="FFCCFF"/>
                    </a:solidFill>
                  </a:tcPr>
                </a:tc>
                <a:tc>
                  <a:txBody>
                    <a:bodyPr/>
                    <a:lstStyle/>
                    <a:p>
                      <a:pPr lvl="0" algn="ctr" eaLnBrk="1" latinLnBrk="1" hangingPunct="1">
                        <a:spcAft>
                          <a:spcPct val="20000"/>
                        </a:spcAft>
                        <a:buFontTx/>
                        <a:buNone/>
                      </a:pPr>
                      <a:r>
                        <a:rPr lang="en-US" altLang="zh-CN" sz="1400" b="0">
                          <a:solidFill>
                            <a:srgbClr val="000000"/>
                          </a:solidFill>
                          <a:effectLst>
                            <a:outerShdw blurRad="38100" dist="38100" dir="2700000" algn="tl">
                              <a:srgbClr val="C0C0C0"/>
                            </a:outerShdw>
                          </a:effectLst>
                          <a:latin typeface="黑体" pitchFamily="49" charset="-122"/>
                          <a:ea typeface="黑体" pitchFamily="49" charset="-122"/>
                        </a:rPr>
                        <a:t>RFC</a:t>
                      </a:r>
                      <a:r>
                        <a:rPr lang="zh-CN" altLang="en-US" sz="1400" b="0">
                          <a:solidFill>
                            <a:srgbClr val="000000"/>
                          </a:solidFill>
                          <a:effectLst>
                            <a:outerShdw blurRad="38100" dist="38100" dir="2700000" algn="tl">
                              <a:srgbClr val="C0C0C0"/>
                            </a:outerShdw>
                          </a:effectLst>
                          <a:latin typeface="黑体" pitchFamily="49" charset="-122"/>
                          <a:ea typeface="黑体" pitchFamily="49" charset="-122"/>
                        </a:rPr>
                        <a:t>编号</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solidFill>
                      <a:srgbClr val="FFCCFF"/>
                    </a:solidFill>
                  </a:tcPr>
                </a:tc>
                <a:tc>
                  <a:txBody>
                    <a:bodyPr/>
                    <a:lstStyle/>
                    <a:p>
                      <a:pPr lvl="0" algn="ctr" eaLnBrk="1" latinLnBrk="1" hangingPunct="1">
                        <a:spcAft>
                          <a:spcPct val="20000"/>
                        </a:spcAft>
                        <a:buFontTx/>
                        <a:buNone/>
                      </a:pPr>
                      <a:r>
                        <a:rPr lang="zh-CN" altLang="en-US" sz="1400" b="0">
                          <a:solidFill>
                            <a:srgbClr val="000000"/>
                          </a:solidFill>
                          <a:effectLst>
                            <a:outerShdw blurRad="38100" dist="38100" dir="2700000" algn="tl">
                              <a:srgbClr val="C0C0C0"/>
                            </a:outerShdw>
                          </a:effectLst>
                          <a:latin typeface="黑体" pitchFamily="49" charset="-122"/>
                          <a:ea typeface="黑体" pitchFamily="49" charset="-122"/>
                        </a:rPr>
                        <a:t>标 准 说 明</a:t>
                      </a:r>
                    </a:p>
                  </a:txBody>
                  <a:tcPr>
                    <a:lnL w="12700" cap="flat" cmpd="sng">
                      <a:solidFill>
                        <a:srgbClr val="000000">
                          <a:alpha val="100000"/>
                        </a:srgbClr>
                      </a:solidFill>
                      <a:prstDash val="solid"/>
                      <a:round/>
                    </a:lnL>
                    <a:lnR w="9525"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solidFill>
                      <a:srgbClr val="FFCCFF"/>
                    </a:solidFill>
                  </a:tcPr>
                </a:tc>
                <a:extLst>
                  <a:ext uri="{0D108BD9-81ED-4DB2-BD59-A6C34878D82A}">
                    <a16:rowId xmlns:a16="http://schemas.microsoft.com/office/drawing/2014/main" val="10000"/>
                  </a:ext>
                </a:extLst>
              </a:tr>
              <a:tr h="304799">
                <a:tc rowSpan="4">
                  <a:txBody>
                    <a:bodyPr/>
                    <a:lstStyle/>
                    <a:p>
                      <a:pPr lvl="0" algn="ctr" eaLnBrk="1" latinLnBrk="1" hangingPunct="1">
                        <a:spcAft>
                          <a:spcPct val="20000"/>
                        </a:spcAft>
                        <a:buFontTx/>
                        <a:buNone/>
                      </a:pPr>
                      <a:r>
                        <a:rPr lang="zh-CN" altLang="en-US" sz="1400" b="0" dirty="0">
                          <a:solidFill>
                            <a:srgbClr val="000000"/>
                          </a:solidFill>
                          <a:ea typeface="黑体" pitchFamily="49" charset="-122"/>
                        </a:rPr>
                        <a:t>基础类</a:t>
                      </a:r>
                    </a:p>
                  </a:txBody>
                  <a:tcPr anchor="ctr">
                    <a:lnL w="9525"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ctr" eaLnBrk="1" latinLnBrk="1" hangingPunct="1">
                        <a:spcAft>
                          <a:spcPct val="20000"/>
                        </a:spcAft>
                        <a:buFontTx/>
                        <a:buNone/>
                      </a:pPr>
                      <a:r>
                        <a:rPr lang="en-US" altLang="zh-CN" sz="1400" b="0" dirty="0">
                          <a:solidFill>
                            <a:srgbClr val="000000"/>
                          </a:solidFill>
                          <a:ea typeface="黑体" pitchFamily="49" charset="-122"/>
                        </a:rPr>
                        <a:t>RFC791</a:t>
                      </a:r>
                    </a:p>
                  </a:txBody>
                  <a:tcPr anchor="ct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l" eaLnBrk="1" latinLnBrk="1" hangingPunct="1">
                        <a:spcAft>
                          <a:spcPct val="20000"/>
                        </a:spcAft>
                        <a:buFontTx/>
                        <a:buNone/>
                      </a:pPr>
                      <a:r>
                        <a:rPr lang="en-US" altLang="zh-CN" sz="1400" b="0">
                          <a:solidFill>
                            <a:srgbClr val="000000"/>
                          </a:solidFill>
                          <a:ea typeface="黑体" pitchFamily="49" charset="-122"/>
                        </a:rPr>
                        <a:t>IP</a:t>
                      </a:r>
                      <a:r>
                        <a:rPr lang="zh-CN" altLang="en-US" sz="1400" b="0">
                          <a:solidFill>
                            <a:srgbClr val="000000"/>
                          </a:solidFill>
                          <a:ea typeface="黑体" pitchFamily="49" charset="-122"/>
                        </a:rPr>
                        <a:t>规范（</a:t>
                      </a:r>
                      <a:r>
                        <a:rPr lang="en-US" altLang="zh-CN" sz="1400" b="0">
                          <a:solidFill>
                            <a:srgbClr val="000000"/>
                          </a:solidFill>
                          <a:ea typeface="黑体" pitchFamily="49" charset="-122"/>
                        </a:rPr>
                        <a:t>1981</a:t>
                      </a:r>
                      <a:r>
                        <a:rPr lang="zh-CN" altLang="en-US" sz="1400" b="0">
                          <a:solidFill>
                            <a:srgbClr val="000000"/>
                          </a:solidFill>
                          <a:ea typeface="黑体" pitchFamily="49" charset="-122"/>
                        </a:rPr>
                        <a:t>）</a:t>
                      </a:r>
                    </a:p>
                  </a:txBody>
                  <a:tcPr anchor="ctr">
                    <a:lnL w="12700" cap="flat" cmpd="sng">
                      <a:solidFill>
                        <a:srgbClr val="000000">
                          <a:alpha val="100000"/>
                        </a:srgbClr>
                      </a:solidFill>
                      <a:prstDash val="solid"/>
                      <a:round/>
                    </a:lnL>
                    <a:lnR w="9525"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1"/>
                  </a:ext>
                </a:extLst>
              </a:tr>
              <a:tr h="328612">
                <a:tc vMerge="1">
                  <a:txBody>
                    <a:bodyPr/>
                    <a:lstStyle/>
                    <a:p>
                      <a:endParaRPr sz="2800"/>
                    </a:p>
                  </a:txBody>
                  <a:tcPr/>
                </a:tc>
                <a:tc>
                  <a:txBody>
                    <a:bodyPr/>
                    <a:lstStyle/>
                    <a:p>
                      <a:pPr lvl="0" algn="ctr" eaLnBrk="1" latinLnBrk="1" hangingPunct="1">
                        <a:spcAft>
                          <a:spcPct val="20000"/>
                        </a:spcAft>
                        <a:buFontTx/>
                        <a:buNone/>
                      </a:pPr>
                      <a:r>
                        <a:rPr lang="en-US" altLang="zh-CN" sz="1400" b="0" dirty="0">
                          <a:solidFill>
                            <a:srgbClr val="000000"/>
                          </a:solidFill>
                          <a:ea typeface="黑体" pitchFamily="49" charset="-122"/>
                        </a:rPr>
                        <a:t>RFC793</a:t>
                      </a:r>
                    </a:p>
                  </a:txBody>
                  <a:tcPr anchor="ct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l" eaLnBrk="1" latinLnBrk="1" hangingPunct="1">
                        <a:spcAft>
                          <a:spcPct val="20000"/>
                        </a:spcAft>
                        <a:buFontTx/>
                        <a:buNone/>
                      </a:pPr>
                      <a:r>
                        <a:rPr lang="en-US" altLang="zh-CN" sz="1400" b="0">
                          <a:solidFill>
                            <a:srgbClr val="000000"/>
                          </a:solidFill>
                          <a:ea typeface="黑体" pitchFamily="49" charset="-122"/>
                        </a:rPr>
                        <a:t>TCP</a:t>
                      </a:r>
                      <a:r>
                        <a:rPr lang="zh-CN" altLang="en-US" sz="1400" b="0">
                          <a:solidFill>
                            <a:srgbClr val="000000"/>
                          </a:solidFill>
                          <a:ea typeface="黑体" pitchFamily="49" charset="-122"/>
                        </a:rPr>
                        <a:t>传输控制协议（</a:t>
                      </a:r>
                      <a:r>
                        <a:rPr lang="en-US" altLang="zh-CN" sz="1400" b="0">
                          <a:solidFill>
                            <a:srgbClr val="000000"/>
                          </a:solidFill>
                          <a:ea typeface="黑体" pitchFamily="49" charset="-122"/>
                        </a:rPr>
                        <a:t>1981</a:t>
                      </a:r>
                      <a:r>
                        <a:rPr lang="zh-CN" altLang="en-US" sz="1400" b="0">
                          <a:solidFill>
                            <a:srgbClr val="000000"/>
                          </a:solidFill>
                          <a:ea typeface="黑体" pitchFamily="49" charset="-122"/>
                        </a:rPr>
                        <a:t>）</a:t>
                      </a:r>
                    </a:p>
                  </a:txBody>
                  <a:tcPr anchor="ctr">
                    <a:lnL w="12700" cap="flat" cmpd="sng">
                      <a:solidFill>
                        <a:srgbClr val="000000">
                          <a:alpha val="100000"/>
                        </a:srgbClr>
                      </a:solidFill>
                      <a:prstDash val="solid"/>
                      <a:round/>
                    </a:lnL>
                    <a:lnR w="9525"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2"/>
                  </a:ext>
                </a:extLst>
              </a:tr>
              <a:tr h="304799">
                <a:tc vMerge="1">
                  <a:txBody>
                    <a:bodyPr/>
                    <a:lstStyle/>
                    <a:p>
                      <a:endParaRPr sz="2800"/>
                    </a:p>
                  </a:txBody>
                  <a:tcPr/>
                </a:tc>
                <a:tc>
                  <a:txBody>
                    <a:bodyPr/>
                    <a:lstStyle/>
                    <a:p>
                      <a:pPr lvl="0" algn="ctr" eaLnBrk="1" latinLnBrk="1" hangingPunct="1">
                        <a:spcAft>
                          <a:spcPct val="20000"/>
                        </a:spcAft>
                        <a:buFontTx/>
                        <a:buNone/>
                      </a:pPr>
                      <a:r>
                        <a:rPr lang="en-US" altLang="zh-CN" sz="1400" b="0" dirty="0">
                          <a:solidFill>
                            <a:srgbClr val="000000"/>
                          </a:solidFill>
                          <a:ea typeface="黑体" pitchFamily="49" charset="-122"/>
                        </a:rPr>
                        <a:t>RFC1081</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l" eaLnBrk="1" latinLnBrk="1" hangingPunct="1">
                        <a:spcAft>
                          <a:spcPct val="20000"/>
                        </a:spcAft>
                        <a:buFontTx/>
                        <a:buNone/>
                      </a:pPr>
                      <a:r>
                        <a:rPr lang="en-US" altLang="zh-CN" sz="1400" b="0">
                          <a:solidFill>
                            <a:srgbClr val="000000"/>
                          </a:solidFill>
                          <a:ea typeface="黑体" pitchFamily="49" charset="-122"/>
                        </a:rPr>
                        <a:t>POP3</a:t>
                      </a:r>
                      <a:r>
                        <a:rPr lang="zh-CN" altLang="en-US" sz="1400" b="0">
                          <a:solidFill>
                            <a:srgbClr val="000000"/>
                          </a:solidFill>
                          <a:ea typeface="黑体" pitchFamily="49" charset="-122"/>
                        </a:rPr>
                        <a:t>邮件接收协议（</a:t>
                      </a:r>
                      <a:r>
                        <a:rPr lang="en-US" altLang="zh-CN" sz="1400" b="0">
                          <a:solidFill>
                            <a:srgbClr val="000000"/>
                          </a:solidFill>
                          <a:ea typeface="黑体" pitchFamily="49" charset="-122"/>
                        </a:rPr>
                        <a:t>1988</a:t>
                      </a:r>
                      <a:r>
                        <a:rPr lang="zh-CN" altLang="en-US" sz="1400" b="0">
                          <a:solidFill>
                            <a:srgbClr val="000000"/>
                          </a:solidFill>
                          <a:ea typeface="黑体" pitchFamily="49" charset="-122"/>
                        </a:rPr>
                        <a:t>）</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3"/>
                  </a:ext>
                </a:extLst>
              </a:tr>
              <a:tr h="304799">
                <a:tc vMerge="1">
                  <a:txBody>
                    <a:bodyPr/>
                    <a:lstStyle/>
                    <a:p>
                      <a:endParaRPr sz="2800"/>
                    </a:p>
                  </a:txBody>
                  <a:tcPr/>
                </a:tc>
                <a:tc>
                  <a:txBody>
                    <a:bodyPr/>
                    <a:lstStyle/>
                    <a:p>
                      <a:pPr lvl="0" algn="ctr" eaLnBrk="1" latinLnBrk="1" hangingPunct="1">
                        <a:spcAft>
                          <a:spcPct val="20000"/>
                        </a:spcAft>
                        <a:buFontTx/>
                        <a:buNone/>
                      </a:pPr>
                      <a:r>
                        <a:rPr lang="en-US" altLang="zh-CN" sz="1400" b="0" dirty="0">
                          <a:solidFill>
                            <a:srgbClr val="000000"/>
                          </a:solidFill>
                          <a:ea typeface="黑体" pitchFamily="49" charset="-122"/>
                        </a:rPr>
                        <a:t>RFC1945</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l" eaLnBrk="1" latinLnBrk="1" hangingPunct="1">
                        <a:spcAft>
                          <a:spcPct val="20000"/>
                        </a:spcAft>
                        <a:buFontTx/>
                        <a:buNone/>
                      </a:pPr>
                      <a:r>
                        <a:rPr lang="en-US" altLang="zh-CN" sz="1400" b="0">
                          <a:solidFill>
                            <a:srgbClr val="000000"/>
                          </a:solidFill>
                          <a:ea typeface="黑体" pitchFamily="49" charset="-122"/>
                        </a:rPr>
                        <a:t>HTTP 1.0</a:t>
                      </a:r>
                      <a:r>
                        <a:rPr lang="zh-CN" altLang="en-US" sz="1400" b="0">
                          <a:solidFill>
                            <a:srgbClr val="000000"/>
                          </a:solidFill>
                          <a:ea typeface="黑体" pitchFamily="49" charset="-122"/>
                        </a:rPr>
                        <a:t>超文本传输协议（</a:t>
                      </a:r>
                      <a:r>
                        <a:rPr lang="en-US" altLang="zh-CN" sz="1400" b="0">
                          <a:solidFill>
                            <a:srgbClr val="000000"/>
                          </a:solidFill>
                          <a:ea typeface="黑体" pitchFamily="49" charset="-122"/>
                        </a:rPr>
                        <a:t>1996</a:t>
                      </a:r>
                      <a:r>
                        <a:rPr lang="zh-CN" altLang="en-US" sz="1400" b="0">
                          <a:solidFill>
                            <a:srgbClr val="000000"/>
                          </a:solidFill>
                          <a:ea typeface="黑体" pitchFamily="49" charset="-122"/>
                        </a:rPr>
                        <a:t>）</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4"/>
                  </a:ext>
                </a:extLst>
              </a:tr>
              <a:tr h="304799">
                <a:tc rowSpan="2">
                  <a:txBody>
                    <a:bodyPr/>
                    <a:lstStyle/>
                    <a:p>
                      <a:pPr lvl="0" algn="ctr" eaLnBrk="1" latinLnBrk="1" hangingPunct="1">
                        <a:spcAft>
                          <a:spcPct val="20000"/>
                        </a:spcAft>
                        <a:buFontTx/>
                        <a:buNone/>
                      </a:pPr>
                      <a:r>
                        <a:rPr lang="zh-CN" altLang="en-US" sz="1400" b="0">
                          <a:solidFill>
                            <a:srgbClr val="000000"/>
                          </a:solidFill>
                          <a:ea typeface="黑体" pitchFamily="49" charset="-122"/>
                        </a:rPr>
                        <a:t>地址类</a:t>
                      </a:r>
                    </a:p>
                  </a:txBody>
                  <a:tcPr anchor="ctr">
                    <a:lnL w="9525"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ctr" eaLnBrk="1" latinLnBrk="1" hangingPunct="1">
                        <a:spcAft>
                          <a:spcPct val="20000"/>
                        </a:spcAft>
                        <a:buFontTx/>
                        <a:buNone/>
                      </a:pPr>
                      <a:r>
                        <a:rPr lang="en-US" altLang="zh-CN" sz="1400" b="0" dirty="0">
                          <a:solidFill>
                            <a:srgbClr val="000000"/>
                          </a:solidFill>
                          <a:ea typeface="黑体" pitchFamily="49" charset="-122"/>
                        </a:rPr>
                        <a:t>RFC932</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l" eaLnBrk="1" latinLnBrk="1" hangingPunct="1">
                        <a:spcAft>
                          <a:spcPct val="20000"/>
                        </a:spcAft>
                        <a:buFontTx/>
                        <a:buNone/>
                      </a:pPr>
                      <a:r>
                        <a:rPr lang="zh-CN" altLang="en-US" sz="1400" b="0">
                          <a:solidFill>
                            <a:srgbClr val="000000"/>
                          </a:solidFill>
                          <a:ea typeface="黑体" pitchFamily="49" charset="-122"/>
                        </a:rPr>
                        <a:t>子网地址分配方案（</a:t>
                      </a:r>
                      <a:r>
                        <a:rPr lang="en-US" altLang="zh-CN" sz="1400" b="0">
                          <a:solidFill>
                            <a:srgbClr val="000000"/>
                          </a:solidFill>
                          <a:ea typeface="黑体" pitchFamily="49" charset="-122"/>
                        </a:rPr>
                        <a:t>1985</a:t>
                      </a:r>
                      <a:r>
                        <a:rPr lang="zh-CN" altLang="en-US" sz="1400" b="0">
                          <a:solidFill>
                            <a:srgbClr val="000000"/>
                          </a:solidFill>
                          <a:ea typeface="黑体" pitchFamily="49" charset="-122"/>
                        </a:rPr>
                        <a:t>）</a:t>
                      </a:r>
                    </a:p>
                  </a:txBody>
                  <a:tcPr>
                    <a:lnL w="12700" cap="flat" cmpd="sng">
                      <a:solidFill>
                        <a:srgbClr val="000000">
                          <a:alpha val="100000"/>
                        </a:srgbClr>
                      </a:solidFill>
                      <a:prstDash val="solid"/>
                      <a:round/>
                    </a:lnL>
                    <a:lnR w="9525"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5"/>
                  </a:ext>
                </a:extLst>
              </a:tr>
              <a:tr h="304799">
                <a:tc vMerge="1">
                  <a:txBody>
                    <a:bodyPr/>
                    <a:lstStyle/>
                    <a:p>
                      <a:endParaRPr sz="2800"/>
                    </a:p>
                  </a:txBody>
                  <a:tcPr/>
                </a:tc>
                <a:tc>
                  <a:txBody>
                    <a:bodyPr/>
                    <a:lstStyle/>
                    <a:p>
                      <a:pPr lvl="0" algn="ctr" eaLnBrk="1" latinLnBrk="1" hangingPunct="1">
                        <a:spcAft>
                          <a:spcPct val="20000"/>
                        </a:spcAft>
                        <a:buFontTx/>
                        <a:buNone/>
                      </a:pPr>
                      <a:r>
                        <a:rPr lang="en-US" altLang="zh-CN" sz="1400" b="0" dirty="0">
                          <a:solidFill>
                            <a:srgbClr val="000000"/>
                          </a:solidFill>
                          <a:ea typeface="黑体" pitchFamily="49" charset="-122"/>
                        </a:rPr>
                        <a:t>RFC2373</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l" eaLnBrk="1" latinLnBrk="1" hangingPunct="1">
                        <a:spcAft>
                          <a:spcPct val="20000"/>
                        </a:spcAft>
                        <a:buFontTx/>
                        <a:buNone/>
                      </a:pPr>
                      <a:r>
                        <a:rPr lang="en-US" altLang="zh-CN" sz="1400" b="0">
                          <a:solidFill>
                            <a:srgbClr val="000000"/>
                          </a:solidFill>
                          <a:ea typeface="黑体" pitchFamily="49" charset="-122"/>
                        </a:rPr>
                        <a:t>IPv6</a:t>
                      </a:r>
                      <a:r>
                        <a:rPr lang="zh-CN" altLang="en-US" sz="1400" b="0">
                          <a:solidFill>
                            <a:srgbClr val="000000"/>
                          </a:solidFill>
                          <a:ea typeface="黑体" pitchFamily="49" charset="-122"/>
                        </a:rPr>
                        <a:t>寻址体系结构（</a:t>
                      </a:r>
                      <a:r>
                        <a:rPr lang="en-US" altLang="zh-CN" sz="1400" b="0">
                          <a:solidFill>
                            <a:srgbClr val="000000"/>
                          </a:solidFill>
                          <a:ea typeface="黑体" pitchFamily="49" charset="-122"/>
                        </a:rPr>
                        <a:t>1998</a:t>
                      </a:r>
                      <a:r>
                        <a:rPr lang="zh-CN" altLang="en-US" sz="1400" b="0">
                          <a:solidFill>
                            <a:srgbClr val="000000"/>
                          </a:solidFill>
                          <a:ea typeface="黑体" pitchFamily="49" charset="-122"/>
                        </a:rPr>
                        <a:t>）</a:t>
                      </a:r>
                    </a:p>
                  </a:txBody>
                  <a:tcPr>
                    <a:lnL w="12700" cap="flat" cmpd="sng">
                      <a:solidFill>
                        <a:srgbClr val="000000">
                          <a:alpha val="100000"/>
                        </a:srgbClr>
                      </a:solidFill>
                      <a:prstDash val="solid"/>
                      <a:round/>
                    </a:lnL>
                    <a:lnR w="9525"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6"/>
                  </a:ext>
                </a:extLst>
              </a:tr>
              <a:tr h="304799">
                <a:tc rowSpan="2">
                  <a:txBody>
                    <a:bodyPr/>
                    <a:lstStyle/>
                    <a:p>
                      <a:pPr lvl="0" algn="ctr" eaLnBrk="1" latinLnBrk="1" hangingPunct="1">
                        <a:spcAft>
                          <a:spcPct val="20000"/>
                        </a:spcAft>
                        <a:buFontTx/>
                        <a:buNone/>
                      </a:pPr>
                      <a:r>
                        <a:rPr lang="zh-CN" altLang="en-US" sz="1400" b="0">
                          <a:solidFill>
                            <a:srgbClr val="000000"/>
                          </a:solidFill>
                          <a:ea typeface="黑体" pitchFamily="49" charset="-122"/>
                        </a:rPr>
                        <a:t>路由类</a:t>
                      </a:r>
                    </a:p>
                  </a:txBody>
                  <a:tcPr anchor="ctr">
                    <a:lnL w="9525"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ctr" eaLnBrk="1" latinLnBrk="1" hangingPunct="1">
                        <a:spcAft>
                          <a:spcPct val="20000"/>
                        </a:spcAft>
                        <a:buFontTx/>
                        <a:buNone/>
                      </a:pPr>
                      <a:r>
                        <a:rPr lang="en-US" altLang="zh-CN" sz="1400" b="0" dirty="0">
                          <a:solidFill>
                            <a:srgbClr val="000000"/>
                          </a:solidFill>
                          <a:ea typeface="黑体" pitchFamily="49" charset="-122"/>
                        </a:rPr>
                        <a:t>RFC1131</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l" eaLnBrk="1" latinLnBrk="1" hangingPunct="1">
                        <a:spcAft>
                          <a:spcPct val="20000"/>
                        </a:spcAft>
                        <a:buFontTx/>
                        <a:buNone/>
                      </a:pPr>
                      <a:r>
                        <a:rPr lang="en-US" altLang="zh-CN" sz="1400" b="0">
                          <a:solidFill>
                            <a:srgbClr val="000000"/>
                          </a:solidFill>
                          <a:ea typeface="黑体" pitchFamily="49" charset="-122"/>
                        </a:rPr>
                        <a:t>OSPF</a:t>
                      </a:r>
                      <a:r>
                        <a:rPr lang="zh-CN" altLang="en-US" sz="1400" b="0">
                          <a:solidFill>
                            <a:srgbClr val="000000"/>
                          </a:solidFill>
                          <a:ea typeface="黑体" pitchFamily="49" charset="-122"/>
                        </a:rPr>
                        <a:t>规范（</a:t>
                      </a:r>
                      <a:r>
                        <a:rPr lang="en-US" altLang="zh-CN" sz="1400" b="0">
                          <a:solidFill>
                            <a:srgbClr val="000000"/>
                          </a:solidFill>
                          <a:ea typeface="黑体" pitchFamily="49" charset="-122"/>
                        </a:rPr>
                        <a:t>1989</a:t>
                      </a:r>
                      <a:r>
                        <a:rPr lang="zh-CN" altLang="en-US" sz="1400" b="0">
                          <a:solidFill>
                            <a:srgbClr val="000000"/>
                          </a:solidFill>
                          <a:ea typeface="黑体" pitchFamily="49" charset="-122"/>
                        </a:rPr>
                        <a:t>）</a:t>
                      </a:r>
                    </a:p>
                  </a:txBody>
                  <a:tcPr>
                    <a:lnL w="12700" cap="flat" cmpd="sng">
                      <a:solidFill>
                        <a:srgbClr val="000000">
                          <a:alpha val="100000"/>
                        </a:srgbClr>
                      </a:solidFill>
                      <a:prstDash val="solid"/>
                      <a:round/>
                    </a:lnL>
                    <a:lnR w="9525"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7"/>
                  </a:ext>
                </a:extLst>
              </a:tr>
              <a:tr h="304799">
                <a:tc vMerge="1">
                  <a:txBody>
                    <a:bodyPr/>
                    <a:lstStyle/>
                    <a:p>
                      <a:endParaRPr sz="2800"/>
                    </a:p>
                  </a:txBody>
                  <a:tcPr/>
                </a:tc>
                <a:tc>
                  <a:txBody>
                    <a:bodyPr/>
                    <a:lstStyle/>
                    <a:p>
                      <a:pPr lvl="0" algn="ctr" eaLnBrk="1" latinLnBrk="1" hangingPunct="1">
                        <a:spcAft>
                          <a:spcPct val="20000"/>
                        </a:spcAft>
                        <a:buFontTx/>
                        <a:buNone/>
                      </a:pPr>
                      <a:r>
                        <a:rPr lang="en-US" altLang="zh-CN" sz="1400" b="0" dirty="0">
                          <a:solidFill>
                            <a:srgbClr val="000000"/>
                          </a:solidFill>
                          <a:ea typeface="黑体" pitchFamily="49" charset="-122"/>
                        </a:rPr>
                        <a:t>RFC1661</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l" eaLnBrk="1" latinLnBrk="1" hangingPunct="1">
                        <a:spcAft>
                          <a:spcPct val="20000"/>
                        </a:spcAft>
                        <a:buFontTx/>
                        <a:buNone/>
                      </a:pPr>
                      <a:r>
                        <a:rPr lang="en-US" altLang="zh-CN" sz="1400" b="0">
                          <a:solidFill>
                            <a:srgbClr val="000000"/>
                          </a:solidFill>
                          <a:ea typeface="黑体" pitchFamily="49" charset="-122"/>
                        </a:rPr>
                        <a:t>PPP</a:t>
                      </a:r>
                      <a:r>
                        <a:rPr lang="zh-CN" altLang="en-US" sz="1400" b="0">
                          <a:solidFill>
                            <a:srgbClr val="000000"/>
                          </a:solidFill>
                          <a:ea typeface="黑体" pitchFamily="49" charset="-122"/>
                        </a:rPr>
                        <a:t>点对点协议（</a:t>
                      </a:r>
                      <a:r>
                        <a:rPr lang="en-US" altLang="zh-CN" sz="1400" b="0">
                          <a:solidFill>
                            <a:srgbClr val="000000"/>
                          </a:solidFill>
                          <a:ea typeface="黑体" pitchFamily="49" charset="-122"/>
                        </a:rPr>
                        <a:t>1994</a:t>
                      </a:r>
                      <a:r>
                        <a:rPr lang="zh-CN" altLang="en-US" sz="1400" b="0">
                          <a:solidFill>
                            <a:srgbClr val="000000"/>
                          </a:solidFill>
                          <a:ea typeface="黑体" pitchFamily="49" charset="-122"/>
                        </a:rPr>
                        <a:t>）</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8"/>
                  </a:ext>
                </a:extLst>
              </a:tr>
              <a:tr h="304799">
                <a:tc rowSpan="2">
                  <a:txBody>
                    <a:bodyPr/>
                    <a:lstStyle/>
                    <a:p>
                      <a:pPr lvl="0" algn="ctr" eaLnBrk="1" latinLnBrk="1" hangingPunct="1">
                        <a:spcAft>
                          <a:spcPct val="20000"/>
                        </a:spcAft>
                        <a:buFontTx/>
                        <a:buNone/>
                      </a:pPr>
                      <a:r>
                        <a:rPr lang="en-US" altLang="zh-CN" sz="1400" b="0">
                          <a:solidFill>
                            <a:srgbClr val="000000"/>
                          </a:solidFill>
                          <a:ea typeface="黑体" pitchFamily="49" charset="-122"/>
                        </a:rPr>
                        <a:t>QoS</a:t>
                      </a:r>
                      <a:r>
                        <a:rPr lang="zh-CN" altLang="en-US" sz="1400" b="0">
                          <a:solidFill>
                            <a:srgbClr val="000000"/>
                          </a:solidFill>
                          <a:ea typeface="黑体" pitchFamily="49" charset="-122"/>
                        </a:rPr>
                        <a:t>类</a:t>
                      </a:r>
                    </a:p>
                  </a:txBody>
                  <a:tcPr anchor="ctr">
                    <a:lnL w="9525"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ctr" eaLnBrk="1" latinLnBrk="1" hangingPunct="1">
                        <a:spcAft>
                          <a:spcPct val="20000"/>
                        </a:spcAft>
                        <a:buFontTx/>
                        <a:buNone/>
                      </a:pPr>
                      <a:r>
                        <a:rPr lang="en-US" altLang="zh-CN" sz="1400" b="0" dirty="0">
                          <a:solidFill>
                            <a:srgbClr val="000000"/>
                          </a:solidFill>
                          <a:ea typeface="黑体" pitchFamily="49" charset="-122"/>
                        </a:rPr>
                        <a:t>RFC1633</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l" eaLnBrk="1" latinLnBrk="1" hangingPunct="1">
                        <a:spcAft>
                          <a:spcPct val="20000"/>
                        </a:spcAft>
                        <a:buFontTx/>
                        <a:buNone/>
                      </a:pPr>
                      <a:r>
                        <a:rPr lang="en-US" altLang="zh-CN" sz="1400" b="0" dirty="0" err="1">
                          <a:solidFill>
                            <a:srgbClr val="000000"/>
                          </a:solidFill>
                          <a:ea typeface="黑体" pitchFamily="49" charset="-122"/>
                        </a:rPr>
                        <a:t>IntServ</a:t>
                      </a:r>
                      <a:r>
                        <a:rPr lang="zh-CN" altLang="en-US" sz="1400" b="0" dirty="0">
                          <a:solidFill>
                            <a:srgbClr val="000000"/>
                          </a:solidFill>
                          <a:ea typeface="黑体" pitchFamily="49" charset="-122"/>
                        </a:rPr>
                        <a:t>（集成业务）模型（</a:t>
                      </a:r>
                      <a:r>
                        <a:rPr lang="en-US" altLang="zh-CN" sz="1400" b="0" dirty="0">
                          <a:solidFill>
                            <a:srgbClr val="000000"/>
                          </a:solidFill>
                          <a:ea typeface="黑体" pitchFamily="49" charset="-122"/>
                        </a:rPr>
                        <a:t>1994</a:t>
                      </a:r>
                      <a:r>
                        <a:rPr lang="zh-CN" altLang="en-US" sz="1400" b="0" dirty="0">
                          <a:solidFill>
                            <a:srgbClr val="000000"/>
                          </a:solidFill>
                          <a:ea typeface="黑体" pitchFamily="49" charset="-122"/>
                        </a:rPr>
                        <a:t>）</a:t>
                      </a:r>
                    </a:p>
                  </a:txBody>
                  <a:tcPr>
                    <a:lnL w="12700" cap="flat" cmpd="sng">
                      <a:solidFill>
                        <a:srgbClr val="000000">
                          <a:alpha val="100000"/>
                        </a:srgbClr>
                      </a:solidFill>
                      <a:prstDash val="solid"/>
                      <a:round/>
                    </a:lnL>
                    <a:lnR w="9525"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09"/>
                  </a:ext>
                </a:extLst>
              </a:tr>
              <a:tr h="304799">
                <a:tc vMerge="1">
                  <a:txBody>
                    <a:bodyPr/>
                    <a:lstStyle/>
                    <a:p>
                      <a:endParaRPr sz="2800"/>
                    </a:p>
                  </a:txBody>
                  <a:tcPr/>
                </a:tc>
                <a:tc>
                  <a:txBody>
                    <a:bodyPr/>
                    <a:lstStyle/>
                    <a:p>
                      <a:pPr lvl="0" algn="ctr" eaLnBrk="1" latinLnBrk="1" hangingPunct="1">
                        <a:spcAft>
                          <a:spcPct val="20000"/>
                        </a:spcAft>
                        <a:buFontTx/>
                        <a:buNone/>
                      </a:pPr>
                      <a:r>
                        <a:rPr lang="en-US" altLang="zh-CN" sz="1400" b="0">
                          <a:solidFill>
                            <a:srgbClr val="000000"/>
                          </a:solidFill>
                          <a:ea typeface="黑体" pitchFamily="49" charset="-122"/>
                        </a:rPr>
                        <a:t>RFC2475</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l" eaLnBrk="1" latinLnBrk="1" hangingPunct="1">
                        <a:spcAft>
                          <a:spcPct val="20000"/>
                        </a:spcAft>
                        <a:buFontTx/>
                        <a:buNone/>
                      </a:pPr>
                      <a:r>
                        <a:rPr lang="en-US" altLang="zh-CN" sz="1400" b="0" dirty="0" err="1">
                          <a:solidFill>
                            <a:srgbClr val="000000"/>
                          </a:solidFill>
                          <a:ea typeface="黑体" pitchFamily="49" charset="-122"/>
                        </a:rPr>
                        <a:t>DiffServ</a:t>
                      </a:r>
                      <a:r>
                        <a:rPr lang="zh-CN" altLang="en-US" sz="1400" b="0" dirty="0">
                          <a:solidFill>
                            <a:srgbClr val="000000"/>
                          </a:solidFill>
                          <a:ea typeface="黑体" pitchFamily="49" charset="-122"/>
                        </a:rPr>
                        <a:t>（区分业务）模型（</a:t>
                      </a:r>
                      <a:r>
                        <a:rPr lang="en-US" altLang="zh-CN" sz="1400" b="0" dirty="0">
                          <a:solidFill>
                            <a:srgbClr val="000000"/>
                          </a:solidFill>
                          <a:ea typeface="黑体" pitchFamily="49" charset="-122"/>
                        </a:rPr>
                        <a:t>1998</a:t>
                      </a:r>
                      <a:r>
                        <a:rPr lang="zh-CN" altLang="en-US" sz="1400" b="0" dirty="0">
                          <a:solidFill>
                            <a:srgbClr val="000000"/>
                          </a:solidFill>
                          <a:ea typeface="黑体" pitchFamily="49" charset="-122"/>
                        </a:rPr>
                        <a:t>）</a:t>
                      </a:r>
                    </a:p>
                  </a:txBody>
                  <a:tcPr>
                    <a:lnL w="12700" cap="flat" cmpd="sng">
                      <a:solidFill>
                        <a:srgbClr val="000000">
                          <a:alpha val="100000"/>
                        </a:srgbClr>
                      </a:solidFill>
                      <a:prstDash val="solid"/>
                      <a:round/>
                    </a:lnL>
                    <a:lnR w="9525"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10"/>
                  </a:ext>
                </a:extLst>
              </a:tr>
              <a:tr h="304799">
                <a:tc rowSpan="2">
                  <a:txBody>
                    <a:bodyPr/>
                    <a:lstStyle/>
                    <a:p>
                      <a:pPr lvl="0" algn="ctr" eaLnBrk="1" latinLnBrk="1" hangingPunct="1">
                        <a:spcAft>
                          <a:spcPct val="20000"/>
                        </a:spcAft>
                        <a:buFontTx/>
                        <a:buNone/>
                      </a:pPr>
                      <a:r>
                        <a:rPr lang="zh-CN" altLang="en-US" sz="1400" b="0">
                          <a:solidFill>
                            <a:srgbClr val="000000"/>
                          </a:solidFill>
                          <a:ea typeface="黑体" pitchFamily="49" charset="-122"/>
                        </a:rPr>
                        <a:t>安全类</a:t>
                      </a:r>
                    </a:p>
                  </a:txBody>
                  <a:tcPr anchor="ctr">
                    <a:lnL w="9525"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ctr" eaLnBrk="1" latinLnBrk="1" hangingPunct="1">
                        <a:spcAft>
                          <a:spcPct val="20000"/>
                        </a:spcAft>
                        <a:buFontTx/>
                        <a:buNone/>
                      </a:pPr>
                      <a:r>
                        <a:rPr lang="en-US" altLang="zh-CN" sz="1400" b="0">
                          <a:solidFill>
                            <a:srgbClr val="000000"/>
                          </a:solidFill>
                          <a:ea typeface="黑体" pitchFamily="49" charset="-122"/>
                        </a:rPr>
                        <a:t>RFC2401</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l" eaLnBrk="1" latinLnBrk="1" hangingPunct="1">
                        <a:spcAft>
                          <a:spcPct val="20000"/>
                        </a:spcAft>
                        <a:buFontTx/>
                        <a:buNone/>
                      </a:pPr>
                      <a:r>
                        <a:rPr lang="zh-CN" altLang="en-US" sz="1400" b="0" dirty="0">
                          <a:solidFill>
                            <a:srgbClr val="000000"/>
                          </a:solidFill>
                          <a:ea typeface="黑体" pitchFamily="49" charset="-122"/>
                        </a:rPr>
                        <a:t>因特网协议的安全体系结构（</a:t>
                      </a:r>
                      <a:r>
                        <a:rPr lang="en-US" altLang="zh-CN" sz="1400" b="0" dirty="0">
                          <a:solidFill>
                            <a:srgbClr val="000000"/>
                          </a:solidFill>
                          <a:ea typeface="黑体" pitchFamily="49" charset="-122"/>
                        </a:rPr>
                        <a:t>1998</a:t>
                      </a:r>
                      <a:r>
                        <a:rPr lang="zh-CN" altLang="en-US" sz="1400" b="0" dirty="0">
                          <a:solidFill>
                            <a:srgbClr val="000000"/>
                          </a:solidFill>
                          <a:ea typeface="黑体" pitchFamily="49" charset="-122"/>
                        </a:rPr>
                        <a:t>）</a:t>
                      </a:r>
                    </a:p>
                  </a:txBody>
                  <a:tcPr>
                    <a:lnL w="12700" cap="flat" cmpd="sng">
                      <a:solidFill>
                        <a:srgbClr val="000000">
                          <a:alpha val="100000"/>
                        </a:srgbClr>
                      </a:solidFill>
                      <a:prstDash val="solid"/>
                      <a:round/>
                    </a:lnL>
                    <a:lnR w="9525"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11"/>
                  </a:ext>
                </a:extLst>
              </a:tr>
              <a:tr h="304799">
                <a:tc vMerge="1">
                  <a:txBody>
                    <a:bodyPr/>
                    <a:lstStyle/>
                    <a:p>
                      <a:endParaRPr sz="2800"/>
                    </a:p>
                  </a:txBody>
                  <a:tcPr/>
                </a:tc>
                <a:tc>
                  <a:txBody>
                    <a:bodyPr/>
                    <a:lstStyle/>
                    <a:p>
                      <a:pPr lvl="0" algn="ctr" eaLnBrk="1" latinLnBrk="1" hangingPunct="1">
                        <a:spcAft>
                          <a:spcPct val="20000"/>
                        </a:spcAft>
                        <a:buFontTx/>
                        <a:buNone/>
                      </a:pPr>
                      <a:r>
                        <a:rPr lang="en-US" altLang="zh-CN" sz="1400" b="0">
                          <a:solidFill>
                            <a:srgbClr val="000000"/>
                          </a:solidFill>
                          <a:ea typeface="黑体" pitchFamily="49" charset="-122"/>
                        </a:rPr>
                        <a:t>RFC3093</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l" eaLnBrk="1" latinLnBrk="1" hangingPunct="1">
                        <a:spcAft>
                          <a:spcPct val="20000"/>
                        </a:spcAft>
                        <a:buFontTx/>
                        <a:buNone/>
                      </a:pPr>
                      <a:r>
                        <a:rPr lang="zh-CN" altLang="en-US" sz="1400" b="0">
                          <a:solidFill>
                            <a:srgbClr val="000000"/>
                          </a:solidFill>
                          <a:ea typeface="黑体" pitchFamily="49" charset="-122"/>
                        </a:rPr>
                        <a:t>防火墙增强协议（</a:t>
                      </a:r>
                      <a:r>
                        <a:rPr lang="en-US" altLang="zh-CN" sz="1400" b="0">
                          <a:solidFill>
                            <a:srgbClr val="000000"/>
                          </a:solidFill>
                          <a:ea typeface="黑体" pitchFamily="49" charset="-122"/>
                        </a:rPr>
                        <a:t>FEP</a:t>
                      </a:r>
                      <a:r>
                        <a:rPr lang="zh-CN" altLang="en-US" sz="1400" b="0">
                          <a:solidFill>
                            <a:srgbClr val="000000"/>
                          </a:solidFill>
                          <a:ea typeface="黑体" pitchFamily="49" charset="-122"/>
                        </a:rPr>
                        <a:t>）（</a:t>
                      </a:r>
                      <a:r>
                        <a:rPr lang="en-US" altLang="zh-CN" sz="1400" b="0">
                          <a:solidFill>
                            <a:srgbClr val="000000"/>
                          </a:solidFill>
                          <a:ea typeface="黑体" pitchFamily="49" charset="-122"/>
                        </a:rPr>
                        <a:t>2001</a:t>
                      </a:r>
                      <a:r>
                        <a:rPr lang="zh-CN" altLang="en-US" sz="1400" b="0">
                          <a:solidFill>
                            <a:srgbClr val="000000"/>
                          </a:solidFill>
                          <a:ea typeface="黑体" pitchFamily="49" charset="-122"/>
                        </a:rPr>
                        <a:t>）</a:t>
                      </a:r>
                    </a:p>
                  </a:txBody>
                  <a:tcPr>
                    <a:lnL w="12700" cap="flat" cmpd="sng">
                      <a:solidFill>
                        <a:srgbClr val="000000">
                          <a:alpha val="100000"/>
                        </a:srgbClr>
                      </a:solidFill>
                      <a:prstDash val="solid"/>
                      <a:round/>
                    </a:lnL>
                    <a:lnR w="9525"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12"/>
                  </a:ext>
                </a:extLst>
              </a:tr>
              <a:tr h="304799">
                <a:tc rowSpan="2">
                  <a:txBody>
                    <a:bodyPr/>
                    <a:lstStyle/>
                    <a:p>
                      <a:pPr lvl="0" algn="ctr" eaLnBrk="1" latinLnBrk="1" hangingPunct="1">
                        <a:spcAft>
                          <a:spcPct val="20000"/>
                        </a:spcAft>
                        <a:buFontTx/>
                        <a:buNone/>
                      </a:pPr>
                      <a:r>
                        <a:rPr lang="zh-CN" altLang="en-US" sz="1400" b="0">
                          <a:solidFill>
                            <a:srgbClr val="000000"/>
                          </a:solidFill>
                          <a:ea typeface="黑体" pitchFamily="49" charset="-122"/>
                        </a:rPr>
                        <a:t>管理类</a:t>
                      </a:r>
                    </a:p>
                  </a:txBody>
                  <a:tcPr anchor="ctr">
                    <a:lnL w="9525"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ctr" eaLnBrk="1" latinLnBrk="1" hangingPunct="1">
                        <a:spcAft>
                          <a:spcPct val="20000"/>
                        </a:spcAft>
                        <a:buFontTx/>
                        <a:buNone/>
                      </a:pPr>
                      <a:r>
                        <a:rPr lang="en-US" altLang="zh-CN" sz="1400" b="0">
                          <a:solidFill>
                            <a:srgbClr val="000000"/>
                          </a:solidFill>
                          <a:ea typeface="黑体" pitchFamily="49" charset="-122"/>
                        </a:rPr>
                        <a:t>RFC1157</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l" eaLnBrk="1" latinLnBrk="1" hangingPunct="1">
                        <a:spcAft>
                          <a:spcPct val="20000"/>
                        </a:spcAft>
                        <a:buFontTx/>
                        <a:buNone/>
                      </a:pPr>
                      <a:r>
                        <a:rPr lang="en-US" altLang="zh-CN" sz="1400" b="0">
                          <a:solidFill>
                            <a:srgbClr val="000000"/>
                          </a:solidFill>
                          <a:ea typeface="黑体" pitchFamily="49" charset="-122"/>
                        </a:rPr>
                        <a:t>SNMP</a:t>
                      </a:r>
                      <a:r>
                        <a:rPr lang="zh-CN" altLang="en-US" sz="1400" b="0">
                          <a:solidFill>
                            <a:srgbClr val="000000"/>
                          </a:solidFill>
                          <a:ea typeface="黑体" pitchFamily="49" charset="-122"/>
                        </a:rPr>
                        <a:t>简单网络管理协议（</a:t>
                      </a:r>
                      <a:r>
                        <a:rPr lang="en-US" altLang="zh-CN" sz="1400" b="0">
                          <a:solidFill>
                            <a:srgbClr val="000000"/>
                          </a:solidFill>
                          <a:ea typeface="黑体" pitchFamily="49" charset="-122"/>
                        </a:rPr>
                        <a:t>1990</a:t>
                      </a:r>
                      <a:r>
                        <a:rPr lang="zh-CN" altLang="en-US" sz="1400" b="0">
                          <a:solidFill>
                            <a:srgbClr val="000000"/>
                          </a:solidFill>
                          <a:ea typeface="黑体" pitchFamily="49" charset="-122"/>
                        </a:rPr>
                        <a:t>）</a:t>
                      </a:r>
                    </a:p>
                  </a:txBody>
                  <a:tcPr>
                    <a:lnL w="12700" cap="flat" cmpd="sng">
                      <a:solidFill>
                        <a:srgbClr val="000000">
                          <a:alpha val="100000"/>
                        </a:srgbClr>
                      </a:solidFill>
                      <a:prstDash val="solid"/>
                      <a:round/>
                    </a:lnL>
                    <a:lnR w="9525"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13"/>
                  </a:ext>
                </a:extLst>
              </a:tr>
              <a:tr h="304799">
                <a:tc vMerge="1">
                  <a:txBody>
                    <a:bodyPr/>
                    <a:lstStyle/>
                    <a:p>
                      <a:endParaRPr sz="2800"/>
                    </a:p>
                  </a:txBody>
                  <a:tcPr/>
                </a:tc>
                <a:tc>
                  <a:txBody>
                    <a:bodyPr/>
                    <a:lstStyle/>
                    <a:p>
                      <a:pPr lvl="0" algn="ctr" eaLnBrk="1" latinLnBrk="1" hangingPunct="1">
                        <a:spcAft>
                          <a:spcPct val="20000"/>
                        </a:spcAft>
                        <a:buFontTx/>
                        <a:buNone/>
                      </a:pPr>
                      <a:r>
                        <a:rPr lang="en-US" altLang="zh-CN" sz="1400" b="0">
                          <a:solidFill>
                            <a:srgbClr val="000000"/>
                          </a:solidFill>
                          <a:ea typeface="黑体" pitchFamily="49" charset="-122"/>
                        </a:rPr>
                        <a:t>RFC2906</a:t>
                      </a:r>
                    </a:p>
                  </a:txBody>
                  <a:tcPr>
                    <a:lnL w="12700" cap="flat" cmpd="sng">
                      <a:solidFill>
                        <a:srgbClr val="000000">
                          <a:alpha val="100000"/>
                        </a:srgbClr>
                      </a:solidFill>
                      <a:prstDash val="solid"/>
                      <a:roun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tc>
                  <a:txBody>
                    <a:bodyPr/>
                    <a:lstStyle/>
                    <a:p>
                      <a:pPr lvl="0" algn="l" eaLnBrk="1" latinLnBrk="1" hangingPunct="1">
                        <a:spcAft>
                          <a:spcPct val="20000"/>
                        </a:spcAft>
                        <a:buFontTx/>
                        <a:buNone/>
                      </a:pPr>
                      <a:r>
                        <a:rPr lang="en-US" altLang="zh-CN" sz="1400" b="0" dirty="0">
                          <a:solidFill>
                            <a:srgbClr val="000000"/>
                          </a:solidFill>
                          <a:ea typeface="黑体" pitchFamily="49" charset="-122"/>
                        </a:rPr>
                        <a:t>AAA</a:t>
                      </a:r>
                      <a:r>
                        <a:rPr lang="zh-CN" altLang="en-US" sz="1400" b="0" dirty="0">
                          <a:solidFill>
                            <a:srgbClr val="000000"/>
                          </a:solidFill>
                          <a:ea typeface="黑体" pitchFamily="49" charset="-122"/>
                        </a:rPr>
                        <a:t>授权要求（</a:t>
                      </a:r>
                      <a:r>
                        <a:rPr lang="en-US" altLang="zh-CN" sz="1400" b="0" dirty="0">
                          <a:solidFill>
                            <a:srgbClr val="000000"/>
                          </a:solidFill>
                          <a:ea typeface="黑体" pitchFamily="49" charset="-122"/>
                        </a:rPr>
                        <a:t>2000</a:t>
                      </a:r>
                      <a:r>
                        <a:rPr lang="zh-CN" altLang="en-US" sz="1400" b="0" dirty="0">
                          <a:solidFill>
                            <a:srgbClr val="000000"/>
                          </a:solidFill>
                          <a:ea typeface="黑体" pitchFamily="49" charset="-122"/>
                        </a:rPr>
                        <a:t>）</a:t>
                      </a:r>
                    </a:p>
                  </a:txBody>
                  <a:tcPr>
                    <a:lnL w="12700" cap="flat" cmpd="sng">
                      <a:solidFill>
                        <a:srgbClr val="000000">
                          <a:alpha val="100000"/>
                        </a:srgbClr>
                      </a:solidFill>
                      <a:prstDash val="solid"/>
                      <a:round/>
                    </a:lnL>
                    <a:lnR w="9525"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lnB>
                    <a:noFill/>
                  </a:tcPr>
                </a:tc>
                <a:extLst>
                  <a:ext uri="{0D108BD9-81ED-4DB2-BD59-A6C34878D82A}">
                    <a16:rowId xmlns:a16="http://schemas.microsoft.com/office/drawing/2014/main" val="10014"/>
                  </a:ext>
                </a:extLst>
              </a:tr>
            </a:tbl>
          </a:graphicData>
        </a:graphic>
      </p:graphicFrame>
    </p:spTree>
  </p:cSld>
  <p:clrMapOvr>
    <a:masterClrMapping/>
  </p:clrMapOvr>
  <p:transition spd="slow">
    <p:zoom/>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349" name="Rectangle 3"/>
          <p:cNvSpPr>
            <a:spLocks noGrp="1"/>
          </p:cNvSpPr>
          <p:nvPr>
            <p:ph type="body" sz="half" idx="4294967295"/>
          </p:nvPr>
        </p:nvSpPr>
        <p:spPr>
          <a:xfrm>
            <a:off x="279906" y="908720"/>
            <a:ext cx="8748712" cy="5400675"/>
          </a:xfrm>
          <a:prstGeom prst="rect">
            <a:avLst/>
          </a:prstGeom>
          <a:noFill/>
          <a:ln>
            <a:noFill/>
          </a:ln>
        </p:spPr>
        <p:txBody>
          <a:bodyPr vert="horz" lIns="91440" tIns="45720" rIns="91440" bIns="45720" anchor="t"/>
          <a:lstStyle>
            <a:lvl1pPr marL="342900" indent="-342900">
              <a:lnSpc>
                <a:spcPct val="90000"/>
              </a:lnSpc>
              <a:spcBef>
                <a:spcPct val="0"/>
              </a:spcBef>
              <a:spcAft>
                <a:spcPct val="20000"/>
              </a:spcAft>
              <a:buBlip>
                <a:blip r:embed="rId2"/>
              </a:buBlip>
              <a:defRPr sz="2400">
                <a:solidFill>
                  <a:srgbClr val="0000FF"/>
                </a:solidFill>
              </a:defRPr>
            </a:lvl1pPr>
            <a:lvl2pPr marL="742950" indent="-285750">
              <a:lnSpc>
                <a:spcPct val="90000"/>
              </a:lnSpc>
              <a:spcBef>
                <a:spcPct val="0"/>
              </a:spcBef>
              <a:spcAft>
                <a:spcPct val="20000"/>
              </a:spcAft>
              <a:buBlip>
                <a:blip r:embed="rId3"/>
              </a:buBlip>
              <a:defRPr sz="2400">
                <a:solidFill>
                  <a:srgbClr val="000099"/>
                </a:solidFill>
              </a:defRPr>
            </a:lvl2pPr>
            <a:lvl3pPr marL="1143000" indent="-228600">
              <a:lnSpc>
                <a:spcPct val="90000"/>
              </a:lnSpc>
              <a:spcBef>
                <a:spcPct val="0"/>
              </a:spcBef>
              <a:spcAft>
                <a:spcPct val="20000"/>
              </a:spcAft>
              <a:buBlip>
                <a:blip r:embed="rId4"/>
              </a:buBlip>
              <a:defRPr sz="2000">
                <a:solidFill>
                  <a:srgbClr val="008000"/>
                </a:solidFill>
              </a:defRPr>
            </a:lvl3pPr>
            <a:lvl4pPr marL="1600200" indent="-228600">
              <a:lnSpc>
                <a:spcPct val="90000"/>
              </a:lnSpc>
              <a:spcBef>
                <a:spcPct val="0"/>
              </a:spcBef>
              <a:spcAft>
                <a:spcPct val="20000"/>
              </a:spcAft>
              <a:buBlip>
                <a:blip r:embed="rId4"/>
              </a:buBlip>
              <a:defRPr sz="1800">
                <a:solidFill>
                  <a:srgbClr val="800000"/>
                </a:solidFill>
              </a:defRPr>
            </a:lvl4pPr>
            <a:lvl5pPr marL="2057400" indent="-228600">
              <a:lnSpc>
                <a:spcPct val="90000"/>
              </a:lnSpc>
              <a:spcBef>
                <a:spcPct val="0"/>
              </a:spcBef>
              <a:spcAft>
                <a:spcPct val="20000"/>
              </a:spcAft>
              <a:buBlip>
                <a:blip r:embed="rId4"/>
              </a:buBlip>
              <a:defRPr sz="1800">
                <a:solidFill>
                  <a:srgbClr val="003399"/>
                </a:solidFill>
              </a:defRPr>
            </a:lvl5pPr>
          </a:lstStyle>
          <a:p>
            <a:pPr lvl="0" eaLnBrk="1" latinLnBrk="1" hangingPunct="1"/>
            <a:r>
              <a:rPr lang="en-US" altLang="zh-CN" sz="2800" dirty="0">
                <a:solidFill>
                  <a:srgbClr val="000099"/>
                </a:solidFill>
              </a:rPr>
              <a:t>[</a:t>
            </a:r>
            <a:r>
              <a:rPr lang="zh-CN" altLang="en-US" sz="2800" dirty="0">
                <a:solidFill>
                  <a:srgbClr val="000099"/>
                </a:solidFill>
              </a:rPr>
              <a:t>案例</a:t>
            </a:r>
            <a:r>
              <a:rPr lang="en-US" altLang="zh-CN" sz="2800" dirty="0">
                <a:solidFill>
                  <a:srgbClr val="000099"/>
                </a:solidFill>
              </a:rPr>
              <a:t>] </a:t>
            </a:r>
            <a:r>
              <a:rPr lang="zh-CN" altLang="en-US" sz="2800" dirty="0">
                <a:solidFill>
                  <a:srgbClr val="000099"/>
                </a:solidFill>
              </a:rPr>
              <a:t>早期</a:t>
            </a:r>
            <a:r>
              <a:rPr lang="en-US" altLang="zh-CN" sz="2800" dirty="0">
                <a:solidFill>
                  <a:srgbClr val="000099"/>
                </a:solidFill>
              </a:rPr>
              <a:t>RFC</a:t>
            </a:r>
            <a:r>
              <a:rPr lang="zh-CN" altLang="en-US" sz="2800" dirty="0">
                <a:solidFill>
                  <a:srgbClr val="000099"/>
                </a:solidFill>
              </a:rPr>
              <a:t>文档</a:t>
            </a:r>
          </a:p>
        </p:txBody>
      </p:sp>
      <p:sp>
        <p:nvSpPr>
          <p:cNvPr id="1049348" name="Rectangle 2"/>
          <p:cNvSpPr>
            <a:spLocks noGrp="1"/>
          </p:cNvSpPr>
          <p:nvPr>
            <p:ph type="title"/>
          </p:nvPr>
        </p:nvSpPr>
        <p:spPr>
          <a:xfrm>
            <a:off x="21568" y="123887"/>
            <a:ext cx="8640233" cy="57626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1.2  </a:t>
            </a:r>
            <a:r>
              <a:rPr lang="zh-CN" altLang="en-US" dirty="0">
                <a:solidFill>
                  <a:schemeClr val="bg1"/>
                </a:solidFill>
              </a:rPr>
              <a:t>网络工程设计规范</a:t>
            </a:r>
          </a:p>
        </p:txBody>
      </p:sp>
      <p:pic>
        <p:nvPicPr>
          <p:cNvPr id="2097185" name="Picture 68" descr="网络图片45"/>
          <p:cNvPicPr>
            <a:picLocks/>
          </p:cNvPicPr>
          <p:nvPr/>
        </p:nvPicPr>
        <p:blipFill>
          <a:blip r:embed="rId5"/>
          <a:srcRect/>
          <a:stretch>
            <a:fillRect/>
          </a:stretch>
        </p:blipFill>
        <p:spPr>
          <a:xfrm>
            <a:off x="1847850" y="1989137"/>
            <a:ext cx="8820150" cy="2914650"/>
          </a:xfrm>
          <a:prstGeom prst="rect">
            <a:avLst/>
          </a:prstGeom>
          <a:noFill/>
          <a:ln>
            <a:noFill/>
          </a:ln>
        </p:spPr>
      </p:pic>
    </p:spTree>
  </p:cSld>
  <p:clrMapOvr>
    <a:masterClrMapping/>
  </p:clrMapOvr>
  <p:transition spd="slow">
    <p:zoom/>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353" name="Rectangle 3"/>
          <p:cNvSpPr>
            <a:spLocks noGrp="1"/>
          </p:cNvSpPr>
          <p:nvPr>
            <p:ph idx="1"/>
          </p:nvPr>
        </p:nvSpPr>
        <p:spPr>
          <a:xfrm>
            <a:off x="407368" y="908720"/>
            <a:ext cx="9721080" cy="539819"/>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r>
              <a:rPr lang="en-US" altLang="zh-CN" b="0" dirty="0">
                <a:solidFill>
                  <a:srgbClr val="000099"/>
                </a:solidFill>
              </a:rPr>
              <a:t>[</a:t>
            </a:r>
            <a:r>
              <a:rPr lang="zh-CN" altLang="en-US" b="0" dirty="0">
                <a:solidFill>
                  <a:srgbClr val="A50021"/>
                </a:solidFill>
              </a:rPr>
              <a:t>补充</a:t>
            </a:r>
            <a:r>
              <a:rPr lang="en-US" altLang="zh-CN" b="0" dirty="0">
                <a:solidFill>
                  <a:srgbClr val="000099"/>
                </a:solidFill>
              </a:rPr>
              <a:t>] ARPA</a:t>
            </a:r>
            <a:r>
              <a:rPr lang="zh-CN" altLang="en-US" b="0" dirty="0">
                <a:solidFill>
                  <a:srgbClr val="000099"/>
                </a:solidFill>
              </a:rPr>
              <a:t>设计草图和最早的</a:t>
            </a:r>
            <a:r>
              <a:rPr lang="en-US" altLang="zh-CN" b="0" dirty="0">
                <a:solidFill>
                  <a:srgbClr val="000099"/>
                </a:solidFill>
              </a:rPr>
              <a:t>4</a:t>
            </a:r>
            <a:r>
              <a:rPr lang="zh-CN" altLang="en-US" b="0" dirty="0">
                <a:solidFill>
                  <a:srgbClr val="000099"/>
                </a:solidFill>
              </a:rPr>
              <a:t>校互联</a:t>
            </a:r>
          </a:p>
        </p:txBody>
      </p:sp>
      <p:sp>
        <p:nvSpPr>
          <p:cNvPr id="1049354" name="Rectangle 2"/>
          <p:cNvSpPr>
            <a:spLocks noGrp="1"/>
          </p:cNvSpPr>
          <p:nvPr>
            <p:ph type="title"/>
          </p:nvPr>
        </p:nvSpPr>
        <p:spPr>
          <a:xfrm>
            <a:off x="0" y="125063"/>
            <a:ext cx="10515600" cy="709961"/>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1.3  </a:t>
            </a:r>
            <a:r>
              <a:rPr lang="zh-CN" altLang="en-US" dirty="0">
                <a:solidFill>
                  <a:schemeClr val="bg1"/>
                </a:solidFill>
              </a:rPr>
              <a:t>网络体系结构</a:t>
            </a:r>
          </a:p>
        </p:txBody>
      </p:sp>
      <p:pic>
        <p:nvPicPr>
          <p:cNvPr id="2097186" name="Picture 4" descr="slide0058_image010"/>
          <p:cNvPicPr>
            <a:picLocks/>
          </p:cNvPicPr>
          <p:nvPr/>
        </p:nvPicPr>
        <p:blipFill>
          <a:blip r:embed="rId5"/>
          <a:srcRect/>
          <a:stretch>
            <a:fillRect/>
          </a:stretch>
        </p:blipFill>
        <p:spPr>
          <a:xfrm>
            <a:off x="1271464" y="1772816"/>
            <a:ext cx="3096344" cy="3780363"/>
          </a:xfrm>
          <a:prstGeom prst="rect">
            <a:avLst/>
          </a:prstGeom>
          <a:noFill/>
          <a:ln>
            <a:noFill/>
          </a:ln>
        </p:spPr>
      </p:pic>
      <p:pic>
        <p:nvPicPr>
          <p:cNvPr id="2097187" name="图片 6"/>
          <p:cNvPicPr>
            <a:picLocks/>
          </p:cNvPicPr>
          <p:nvPr/>
        </p:nvPicPr>
        <p:blipFill>
          <a:blip r:embed="rId6"/>
          <a:srcRect/>
          <a:stretch>
            <a:fillRect/>
          </a:stretch>
        </p:blipFill>
        <p:spPr>
          <a:xfrm>
            <a:off x="5663952" y="1745230"/>
            <a:ext cx="4662487" cy="3673475"/>
          </a:xfrm>
          <a:prstGeom prst="rect">
            <a:avLst/>
          </a:prstGeom>
          <a:noFill/>
          <a:ln>
            <a:noFill/>
          </a:ln>
        </p:spPr>
      </p:pic>
    </p:spTree>
  </p:cSld>
  <p:clrMapOvr>
    <a:masterClrMapping/>
  </p:clrMapOvr>
  <p:transition spd="slow">
    <p:zoom/>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358" name="Rectangle 3"/>
          <p:cNvSpPr>
            <a:spLocks noGrp="1"/>
          </p:cNvSpPr>
          <p:nvPr>
            <p:ph idx="1"/>
          </p:nvPr>
        </p:nvSpPr>
        <p:spPr>
          <a:xfrm>
            <a:off x="263352" y="908720"/>
            <a:ext cx="10515600" cy="493937"/>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r>
              <a:rPr lang="en-US" altLang="zh-CN" b="0" dirty="0">
                <a:solidFill>
                  <a:srgbClr val="000099"/>
                </a:solidFill>
              </a:rPr>
              <a:t>[</a:t>
            </a:r>
            <a:r>
              <a:rPr lang="zh-CN" altLang="en-US" b="0" dirty="0">
                <a:solidFill>
                  <a:srgbClr val="A50021"/>
                </a:solidFill>
              </a:rPr>
              <a:t>补充</a:t>
            </a:r>
            <a:r>
              <a:rPr lang="en-US" altLang="zh-CN" b="0" dirty="0">
                <a:solidFill>
                  <a:srgbClr val="000099"/>
                </a:solidFill>
              </a:rPr>
              <a:t>]</a:t>
            </a:r>
            <a:r>
              <a:rPr lang="zh-CN" altLang="en-US" b="0" dirty="0">
                <a:solidFill>
                  <a:srgbClr val="000099"/>
                </a:solidFill>
              </a:rPr>
              <a:t>网络工程建设常用标准概览</a:t>
            </a:r>
          </a:p>
        </p:txBody>
      </p:sp>
      <p:sp>
        <p:nvSpPr>
          <p:cNvPr id="1049359" name="Rectangle 2"/>
          <p:cNvSpPr>
            <a:spLocks noGrp="1"/>
          </p:cNvSpPr>
          <p:nvPr>
            <p:ph type="title"/>
          </p:nvPr>
        </p:nvSpPr>
        <p:spPr>
          <a:xfrm>
            <a:off x="0" y="152400"/>
            <a:ext cx="10515600" cy="493937"/>
          </a:xfrm>
          <a:prstGeom prst="rect">
            <a:avLst/>
          </a:prstGeom>
          <a:noFill/>
          <a:ln>
            <a:noFill/>
          </a:ln>
        </p:spPr>
        <p:txBody>
          <a:bodyPr vert="horz" lIns="91440" tIns="45720" rIns="91440" bIns="45720" anchor="ctr">
            <a:normAutofit fontScale="90000"/>
          </a:bodyP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1.3  </a:t>
            </a:r>
            <a:r>
              <a:rPr lang="zh-CN" altLang="en-US" dirty="0">
                <a:solidFill>
                  <a:schemeClr val="bg1"/>
                </a:solidFill>
              </a:rPr>
              <a:t>网络体系结构</a:t>
            </a:r>
          </a:p>
        </p:txBody>
      </p:sp>
      <p:graphicFrame>
        <p:nvGraphicFramePr>
          <p:cNvPr id="2" name="表格 1">
            <a:extLst>
              <a:ext uri="{FF2B5EF4-FFF2-40B4-BE49-F238E27FC236}">
                <a16:creationId xmlns:a16="http://schemas.microsoft.com/office/drawing/2014/main" id="{17D1AC5E-7A72-4D46-B786-ED6743D18936}"/>
              </a:ext>
            </a:extLst>
          </p:cNvPr>
          <p:cNvGraphicFramePr>
            <a:graphicFrameLocks noGrp="1"/>
          </p:cNvGraphicFramePr>
          <p:nvPr>
            <p:extLst>
              <p:ext uri="{D42A27DB-BD31-4B8C-83A1-F6EECF244321}">
                <p14:modId xmlns:p14="http://schemas.microsoft.com/office/powerpoint/2010/main" val="740477750"/>
              </p:ext>
            </p:extLst>
          </p:nvPr>
        </p:nvGraphicFramePr>
        <p:xfrm>
          <a:off x="767408" y="1402658"/>
          <a:ext cx="11089233" cy="5239430"/>
        </p:xfrm>
        <a:graphic>
          <a:graphicData uri="http://schemas.openxmlformats.org/drawingml/2006/table">
            <a:tbl>
              <a:tblPr/>
              <a:tblGrid>
                <a:gridCol w="1080120">
                  <a:extLst>
                    <a:ext uri="{9D8B030D-6E8A-4147-A177-3AD203B41FA5}">
                      <a16:colId xmlns:a16="http://schemas.microsoft.com/office/drawing/2014/main" val="3825539333"/>
                    </a:ext>
                  </a:extLst>
                </a:gridCol>
                <a:gridCol w="2232248">
                  <a:extLst>
                    <a:ext uri="{9D8B030D-6E8A-4147-A177-3AD203B41FA5}">
                      <a16:colId xmlns:a16="http://schemas.microsoft.com/office/drawing/2014/main" val="1384876570"/>
                    </a:ext>
                  </a:extLst>
                </a:gridCol>
                <a:gridCol w="3051483">
                  <a:extLst>
                    <a:ext uri="{9D8B030D-6E8A-4147-A177-3AD203B41FA5}">
                      <a16:colId xmlns:a16="http://schemas.microsoft.com/office/drawing/2014/main" val="894326991"/>
                    </a:ext>
                  </a:extLst>
                </a:gridCol>
                <a:gridCol w="2362691">
                  <a:extLst>
                    <a:ext uri="{9D8B030D-6E8A-4147-A177-3AD203B41FA5}">
                      <a16:colId xmlns:a16="http://schemas.microsoft.com/office/drawing/2014/main" val="1156929462"/>
                    </a:ext>
                  </a:extLst>
                </a:gridCol>
                <a:gridCol w="2362691">
                  <a:extLst>
                    <a:ext uri="{9D8B030D-6E8A-4147-A177-3AD203B41FA5}">
                      <a16:colId xmlns:a16="http://schemas.microsoft.com/office/drawing/2014/main" val="3062888327"/>
                    </a:ext>
                  </a:extLst>
                </a:gridCol>
              </a:tblGrid>
              <a:tr h="237814">
                <a:tc>
                  <a:txBody>
                    <a:bodyPr/>
                    <a:lstStyle/>
                    <a:p>
                      <a:pPr algn="l"/>
                      <a:r>
                        <a:rPr lang="zh-CN" altLang="en-US" sz="1400" b="0">
                          <a:effectLst/>
                          <a:latin typeface="quote-cjk-patch"/>
                        </a:rPr>
                        <a:t>标准类型</a:t>
                      </a:r>
                    </a:p>
                  </a:txBody>
                  <a:tcPr marL="39921"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zh-CN" altLang="en-US" sz="1400" b="0">
                          <a:effectLst/>
                          <a:latin typeface="quote-cjk-patch"/>
                        </a:rPr>
                        <a:t>标准编号</a:t>
                      </a:r>
                    </a:p>
                  </a:txBody>
                  <a:tcPr marL="66534"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zh-CN" altLang="en-US" sz="1400" b="0">
                          <a:effectLst/>
                          <a:latin typeface="quote-cjk-patch"/>
                        </a:rPr>
                        <a:t>标准名称</a:t>
                      </a:r>
                    </a:p>
                  </a:txBody>
                  <a:tcPr marL="66534"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zh-CN" altLang="en-US" sz="1400" b="0">
                          <a:effectLst/>
                          <a:latin typeface="quote-cjk-patch"/>
                        </a:rPr>
                        <a:t>发布</a:t>
                      </a:r>
                      <a:r>
                        <a:rPr lang="en-US" altLang="zh-CN" sz="1400" b="0">
                          <a:effectLst/>
                          <a:latin typeface="quote-cjk-patch"/>
                        </a:rPr>
                        <a:t>/</a:t>
                      </a:r>
                      <a:r>
                        <a:rPr lang="zh-CN" altLang="en-US" sz="1400" b="0">
                          <a:effectLst/>
                          <a:latin typeface="quote-cjk-patch"/>
                        </a:rPr>
                        <a:t>制定机构</a:t>
                      </a:r>
                    </a:p>
                  </a:txBody>
                  <a:tcPr marL="66534"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zh-CN" altLang="en-US" sz="1400" b="0">
                          <a:effectLst/>
                          <a:latin typeface="quote-cjk-patch"/>
                        </a:rPr>
                        <a:t>备注</a:t>
                      </a:r>
                      <a:r>
                        <a:rPr lang="en-US" altLang="zh-CN" sz="1400" b="0">
                          <a:effectLst/>
                          <a:latin typeface="quote-cjk-patch"/>
                        </a:rPr>
                        <a:t>/</a:t>
                      </a:r>
                      <a:r>
                        <a:rPr lang="zh-CN" altLang="en-US" sz="1400" b="0">
                          <a:effectLst/>
                          <a:latin typeface="quote-cjk-patch"/>
                        </a:rPr>
                        <a:t>说明</a:t>
                      </a:r>
                    </a:p>
                  </a:txBody>
                  <a:tcPr marL="66534"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356892812"/>
                  </a:ext>
                </a:extLst>
              </a:tr>
              <a:tr h="513054">
                <a:tc rowSpan="6">
                  <a:txBody>
                    <a:bodyPr/>
                    <a:lstStyle/>
                    <a:p>
                      <a:r>
                        <a:rPr lang="zh-CN" altLang="en-US" sz="1400" b="1" dirty="0">
                          <a:effectLst/>
                          <a:latin typeface="quote-cjk-patch"/>
                        </a:rPr>
                        <a:t>国家标准</a:t>
                      </a:r>
                      <a:endParaRPr lang="zh-CN" altLang="en-US" sz="1400" b="0" dirty="0">
                        <a:effectLst/>
                        <a:latin typeface="quote-cjk-patch"/>
                      </a:endParaRPr>
                    </a:p>
                  </a:txBody>
                  <a:tcPr marL="39921"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400" b="0">
                          <a:effectLst/>
                          <a:latin typeface="quote-cjk-patch"/>
                        </a:rPr>
                        <a:t>GB/T 51375-2019</a:t>
                      </a:r>
                    </a:p>
                  </a:txBody>
                  <a:tcPr marL="66534"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400" b="0">
                          <a:effectLst/>
                          <a:latin typeface="quote-cjk-patch"/>
                        </a:rPr>
                        <a:t>网络工程设计标准</a:t>
                      </a:r>
                    </a:p>
                  </a:txBody>
                  <a:tcPr marL="66534"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400" b="0" dirty="0">
                          <a:effectLst/>
                          <a:latin typeface="quote-cjk-patch"/>
                        </a:rPr>
                        <a:t>住建部、工信部</a:t>
                      </a:r>
                    </a:p>
                  </a:txBody>
                  <a:tcPr marL="66534"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altLang="zh-CN" sz="1400" b="0" dirty="0">
                          <a:effectLst/>
                          <a:latin typeface="quote-cjk-patch"/>
                        </a:rPr>
                        <a:t>2025</a:t>
                      </a:r>
                      <a:r>
                        <a:rPr lang="zh-CN" altLang="en-US" sz="1400" b="0" dirty="0">
                          <a:effectLst/>
                          <a:latin typeface="quote-cjk-patch"/>
                        </a:rPr>
                        <a:t>年仍适用，适用于公用互联网网络工程设计</a:t>
                      </a:r>
                    </a:p>
                  </a:txBody>
                  <a:tcPr marL="66534"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712329023"/>
                  </a:ext>
                </a:extLst>
              </a:tr>
              <a:tr h="237814">
                <a:tc vMerge="1">
                  <a:txBody>
                    <a:bodyPr/>
                    <a:lstStyle/>
                    <a:p>
                      <a:endParaRPr lang="zh-CN" altLang="en-US" sz="1400" b="0" dirty="0">
                        <a:effectLst/>
                        <a:latin typeface="quote-cjk-patch"/>
                      </a:endParaRPr>
                    </a:p>
                  </a:txBody>
                  <a:tcPr marL="39921"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400" b="0" dirty="0">
                          <a:effectLst/>
                          <a:latin typeface="quote-cjk-patch"/>
                        </a:rPr>
                        <a:t>GB/T 51365-2019</a:t>
                      </a:r>
                    </a:p>
                  </a:txBody>
                  <a:tcPr marL="66534"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400" b="0">
                          <a:effectLst/>
                          <a:latin typeface="quote-cjk-patch"/>
                        </a:rPr>
                        <a:t>网络工程验收标准</a:t>
                      </a:r>
                    </a:p>
                  </a:txBody>
                  <a:tcPr marL="66534"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400" b="0" dirty="0">
                          <a:effectLst/>
                          <a:latin typeface="quote-cjk-patch"/>
                        </a:rPr>
                        <a:t>工信部</a:t>
                      </a:r>
                    </a:p>
                  </a:txBody>
                  <a:tcPr marL="66534"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altLang="zh-CN" sz="1400" b="0">
                          <a:effectLst/>
                          <a:latin typeface="quote-cjk-patch"/>
                        </a:rPr>
                        <a:t>2025</a:t>
                      </a:r>
                      <a:r>
                        <a:rPr lang="zh-CN" altLang="en-US" sz="1400" b="0">
                          <a:effectLst/>
                          <a:latin typeface="quote-cjk-patch"/>
                        </a:rPr>
                        <a:t>年仍适用</a:t>
                      </a:r>
                    </a:p>
                  </a:txBody>
                  <a:tcPr marL="66534"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642994976"/>
                  </a:ext>
                </a:extLst>
              </a:tr>
              <a:tr h="513054">
                <a:tc vMerge="1">
                  <a:txBody>
                    <a:bodyPr/>
                    <a:lstStyle/>
                    <a:p>
                      <a:endParaRPr lang="zh-CN" altLang="en-US" sz="1400" b="0" dirty="0">
                        <a:effectLst/>
                        <a:latin typeface="quote-cjk-patch"/>
                      </a:endParaRPr>
                    </a:p>
                  </a:txBody>
                  <a:tcPr marL="39921"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400" b="0">
                          <a:effectLst/>
                          <a:latin typeface="quote-cjk-patch"/>
                        </a:rPr>
                        <a:t>YD/T 926.1-2001</a:t>
                      </a:r>
                    </a:p>
                  </a:txBody>
                  <a:tcPr marL="66534"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400" b="0">
                          <a:effectLst/>
                          <a:latin typeface="quote-cjk-patch"/>
                        </a:rPr>
                        <a:t>大楼通信综合布线系统 第</a:t>
                      </a:r>
                      <a:r>
                        <a:rPr lang="en-US" altLang="zh-CN" sz="1400" b="0">
                          <a:effectLst/>
                          <a:latin typeface="quote-cjk-patch"/>
                        </a:rPr>
                        <a:t>1</a:t>
                      </a:r>
                      <a:r>
                        <a:rPr lang="zh-CN" altLang="en-US" sz="1400" b="0">
                          <a:effectLst/>
                          <a:latin typeface="quote-cjk-patch"/>
                        </a:rPr>
                        <a:t>部分：总规范</a:t>
                      </a:r>
                    </a:p>
                  </a:txBody>
                  <a:tcPr marL="66534"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400" b="0">
                          <a:effectLst/>
                          <a:latin typeface="quote-cjk-patch"/>
                        </a:rPr>
                        <a:t>原邮电部</a:t>
                      </a:r>
                    </a:p>
                  </a:txBody>
                  <a:tcPr marL="66534"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400" b="0" dirty="0">
                          <a:effectLst/>
                          <a:latin typeface="quote-cjk-patch"/>
                        </a:rPr>
                        <a:t>等效采用</a:t>
                      </a:r>
                      <a:r>
                        <a:rPr lang="en-US" sz="1400" b="0" dirty="0">
                          <a:effectLst/>
                          <a:latin typeface="quote-cjk-patch"/>
                        </a:rPr>
                        <a:t>ISO/IEC 11801</a:t>
                      </a:r>
                    </a:p>
                  </a:txBody>
                  <a:tcPr marL="66534"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582532592"/>
                  </a:ext>
                </a:extLst>
              </a:tr>
              <a:tr h="374182">
                <a:tc vMerge="1">
                  <a:txBody>
                    <a:bodyPr/>
                    <a:lstStyle/>
                    <a:p>
                      <a:endParaRPr lang="zh-CN" altLang="en-US" sz="1400" b="0" dirty="0">
                        <a:effectLst/>
                        <a:latin typeface="quote-cjk-patch"/>
                      </a:endParaRPr>
                    </a:p>
                  </a:txBody>
                  <a:tcPr marL="39921"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400" b="0">
                          <a:effectLst/>
                          <a:latin typeface="quote-cjk-patch"/>
                        </a:rPr>
                        <a:t>GB 50311-2016</a:t>
                      </a:r>
                    </a:p>
                  </a:txBody>
                  <a:tcPr marL="66534"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400" b="0">
                          <a:effectLst/>
                          <a:latin typeface="quote-cjk-patch"/>
                        </a:rPr>
                        <a:t>综合布线系统工程设计规范</a:t>
                      </a:r>
                    </a:p>
                  </a:txBody>
                  <a:tcPr marL="66534"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400" b="0">
                          <a:effectLst/>
                          <a:latin typeface="quote-cjk-patch"/>
                        </a:rPr>
                        <a:t>住建部</a:t>
                      </a:r>
                    </a:p>
                  </a:txBody>
                  <a:tcPr marL="66534"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400" b="0">
                          <a:effectLst/>
                          <a:latin typeface="quote-cjk-patch"/>
                        </a:rPr>
                        <a:t>替代</a:t>
                      </a:r>
                      <a:r>
                        <a:rPr lang="en-US" sz="1400" b="0">
                          <a:effectLst/>
                          <a:latin typeface="quote-cjk-patch"/>
                        </a:rPr>
                        <a:t>GB 50311-2007</a:t>
                      </a:r>
                    </a:p>
                  </a:txBody>
                  <a:tcPr marL="66534"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172283490"/>
                  </a:ext>
                </a:extLst>
              </a:tr>
              <a:tr h="374182">
                <a:tc vMerge="1">
                  <a:txBody>
                    <a:bodyPr/>
                    <a:lstStyle/>
                    <a:p>
                      <a:endParaRPr lang="zh-CN" altLang="en-US" sz="1400" b="0" dirty="0">
                        <a:effectLst/>
                        <a:latin typeface="quote-cjk-patch"/>
                      </a:endParaRPr>
                    </a:p>
                  </a:txBody>
                  <a:tcPr marL="39921"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400" b="0">
                          <a:effectLst/>
                          <a:latin typeface="quote-cjk-patch"/>
                        </a:rPr>
                        <a:t>GB 50312-2016</a:t>
                      </a:r>
                    </a:p>
                  </a:txBody>
                  <a:tcPr marL="66534"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400" b="0" dirty="0">
                          <a:effectLst/>
                          <a:latin typeface="quote-cjk-patch"/>
                        </a:rPr>
                        <a:t>综合布线系统工程验收规范</a:t>
                      </a:r>
                    </a:p>
                  </a:txBody>
                  <a:tcPr marL="66534"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400" b="0">
                          <a:effectLst/>
                          <a:latin typeface="quote-cjk-patch"/>
                        </a:rPr>
                        <a:t>住建部</a:t>
                      </a:r>
                    </a:p>
                  </a:txBody>
                  <a:tcPr marL="66534"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400" b="0">
                          <a:effectLst/>
                          <a:latin typeface="quote-cjk-patch"/>
                        </a:rPr>
                        <a:t>替代</a:t>
                      </a:r>
                      <a:r>
                        <a:rPr lang="en-US" sz="1400" b="0">
                          <a:effectLst/>
                          <a:latin typeface="quote-cjk-patch"/>
                        </a:rPr>
                        <a:t>GB 50312-2007</a:t>
                      </a:r>
                    </a:p>
                  </a:txBody>
                  <a:tcPr marL="66534"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707482496"/>
                  </a:ext>
                </a:extLst>
              </a:tr>
              <a:tr h="374182">
                <a:tc vMerge="1">
                  <a:txBody>
                    <a:bodyPr/>
                    <a:lstStyle/>
                    <a:p>
                      <a:endParaRPr lang="zh-CN" altLang="en-US" sz="1400" b="0" dirty="0">
                        <a:effectLst/>
                        <a:latin typeface="quote-cjk-patch"/>
                      </a:endParaRPr>
                    </a:p>
                  </a:txBody>
                  <a:tcPr marL="39921"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400" b="0">
                          <a:effectLst/>
                          <a:latin typeface="quote-cjk-patch"/>
                        </a:rPr>
                        <a:t>GB 50174-2017</a:t>
                      </a:r>
                    </a:p>
                  </a:txBody>
                  <a:tcPr marL="66534"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400" b="0">
                          <a:effectLst/>
                          <a:latin typeface="quote-cjk-patch"/>
                        </a:rPr>
                        <a:t>数据中心设计规范</a:t>
                      </a:r>
                    </a:p>
                  </a:txBody>
                  <a:tcPr marL="66534"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400" b="0">
                          <a:effectLst/>
                          <a:latin typeface="quote-cjk-patch"/>
                        </a:rPr>
                        <a:t>住建部、质检总局</a:t>
                      </a:r>
                    </a:p>
                  </a:txBody>
                  <a:tcPr marL="66534"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400" b="0">
                          <a:effectLst/>
                          <a:latin typeface="quote-cjk-patch"/>
                        </a:rPr>
                        <a:t>替代</a:t>
                      </a:r>
                      <a:r>
                        <a:rPr lang="en-US" sz="1400" b="0">
                          <a:effectLst/>
                          <a:latin typeface="quote-cjk-patch"/>
                        </a:rPr>
                        <a:t>GB 50174-2008</a:t>
                      </a:r>
                    </a:p>
                  </a:txBody>
                  <a:tcPr marL="66534"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392505194"/>
                  </a:ext>
                </a:extLst>
              </a:tr>
              <a:tr h="513054">
                <a:tc rowSpan="5">
                  <a:txBody>
                    <a:bodyPr/>
                    <a:lstStyle/>
                    <a:p>
                      <a:r>
                        <a:rPr lang="zh-CN" altLang="en-US" sz="1400" b="1" dirty="0">
                          <a:effectLst/>
                          <a:latin typeface="quote-cjk-patch"/>
                        </a:rPr>
                        <a:t>国际标准</a:t>
                      </a:r>
                      <a:endParaRPr lang="zh-CN" altLang="en-US" sz="1400" b="0" dirty="0">
                        <a:effectLst/>
                        <a:latin typeface="quote-cjk-patch"/>
                      </a:endParaRPr>
                    </a:p>
                  </a:txBody>
                  <a:tcPr marL="39921"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400" b="0">
                          <a:effectLst/>
                          <a:latin typeface="quote-cjk-patch"/>
                        </a:rPr>
                        <a:t>ISO/IEC 11801</a:t>
                      </a:r>
                    </a:p>
                  </a:txBody>
                  <a:tcPr marL="66534"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400" b="0">
                          <a:effectLst/>
                          <a:latin typeface="quote-cjk-patch"/>
                        </a:rPr>
                        <a:t>信息技术 </a:t>
                      </a:r>
                      <a:r>
                        <a:rPr lang="en-US" altLang="zh-CN" sz="1400" b="0">
                          <a:effectLst/>
                          <a:latin typeface="quote-cjk-patch"/>
                        </a:rPr>
                        <a:t>- </a:t>
                      </a:r>
                      <a:r>
                        <a:rPr lang="zh-CN" altLang="en-US" sz="1400" b="0">
                          <a:effectLst/>
                          <a:latin typeface="quote-cjk-patch"/>
                        </a:rPr>
                        <a:t>用户房屋综合布线</a:t>
                      </a:r>
                    </a:p>
                  </a:txBody>
                  <a:tcPr marL="66534"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400" b="0">
                          <a:effectLst/>
                          <a:latin typeface="quote-cjk-patch"/>
                        </a:rPr>
                        <a:t>ISO/IEC</a:t>
                      </a:r>
                    </a:p>
                  </a:txBody>
                  <a:tcPr marL="66534"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400" b="0" dirty="0">
                          <a:effectLst/>
                          <a:latin typeface="quote-cjk-patch"/>
                        </a:rPr>
                        <a:t>系列标准，涉及通用、办公、工业、数据中心等环境</a:t>
                      </a:r>
                    </a:p>
                  </a:txBody>
                  <a:tcPr marL="66534"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801963991"/>
                  </a:ext>
                </a:extLst>
              </a:tr>
              <a:tr h="374182">
                <a:tc vMerge="1">
                  <a:txBody>
                    <a:bodyPr/>
                    <a:lstStyle/>
                    <a:p>
                      <a:endParaRPr lang="zh-CN" altLang="en-US" sz="1400" b="0" dirty="0">
                        <a:effectLst/>
                        <a:latin typeface="quote-cjk-patch"/>
                      </a:endParaRPr>
                    </a:p>
                  </a:txBody>
                  <a:tcPr marL="39921"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400" b="0">
                          <a:effectLst/>
                          <a:latin typeface="quote-cjk-patch"/>
                        </a:rPr>
                        <a:t>IEEE 802.3</a:t>
                      </a:r>
                    </a:p>
                  </a:txBody>
                  <a:tcPr marL="66534"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400" b="0">
                          <a:effectLst/>
                          <a:latin typeface="quote-cjk-patch"/>
                        </a:rPr>
                        <a:t>以太网系列标准</a:t>
                      </a:r>
                    </a:p>
                  </a:txBody>
                  <a:tcPr marL="66534"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400" b="0">
                          <a:effectLst/>
                          <a:latin typeface="quote-cjk-patch"/>
                        </a:rPr>
                        <a:t>IEEE</a:t>
                      </a:r>
                    </a:p>
                  </a:txBody>
                  <a:tcPr marL="66534"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400" b="0">
                          <a:effectLst/>
                          <a:latin typeface="quote-cjk-patch"/>
                        </a:rPr>
                        <a:t>涵盖各种速率以太网技术</a:t>
                      </a:r>
                    </a:p>
                  </a:txBody>
                  <a:tcPr marL="66534"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520387389"/>
                  </a:ext>
                </a:extLst>
              </a:tr>
              <a:tr h="513054">
                <a:tc vMerge="1">
                  <a:txBody>
                    <a:bodyPr/>
                    <a:lstStyle/>
                    <a:p>
                      <a:endParaRPr lang="zh-CN" altLang="en-US" sz="1400" b="0" dirty="0">
                        <a:effectLst/>
                        <a:latin typeface="quote-cjk-patch"/>
                      </a:endParaRPr>
                    </a:p>
                  </a:txBody>
                  <a:tcPr marL="39921"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400" b="0">
                          <a:effectLst/>
                          <a:latin typeface="quote-cjk-patch"/>
                        </a:rPr>
                        <a:t>IEEE 802.11</a:t>
                      </a:r>
                    </a:p>
                  </a:txBody>
                  <a:tcPr marL="66534"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400" b="0">
                          <a:effectLst/>
                          <a:latin typeface="quote-cjk-patch"/>
                        </a:rPr>
                        <a:t>无线局域网（</a:t>
                      </a:r>
                      <a:r>
                        <a:rPr lang="en-US" altLang="zh-CN" sz="1400" b="0">
                          <a:effectLst/>
                          <a:latin typeface="quote-cjk-patch"/>
                        </a:rPr>
                        <a:t>WLAN</a:t>
                      </a:r>
                      <a:r>
                        <a:rPr lang="zh-CN" altLang="en-US" sz="1400" b="0">
                          <a:effectLst/>
                          <a:latin typeface="quote-cjk-patch"/>
                        </a:rPr>
                        <a:t>）系列标准</a:t>
                      </a:r>
                    </a:p>
                  </a:txBody>
                  <a:tcPr marL="66534"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400" b="0">
                          <a:effectLst/>
                          <a:latin typeface="quote-cjk-patch"/>
                        </a:rPr>
                        <a:t>IEEE</a:t>
                      </a:r>
                    </a:p>
                  </a:txBody>
                  <a:tcPr marL="66534"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400" b="0">
                          <a:effectLst/>
                          <a:latin typeface="quote-cjk-patch"/>
                        </a:rPr>
                        <a:t>即</a:t>
                      </a:r>
                      <a:r>
                        <a:rPr lang="en-US" sz="1400" b="0">
                          <a:effectLst/>
                          <a:latin typeface="quote-cjk-patch"/>
                        </a:rPr>
                        <a:t>Wi-Fi</a:t>
                      </a:r>
                      <a:r>
                        <a:rPr lang="zh-CN" altLang="en-US" sz="1400" b="0">
                          <a:effectLst/>
                          <a:latin typeface="quote-cjk-patch"/>
                        </a:rPr>
                        <a:t>标准</a:t>
                      </a:r>
                    </a:p>
                  </a:txBody>
                  <a:tcPr marL="66534"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872775634"/>
                  </a:ext>
                </a:extLst>
              </a:tr>
              <a:tr h="651925">
                <a:tc vMerge="1">
                  <a:txBody>
                    <a:bodyPr/>
                    <a:lstStyle/>
                    <a:p>
                      <a:endParaRPr lang="zh-CN" altLang="en-US" sz="1400" b="0" dirty="0">
                        <a:effectLst/>
                        <a:latin typeface="quote-cjk-patch"/>
                      </a:endParaRPr>
                    </a:p>
                  </a:txBody>
                  <a:tcPr marL="39921"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fr-FR" sz="1400" b="0">
                          <a:effectLst/>
                          <a:latin typeface="quote-cjk-patch"/>
                        </a:rPr>
                        <a:t>ITU-T G.系列、Y.系列等</a:t>
                      </a:r>
                    </a:p>
                  </a:txBody>
                  <a:tcPr marL="66534"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400" b="0">
                          <a:effectLst/>
                          <a:latin typeface="quote-cjk-patch"/>
                        </a:rPr>
                        <a:t>国际电信联盟电信标准部门（</a:t>
                      </a:r>
                      <a:r>
                        <a:rPr lang="en-US" altLang="zh-CN" sz="1400" b="0">
                          <a:effectLst/>
                          <a:latin typeface="quote-cjk-patch"/>
                        </a:rPr>
                        <a:t>ITU-T</a:t>
                      </a:r>
                      <a:r>
                        <a:rPr lang="zh-CN" altLang="en-US" sz="1400" b="0">
                          <a:effectLst/>
                          <a:latin typeface="quote-cjk-patch"/>
                        </a:rPr>
                        <a:t>）系列建议书</a:t>
                      </a:r>
                    </a:p>
                  </a:txBody>
                  <a:tcPr marL="66534"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400" b="0">
                          <a:effectLst/>
                          <a:latin typeface="quote-cjk-patch"/>
                        </a:rPr>
                        <a:t>ITU</a:t>
                      </a:r>
                    </a:p>
                  </a:txBody>
                  <a:tcPr marL="66534"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400" b="0">
                          <a:effectLst/>
                          <a:latin typeface="quote-cjk-patch"/>
                        </a:rPr>
                        <a:t>涵盖传输、接入、数据、安全等多领域（如</a:t>
                      </a:r>
                      <a:r>
                        <a:rPr lang="en-US" altLang="zh-CN" sz="1400" b="0">
                          <a:effectLst/>
                          <a:latin typeface="quote-cjk-patch"/>
                        </a:rPr>
                        <a:t>G.657</a:t>
                      </a:r>
                      <a:r>
                        <a:rPr lang="zh-CN" altLang="en-US" sz="1400" b="0">
                          <a:effectLst/>
                          <a:latin typeface="quote-cjk-patch"/>
                        </a:rPr>
                        <a:t>光纤标准）</a:t>
                      </a:r>
                      <a:r>
                        <a:rPr lang="en-US" altLang="zh-CN" sz="1400" b="0" u="none" strike="noStrike">
                          <a:solidFill>
                            <a:srgbClr val="61666B"/>
                          </a:solidFill>
                          <a:effectLst/>
                          <a:latin typeface="quote-cjk-patch"/>
                          <a:hlinkClick r:id="rId5"/>
                        </a:rPr>
                        <a:t>4</a:t>
                      </a:r>
                      <a:endParaRPr lang="zh-CN" altLang="en-US" sz="1400" b="0">
                        <a:effectLst/>
                        <a:latin typeface="quote-cjk-patch"/>
                      </a:endParaRPr>
                    </a:p>
                  </a:txBody>
                  <a:tcPr marL="66534"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76073091"/>
                  </a:ext>
                </a:extLst>
              </a:tr>
              <a:tr h="374182">
                <a:tc vMerge="1">
                  <a:txBody>
                    <a:bodyPr/>
                    <a:lstStyle/>
                    <a:p>
                      <a:endParaRPr lang="zh-CN" altLang="en-US" sz="1400" b="0" dirty="0">
                        <a:effectLst/>
                        <a:latin typeface="quote-cjk-patch"/>
                      </a:endParaRPr>
                    </a:p>
                  </a:txBody>
                  <a:tcPr marL="39921"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400" b="0">
                          <a:effectLst/>
                          <a:latin typeface="quote-cjk-patch"/>
                        </a:rPr>
                        <a:t>ISO/IEC 27001</a:t>
                      </a:r>
                    </a:p>
                  </a:txBody>
                  <a:tcPr marL="66534"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400" b="0">
                          <a:effectLst/>
                          <a:latin typeface="quote-cjk-patch"/>
                        </a:rPr>
                        <a:t>信息安全管理体系要求</a:t>
                      </a:r>
                    </a:p>
                  </a:txBody>
                  <a:tcPr marL="66534"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400" b="0">
                          <a:effectLst/>
                          <a:latin typeface="quote-cjk-patch"/>
                        </a:rPr>
                        <a:t>ISO/IEC</a:t>
                      </a:r>
                    </a:p>
                  </a:txBody>
                  <a:tcPr marL="66534"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400" b="0" dirty="0">
                          <a:effectLst/>
                          <a:latin typeface="quote-cjk-patch"/>
                        </a:rPr>
                        <a:t>信息安全认证基础标准</a:t>
                      </a:r>
                    </a:p>
                  </a:txBody>
                  <a:tcPr marL="66534" marR="66534" marT="41584" marB="41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507344653"/>
                  </a:ext>
                </a:extLst>
              </a:tr>
            </a:tbl>
          </a:graphicData>
        </a:graphic>
      </p:graphicFrame>
    </p:spTree>
  </p:cSld>
  <p:clrMapOvr>
    <a:masterClrMapping/>
  </p:clrMapOvr>
  <p:transition spd="slow">
    <p:zoom/>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a:extLst>
              <a:ext uri="{FF2B5EF4-FFF2-40B4-BE49-F238E27FC236}">
                <a16:creationId xmlns:a16="http://schemas.microsoft.com/office/drawing/2014/main" id="{CD748BD9-D565-486C-98D2-FADC8597EEA7}"/>
              </a:ext>
            </a:extLst>
          </p:cNvPr>
          <p:cNvGrpSpPr/>
          <p:nvPr/>
        </p:nvGrpSpPr>
        <p:grpSpPr>
          <a:xfrm>
            <a:off x="279471" y="2164991"/>
            <a:ext cx="2960721" cy="2350284"/>
            <a:chOff x="400216" y="1425650"/>
            <a:chExt cx="3711212" cy="2882853"/>
          </a:xfrm>
        </p:grpSpPr>
        <p:grpSp>
          <p:nvGrpSpPr>
            <p:cNvPr id="14" name="组合 13">
              <a:extLst>
                <a:ext uri="{FF2B5EF4-FFF2-40B4-BE49-F238E27FC236}">
                  <a16:creationId xmlns:a16="http://schemas.microsoft.com/office/drawing/2014/main" id="{51077B62-17CF-4B61-B4F9-BDB0314C4782}"/>
                </a:ext>
              </a:extLst>
            </p:cNvPr>
            <p:cNvGrpSpPr/>
            <p:nvPr/>
          </p:nvGrpSpPr>
          <p:grpSpPr>
            <a:xfrm>
              <a:off x="400216" y="1425650"/>
              <a:ext cx="3711212" cy="2882853"/>
              <a:chOff x="445935" y="809294"/>
              <a:chExt cx="6990119" cy="5470972"/>
            </a:xfrm>
          </p:grpSpPr>
          <p:sp>
            <p:nvSpPr>
              <p:cNvPr id="18" name="íśļïḋé">
                <a:extLst>
                  <a:ext uri="{FF2B5EF4-FFF2-40B4-BE49-F238E27FC236}">
                    <a16:creationId xmlns:a16="http://schemas.microsoft.com/office/drawing/2014/main" id="{976C2238-92B1-43CC-8A8D-718726B4C86F}"/>
                  </a:ext>
                </a:extLst>
              </p:cNvPr>
              <p:cNvSpPr/>
              <p:nvPr/>
            </p:nvSpPr>
            <p:spPr bwMode="auto">
              <a:xfrm rot="12330823">
                <a:off x="1684541" y="809294"/>
                <a:ext cx="5751513" cy="2876549"/>
              </a:xfrm>
              <a:custGeom>
                <a:avLst/>
                <a:gdLst>
                  <a:gd name="connsiteX0" fmla="*/ 842247 w 5751228"/>
                  <a:gd name="connsiteY0" fmla="*/ 2033366 h 2875614"/>
                  <a:gd name="connsiteX1" fmla="*/ 0 w 5751228"/>
                  <a:gd name="connsiteY1" fmla="*/ 0 h 2875614"/>
                  <a:gd name="connsiteX2" fmla="*/ 408346 w 5751228"/>
                  <a:gd name="connsiteY2" fmla="*/ 0 h 2875614"/>
                  <a:gd name="connsiteX3" fmla="*/ 407043 w 5751228"/>
                  <a:gd name="connsiteY3" fmla="*/ 74793 h 2875614"/>
                  <a:gd name="connsiteX4" fmla="*/ 1182959 w 5751228"/>
                  <a:gd name="connsiteY4" fmla="*/ 1798429 h 2875614"/>
                  <a:gd name="connsiteX5" fmla="*/ 4674044 w 5751228"/>
                  <a:gd name="connsiteY5" fmla="*/ 1692653 h 2875614"/>
                  <a:gd name="connsiteX6" fmla="*/ 5340056 w 5751228"/>
                  <a:gd name="connsiteY6" fmla="*/ 162164 h 2875614"/>
                  <a:gd name="connsiteX7" fmla="*/ 5342881 w 5751228"/>
                  <a:gd name="connsiteY7" fmla="*/ 0 h 2875614"/>
                  <a:gd name="connsiteX8" fmla="*/ 5751228 w 5751228"/>
                  <a:gd name="connsiteY8" fmla="*/ 0 h 2875614"/>
                  <a:gd name="connsiteX9" fmla="*/ 2875614 w 5751228"/>
                  <a:gd name="connsiteY9" fmla="*/ 2875614 h 2875614"/>
                  <a:gd name="connsiteX10" fmla="*/ 842247 w 5751228"/>
                  <a:gd name="connsiteY10" fmla="*/ 2033366 h 2875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51228" h="2875614">
                    <a:moveTo>
                      <a:pt x="842247" y="2033366"/>
                    </a:moveTo>
                    <a:cubicBezTo>
                      <a:pt x="321864" y="1512982"/>
                      <a:pt x="0" y="794078"/>
                      <a:pt x="0" y="0"/>
                    </a:cubicBezTo>
                    <a:lnTo>
                      <a:pt x="408346" y="0"/>
                    </a:lnTo>
                    <a:lnTo>
                      <a:pt x="407043" y="74793"/>
                    </a:lnTo>
                    <a:cubicBezTo>
                      <a:pt x="426185" y="706556"/>
                      <a:pt x="686336" y="1331016"/>
                      <a:pt x="1182959" y="1798429"/>
                    </a:cubicBezTo>
                    <a:cubicBezTo>
                      <a:pt x="2176205" y="2733256"/>
                      <a:pt x="3739217" y="2685899"/>
                      <a:pt x="4674044" y="1692653"/>
                    </a:cubicBezTo>
                    <a:cubicBezTo>
                      <a:pt x="5083031" y="1258108"/>
                      <a:pt x="5304022" y="714506"/>
                      <a:pt x="5340056" y="162164"/>
                    </a:cubicBezTo>
                    <a:lnTo>
                      <a:pt x="5342881" y="0"/>
                    </a:lnTo>
                    <a:lnTo>
                      <a:pt x="5751228" y="0"/>
                    </a:lnTo>
                    <a:cubicBezTo>
                      <a:pt x="5751228" y="1588157"/>
                      <a:pt x="4463771" y="2875614"/>
                      <a:pt x="2875614" y="2875614"/>
                    </a:cubicBezTo>
                    <a:cubicBezTo>
                      <a:pt x="2081535" y="2875614"/>
                      <a:pt x="1362632" y="2553750"/>
                      <a:pt x="842247" y="2033366"/>
                    </a:cubicBezTo>
                    <a:close/>
                  </a:path>
                </a:pathLst>
              </a:custGeom>
              <a:solidFill>
                <a:srgbClr val="0AA39D">
                  <a:alpha val="75000"/>
                </a:srgbClr>
              </a:solidFill>
              <a:ln w="19050">
                <a:noFill/>
                <a:round/>
                <a:headEnd/>
                <a:tailEnd/>
              </a:ln>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000000"/>
                  </a:solidFill>
                  <a:effectLst/>
                  <a:uLnTx/>
                  <a:uFillTx/>
                  <a:latin typeface="Arial"/>
                  <a:ea typeface="微软雅黑" panose="020B0503020204020204" pitchFamily="34" charset="-122"/>
                </a:endParaRPr>
              </a:p>
            </p:txBody>
          </p:sp>
          <p:sp>
            <p:nvSpPr>
              <p:cNvPr id="19" name="íSḷîďê">
                <a:extLst>
                  <a:ext uri="{FF2B5EF4-FFF2-40B4-BE49-F238E27FC236}">
                    <a16:creationId xmlns:a16="http://schemas.microsoft.com/office/drawing/2014/main" id="{7AB1AF71-AAC3-4B0C-8E29-199DDE974FCE}"/>
                  </a:ext>
                </a:extLst>
              </p:cNvPr>
              <p:cNvSpPr>
                <a:spLocks/>
              </p:cNvSpPr>
              <p:nvPr/>
            </p:nvSpPr>
            <p:spPr bwMode="auto">
              <a:xfrm rot="12330823">
                <a:off x="445935" y="3404681"/>
                <a:ext cx="5751328" cy="2875585"/>
              </a:xfrm>
              <a:custGeom>
                <a:avLst/>
                <a:gdLst>
                  <a:gd name="T0" fmla="*/ 0 w 5751227"/>
                  <a:gd name="T1" fmla="*/ 2875615 h 2875615"/>
                  <a:gd name="T2" fmla="*/ 2875628 w 5751227"/>
                  <a:gd name="T3" fmla="*/ 0 h 2875615"/>
                  <a:gd name="T4" fmla="*/ 5751227 w 5751227"/>
                  <a:gd name="T5" fmla="*/ 2875615 h 2875615"/>
                  <a:gd name="T6" fmla="*/ 5342883 w 5751227"/>
                  <a:gd name="T7" fmla="*/ 2875615 h 2875615"/>
                  <a:gd name="T8" fmla="*/ 5344183 w 5751227"/>
                  <a:gd name="T9" fmla="*/ 2800821 h 2875615"/>
                  <a:gd name="T10" fmla="*/ 4568267 w 5751227"/>
                  <a:gd name="T11" fmla="*/ 1077193 h 2875615"/>
                  <a:gd name="T12" fmla="*/ 1077190 w 5751227"/>
                  <a:gd name="T13" fmla="*/ 1182968 h 2875615"/>
                  <a:gd name="T14" fmla="*/ 411171 w 5751227"/>
                  <a:gd name="T15" fmla="*/ 2713449 h 2875615"/>
                  <a:gd name="T16" fmla="*/ 408345 w 5751227"/>
                  <a:gd name="T17" fmla="*/ 2875615 h 2875615"/>
                  <a:gd name="T18" fmla="*/ 0 w 5751227"/>
                  <a:gd name="T19" fmla="*/ 2875615 h 28756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51227"/>
                  <a:gd name="T31" fmla="*/ 0 h 2875615"/>
                  <a:gd name="T32" fmla="*/ 5751227 w 5751227"/>
                  <a:gd name="T33" fmla="*/ 2875615 h 287561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51227" h="2875615">
                    <a:moveTo>
                      <a:pt x="0" y="2875615"/>
                    </a:moveTo>
                    <a:cubicBezTo>
                      <a:pt x="0" y="1287457"/>
                      <a:pt x="1287456" y="0"/>
                      <a:pt x="2875613" y="0"/>
                    </a:cubicBezTo>
                    <a:cubicBezTo>
                      <a:pt x="4463770" y="0"/>
                      <a:pt x="5751227" y="1287457"/>
                      <a:pt x="5751227" y="2875614"/>
                    </a:cubicBezTo>
                    <a:lnTo>
                      <a:pt x="5342880" y="2875614"/>
                    </a:lnTo>
                    <a:lnTo>
                      <a:pt x="5344183" y="2800820"/>
                    </a:lnTo>
                    <a:cubicBezTo>
                      <a:pt x="5325041" y="2169058"/>
                      <a:pt x="5064890" y="1544598"/>
                      <a:pt x="4568267" y="1077185"/>
                    </a:cubicBezTo>
                    <a:cubicBezTo>
                      <a:pt x="3575022" y="142357"/>
                      <a:pt x="2012009" y="189715"/>
                      <a:pt x="1077182" y="1182960"/>
                    </a:cubicBezTo>
                    <a:cubicBezTo>
                      <a:pt x="668195" y="1617505"/>
                      <a:pt x="447204" y="2161107"/>
                      <a:pt x="411171" y="2713449"/>
                    </a:cubicBezTo>
                    <a:lnTo>
                      <a:pt x="408345" y="2875614"/>
                    </a:lnTo>
                    <a:lnTo>
                      <a:pt x="0" y="2875615"/>
                    </a:lnTo>
                    <a:close/>
                  </a:path>
                </a:pathLst>
              </a:custGeom>
              <a:solidFill>
                <a:srgbClr val="003F98">
                  <a:alpha val="73000"/>
                </a:srgbClr>
              </a:solidFill>
              <a:ln>
                <a:noFill/>
              </a:ln>
              <a:extLst>
                <a:ext uri="{91240B29-F687-4F45-9708-019B960494DF}">
                  <a14:hiddenLine xmlns:a14="http://schemas.microsoft.com/office/drawing/2010/main" w="19050">
                    <a:solidFill>
                      <a:srgbClr val="000000"/>
                    </a:solidFill>
                    <a:round/>
                    <a:headEnd/>
                    <a:tailEnd/>
                  </a14:hiddenLine>
                </a:ext>
              </a:extLst>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a:ea typeface="微软雅黑" panose="020B0503020204020204" pitchFamily="34" charset="-122"/>
                </a:endParaRPr>
              </a:p>
            </p:txBody>
          </p:sp>
        </p:grpSp>
        <p:grpSp>
          <p:nvGrpSpPr>
            <p:cNvPr id="15" name="iṧľiďe">
              <a:extLst>
                <a:ext uri="{FF2B5EF4-FFF2-40B4-BE49-F238E27FC236}">
                  <a16:creationId xmlns:a16="http://schemas.microsoft.com/office/drawing/2014/main" id="{891052D4-C542-414B-91C5-DB7B72CDD9F2}"/>
                </a:ext>
              </a:extLst>
            </p:cNvPr>
            <p:cNvGrpSpPr>
              <a:grpSpLocks/>
            </p:cNvGrpSpPr>
            <p:nvPr/>
          </p:nvGrpSpPr>
          <p:grpSpPr bwMode="auto">
            <a:xfrm>
              <a:off x="1507376" y="1987353"/>
              <a:ext cx="1391523" cy="1797372"/>
              <a:chOff x="1987251" y="3051050"/>
              <a:chExt cx="1826411" cy="2359035"/>
            </a:xfrm>
          </p:grpSpPr>
          <p:sp>
            <p:nvSpPr>
              <p:cNvPr id="16" name="iSlïḓé">
                <a:extLst>
                  <a:ext uri="{FF2B5EF4-FFF2-40B4-BE49-F238E27FC236}">
                    <a16:creationId xmlns:a16="http://schemas.microsoft.com/office/drawing/2014/main" id="{068C083D-D9FD-4334-828B-B06B75F8977F}"/>
                  </a:ext>
                </a:extLst>
              </p:cNvPr>
              <p:cNvSpPr txBox="1">
                <a:spLocks noChangeArrowheads="1"/>
              </p:cNvSpPr>
              <p:nvPr/>
            </p:nvSpPr>
            <p:spPr bwMode="auto">
              <a:xfrm>
                <a:off x="2301494" y="3051050"/>
                <a:ext cx="1512168" cy="2308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Times New Roman" panose="02020603050405020304" pitchFamily="18" charset="0"/>
                    <a:ea typeface="微软雅黑" panose="020B0503020204020204" pitchFamily="34" charset="-122"/>
                  </a:defRPr>
                </a:lvl1pPr>
                <a:lvl2pPr marL="742950" indent="-285750">
                  <a:defRPr>
                    <a:solidFill>
                      <a:schemeClr val="tx1"/>
                    </a:solidFill>
                    <a:latin typeface="Times New Roman" panose="02020603050405020304" pitchFamily="18" charset="0"/>
                    <a:ea typeface="微软雅黑" panose="020B0503020204020204" pitchFamily="34" charset="-122"/>
                  </a:defRPr>
                </a:lvl2pPr>
                <a:lvl3pPr marL="1143000" indent="-228600">
                  <a:defRPr>
                    <a:solidFill>
                      <a:schemeClr val="tx1"/>
                    </a:solidFill>
                    <a:latin typeface="Times New Roman" panose="02020603050405020304" pitchFamily="18" charset="0"/>
                    <a:ea typeface="微软雅黑" panose="020B0503020204020204" pitchFamily="34" charset="-122"/>
                  </a:defRPr>
                </a:lvl3pPr>
                <a:lvl4pPr marL="1600200" indent="-228600">
                  <a:defRPr>
                    <a:solidFill>
                      <a:schemeClr val="tx1"/>
                    </a:solidFill>
                    <a:latin typeface="Times New Roman" panose="02020603050405020304" pitchFamily="18" charset="0"/>
                    <a:ea typeface="微软雅黑" panose="020B0503020204020204" pitchFamily="34" charset="-122"/>
                  </a:defRPr>
                </a:lvl4pPr>
                <a:lvl5pPr marL="2057400" indent="-228600">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48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rPr>
                  <a:t>目录</a:t>
                </a:r>
              </a:p>
            </p:txBody>
          </p:sp>
          <p:sp>
            <p:nvSpPr>
              <p:cNvPr id="17" name="îsļïdé">
                <a:extLst>
                  <a:ext uri="{FF2B5EF4-FFF2-40B4-BE49-F238E27FC236}">
                    <a16:creationId xmlns:a16="http://schemas.microsoft.com/office/drawing/2014/main" id="{53CBF4E9-5B09-4897-BB1F-C3B8F9B2F91D}"/>
                  </a:ext>
                </a:extLst>
              </p:cNvPr>
              <p:cNvSpPr txBox="1">
                <a:spLocks noChangeArrowheads="1"/>
              </p:cNvSpPr>
              <p:nvPr/>
            </p:nvSpPr>
            <p:spPr bwMode="auto">
              <a:xfrm rot="5400000">
                <a:off x="1044712" y="4077375"/>
                <a:ext cx="2275249" cy="390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imes New Roman" panose="02020603050405020304" pitchFamily="18" charset="0"/>
                    <a:ea typeface="微软雅黑" panose="020B0503020204020204" pitchFamily="34" charset="-122"/>
                  </a:defRPr>
                </a:lvl1pPr>
                <a:lvl2pPr marL="742950" indent="-285750">
                  <a:defRPr>
                    <a:solidFill>
                      <a:schemeClr val="tx1"/>
                    </a:solidFill>
                    <a:latin typeface="Times New Roman" panose="02020603050405020304" pitchFamily="18" charset="0"/>
                    <a:ea typeface="微软雅黑" panose="020B0503020204020204" pitchFamily="34" charset="-122"/>
                  </a:defRPr>
                </a:lvl2pPr>
                <a:lvl3pPr marL="1143000" indent="-228600">
                  <a:defRPr>
                    <a:solidFill>
                      <a:schemeClr val="tx1"/>
                    </a:solidFill>
                    <a:latin typeface="Times New Roman" panose="02020603050405020304" pitchFamily="18" charset="0"/>
                    <a:ea typeface="微软雅黑" panose="020B0503020204020204" pitchFamily="34" charset="-122"/>
                  </a:defRPr>
                </a:lvl3pPr>
                <a:lvl4pPr marL="1600200" indent="-228600">
                  <a:defRPr>
                    <a:solidFill>
                      <a:schemeClr val="tx1"/>
                    </a:solidFill>
                    <a:latin typeface="Times New Roman" panose="02020603050405020304" pitchFamily="18" charset="0"/>
                    <a:ea typeface="微软雅黑" panose="020B0503020204020204" pitchFamily="34" charset="-122"/>
                  </a:defRPr>
                </a:lvl4pPr>
                <a:lvl5pPr marL="2057400" indent="-228600">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rPr>
                  <a:t>CONTENT</a:t>
                </a:r>
              </a:p>
            </p:txBody>
          </p:sp>
        </p:grpSp>
      </p:grpSp>
      <p:sp>
        <p:nvSpPr>
          <p:cNvPr id="21" name="í$1iďê">
            <a:extLst>
              <a:ext uri="{FF2B5EF4-FFF2-40B4-BE49-F238E27FC236}">
                <a16:creationId xmlns:a16="http://schemas.microsoft.com/office/drawing/2014/main" id="{C541662A-52BD-4B26-B8C7-EF7AE024A9BF}"/>
              </a:ext>
            </a:extLst>
          </p:cNvPr>
          <p:cNvSpPr txBox="1"/>
          <p:nvPr/>
        </p:nvSpPr>
        <p:spPr bwMode="auto">
          <a:xfrm>
            <a:off x="3287688" y="2996952"/>
            <a:ext cx="7168405" cy="539442"/>
          </a:xfrm>
          <a:prstGeom prst="rect">
            <a:avLst/>
          </a:prstGeom>
          <a:noFill/>
        </p:spPr>
        <p:txBody>
          <a:bodyPr wrap="none" anchor="ctr">
            <a:noAutofit/>
          </a:bodyPr>
          <a:lstStyle/>
          <a:p>
            <a:pPr>
              <a:defRPr/>
            </a:pPr>
            <a:r>
              <a:rPr lang="en-US" altLang="zh-CN" sz="3600" b="1" dirty="0">
                <a:solidFill>
                  <a:srgbClr val="11406C">
                    <a:lumMod val="100000"/>
                  </a:srgbClr>
                </a:solidFill>
                <a:latin typeface="Impact" panose="020B0806030902050204" pitchFamily="34" charset="0"/>
                <a:ea typeface="微软雅黑" panose="020B0503020204020204" pitchFamily="34" charset="-122"/>
              </a:rPr>
              <a:t>1.3  </a:t>
            </a:r>
            <a:r>
              <a:rPr lang="zh-CN" altLang="en-US" sz="3600" b="1" dirty="0">
                <a:solidFill>
                  <a:srgbClr val="11406C">
                    <a:lumMod val="100000"/>
                  </a:srgbClr>
                </a:solidFill>
                <a:latin typeface="Impact" panose="020B0806030902050204" pitchFamily="34" charset="0"/>
                <a:ea typeface="微软雅黑" panose="020B0503020204020204" pitchFamily="34" charset="-122"/>
              </a:rPr>
              <a:t>网络通信体系结构</a:t>
            </a:r>
          </a:p>
        </p:txBody>
      </p:sp>
    </p:spTree>
    <p:extLst>
      <p:ext uri="{BB962C8B-B14F-4D97-AF65-F5344CB8AC3E}">
        <p14:creationId xmlns:p14="http://schemas.microsoft.com/office/powerpoint/2010/main" val="1424402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371" name="Rectangle 3"/>
          <p:cNvSpPr>
            <a:spLocks noGrp="1"/>
          </p:cNvSpPr>
          <p:nvPr>
            <p:ph idx="1"/>
          </p:nvPr>
        </p:nvSpPr>
        <p:spPr>
          <a:xfrm>
            <a:off x="407368" y="908720"/>
            <a:ext cx="10515600" cy="4351338"/>
          </a:xfrm>
          <a:prstGeom prst="rect">
            <a:avLst/>
          </a:prstGeom>
          <a:noFill/>
          <a:ln>
            <a:noFill/>
          </a:ln>
        </p:spPr>
        <p:txBody>
          <a:bodyPr vert="horz" lIns="91440" tIns="45720" rIns="91440" bIns="45720" anchor="t">
            <a:normAutofit lnSpcReduction="10000"/>
          </a:bodyPr>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buFontTx/>
              <a:buNone/>
            </a:pPr>
            <a:r>
              <a:rPr lang="en-US" altLang="zh-CN" sz="3200" dirty="0">
                <a:solidFill>
                  <a:schemeClr val="tx1"/>
                </a:solidFill>
                <a:effectLst>
                  <a:outerShdw blurRad="38100" dist="38100" dir="2700000" algn="tl">
                    <a:srgbClr val="C0C0C0"/>
                  </a:outerShdw>
                </a:effectLst>
              </a:rPr>
              <a:t>1.3.1  OSI/RM</a:t>
            </a:r>
            <a:r>
              <a:rPr lang="zh-CN" altLang="en-US" sz="3200" dirty="0">
                <a:solidFill>
                  <a:schemeClr val="tx1"/>
                </a:solidFill>
                <a:effectLst>
                  <a:outerShdw blurRad="38100" dist="38100" dir="2700000" algn="tl">
                    <a:srgbClr val="C0C0C0"/>
                  </a:outerShdw>
                </a:effectLst>
              </a:rPr>
              <a:t>体系结构</a:t>
            </a:r>
          </a:p>
          <a:p>
            <a:pPr lvl="0" eaLnBrk="1" latinLnBrk="1" hangingPunct="1"/>
            <a:r>
              <a:rPr lang="zh-CN" altLang="en-US" b="0" dirty="0">
                <a:solidFill>
                  <a:schemeClr val="tx1"/>
                </a:solidFill>
              </a:rPr>
              <a:t>定义：</a:t>
            </a:r>
          </a:p>
          <a:p>
            <a:pPr lvl="0" eaLnBrk="1" latinLnBrk="1" hangingPunct="1">
              <a:buFontTx/>
              <a:buNone/>
            </a:pPr>
            <a:r>
              <a:rPr lang="zh-CN" altLang="en-US" dirty="0">
                <a:solidFill>
                  <a:schemeClr val="tx1"/>
                </a:solidFill>
              </a:rPr>
              <a:t>    网络的</a:t>
            </a:r>
            <a:r>
              <a:rPr lang="zh-CN" altLang="en-US" dirty="0">
                <a:solidFill>
                  <a:schemeClr val="tx1"/>
                </a:solidFill>
                <a:effectLst>
                  <a:outerShdw blurRad="38100" dist="38100" dir="2700000" algn="tl">
                    <a:srgbClr val="C0C0C0"/>
                  </a:outerShdw>
                </a:effectLst>
              </a:rPr>
              <a:t>功能分层</a:t>
            </a:r>
            <a:r>
              <a:rPr lang="zh-CN" altLang="en-US" dirty="0">
                <a:solidFill>
                  <a:schemeClr val="tx1"/>
                </a:solidFill>
              </a:rPr>
              <a:t>与各层通信</a:t>
            </a:r>
            <a:r>
              <a:rPr lang="zh-CN" altLang="en-US" dirty="0">
                <a:solidFill>
                  <a:schemeClr val="tx1"/>
                </a:solidFill>
                <a:effectLst>
                  <a:outerShdw blurRad="38100" dist="38100" dir="2700000" algn="tl">
                    <a:srgbClr val="C0C0C0"/>
                  </a:outerShdw>
                </a:effectLst>
              </a:rPr>
              <a:t>协议</a:t>
            </a:r>
            <a:r>
              <a:rPr lang="en-US" altLang="zh-CN" dirty="0" err="1">
                <a:solidFill>
                  <a:schemeClr val="tx1"/>
                </a:solidFill>
              </a:rPr>
              <a:t>的集合称为网络体系结构</a:t>
            </a:r>
            <a:r>
              <a:rPr lang="en-US" altLang="zh-CN" dirty="0">
                <a:solidFill>
                  <a:schemeClr val="tx1"/>
                </a:solidFill>
              </a:rPr>
              <a:t>。</a:t>
            </a:r>
          </a:p>
          <a:p>
            <a:pPr lvl="0" eaLnBrk="1" latinLnBrk="1" hangingPunct="1">
              <a:buFontTx/>
              <a:buNone/>
            </a:pPr>
            <a:endParaRPr lang="zh-CN" altLang="en-US" dirty="0">
              <a:solidFill>
                <a:schemeClr val="tx1"/>
              </a:solidFill>
            </a:endParaRPr>
          </a:p>
          <a:p>
            <a:pPr lvl="0" eaLnBrk="1" latinLnBrk="1" hangingPunct="1"/>
            <a:r>
              <a:rPr lang="zh-CN" altLang="en-US" b="0" dirty="0">
                <a:solidFill>
                  <a:schemeClr val="tx1"/>
                </a:solidFill>
              </a:rPr>
              <a:t>主要网络体系结构：</a:t>
            </a:r>
          </a:p>
          <a:p>
            <a:pPr lvl="1" eaLnBrk="1" latinLnBrk="1" hangingPunct="1"/>
            <a:r>
              <a:rPr lang="en-US" altLang="zh-CN" dirty="0">
                <a:solidFill>
                  <a:schemeClr val="tx1"/>
                </a:solidFill>
              </a:rPr>
              <a:t>OSI/RM</a:t>
            </a:r>
            <a:r>
              <a:rPr lang="zh-CN" altLang="en-US" sz="2000" dirty="0">
                <a:solidFill>
                  <a:schemeClr val="tx1"/>
                </a:solidFill>
              </a:rPr>
              <a:t>（开放式系统互联参考模型）</a:t>
            </a:r>
          </a:p>
          <a:p>
            <a:pPr lvl="1" eaLnBrk="1" latinLnBrk="1" hangingPunct="1"/>
            <a:r>
              <a:rPr lang="en-US" altLang="zh-CN" dirty="0">
                <a:solidFill>
                  <a:schemeClr val="tx1"/>
                </a:solidFill>
              </a:rPr>
              <a:t>TCP/IP</a:t>
            </a:r>
            <a:r>
              <a:rPr lang="zh-CN" altLang="en-US" sz="2000" dirty="0">
                <a:solidFill>
                  <a:schemeClr val="tx1"/>
                </a:solidFill>
              </a:rPr>
              <a:t>（传输控制协议</a:t>
            </a:r>
            <a:r>
              <a:rPr lang="en-US" altLang="zh-CN" sz="2000" dirty="0">
                <a:solidFill>
                  <a:schemeClr val="tx1"/>
                </a:solidFill>
              </a:rPr>
              <a:t>/</a:t>
            </a:r>
            <a:r>
              <a:rPr lang="zh-CN" altLang="en-US" sz="2000" dirty="0">
                <a:solidFill>
                  <a:schemeClr val="tx1"/>
                </a:solidFill>
              </a:rPr>
              <a:t>互联协议）</a:t>
            </a:r>
          </a:p>
          <a:p>
            <a:pPr lvl="1" eaLnBrk="1" latinLnBrk="1" hangingPunct="1"/>
            <a:endParaRPr lang="zh-CN" altLang="en-US" sz="2000" dirty="0">
              <a:solidFill>
                <a:schemeClr val="tx1"/>
              </a:solidFill>
            </a:endParaRPr>
          </a:p>
          <a:p>
            <a:pPr lvl="0" eaLnBrk="1" latinLnBrk="1" hangingPunct="1"/>
            <a:r>
              <a:rPr lang="en-US" altLang="zh-CN" b="0" dirty="0">
                <a:solidFill>
                  <a:schemeClr val="tx1"/>
                </a:solidFill>
              </a:rPr>
              <a:t>OSI/RM</a:t>
            </a:r>
            <a:r>
              <a:rPr lang="zh-CN" altLang="en-US" b="0" dirty="0">
                <a:solidFill>
                  <a:schemeClr val="tx1"/>
                </a:solidFill>
              </a:rPr>
              <a:t>较复杂，设计过于理想，因而没有一个实现</a:t>
            </a:r>
            <a:r>
              <a:rPr lang="en-US" altLang="zh-CN" b="0" dirty="0">
                <a:solidFill>
                  <a:schemeClr val="tx1"/>
                </a:solidFill>
              </a:rPr>
              <a:t>OSI/RM</a:t>
            </a:r>
            <a:r>
              <a:rPr lang="zh-CN" altLang="en-US" b="0" dirty="0">
                <a:solidFill>
                  <a:schemeClr val="tx1"/>
                </a:solidFill>
              </a:rPr>
              <a:t>的实际网络系统。</a:t>
            </a:r>
          </a:p>
        </p:txBody>
      </p:sp>
      <p:sp>
        <p:nvSpPr>
          <p:cNvPr id="1049370" name="Rectangle 2"/>
          <p:cNvSpPr>
            <a:spLocks noGrp="1"/>
          </p:cNvSpPr>
          <p:nvPr>
            <p:ph type="title"/>
          </p:nvPr>
        </p:nvSpPr>
        <p:spPr>
          <a:xfrm>
            <a:off x="0" y="115092"/>
            <a:ext cx="10515600" cy="565945"/>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1.3  </a:t>
            </a:r>
            <a:r>
              <a:rPr lang="zh-CN" altLang="en-US" dirty="0">
                <a:solidFill>
                  <a:schemeClr val="bg1"/>
                </a:solidFill>
              </a:rPr>
              <a:t>网络通信体系结构</a:t>
            </a:r>
          </a:p>
        </p:txBody>
      </p:sp>
    </p:spTree>
  </p:cSld>
  <p:clrMapOvr>
    <a:masterClrMapping/>
  </p:clrMapOvr>
  <p:transition spd="slow">
    <p:zoom/>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376" name="Rectangle 3"/>
          <p:cNvSpPr>
            <a:spLocks noGrp="1"/>
          </p:cNvSpPr>
          <p:nvPr>
            <p:ph idx="1"/>
          </p:nvPr>
        </p:nvSpPr>
        <p:spPr>
          <a:xfrm>
            <a:off x="335360" y="887413"/>
            <a:ext cx="9433048" cy="577849"/>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r>
              <a:rPr lang="en-US" altLang="zh-CN" b="0" dirty="0"/>
              <a:t>[</a:t>
            </a:r>
            <a:r>
              <a:rPr lang="zh-CN" altLang="en-US" b="0" dirty="0"/>
              <a:t>案例</a:t>
            </a:r>
            <a:r>
              <a:rPr lang="en-US" altLang="zh-CN" b="0" dirty="0"/>
              <a:t>] OSI/RM</a:t>
            </a:r>
            <a:r>
              <a:rPr lang="zh-CN" altLang="en-US" b="0" dirty="0"/>
              <a:t>网络模型</a:t>
            </a:r>
          </a:p>
        </p:txBody>
      </p:sp>
      <p:sp>
        <p:nvSpPr>
          <p:cNvPr id="1049375" name="Rectangle 2"/>
          <p:cNvSpPr>
            <a:spLocks noGrp="1"/>
          </p:cNvSpPr>
          <p:nvPr>
            <p:ph type="title"/>
          </p:nvPr>
        </p:nvSpPr>
        <p:spPr>
          <a:xfrm>
            <a:off x="0" y="165106"/>
            <a:ext cx="10515600" cy="577849"/>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1.3  </a:t>
            </a:r>
            <a:r>
              <a:rPr lang="zh-CN" altLang="en-US" dirty="0">
                <a:solidFill>
                  <a:schemeClr val="bg1"/>
                </a:solidFill>
              </a:rPr>
              <a:t>网络通信体系结构</a:t>
            </a:r>
          </a:p>
        </p:txBody>
      </p:sp>
      <p:grpSp>
        <p:nvGrpSpPr>
          <p:cNvPr id="248" name="组合 247"/>
          <p:cNvGrpSpPr/>
          <p:nvPr/>
        </p:nvGrpSpPr>
        <p:grpSpPr>
          <a:xfrm>
            <a:off x="1992312" y="2038351"/>
            <a:ext cx="8507412" cy="3406775"/>
            <a:chOff x="295" y="1284"/>
            <a:chExt cx="5359" cy="2146"/>
          </a:xfrm>
        </p:grpSpPr>
        <p:sp>
          <p:nvSpPr>
            <p:cNvPr id="1049377" name="Rectangle 6"/>
            <p:cNvSpPr/>
            <p:nvPr/>
          </p:nvSpPr>
          <p:spPr>
            <a:xfrm>
              <a:off x="511" y="1292"/>
              <a:ext cx="984" cy="307"/>
            </a:xfrm>
            <a:prstGeom prst="rect">
              <a:avLst/>
            </a:prstGeom>
            <a:solidFill>
              <a:srgbClr val="DDDDDD"/>
            </a:solidFill>
            <a:ln w="17463" cap="flat" cmpd="sng">
              <a:solidFill>
                <a:srgbClr val="000000">
                  <a:alpha val="100000"/>
                </a:srgbClr>
              </a:solidFill>
              <a:prstDash val="solid"/>
              <a:round/>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endParaRPr lang="zh-CN" altLang="en-US"/>
            </a:p>
          </p:txBody>
        </p:sp>
        <p:sp>
          <p:nvSpPr>
            <p:cNvPr id="1049378" name="Rectangle 7"/>
            <p:cNvSpPr/>
            <p:nvPr/>
          </p:nvSpPr>
          <p:spPr>
            <a:xfrm>
              <a:off x="775" y="1370"/>
              <a:ext cx="412" cy="165"/>
            </a:xfrm>
            <a:prstGeom prst="rect">
              <a:avLst/>
            </a:prstGeom>
            <a:noFill/>
            <a:ln>
              <a:noFill/>
            </a:ln>
          </p:spPr>
          <p:txBody>
            <a:bodyPr vert="horz" wrap="none" lIns="0" tIns="0" rIns="0" bIns="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r>
                <a:rPr lang="zh-CN" altLang="en-US" sz="1700">
                  <a:solidFill>
                    <a:srgbClr val="000000"/>
                  </a:solidFill>
                  <a:latin typeface="宋体" pitchFamily="2" charset="-122"/>
                </a:rPr>
                <a:t>应用层</a:t>
              </a:r>
            </a:p>
          </p:txBody>
        </p:sp>
        <p:sp>
          <p:nvSpPr>
            <p:cNvPr id="1049379" name="Rectangle 8"/>
            <p:cNvSpPr/>
            <p:nvPr/>
          </p:nvSpPr>
          <p:spPr>
            <a:xfrm>
              <a:off x="511" y="3123"/>
              <a:ext cx="984" cy="307"/>
            </a:xfrm>
            <a:prstGeom prst="rect">
              <a:avLst/>
            </a:prstGeom>
            <a:solidFill>
              <a:srgbClr val="FFFF66"/>
            </a:solidFill>
            <a:ln w="17463" cap="flat" cmpd="sng">
              <a:solidFill>
                <a:srgbClr val="000000">
                  <a:alpha val="100000"/>
                </a:srgbClr>
              </a:solidFill>
              <a:prstDash val="solid"/>
              <a:round/>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endParaRPr lang="zh-CN" altLang="en-US"/>
            </a:p>
          </p:txBody>
        </p:sp>
        <p:sp>
          <p:nvSpPr>
            <p:cNvPr id="1049380" name="Rectangle 9"/>
            <p:cNvSpPr/>
            <p:nvPr/>
          </p:nvSpPr>
          <p:spPr>
            <a:xfrm>
              <a:off x="775" y="3201"/>
              <a:ext cx="412" cy="165"/>
            </a:xfrm>
            <a:prstGeom prst="rect">
              <a:avLst/>
            </a:prstGeom>
            <a:noFill/>
            <a:ln>
              <a:noFill/>
            </a:ln>
          </p:spPr>
          <p:txBody>
            <a:bodyPr vert="horz" wrap="none" lIns="0" tIns="0" rIns="0" bIns="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r>
                <a:rPr lang="zh-CN" altLang="en-US" sz="1700">
                  <a:solidFill>
                    <a:srgbClr val="000000"/>
                  </a:solidFill>
                  <a:latin typeface="宋体" pitchFamily="2" charset="-122"/>
                </a:rPr>
                <a:t>物理层</a:t>
              </a:r>
            </a:p>
          </p:txBody>
        </p:sp>
        <p:sp>
          <p:nvSpPr>
            <p:cNvPr id="1049381" name="Rectangle 10"/>
            <p:cNvSpPr/>
            <p:nvPr/>
          </p:nvSpPr>
          <p:spPr>
            <a:xfrm>
              <a:off x="511" y="2820"/>
              <a:ext cx="984" cy="303"/>
            </a:xfrm>
            <a:prstGeom prst="rect">
              <a:avLst/>
            </a:prstGeom>
            <a:solidFill>
              <a:srgbClr val="CCECFF"/>
            </a:solidFill>
            <a:ln w="17463" cap="flat" cmpd="sng">
              <a:solidFill>
                <a:srgbClr val="000000">
                  <a:alpha val="100000"/>
                </a:srgbClr>
              </a:solidFill>
              <a:prstDash val="solid"/>
              <a:round/>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endParaRPr lang="zh-CN" altLang="en-US"/>
            </a:p>
          </p:txBody>
        </p:sp>
        <p:sp>
          <p:nvSpPr>
            <p:cNvPr id="1049382" name="Rectangle 11"/>
            <p:cNvSpPr/>
            <p:nvPr/>
          </p:nvSpPr>
          <p:spPr>
            <a:xfrm>
              <a:off x="583" y="2894"/>
              <a:ext cx="755" cy="165"/>
            </a:xfrm>
            <a:prstGeom prst="rect">
              <a:avLst/>
            </a:prstGeom>
            <a:noFill/>
            <a:ln>
              <a:noFill/>
            </a:ln>
          </p:spPr>
          <p:txBody>
            <a:bodyPr vert="horz" wrap="none" lIns="0" tIns="0" rIns="0" bIns="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r>
                <a:rPr lang="en-US" altLang="zh-CN" sz="1700">
                  <a:solidFill>
                    <a:srgbClr val="000000"/>
                  </a:solidFill>
                  <a:latin typeface="宋体" pitchFamily="2" charset="-122"/>
                </a:rPr>
                <a:t> </a:t>
              </a:r>
              <a:r>
                <a:rPr lang="zh-CN" altLang="en-US" sz="1700">
                  <a:solidFill>
                    <a:srgbClr val="000000"/>
                  </a:solidFill>
                  <a:latin typeface="宋体" pitchFamily="2" charset="-122"/>
                </a:rPr>
                <a:t>数据链路层</a:t>
              </a:r>
            </a:p>
          </p:txBody>
        </p:sp>
        <p:sp>
          <p:nvSpPr>
            <p:cNvPr id="1049383" name="Rectangle 12"/>
            <p:cNvSpPr/>
            <p:nvPr/>
          </p:nvSpPr>
          <p:spPr>
            <a:xfrm>
              <a:off x="511" y="2513"/>
              <a:ext cx="984" cy="307"/>
            </a:xfrm>
            <a:prstGeom prst="rect">
              <a:avLst/>
            </a:prstGeom>
            <a:solidFill>
              <a:srgbClr val="FFCC99"/>
            </a:solidFill>
            <a:ln w="17463" cap="flat" cmpd="sng">
              <a:solidFill>
                <a:srgbClr val="000000">
                  <a:alpha val="100000"/>
                </a:srgbClr>
              </a:solidFill>
              <a:prstDash val="solid"/>
              <a:round/>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endParaRPr lang="zh-CN" altLang="en-US"/>
            </a:p>
          </p:txBody>
        </p:sp>
        <p:sp>
          <p:nvSpPr>
            <p:cNvPr id="1049384" name="Rectangle 13"/>
            <p:cNvSpPr/>
            <p:nvPr/>
          </p:nvSpPr>
          <p:spPr>
            <a:xfrm>
              <a:off x="775" y="2591"/>
              <a:ext cx="412" cy="165"/>
            </a:xfrm>
            <a:prstGeom prst="rect">
              <a:avLst/>
            </a:prstGeom>
            <a:noFill/>
            <a:ln>
              <a:noFill/>
            </a:ln>
          </p:spPr>
          <p:txBody>
            <a:bodyPr vert="horz" wrap="none" lIns="0" tIns="0" rIns="0" bIns="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r>
                <a:rPr lang="zh-CN" altLang="en-US" sz="1700">
                  <a:solidFill>
                    <a:srgbClr val="000000"/>
                  </a:solidFill>
                  <a:latin typeface="宋体" pitchFamily="2" charset="-122"/>
                </a:rPr>
                <a:t>网络层</a:t>
              </a:r>
            </a:p>
          </p:txBody>
        </p:sp>
        <p:sp>
          <p:nvSpPr>
            <p:cNvPr id="1049385" name="Rectangle 14"/>
            <p:cNvSpPr/>
            <p:nvPr/>
          </p:nvSpPr>
          <p:spPr>
            <a:xfrm>
              <a:off x="511" y="2209"/>
              <a:ext cx="984" cy="304"/>
            </a:xfrm>
            <a:prstGeom prst="rect">
              <a:avLst/>
            </a:prstGeom>
            <a:solidFill>
              <a:srgbClr val="99FF99"/>
            </a:solidFill>
            <a:ln w="17463" cap="flat" cmpd="sng">
              <a:solidFill>
                <a:srgbClr val="000000">
                  <a:alpha val="100000"/>
                </a:srgbClr>
              </a:solidFill>
              <a:prstDash val="solid"/>
              <a:round/>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endParaRPr lang="zh-CN" altLang="en-US"/>
            </a:p>
          </p:txBody>
        </p:sp>
        <p:sp>
          <p:nvSpPr>
            <p:cNvPr id="1049386" name="Rectangle 15"/>
            <p:cNvSpPr/>
            <p:nvPr/>
          </p:nvSpPr>
          <p:spPr>
            <a:xfrm>
              <a:off x="775" y="2284"/>
              <a:ext cx="412" cy="165"/>
            </a:xfrm>
            <a:prstGeom prst="rect">
              <a:avLst/>
            </a:prstGeom>
            <a:noFill/>
            <a:ln>
              <a:noFill/>
            </a:ln>
          </p:spPr>
          <p:txBody>
            <a:bodyPr vert="horz" wrap="none" lIns="0" tIns="0" rIns="0" bIns="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r>
                <a:rPr lang="zh-CN" altLang="en-US" sz="1700">
                  <a:solidFill>
                    <a:srgbClr val="000000"/>
                  </a:solidFill>
                  <a:latin typeface="宋体" pitchFamily="2" charset="-122"/>
                </a:rPr>
                <a:t>传输层</a:t>
              </a:r>
            </a:p>
          </p:txBody>
        </p:sp>
        <p:sp>
          <p:nvSpPr>
            <p:cNvPr id="1049387" name="Rectangle 16"/>
            <p:cNvSpPr/>
            <p:nvPr/>
          </p:nvSpPr>
          <p:spPr>
            <a:xfrm>
              <a:off x="511" y="1903"/>
              <a:ext cx="984" cy="306"/>
            </a:xfrm>
            <a:prstGeom prst="rect">
              <a:avLst/>
            </a:prstGeom>
            <a:solidFill>
              <a:srgbClr val="CC99FF"/>
            </a:solidFill>
            <a:ln w="17463" cap="flat" cmpd="sng">
              <a:solidFill>
                <a:srgbClr val="000000">
                  <a:alpha val="100000"/>
                </a:srgbClr>
              </a:solidFill>
              <a:prstDash val="solid"/>
              <a:round/>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endParaRPr lang="zh-CN" altLang="en-US"/>
            </a:p>
          </p:txBody>
        </p:sp>
        <p:sp>
          <p:nvSpPr>
            <p:cNvPr id="1049388" name="Rectangle 17"/>
            <p:cNvSpPr/>
            <p:nvPr/>
          </p:nvSpPr>
          <p:spPr>
            <a:xfrm>
              <a:off x="775" y="1980"/>
              <a:ext cx="412" cy="165"/>
            </a:xfrm>
            <a:prstGeom prst="rect">
              <a:avLst/>
            </a:prstGeom>
            <a:noFill/>
            <a:ln>
              <a:noFill/>
            </a:ln>
          </p:spPr>
          <p:txBody>
            <a:bodyPr vert="horz" wrap="none" lIns="0" tIns="0" rIns="0" bIns="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r>
                <a:rPr lang="zh-CN" altLang="en-US" sz="1700">
                  <a:solidFill>
                    <a:srgbClr val="000000"/>
                  </a:solidFill>
                  <a:latin typeface="宋体" pitchFamily="2" charset="-122"/>
                </a:rPr>
                <a:t>会话层</a:t>
              </a:r>
            </a:p>
          </p:txBody>
        </p:sp>
        <p:sp>
          <p:nvSpPr>
            <p:cNvPr id="1049389" name="Rectangle 18"/>
            <p:cNvSpPr/>
            <p:nvPr/>
          </p:nvSpPr>
          <p:spPr>
            <a:xfrm>
              <a:off x="511" y="1599"/>
              <a:ext cx="984" cy="304"/>
            </a:xfrm>
            <a:prstGeom prst="rect">
              <a:avLst/>
            </a:prstGeom>
            <a:solidFill>
              <a:srgbClr val="66FFFF"/>
            </a:solidFill>
            <a:ln w="17463" cap="flat" cmpd="sng">
              <a:solidFill>
                <a:srgbClr val="000000">
                  <a:alpha val="100000"/>
                </a:srgbClr>
              </a:solidFill>
              <a:prstDash val="solid"/>
              <a:round/>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endParaRPr lang="zh-CN" altLang="en-US"/>
            </a:p>
          </p:txBody>
        </p:sp>
        <p:sp>
          <p:nvSpPr>
            <p:cNvPr id="1049390" name="Rectangle 19"/>
            <p:cNvSpPr/>
            <p:nvPr/>
          </p:nvSpPr>
          <p:spPr>
            <a:xfrm>
              <a:off x="775" y="1674"/>
              <a:ext cx="412" cy="165"/>
            </a:xfrm>
            <a:prstGeom prst="rect">
              <a:avLst/>
            </a:prstGeom>
            <a:noFill/>
            <a:ln>
              <a:noFill/>
            </a:ln>
          </p:spPr>
          <p:txBody>
            <a:bodyPr vert="horz" wrap="none" lIns="0" tIns="0" rIns="0" bIns="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r>
                <a:rPr lang="zh-CN" altLang="en-US" sz="1700">
                  <a:solidFill>
                    <a:srgbClr val="000000"/>
                  </a:solidFill>
                  <a:latin typeface="宋体" pitchFamily="2" charset="-122"/>
                </a:rPr>
                <a:t>表示层</a:t>
              </a:r>
            </a:p>
          </p:txBody>
        </p:sp>
        <p:sp>
          <p:nvSpPr>
            <p:cNvPr id="1049391" name="Text Box 20"/>
            <p:cNvSpPr txBox="1"/>
            <p:nvPr/>
          </p:nvSpPr>
          <p:spPr>
            <a:xfrm>
              <a:off x="295" y="1284"/>
              <a:ext cx="192" cy="2097"/>
            </a:xfrm>
            <a:prstGeom prst="rect">
              <a:avLst/>
            </a:prstGeom>
            <a:noFill/>
            <a:ln>
              <a:noFill/>
            </a:ln>
          </p:spPr>
          <p:txBody>
            <a:bodyPr vert="horz" lIns="91440" tIns="45720" rIns="91440" bIns="4572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spcBef>
                  <a:spcPct val="50000"/>
                </a:spcBef>
              </a:pPr>
              <a:r>
                <a:rPr lang="en-US" altLang="zh-CN" sz="1800">
                  <a:latin typeface="宋体" pitchFamily="2" charset="-122"/>
                </a:rPr>
                <a:t>7</a:t>
              </a:r>
            </a:p>
            <a:p>
              <a:pPr lvl="0">
                <a:spcBef>
                  <a:spcPct val="80000"/>
                </a:spcBef>
              </a:pPr>
              <a:r>
                <a:rPr lang="en-US" altLang="zh-CN" sz="1800">
                  <a:latin typeface="宋体" pitchFamily="2" charset="-122"/>
                </a:rPr>
                <a:t>6</a:t>
              </a:r>
            </a:p>
            <a:p>
              <a:pPr lvl="0">
                <a:spcBef>
                  <a:spcPct val="80000"/>
                </a:spcBef>
              </a:pPr>
              <a:r>
                <a:rPr lang="en-US" altLang="zh-CN" sz="1800">
                  <a:latin typeface="宋体" pitchFamily="2" charset="-122"/>
                </a:rPr>
                <a:t>5</a:t>
              </a:r>
            </a:p>
            <a:p>
              <a:pPr lvl="0">
                <a:spcBef>
                  <a:spcPct val="80000"/>
                </a:spcBef>
              </a:pPr>
              <a:r>
                <a:rPr lang="en-US" altLang="zh-CN" sz="1800">
                  <a:latin typeface="宋体" pitchFamily="2" charset="-122"/>
                </a:rPr>
                <a:t>4</a:t>
              </a:r>
            </a:p>
            <a:p>
              <a:pPr lvl="0">
                <a:spcBef>
                  <a:spcPct val="80000"/>
                </a:spcBef>
              </a:pPr>
              <a:r>
                <a:rPr lang="en-US" altLang="zh-CN" sz="1800">
                  <a:latin typeface="宋体" pitchFamily="2" charset="-122"/>
                </a:rPr>
                <a:t>3</a:t>
              </a:r>
            </a:p>
            <a:p>
              <a:pPr lvl="0">
                <a:spcBef>
                  <a:spcPct val="80000"/>
                </a:spcBef>
              </a:pPr>
              <a:r>
                <a:rPr lang="en-US" altLang="zh-CN" sz="1800">
                  <a:latin typeface="宋体" pitchFamily="2" charset="-122"/>
                </a:rPr>
                <a:t>2</a:t>
              </a:r>
            </a:p>
            <a:p>
              <a:pPr lvl="0">
                <a:spcBef>
                  <a:spcPct val="80000"/>
                </a:spcBef>
              </a:pPr>
              <a:r>
                <a:rPr lang="en-US" altLang="zh-CN" sz="1800">
                  <a:latin typeface="宋体" pitchFamily="2" charset="-122"/>
                </a:rPr>
                <a:t>1</a:t>
              </a:r>
            </a:p>
          </p:txBody>
        </p:sp>
        <p:sp>
          <p:nvSpPr>
            <p:cNvPr id="1049392" name="Line 21"/>
            <p:cNvSpPr/>
            <p:nvPr/>
          </p:nvSpPr>
          <p:spPr>
            <a:xfrm>
              <a:off x="1520" y="3300"/>
              <a:ext cx="384" cy="0"/>
            </a:xfrm>
            <a:prstGeom prst="line">
              <a:avLst/>
            </a:prstGeom>
            <a:noFill/>
            <a:ln w="9525" cap="flat" cmpd="sng">
              <a:solidFill>
                <a:schemeClr val="dk1">
                  <a:alpha val="100000"/>
                </a:schemeClr>
              </a:solidFill>
              <a:prstDash val="solid"/>
              <a:round/>
              <a:tailEnd type="triangle" w="med" len="med"/>
            </a:ln>
          </p:spPr>
          <p:txBody>
            <a:bodyPr/>
            <a:lstStyle/>
            <a:p>
              <a:endParaRPr lang="zh-CN" altLang="en-US"/>
            </a:p>
          </p:txBody>
        </p:sp>
        <p:sp>
          <p:nvSpPr>
            <p:cNvPr id="1049393" name="Text Box 22"/>
            <p:cNvSpPr txBox="1"/>
            <p:nvPr/>
          </p:nvSpPr>
          <p:spPr>
            <a:xfrm>
              <a:off x="1932" y="3170"/>
              <a:ext cx="3148" cy="231"/>
            </a:xfrm>
            <a:prstGeom prst="rect">
              <a:avLst/>
            </a:prstGeom>
            <a:noFill/>
            <a:ln>
              <a:noFill/>
            </a:ln>
          </p:spPr>
          <p:txBody>
            <a:bodyPr vert="horz" wrap="none" lIns="91440" tIns="45720" rIns="91440" bIns="4572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r>
                <a:rPr lang="zh-CN" altLang="en-US" sz="1800" b="1" dirty="0">
                  <a:solidFill>
                    <a:srgbClr val="0000FF"/>
                  </a:solidFill>
                </a:rPr>
                <a:t>二进制位流传输：</a:t>
              </a:r>
              <a:r>
                <a:rPr lang="zh-CN" altLang="en-US" sz="1800" dirty="0">
                  <a:solidFill>
                    <a:schemeClr val="tx1"/>
                  </a:solidFill>
                </a:rPr>
                <a:t>激活和维持系统间的物理链路</a:t>
              </a:r>
            </a:p>
          </p:txBody>
        </p:sp>
        <p:sp>
          <p:nvSpPr>
            <p:cNvPr id="1049394" name="Line 23"/>
            <p:cNvSpPr/>
            <p:nvPr/>
          </p:nvSpPr>
          <p:spPr>
            <a:xfrm>
              <a:off x="1520" y="2998"/>
              <a:ext cx="384" cy="0"/>
            </a:xfrm>
            <a:prstGeom prst="line">
              <a:avLst/>
            </a:prstGeom>
            <a:noFill/>
            <a:ln w="9525" cap="flat" cmpd="sng">
              <a:solidFill>
                <a:schemeClr val="dk1">
                  <a:alpha val="100000"/>
                </a:schemeClr>
              </a:solidFill>
              <a:prstDash val="solid"/>
              <a:round/>
              <a:tailEnd type="triangle" w="med" len="med"/>
            </a:ln>
          </p:spPr>
          <p:txBody>
            <a:bodyPr/>
            <a:lstStyle/>
            <a:p>
              <a:endParaRPr lang="zh-CN" altLang="en-US"/>
            </a:p>
          </p:txBody>
        </p:sp>
        <p:sp>
          <p:nvSpPr>
            <p:cNvPr id="1049395" name="Text Box 24"/>
            <p:cNvSpPr txBox="1"/>
            <p:nvPr/>
          </p:nvSpPr>
          <p:spPr>
            <a:xfrm>
              <a:off x="1932" y="2878"/>
              <a:ext cx="3183" cy="231"/>
            </a:xfrm>
            <a:prstGeom prst="rect">
              <a:avLst/>
            </a:prstGeom>
            <a:noFill/>
            <a:ln>
              <a:noFill/>
            </a:ln>
          </p:spPr>
          <p:txBody>
            <a:bodyPr vert="horz" wrap="none" lIns="91440" tIns="45720" rIns="91440" bIns="4572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r>
                <a:rPr lang="zh-CN" altLang="en-US" sz="1800" b="1" dirty="0">
                  <a:solidFill>
                    <a:srgbClr val="0000FF"/>
                  </a:solidFill>
                </a:rPr>
                <a:t>介质访问控制：</a:t>
              </a:r>
              <a:r>
                <a:rPr lang="zh-CN" altLang="en-US" sz="1800" dirty="0">
                  <a:solidFill>
                    <a:schemeClr val="tx1"/>
                  </a:solidFill>
                </a:rPr>
                <a:t>提供介质传输控制，如差错控制 </a:t>
              </a:r>
            </a:p>
          </p:txBody>
        </p:sp>
        <p:sp>
          <p:nvSpPr>
            <p:cNvPr id="1049396" name="Line 25"/>
            <p:cNvSpPr/>
            <p:nvPr/>
          </p:nvSpPr>
          <p:spPr>
            <a:xfrm>
              <a:off x="1520" y="2662"/>
              <a:ext cx="384" cy="0"/>
            </a:xfrm>
            <a:prstGeom prst="line">
              <a:avLst/>
            </a:prstGeom>
            <a:noFill/>
            <a:ln w="9525" cap="flat" cmpd="sng">
              <a:solidFill>
                <a:schemeClr val="dk1">
                  <a:alpha val="100000"/>
                </a:schemeClr>
              </a:solidFill>
              <a:prstDash val="solid"/>
              <a:round/>
              <a:tailEnd type="triangle" w="med" len="med"/>
            </a:ln>
          </p:spPr>
          <p:txBody>
            <a:bodyPr/>
            <a:lstStyle/>
            <a:p>
              <a:endParaRPr lang="zh-CN" altLang="en-US"/>
            </a:p>
          </p:txBody>
        </p:sp>
        <p:sp>
          <p:nvSpPr>
            <p:cNvPr id="1049397" name="Text Box 26"/>
            <p:cNvSpPr txBox="1"/>
            <p:nvPr/>
          </p:nvSpPr>
          <p:spPr>
            <a:xfrm>
              <a:off x="1932" y="2532"/>
              <a:ext cx="3578" cy="231"/>
            </a:xfrm>
            <a:prstGeom prst="rect">
              <a:avLst/>
            </a:prstGeom>
            <a:noFill/>
            <a:ln>
              <a:noFill/>
            </a:ln>
          </p:spPr>
          <p:txBody>
            <a:bodyPr vert="horz" wrap="none" lIns="91440" tIns="45720" rIns="91440" bIns="4572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r>
                <a:rPr lang="zh-CN" altLang="en-US" sz="1800" b="1" dirty="0">
                  <a:solidFill>
                    <a:srgbClr val="0000FF"/>
                  </a:solidFill>
                </a:rPr>
                <a:t>寻址和路由：</a:t>
              </a:r>
              <a:r>
                <a:rPr lang="zh-CN" altLang="en-US" sz="1800" dirty="0">
                  <a:solidFill>
                    <a:schemeClr val="tx1"/>
                  </a:solidFill>
                </a:rPr>
                <a:t>确定数据从一处传输到另一处的最佳路径</a:t>
              </a:r>
            </a:p>
          </p:txBody>
        </p:sp>
        <p:sp>
          <p:nvSpPr>
            <p:cNvPr id="1049398" name="Line 27"/>
            <p:cNvSpPr/>
            <p:nvPr/>
          </p:nvSpPr>
          <p:spPr>
            <a:xfrm>
              <a:off x="1520" y="2374"/>
              <a:ext cx="384" cy="0"/>
            </a:xfrm>
            <a:prstGeom prst="line">
              <a:avLst/>
            </a:prstGeom>
            <a:noFill/>
            <a:ln w="9525" cap="flat" cmpd="sng">
              <a:solidFill>
                <a:schemeClr val="dk1">
                  <a:alpha val="100000"/>
                </a:schemeClr>
              </a:solidFill>
              <a:prstDash val="solid"/>
              <a:round/>
              <a:tailEnd type="triangle" w="med" len="med"/>
            </a:ln>
          </p:spPr>
          <p:txBody>
            <a:bodyPr/>
            <a:lstStyle/>
            <a:p>
              <a:endParaRPr lang="zh-CN" altLang="en-US"/>
            </a:p>
          </p:txBody>
        </p:sp>
        <p:sp>
          <p:nvSpPr>
            <p:cNvPr id="1049399" name="Text Box 28"/>
            <p:cNvSpPr txBox="1"/>
            <p:nvPr/>
          </p:nvSpPr>
          <p:spPr>
            <a:xfrm>
              <a:off x="1932" y="2244"/>
              <a:ext cx="3722" cy="231"/>
            </a:xfrm>
            <a:prstGeom prst="rect">
              <a:avLst/>
            </a:prstGeom>
            <a:noFill/>
            <a:ln>
              <a:noFill/>
            </a:ln>
          </p:spPr>
          <p:txBody>
            <a:bodyPr vert="horz" wrap="none" lIns="91440" tIns="45720" rIns="91440" bIns="4572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r>
                <a:rPr lang="zh-CN" altLang="en-US" sz="1800" b="1" dirty="0">
                  <a:solidFill>
                    <a:srgbClr val="0000FF"/>
                  </a:solidFill>
                </a:rPr>
                <a:t>端到端连接：</a:t>
              </a:r>
              <a:r>
                <a:rPr lang="zh-CN" altLang="en-US" sz="1800" dirty="0">
                  <a:solidFill>
                    <a:schemeClr val="tx1"/>
                  </a:solidFill>
                </a:rPr>
                <a:t>数据流分段和重组，提供可靠的端到端传输</a:t>
              </a:r>
            </a:p>
          </p:txBody>
        </p:sp>
        <p:sp>
          <p:nvSpPr>
            <p:cNvPr id="1049400" name="Line 29"/>
            <p:cNvSpPr/>
            <p:nvPr/>
          </p:nvSpPr>
          <p:spPr>
            <a:xfrm>
              <a:off x="1520" y="2047"/>
              <a:ext cx="384" cy="0"/>
            </a:xfrm>
            <a:prstGeom prst="line">
              <a:avLst/>
            </a:prstGeom>
            <a:noFill/>
            <a:ln w="9525" cap="flat" cmpd="sng">
              <a:solidFill>
                <a:schemeClr val="dk1">
                  <a:alpha val="100000"/>
                </a:schemeClr>
              </a:solidFill>
              <a:prstDash val="solid"/>
              <a:round/>
              <a:tailEnd type="triangle" w="med" len="med"/>
            </a:ln>
          </p:spPr>
          <p:txBody>
            <a:bodyPr/>
            <a:lstStyle/>
            <a:p>
              <a:endParaRPr lang="zh-CN" altLang="en-US"/>
            </a:p>
          </p:txBody>
        </p:sp>
        <p:sp>
          <p:nvSpPr>
            <p:cNvPr id="1049401" name="Text Box 30"/>
            <p:cNvSpPr txBox="1"/>
            <p:nvPr/>
          </p:nvSpPr>
          <p:spPr>
            <a:xfrm>
              <a:off x="1932" y="1927"/>
              <a:ext cx="3470" cy="231"/>
            </a:xfrm>
            <a:prstGeom prst="rect">
              <a:avLst/>
            </a:prstGeom>
            <a:noFill/>
            <a:ln>
              <a:noFill/>
            </a:ln>
          </p:spPr>
          <p:txBody>
            <a:bodyPr vert="horz" wrap="none" lIns="91440" tIns="45720" rIns="91440" bIns="4572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r>
                <a:rPr lang="zh-CN" altLang="en-US" sz="1800" b="1" dirty="0">
                  <a:solidFill>
                    <a:srgbClr val="0000FF"/>
                  </a:solidFill>
                </a:rPr>
                <a:t>主机间通信：</a:t>
              </a:r>
              <a:r>
                <a:rPr lang="zh-CN" altLang="en-US" sz="1800" dirty="0">
                  <a:solidFill>
                    <a:schemeClr val="tx1"/>
                  </a:solidFill>
                </a:rPr>
                <a:t>建立、维持和管理应用系统之间的会话 </a:t>
              </a:r>
            </a:p>
          </p:txBody>
        </p:sp>
        <p:sp>
          <p:nvSpPr>
            <p:cNvPr id="1049402" name="Line 31"/>
            <p:cNvSpPr/>
            <p:nvPr/>
          </p:nvSpPr>
          <p:spPr>
            <a:xfrm>
              <a:off x="1520" y="1750"/>
              <a:ext cx="384" cy="0"/>
            </a:xfrm>
            <a:prstGeom prst="line">
              <a:avLst/>
            </a:prstGeom>
            <a:noFill/>
            <a:ln w="9525" cap="flat" cmpd="sng">
              <a:solidFill>
                <a:schemeClr val="dk1">
                  <a:alpha val="100000"/>
                </a:schemeClr>
              </a:solidFill>
              <a:prstDash val="solid"/>
              <a:round/>
              <a:tailEnd type="triangle" w="med" len="med"/>
            </a:ln>
          </p:spPr>
          <p:txBody>
            <a:bodyPr/>
            <a:lstStyle/>
            <a:p>
              <a:endParaRPr lang="zh-CN" altLang="en-US"/>
            </a:p>
          </p:txBody>
        </p:sp>
        <p:sp>
          <p:nvSpPr>
            <p:cNvPr id="1049403" name="Text Box 32"/>
            <p:cNvSpPr txBox="1"/>
            <p:nvPr/>
          </p:nvSpPr>
          <p:spPr>
            <a:xfrm>
              <a:off x="1932" y="1620"/>
              <a:ext cx="3145" cy="231"/>
            </a:xfrm>
            <a:prstGeom prst="rect">
              <a:avLst/>
            </a:prstGeom>
            <a:noFill/>
            <a:ln>
              <a:noFill/>
            </a:ln>
          </p:spPr>
          <p:txBody>
            <a:bodyPr vert="horz" wrap="none" lIns="91440" tIns="45720" rIns="91440" bIns="4572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r>
                <a:rPr lang="zh-CN" altLang="en-US" sz="1800" b="1">
                  <a:solidFill>
                    <a:srgbClr val="0000FF"/>
                  </a:solidFill>
                </a:rPr>
                <a:t>数据表示：</a:t>
              </a:r>
              <a:r>
                <a:rPr lang="zh-CN" altLang="en-US" sz="1800"/>
                <a:t>提供数据表示、代码格式和语法协商</a:t>
              </a:r>
            </a:p>
          </p:txBody>
        </p:sp>
        <p:sp>
          <p:nvSpPr>
            <p:cNvPr id="1049404" name="Line 33"/>
            <p:cNvSpPr/>
            <p:nvPr/>
          </p:nvSpPr>
          <p:spPr>
            <a:xfrm>
              <a:off x="1520" y="1462"/>
              <a:ext cx="384" cy="0"/>
            </a:xfrm>
            <a:prstGeom prst="line">
              <a:avLst/>
            </a:prstGeom>
            <a:noFill/>
            <a:ln w="9525" cap="flat" cmpd="sng">
              <a:solidFill>
                <a:schemeClr val="dk1">
                  <a:alpha val="100000"/>
                </a:schemeClr>
              </a:solidFill>
              <a:prstDash val="solid"/>
              <a:round/>
              <a:tailEnd type="triangle" w="med" len="med"/>
            </a:ln>
          </p:spPr>
          <p:txBody>
            <a:bodyPr/>
            <a:lstStyle/>
            <a:p>
              <a:endParaRPr lang="zh-CN" altLang="en-US"/>
            </a:p>
          </p:txBody>
        </p:sp>
        <p:sp>
          <p:nvSpPr>
            <p:cNvPr id="1049405" name="Text Box 34"/>
            <p:cNvSpPr txBox="1"/>
            <p:nvPr/>
          </p:nvSpPr>
          <p:spPr>
            <a:xfrm>
              <a:off x="1932" y="1332"/>
              <a:ext cx="2715" cy="231"/>
            </a:xfrm>
            <a:prstGeom prst="rect">
              <a:avLst/>
            </a:prstGeom>
            <a:noFill/>
            <a:ln>
              <a:noFill/>
            </a:ln>
          </p:spPr>
          <p:txBody>
            <a:bodyPr vert="horz" wrap="none" lIns="91440" tIns="45720" rIns="91440" bIns="4572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r>
                <a:rPr lang="zh-CN" altLang="en-US" sz="1800" b="1">
                  <a:solidFill>
                    <a:srgbClr val="0000FF"/>
                  </a:solidFill>
                </a:rPr>
                <a:t>处理网络应用：</a:t>
              </a:r>
              <a:r>
                <a:rPr lang="zh-CN" altLang="en-US" sz="1800"/>
                <a:t>为应用系统提供网络服务</a:t>
              </a:r>
            </a:p>
          </p:txBody>
        </p:sp>
      </p:grpSp>
    </p:spTree>
  </p:cSld>
  <p:clrMapOvr>
    <a:masterClrMapping/>
  </p:clrMapOvr>
  <p:transition spd="slow">
    <p:zoom/>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410" name="Rectangle 3"/>
          <p:cNvSpPr>
            <a:spLocks noGrp="1"/>
          </p:cNvSpPr>
          <p:nvPr>
            <p:ph idx="1"/>
          </p:nvPr>
        </p:nvSpPr>
        <p:spPr>
          <a:xfrm>
            <a:off x="407368" y="980728"/>
            <a:ext cx="10515600" cy="4351338"/>
          </a:xfrm>
          <a:prstGeom prst="rect">
            <a:avLst/>
          </a:prstGeom>
          <a:noFill/>
          <a:ln>
            <a:noFill/>
          </a:ln>
        </p:spPr>
        <p:txBody>
          <a:bodyPr vert="horz" lIns="91440" tIns="45720" rIns="91440" bIns="45720" anchor="t">
            <a:normAutofit fontScale="92500" lnSpcReduction="10000"/>
          </a:bodyPr>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buFontTx/>
              <a:buNone/>
            </a:pPr>
            <a:r>
              <a:rPr lang="en-US" altLang="zh-CN" sz="3200">
                <a:solidFill>
                  <a:schemeClr val="tx1"/>
                </a:solidFill>
                <a:effectLst>
                  <a:outerShdw blurRad="38100" dist="38100" dir="2700000" algn="tl">
                    <a:srgbClr val="C0C0C0"/>
                  </a:outerShdw>
                </a:effectLst>
              </a:rPr>
              <a:t>1.3.2  TCP/IP</a:t>
            </a:r>
            <a:r>
              <a:rPr lang="zh-CN" altLang="en-US" sz="3200">
                <a:solidFill>
                  <a:schemeClr val="tx1"/>
                </a:solidFill>
                <a:effectLst>
                  <a:outerShdw blurRad="38100" dist="38100" dir="2700000" algn="tl">
                    <a:srgbClr val="C0C0C0"/>
                  </a:outerShdw>
                </a:effectLst>
              </a:rPr>
              <a:t>体系结构</a:t>
            </a:r>
          </a:p>
          <a:p>
            <a:pPr lvl="0" eaLnBrk="1" latinLnBrk="1" hangingPunct="1"/>
            <a:r>
              <a:rPr lang="en-US" altLang="zh-CN" b="0">
                <a:solidFill>
                  <a:schemeClr val="tx1"/>
                </a:solidFill>
              </a:rPr>
              <a:t>TCP/IP</a:t>
            </a:r>
            <a:r>
              <a:rPr lang="zh-CN" altLang="en-US" b="0">
                <a:solidFill>
                  <a:schemeClr val="tx1"/>
                </a:solidFill>
              </a:rPr>
              <a:t>已成为事实上的国际工业标准。</a:t>
            </a:r>
          </a:p>
          <a:p>
            <a:pPr lvl="0" eaLnBrk="1" latinLnBrk="1" hangingPunct="1"/>
            <a:endParaRPr lang="en-US" altLang="zh-CN" b="0">
              <a:solidFill>
                <a:schemeClr val="tx1"/>
              </a:solidFill>
              <a:effectLst>
                <a:outerShdw blurRad="38100" dist="38100" dir="2700000" algn="tl">
                  <a:srgbClr val="C0C0C0"/>
                </a:outerShdw>
              </a:effectLst>
            </a:endParaRPr>
          </a:p>
          <a:p>
            <a:pPr lvl="0" eaLnBrk="1" latinLnBrk="1" hangingPunct="1"/>
            <a:r>
              <a:rPr lang="en-US" altLang="zh-CN" b="0">
                <a:solidFill>
                  <a:schemeClr val="tx1"/>
                </a:solidFill>
                <a:effectLst>
                  <a:outerShdw blurRad="38100" dist="38100" dir="2700000" algn="tl">
                    <a:srgbClr val="C0C0C0"/>
                  </a:outerShdw>
                </a:effectLst>
              </a:rPr>
              <a:t>TCP/IP</a:t>
            </a:r>
            <a:r>
              <a:rPr lang="zh-CN" altLang="en-US" b="0">
                <a:solidFill>
                  <a:schemeClr val="tx1"/>
                </a:solidFill>
                <a:effectLst>
                  <a:outerShdw blurRad="38100" dist="38100" dir="2700000" algn="tl">
                    <a:srgbClr val="C0C0C0"/>
                  </a:outerShdw>
                </a:effectLst>
              </a:rPr>
              <a:t>是目前异种网络互联的唯一协议。</a:t>
            </a:r>
          </a:p>
          <a:p>
            <a:pPr lvl="0" eaLnBrk="1" latinLnBrk="1" hangingPunct="1"/>
            <a:endParaRPr lang="en-US" altLang="zh-CN" b="0">
              <a:solidFill>
                <a:schemeClr val="tx1"/>
              </a:solidFill>
            </a:endParaRPr>
          </a:p>
          <a:p>
            <a:pPr lvl="0" eaLnBrk="1" latinLnBrk="1" hangingPunct="1"/>
            <a:r>
              <a:rPr lang="en-US" altLang="zh-CN" b="0">
                <a:solidFill>
                  <a:schemeClr val="tx1"/>
                </a:solidFill>
              </a:rPr>
              <a:t>TCP/IP</a:t>
            </a:r>
            <a:r>
              <a:rPr lang="zh-CN" altLang="en-US" b="0">
                <a:solidFill>
                  <a:schemeClr val="tx1"/>
                </a:solidFill>
              </a:rPr>
              <a:t>协议分层：</a:t>
            </a:r>
          </a:p>
          <a:p>
            <a:pPr lvl="1" eaLnBrk="1" latinLnBrk="1" hangingPunct="1"/>
            <a:r>
              <a:rPr lang="zh-CN" altLang="en-US">
                <a:solidFill>
                  <a:schemeClr val="tx1"/>
                </a:solidFill>
              </a:rPr>
              <a:t>应用层、传输层、网络层、网络接口层。</a:t>
            </a:r>
          </a:p>
          <a:p>
            <a:pPr lvl="0" eaLnBrk="1" latinLnBrk="1" hangingPunct="1"/>
            <a:endParaRPr lang="en-US" altLang="zh-CN" b="0">
              <a:solidFill>
                <a:schemeClr val="tx1"/>
              </a:solidFill>
            </a:endParaRPr>
          </a:p>
          <a:p>
            <a:pPr lvl="0" eaLnBrk="1" latinLnBrk="1" hangingPunct="1"/>
            <a:r>
              <a:rPr lang="en-US" altLang="zh-CN" b="0">
                <a:solidFill>
                  <a:schemeClr val="tx1"/>
                </a:solidFill>
              </a:rPr>
              <a:t>TCP/IP</a:t>
            </a:r>
            <a:r>
              <a:rPr lang="zh-CN" altLang="en-US" b="0">
                <a:solidFill>
                  <a:schemeClr val="tx1"/>
                </a:solidFill>
              </a:rPr>
              <a:t>存在的问题：</a:t>
            </a:r>
          </a:p>
          <a:p>
            <a:pPr lvl="1" eaLnBrk="1" latinLnBrk="1" hangingPunct="1"/>
            <a:r>
              <a:rPr lang="en-US" altLang="zh-CN">
                <a:solidFill>
                  <a:schemeClr val="tx1"/>
                </a:solidFill>
              </a:rPr>
              <a:t>地址空间不足、QoS</a:t>
            </a:r>
            <a:r>
              <a:rPr lang="zh-CN" altLang="en-US">
                <a:solidFill>
                  <a:schemeClr val="tx1"/>
                </a:solidFill>
              </a:rPr>
              <a:t>、安全等。</a:t>
            </a:r>
          </a:p>
          <a:p>
            <a:pPr lvl="0" eaLnBrk="1" latinLnBrk="1" hangingPunct="1"/>
            <a:endParaRPr lang="en-US" altLang="zh-CN" b="0">
              <a:solidFill>
                <a:schemeClr val="tx1"/>
              </a:solidFill>
            </a:endParaRPr>
          </a:p>
        </p:txBody>
      </p:sp>
      <p:sp>
        <p:nvSpPr>
          <p:cNvPr id="1049409" name="Rectangle 2"/>
          <p:cNvSpPr>
            <a:spLocks noGrp="1"/>
          </p:cNvSpPr>
          <p:nvPr>
            <p:ph type="title"/>
          </p:nvPr>
        </p:nvSpPr>
        <p:spPr>
          <a:xfrm>
            <a:off x="47328" y="158513"/>
            <a:ext cx="10515600" cy="565945"/>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1.3  </a:t>
            </a:r>
            <a:r>
              <a:rPr lang="zh-CN" altLang="en-US" dirty="0">
                <a:solidFill>
                  <a:schemeClr val="bg1"/>
                </a:solidFill>
              </a:rPr>
              <a:t>网络通信体系结构</a:t>
            </a:r>
          </a:p>
        </p:txBody>
      </p:sp>
    </p:spTree>
  </p:cSld>
  <p:clrMapOvr>
    <a:masterClrMapping/>
  </p:clrMapOvr>
  <p:transition spd="slow">
    <p:zoom/>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91" name="图片 99344" descr="TCPIP模型"/>
          <p:cNvPicPr>
            <a:picLocks/>
          </p:cNvPicPr>
          <p:nvPr/>
        </p:nvPicPr>
        <p:blipFill>
          <a:blip r:embed="rId2"/>
          <a:srcRect/>
          <a:stretch>
            <a:fillRect/>
          </a:stretch>
        </p:blipFill>
        <p:spPr>
          <a:xfrm>
            <a:off x="4675187" y="1924051"/>
            <a:ext cx="4876800" cy="3952875"/>
          </a:xfrm>
          <a:prstGeom prst="rect">
            <a:avLst/>
          </a:prstGeom>
          <a:noFill/>
          <a:ln>
            <a:noFill/>
          </a:ln>
        </p:spPr>
      </p:pic>
      <p:sp>
        <p:nvSpPr>
          <p:cNvPr id="1049414" name="矩形 99334"/>
          <p:cNvSpPr/>
          <p:nvPr/>
        </p:nvSpPr>
        <p:spPr>
          <a:xfrm>
            <a:off x="407368" y="971284"/>
            <a:ext cx="7921625" cy="649287"/>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r>
              <a:rPr lang="zh-CN" altLang="zh-CN" b="1" dirty="0">
                <a:solidFill>
                  <a:srgbClr val="003399"/>
                </a:solidFill>
                <a:effectLst>
                  <a:outerShdw blurRad="38100" dist="38100" dir="2700000" algn="tl">
                    <a:srgbClr val="C0C0C0"/>
                  </a:outerShdw>
                </a:effectLst>
                <a:ea typeface="黑体" pitchFamily="49" charset="-122"/>
              </a:rPr>
              <a:t> </a:t>
            </a:r>
            <a:r>
              <a:rPr lang="zh-CN" altLang="zh-CN" b="1" dirty="0">
                <a:solidFill>
                  <a:srgbClr val="003399"/>
                </a:solidFill>
                <a:ea typeface="黑体" pitchFamily="49" charset="-122"/>
              </a:rPr>
              <a:t>TCP/IP</a:t>
            </a:r>
            <a:r>
              <a:rPr lang="zh-CN" altLang="en-US" b="1" dirty="0">
                <a:solidFill>
                  <a:srgbClr val="003399"/>
                </a:solidFill>
                <a:ea typeface="黑体" pitchFamily="49" charset="-122"/>
              </a:rPr>
              <a:t>参考模型</a:t>
            </a:r>
          </a:p>
        </p:txBody>
      </p:sp>
      <p:sp>
        <p:nvSpPr>
          <p:cNvPr id="1049415" name="矩形 99335"/>
          <p:cNvSpPr/>
          <p:nvPr/>
        </p:nvSpPr>
        <p:spPr>
          <a:xfrm>
            <a:off x="2724150" y="2060575"/>
            <a:ext cx="1731564" cy="3785652"/>
          </a:xfrm>
          <a:prstGeom prst="rect">
            <a:avLst/>
          </a:prstGeom>
          <a:noFill/>
          <a:ln>
            <a:noFill/>
          </a:ln>
        </p:spPr>
        <p:txBody>
          <a:bodyPr vert="horz" wrap="none" lIns="91440" tIns="45720" rIns="91440" bIns="4572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r>
              <a:rPr lang="zh-CN" altLang="en-US" sz="2400" b="1">
                <a:solidFill>
                  <a:schemeClr val="accent2"/>
                </a:solidFill>
                <a:effectLst>
                  <a:outerShdw blurRad="38100" dist="38100" dir="2700000" algn="tl">
                    <a:srgbClr val="C0C0C0"/>
                  </a:outerShdw>
                </a:effectLst>
                <a:latin typeface="Arial" pitchFamily="34" charset="0"/>
                <a:ea typeface="黑体" pitchFamily="49" charset="-122"/>
              </a:rPr>
              <a:t>应用层</a:t>
            </a:r>
          </a:p>
          <a:p>
            <a:pPr lvl="0" eaLnBrk="1" latinLnBrk="1" hangingPunct="1"/>
            <a:endParaRPr lang="en-US" altLang="en-US" sz="2400" b="1">
              <a:solidFill>
                <a:schemeClr val="accent2"/>
              </a:solidFill>
              <a:effectLst>
                <a:outerShdw blurRad="38100" dist="38100" dir="2700000" algn="tl">
                  <a:srgbClr val="C0C0C0"/>
                </a:outerShdw>
              </a:effectLst>
              <a:latin typeface="Arial" pitchFamily="34" charset="0"/>
            </a:endParaRPr>
          </a:p>
          <a:p>
            <a:pPr lvl="0" eaLnBrk="1" latinLnBrk="1" hangingPunct="1"/>
            <a:endParaRPr lang="en-US" altLang="en-US" sz="2400" b="1">
              <a:solidFill>
                <a:schemeClr val="accent2"/>
              </a:solidFill>
              <a:effectLst>
                <a:outerShdw blurRad="38100" dist="38100" dir="2700000" algn="tl">
                  <a:srgbClr val="C0C0C0"/>
                </a:outerShdw>
              </a:effectLst>
              <a:latin typeface="Arial" pitchFamily="34" charset="0"/>
            </a:endParaRPr>
          </a:p>
          <a:p>
            <a:pPr lvl="0" eaLnBrk="1" latinLnBrk="1" hangingPunct="1"/>
            <a:r>
              <a:rPr lang="zh-CN" altLang="en-US" sz="2400" b="1">
                <a:solidFill>
                  <a:schemeClr val="accent2"/>
                </a:solidFill>
                <a:effectLst>
                  <a:outerShdw blurRad="38100" dist="38100" dir="2700000" algn="tl">
                    <a:srgbClr val="C0C0C0"/>
                  </a:outerShdw>
                </a:effectLst>
                <a:latin typeface="Arial" pitchFamily="34" charset="0"/>
                <a:ea typeface="黑体" pitchFamily="49" charset="-122"/>
              </a:rPr>
              <a:t>传输层</a:t>
            </a:r>
          </a:p>
          <a:p>
            <a:pPr lvl="0" eaLnBrk="1" latinLnBrk="1" hangingPunct="1"/>
            <a:endParaRPr lang="en-US" altLang="en-US" sz="2400" b="1">
              <a:solidFill>
                <a:schemeClr val="accent2"/>
              </a:solidFill>
              <a:effectLst>
                <a:outerShdw blurRad="38100" dist="38100" dir="2700000" algn="tl">
                  <a:srgbClr val="C0C0C0"/>
                </a:outerShdw>
              </a:effectLst>
              <a:latin typeface="Arial" pitchFamily="34" charset="0"/>
            </a:endParaRPr>
          </a:p>
          <a:p>
            <a:pPr lvl="0" eaLnBrk="1" latinLnBrk="1" hangingPunct="1"/>
            <a:endParaRPr lang="en-US" altLang="en-US" sz="2400" b="1">
              <a:solidFill>
                <a:schemeClr val="accent2"/>
              </a:solidFill>
              <a:effectLst>
                <a:outerShdw blurRad="38100" dist="38100" dir="2700000" algn="tl">
                  <a:srgbClr val="C0C0C0"/>
                </a:outerShdw>
              </a:effectLst>
              <a:latin typeface="Arial" pitchFamily="34" charset="0"/>
            </a:endParaRPr>
          </a:p>
          <a:p>
            <a:pPr lvl="0" eaLnBrk="1" latinLnBrk="1" hangingPunct="1"/>
            <a:r>
              <a:rPr lang="zh-CN" altLang="en-US" sz="2400" b="1">
                <a:solidFill>
                  <a:schemeClr val="accent2"/>
                </a:solidFill>
                <a:effectLst>
                  <a:outerShdw blurRad="38100" dist="38100" dir="2700000" algn="tl">
                    <a:srgbClr val="C0C0C0"/>
                  </a:outerShdw>
                </a:effectLst>
                <a:latin typeface="Arial" pitchFamily="34" charset="0"/>
                <a:ea typeface="黑体" pitchFamily="49" charset="-122"/>
              </a:rPr>
              <a:t>网络层</a:t>
            </a:r>
          </a:p>
          <a:p>
            <a:pPr lvl="0" eaLnBrk="1" latinLnBrk="1" hangingPunct="1"/>
            <a:endParaRPr lang="en-US" altLang="en-US" sz="2400" b="1">
              <a:solidFill>
                <a:schemeClr val="accent2"/>
              </a:solidFill>
              <a:effectLst>
                <a:outerShdw blurRad="38100" dist="38100" dir="2700000" algn="tl">
                  <a:srgbClr val="C0C0C0"/>
                </a:outerShdw>
              </a:effectLst>
              <a:latin typeface="Arial" pitchFamily="34" charset="0"/>
            </a:endParaRPr>
          </a:p>
          <a:p>
            <a:pPr lvl="0" eaLnBrk="1" latinLnBrk="1" hangingPunct="1"/>
            <a:endParaRPr lang="en-US" altLang="en-US" sz="2400" b="1">
              <a:solidFill>
                <a:schemeClr val="accent2"/>
              </a:solidFill>
              <a:effectLst>
                <a:outerShdw blurRad="38100" dist="38100" dir="2700000" algn="tl">
                  <a:srgbClr val="C0C0C0"/>
                </a:outerShdw>
              </a:effectLst>
              <a:latin typeface="Arial" pitchFamily="34" charset="0"/>
            </a:endParaRPr>
          </a:p>
          <a:p>
            <a:pPr lvl="0" eaLnBrk="1" latinLnBrk="1" hangingPunct="1"/>
            <a:r>
              <a:rPr lang="zh-CN" altLang="en-US" sz="2400" b="1">
                <a:solidFill>
                  <a:schemeClr val="accent2"/>
                </a:solidFill>
                <a:effectLst>
                  <a:outerShdw blurRad="38100" dist="38100" dir="2700000" algn="tl">
                    <a:srgbClr val="C0C0C0"/>
                  </a:outerShdw>
                </a:effectLst>
                <a:latin typeface="Arial" pitchFamily="34" charset="0"/>
                <a:ea typeface="黑体" pitchFamily="49" charset="-122"/>
              </a:rPr>
              <a:t>网络接口层</a:t>
            </a:r>
          </a:p>
        </p:txBody>
      </p:sp>
      <p:sp>
        <p:nvSpPr>
          <p:cNvPr id="1049416" name="直接连接符 99336"/>
          <p:cNvSpPr/>
          <p:nvPr/>
        </p:nvSpPr>
        <p:spPr>
          <a:xfrm>
            <a:off x="2828926" y="2708275"/>
            <a:ext cx="6580187" cy="0"/>
          </a:xfrm>
          <a:prstGeom prst="line">
            <a:avLst/>
          </a:prstGeom>
          <a:noFill/>
          <a:ln w="19050" cap="flat" cmpd="sng">
            <a:solidFill>
              <a:srgbClr val="0000FF">
                <a:alpha val="100000"/>
              </a:srgbClr>
            </a:solidFill>
            <a:prstDash val="dash"/>
            <a:round/>
          </a:ln>
        </p:spPr>
        <p:txBody>
          <a:bodyPr/>
          <a:lstStyle/>
          <a:p>
            <a:endParaRPr lang="zh-CN" altLang="en-US"/>
          </a:p>
        </p:txBody>
      </p:sp>
      <p:sp>
        <p:nvSpPr>
          <p:cNvPr id="1049417" name="直接连接符 99337"/>
          <p:cNvSpPr/>
          <p:nvPr/>
        </p:nvSpPr>
        <p:spPr>
          <a:xfrm>
            <a:off x="2755901" y="1844675"/>
            <a:ext cx="6580187" cy="0"/>
          </a:xfrm>
          <a:prstGeom prst="line">
            <a:avLst/>
          </a:prstGeom>
          <a:noFill/>
          <a:ln w="19050" cap="flat" cmpd="sng">
            <a:solidFill>
              <a:srgbClr val="0000FF">
                <a:alpha val="100000"/>
              </a:srgbClr>
            </a:solidFill>
            <a:prstDash val="dash"/>
            <a:round/>
          </a:ln>
        </p:spPr>
        <p:txBody>
          <a:bodyPr/>
          <a:lstStyle/>
          <a:p>
            <a:endParaRPr lang="zh-CN" altLang="en-US"/>
          </a:p>
        </p:txBody>
      </p:sp>
      <p:sp>
        <p:nvSpPr>
          <p:cNvPr id="1049418" name="直接连接符 99338"/>
          <p:cNvSpPr/>
          <p:nvPr/>
        </p:nvSpPr>
        <p:spPr>
          <a:xfrm>
            <a:off x="2711451" y="3860800"/>
            <a:ext cx="6580187" cy="0"/>
          </a:xfrm>
          <a:prstGeom prst="line">
            <a:avLst/>
          </a:prstGeom>
          <a:noFill/>
          <a:ln w="19050" cap="flat" cmpd="sng">
            <a:solidFill>
              <a:srgbClr val="0000FF">
                <a:alpha val="100000"/>
              </a:srgbClr>
            </a:solidFill>
            <a:prstDash val="dash"/>
            <a:round/>
          </a:ln>
        </p:spPr>
        <p:txBody>
          <a:bodyPr/>
          <a:lstStyle/>
          <a:p>
            <a:endParaRPr lang="zh-CN" altLang="en-US"/>
          </a:p>
        </p:txBody>
      </p:sp>
      <p:sp>
        <p:nvSpPr>
          <p:cNvPr id="1049419" name="直接连接符 99339"/>
          <p:cNvSpPr/>
          <p:nvPr/>
        </p:nvSpPr>
        <p:spPr>
          <a:xfrm>
            <a:off x="2755901" y="4868862"/>
            <a:ext cx="6580187" cy="0"/>
          </a:xfrm>
          <a:prstGeom prst="line">
            <a:avLst/>
          </a:prstGeom>
          <a:noFill/>
          <a:ln w="19050" cap="flat" cmpd="sng">
            <a:solidFill>
              <a:srgbClr val="0000FF">
                <a:alpha val="100000"/>
              </a:srgbClr>
            </a:solidFill>
            <a:prstDash val="dash"/>
            <a:round/>
          </a:ln>
        </p:spPr>
        <p:txBody>
          <a:bodyPr/>
          <a:lstStyle/>
          <a:p>
            <a:endParaRPr lang="zh-CN" altLang="en-US"/>
          </a:p>
        </p:txBody>
      </p:sp>
      <p:sp>
        <p:nvSpPr>
          <p:cNvPr id="1049420" name="直接连接符 99340"/>
          <p:cNvSpPr/>
          <p:nvPr/>
        </p:nvSpPr>
        <p:spPr>
          <a:xfrm>
            <a:off x="2828926" y="5949950"/>
            <a:ext cx="6580187" cy="0"/>
          </a:xfrm>
          <a:prstGeom prst="line">
            <a:avLst/>
          </a:prstGeom>
          <a:noFill/>
          <a:ln w="19050" cap="flat" cmpd="sng">
            <a:solidFill>
              <a:srgbClr val="0000FF">
                <a:alpha val="100000"/>
              </a:srgbClr>
            </a:solidFill>
            <a:prstDash val="dash"/>
            <a:round/>
          </a:ln>
        </p:spPr>
        <p:txBody>
          <a:bodyPr/>
          <a:lstStyle/>
          <a:p>
            <a:endParaRPr lang="zh-CN" altLang="en-US"/>
          </a:p>
        </p:txBody>
      </p:sp>
      <p:sp>
        <p:nvSpPr>
          <p:cNvPr id="1049421" name="标题 4"/>
          <p:cNvSpPr>
            <a:spLocks noGrp="1"/>
          </p:cNvSpPr>
          <p:nvPr>
            <p:ph type="title"/>
          </p:nvPr>
        </p:nvSpPr>
        <p:spPr>
          <a:xfrm>
            <a:off x="47328" y="143190"/>
            <a:ext cx="10515600" cy="565151"/>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r>
              <a:rPr lang="en-US" altLang="zh-CN" dirty="0">
                <a:solidFill>
                  <a:schemeClr val="bg1"/>
                </a:solidFill>
              </a:rPr>
              <a:t>1.3  </a:t>
            </a:r>
            <a:r>
              <a:rPr lang="zh-CN" altLang="en-US" dirty="0">
                <a:solidFill>
                  <a:schemeClr val="bg1"/>
                </a:solidFill>
              </a:rPr>
              <a:t>网络通信体系结构</a:t>
            </a:r>
          </a:p>
        </p:txBody>
      </p:sp>
    </p:spTree>
  </p:cSld>
  <p:clrMapOvr>
    <a:masterClrMapping/>
  </p:clrMapOvr>
  <p:transition spd="slow">
    <p:zoom/>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425" name="矩形 150530"/>
          <p:cNvSpPr/>
          <p:nvPr/>
        </p:nvSpPr>
        <p:spPr>
          <a:xfrm>
            <a:off x="265907" y="932131"/>
            <a:ext cx="7921625" cy="649287"/>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r>
              <a:rPr lang="zh-CN" altLang="zh-CN" b="1" dirty="0">
                <a:solidFill>
                  <a:srgbClr val="003399"/>
                </a:solidFill>
                <a:effectLst>
                  <a:outerShdw blurRad="38100" dist="38100" dir="2700000" algn="tl">
                    <a:srgbClr val="C0C0C0"/>
                  </a:outerShdw>
                </a:effectLst>
                <a:ea typeface="黑体" pitchFamily="49" charset="-122"/>
              </a:rPr>
              <a:t> </a:t>
            </a:r>
            <a:r>
              <a:rPr lang="zh-CN" altLang="zh-CN" b="1" dirty="0">
                <a:solidFill>
                  <a:srgbClr val="003399"/>
                </a:solidFill>
                <a:ea typeface="黑体" pitchFamily="49" charset="-122"/>
              </a:rPr>
              <a:t>TCP/IP</a:t>
            </a:r>
            <a:r>
              <a:rPr lang="zh-CN" altLang="en-US" b="1" dirty="0">
                <a:solidFill>
                  <a:srgbClr val="003399"/>
                </a:solidFill>
                <a:ea typeface="黑体" pitchFamily="49" charset="-122"/>
              </a:rPr>
              <a:t>参考模型</a:t>
            </a:r>
          </a:p>
        </p:txBody>
      </p:sp>
      <p:grpSp>
        <p:nvGrpSpPr>
          <p:cNvPr id="252" name="组合 251"/>
          <p:cNvGrpSpPr/>
          <p:nvPr/>
        </p:nvGrpSpPr>
        <p:grpSpPr>
          <a:xfrm>
            <a:off x="1787526" y="1751013"/>
            <a:ext cx="8556625" cy="4486275"/>
            <a:chOff x="96" y="1008"/>
            <a:chExt cx="5390" cy="2826"/>
          </a:xfrm>
        </p:grpSpPr>
        <p:sp>
          <p:nvSpPr>
            <p:cNvPr id="1049426" name="矩形 150532"/>
            <p:cNvSpPr/>
            <p:nvPr/>
          </p:nvSpPr>
          <p:spPr>
            <a:xfrm>
              <a:off x="3600" y="2572"/>
              <a:ext cx="628" cy="258"/>
            </a:xfrm>
            <a:prstGeom prst="rect">
              <a:avLst/>
            </a:prstGeom>
            <a:solidFill>
              <a:schemeClr val="accent1"/>
            </a:solidFill>
            <a:ln w="9525" cap="flat" cmpd="sng">
              <a:solidFill>
                <a:schemeClr val="dk1">
                  <a:alpha val="100000"/>
                </a:schemeClr>
              </a:solidFill>
              <a:prstDash val="solid"/>
              <a:round/>
            </a:ln>
          </p:spPr>
          <p:txBody>
            <a:bodyPr vert="horz" wrap="none"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en-US" altLang="zh-CN" sz="1400"/>
                <a:t>IGMP</a:t>
              </a:r>
            </a:p>
          </p:txBody>
        </p:sp>
        <p:sp>
          <p:nvSpPr>
            <p:cNvPr id="1049427" name="直接连接符 150533"/>
            <p:cNvSpPr/>
            <p:nvPr/>
          </p:nvSpPr>
          <p:spPr>
            <a:xfrm>
              <a:off x="5484" y="3031"/>
              <a:ext cx="0" cy="341"/>
            </a:xfrm>
            <a:prstGeom prst="line">
              <a:avLst/>
            </a:prstGeom>
            <a:noFill/>
            <a:ln w="12700" cap="sq" cmpd="sng">
              <a:solidFill>
                <a:schemeClr val="dk1">
                  <a:alpha val="100000"/>
                </a:schemeClr>
              </a:solidFill>
              <a:prstDash val="solid"/>
              <a:round/>
            </a:ln>
          </p:spPr>
          <p:txBody>
            <a:bodyPr/>
            <a:lstStyle/>
            <a:p>
              <a:endParaRPr lang="zh-CN" altLang="en-US"/>
            </a:p>
          </p:txBody>
        </p:sp>
        <p:sp>
          <p:nvSpPr>
            <p:cNvPr id="1049428" name="文本框 150534"/>
            <p:cNvSpPr txBox="1"/>
            <p:nvPr/>
          </p:nvSpPr>
          <p:spPr>
            <a:xfrm>
              <a:off x="4857" y="2573"/>
              <a:ext cx="288" cy="475"/>
            </a:xfrm>
            <a:prstGeom prst="rect">
              <a:avLst/>
            </a:prstGeom>
            <a:solidFill>
              <a:schemeClr val="accent1"/>
            </a:solidFill>
            <a:ln w="12700" cap="sq" cmpd="sng">
              <a:solidFill>
                <a:schemeClr val="dk1">
                  <a:alpha val="100000"/>
                </a:schemeClr>
              </a:solidFill>
              <a:prstDash val="solid"/>
              <a:round/>
            </a:ln>
          </p:spPr>
          <p:txBody>
            <a:bodyPr vert="horz" lIns="0" tIns="90000" rIns="0" bIns="11880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spcBef>
                  <a:spcPct val="50000"/>
                </a:spcBef>
              </a:pPr>
              <a:r>
                <a:rPr lang="en-US" altLang="zh-CN" sz="1400"/>
                <a:t>ARP</a:t>
              </a:r>
            </a:p>
            <a:p>
              <a:pPr lvl="0" eaLnBrk="1" latinLnBrk="1" hangingPunct="1">
                <a:spcBef>
                  <a:spcPct val="50000"/>
                </a:spcBef>
              </a:pPr>
              <a:endParaRPr lang="en-US" altLang="zh-CN" sz="1400"/>
            </a:p>
          </p:txBody>
        </p:sp>
        <p:sp>
          <p:nvSpPr>
            <p:cNvPr id="1049429" name="文本框 150535"/>
            <p:cNvSpPr txBox="1"/>
            <p:nvPr/>
          </p:nvSpPr>
          <p:spPr>
            <a:xfrm>
              <a:off x="4193" y="2304"/>
              <a:ext cx="257" cy="269"/>
            </a:xfrm>
            <a:prstGeom prst="rect">
              <a:avLst/>
            </a:prstGeom>
            <a:solidFill>
              <a:schemeClr val="accent1"/>
            </a:solidFill>
            <a:ln w="12700" cap="sq" cmpd="sng">
              <a:solidFill>
                <a:schemeClr val="dk1">
                  <a:alpha val="100000"/>
                </a:schemeClr>
              </a:solidFill>
              <a:prstDash val="solid"/>
              <a:round/>
            </a:ln>
          </p:spPr>
          <p:txBody>
            <a:bodyPr vert="horz" lIns="0" tIns="108000" rIns="0" bIns="9360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spcBef>
                  <a:spcPct val="50000"/>
                </a:spcBef>
              </a:pPr>
              <a:r>
                <a:rPr lang="en-US" altLang="zh-CN" sz="1400"/>
                <a:t> Ping</a:t>
              </a:r>
            </a:p>
          </p:txBody>
        </p:sp>
        <p:sp>
          <p:nvSpPr>
            <p:cNvPr id="1049430" name="文本框 150536"/>
            <p:cNvSpPr txBox="1"/>
            <p:nvPr/>
          </p:nvSpPr>
          <p:spPr>
            <a:xfrm>
              <a:off x="2027" y="3641"/>
              <a:ext cx="433" cy="193"/>
            </a:xfrm>
            <a:prstGeom prst="rect">
              <a:avLst/>
            </a:prstGeom>
            <a:noFill/>
            <a:ln>
              <a:noFill/>
            </a:ln>
          </p:spPr>
          <p:txBody>
            <a:bodyPr vert="horz" lIns="91440" tIns="45720" rIns="91440" bIns="4572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spcBef>
                  <a:spcPct val="50000"/>
                </a:spcBef>
              </a:pPr>
              <a:r>
                <a:rPr lang="zh-CN" altLang="en-US" sz="1400"/>
                <a:t>硬件</a:t>
              </a:r>
            </a:p>
          </p:txBody>
        </p:sp>
        <p:sp>
          <p:nvSpPr>
            <p:cNvPr id="1049431" name="矩形 150537"/>
            <p:cNvSpPr/>
            <p:nvPr/>
          </p:nvSpPr>
          <p:spPr>
            <a:xfrm>
              <a:off x="136" y="1409"/>
              <a:ext cx="4057" cy="1965"/>
            </a:xfrm>
            <a:prstGeom prst="rect">
              <a:avLst/>
            </a:prstGeom>
            <a:noFill/>
            <a:ln w="12700" cap="sq" cmpd="sng">
              <a:solidFill>
                <a:schemeClr val="dk1">
                  <a:alpha val="100000"/>
                </a:schemeClr>
              </a:solidFill>
              <a:prstDash val="solid"/>
              <a:round/>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endParaRPr lang="zh-CN" altLang="en-US"/>
            </a:p>
          </p:txBody>
        </p:sp>
        <p:sp>
          <p:nvSpPr>
            <p:cNvPr id="1049432" name="文本框 150538"/>
            <p:cNvSpPr txBox="1"/>
            <p:nvPr/>
          </p:nvSpPr>
          <p:spPr>
            <a:xfrm>
              <a:off x="1181" y="3120"/>
              <a:ext cx="2995" cy="194"/>
            </a:xfrm>
            <a:prstGeom prst="rect">
              <a:avLst/>
            </a:prstGeom>
            <a:noFill/>
            <a:ln>
              <a:noFill/>
            </a:ln>
          </p:spPr>
          <p:txBody>
            <a:bodyPr vert="horz" lIns="91440" tIns="45720" rIns="91440" bIns="4572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spcBef>
                  <a:spcPct val="50000"/>
                </a:spcBef>
              </a:pPr>
              <a:r>
                <a:rPr lang="zh-CN" altLang="en-US" sz="1400" b="1"/>
                <a:t>硬件协议（链路控制和介质访问协议）</a:t>
              </a:r>
            </a:p>
          </p:txBody>
        </p:sp>
        <p:sp>
          <p:nvSpPr>
            <p:cNvPr id="1049433" name="直接连接符 150539"/>
            <p:cNvSpPr/>
            <p:nvPr/>
          </p:nvSpPr>
          <p:spPr>
            <a:xfrm>
              <a:off x="136" y="2570"/>
              <a:ext cx="4057" cy="1"/>
            </a:xfrm>
            <a:prstGeom prst="line">
              <a:avLst/>
            </a:prstGeom>
            <a:noFill/>
            <a:ln w="12700" cap="sq" cmpd="sng">
              <a:solidFill>
                <a:schemeClr val="dk1">
                  <a:alpha val="100000"/>
                </a:schemeClr>
              </a:solidFill>
              <a:prstDash val="solid"/>
              <a:round/>
            </a:ln>
          </p:spPr>
          <p:txBody>
            <a:bodyPr/>
            <a:lstStyle/>
            <a:p>
              <a:endParaRPr lang="zh-CN" altLang="en-US"/>
            </a:p>
          </p:txBody>
        </p:sp>
        <p:sp>
          <p:nvSpPr>
            <p:cNvPr id="1049434" name="文本框 150540"/>
            <p:cNvSpPr txBox="1"/>
            <p:nvPr/>
          </p:nvSpPr>
          <p:spPr>
            <a:xfrm>
              <a:off x="2027" y="2690"/>
              <a:ext cx="511" cy="192"/>
            </a:xfrm>
            <a:prstGeom prst="rect">
              <a:avLst/>
            </a:prstGeom>
            <a:noFill/>
            <a:ln>
              <a:noFill/>
            </a:ln>
          </p:spPr>
          <p:txBody>
            <a:bodyPr vert="horz" lIns="91440" tIns="45720" rIns="91440" bIns="4572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spcBef>
                  <a:spcPct val="50000"/>
                </a:spcBef>
              </a:pPr>
              <a:r>
                <a:rPr lang="en-US" altLang="zh-CN" sz="1400"/>
                <a:t>IP</a:t>
              </a:r>
            </a:p>
          </p:txBody>
        </p:sp>
        <p:sp>
          <p:nvSpPr>
            <p:cNvPr id="1049435" name="直接连接符 150541"/>
            <p:cNvSpPr/>
            <p:nvPr/>
          </p:nvSpPr>
          <p:spPr>
            <a:xfrm>
              <a:off x="136" y="2303"/>
              <a:ext cx="4057" cy="1"/>
            </a:xfrm>
            <a:prstGeom prst="line">
              <a:avLst/>
            </a:prstGeom>
            <a:noFill/>
            <a:ln w="12700" cap="sq" cmpd="sng">
              <a:solidFill>
                <a:schemeClr val="dk1">
                  <a:alpha val="100000"/>
                </a:schemeClr>
              </a:solidFill>
              <a:prstDash val="solid"/>
              <a:round/>
            </a:ln>
          </p:spPr>
          <p:txBody>
            <a:bodyPr/>
            <a:lstStyle/>
            <a:p>
              <a:endParaRPr lang="zh-CN" altLang="en-US"/>
            </a:p>
          </p:txBody>
        </p:sp>
        <p:sp>
          <p:nvSpPr>
            <p:cNvPr id="1049436" name="直接连接符 150542"/>
            <p:cNvSpPr/>
            <p:nvPr/>
          </p:nvSpPr>
          <p:spPr>
            <a:xfrm>
              <a:off x="2105" y="2306"/>
              <a:ext cx="0" cy="264"/>
            </a:xfrm>
            <a:prstGeom prst="line">
              <a:avLst/>
            </a:prstGeom>
            <a:noFill/>
            <a:ln w="12700" cap="sq" cmpd="sng">
              <a:solidFill>
                <a:schemeClr val="dk1">
                  <a:alpha val="100000"/>
                </a:schemeClr>
              </a:solidFill>
              <a:prstDash val="solid"/>
              <a:round/>
            </a:ln>
          </p:spPr>
          <p:txBody>
            <a:bodyPr/>
            <a:lstStyle/>
            <a:p>
              <a:endParaRPr lang="zh-CN" altLang="en-US"/>
            </a:p>
          </p:txBody>
        </p:sp>
        <p:sp>
          <p:nvSpPr>
            <p:cNvPr id="1049437" name="文本框 150543"/>
            <p:cNvSpPr txBox="1"/>
            <p:nvPr/>
          </p:nvSpPr>
          <p:spPr>
            <a:xfrm>
              <a:off x="1002" y="2303"/>
              <a:ext cx="552" cy="194"/>
            </a:xfrm>
            <a:prstGeom prst="rect">
              <a:avLst/>
            </a:prstGeom>
            <a:noFill/>
            <a:ln>
              <a:noFill/>
            </a:ln>
          </p:spPr>
          <p:txBody>
            <a:bodyPr vert="horz" lIns="91440" tIns="45720" rIns="91440" bIns="4572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spcBef>
                  <a:spcPct val="50000"/>
                </a:spcBef>
              </a:pPr>
              <a:r>
                <a:rPr lang="en-US" altLang="zh-CN" sz="1400"/>
                <a:t>TCP</a:t>
              </a:r>
            </a:p>
          </p:txBody>
        </p:sp>
        <p:sp>
          <p:nvSpPr>
            <p:cNvPr id="1049438" name="文本框 150544"/>
            <p:cNvSpPr txBox="1"/>
            <p:nvPr/>
          </p:nvSpPr>
          <p:spPr>
            <a:xfrm>
              <a:off x="2893" y="2303"/>
              <a:ext cx="749" cy="194"/>
            </a:xfrm>
            <a:prstGeom prst="rect">
              <a:avLst/>
            </a:prstGeom>
            <a:noFill/>
            <a:ln>
              <a:noFill/>
            </a:ln>
          </p:spPr>
          <p:txBody>
            <a:bodyPr vert="horz" lIns="91440" tIns="45720" rIns="91440" bIns="4572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spcBef>
                  <a:spcPct val="50000"/>
                </a:spcBef>
              </a:pPr>
              <a:r>
                <a:rPr lang="en-US" altLang="zh-CN" sz="1400"/>
                <a:t>UDP</a:t>
              </a:r>
            </a:p>
          </p:txBody>
        </p:sp>
        <p:sp>
          <p:nvSpPr>
            <p:cNvPr id="1049439" name="直接连接符 150545"/>
            <p:cNvSpPr/>
            <p:nvPr/>
          </p:nvSpPr>
          <p:spPr>
            <a:xfrm>
              <a:off x="136" y="1633"/>
              <a:ext cx="393" cy="1"/>
            </a:xfrm>
            <a:prstGeom prst="line">
              <a:avLst/>
            </a:prstGeom>
            <a:noFill/>
            <a:ln w="12700" cap="sq" cmpd="sng">
              <a:solidFill>
                <a:schemeClr val="dk1">
                  <a:alpha val="100000"/>
                </a:schemeClr>
              </a:solidFill>
              <a:prstDash val="solid"/>
              <a:round/>
            </a:ln>
          </p:spPr>
          <p:txBody>
            <a:bodyPr/>
            <a:lstStyle/>
            <a:p>
              <a:endParaRPr lang="zh-CN" altLang="en-US"/>
            </a:p>
          </p:txBody>
        </p:sp>
        <p:sp>
          <p:nvSpPr>
            <p:cNvPr id="1049440" name="直接连接符 150546"/>
            <p:cNvSpPr/>
            <p:nvPr/>
          </p:nvSpPr>
          <p:spPr>
            <a:xfrm>
              <a:off x="529" y="1633"/>
              <a:ext cx="1" cy="670"/>
            </a:xfrm>
            <a:prstGeom prst="line">
              <a:avLst/>
            </a:prstGeom>
            <a:noFill/>
            <a:ln w="12700" cap="sq" cmpd="sng">
              <a:solidFill>
                <a:schemeClr val="dk1">
                  <a:alpha val="100000"/>
                </a:schemeClr>
              </a:solidFill>
              <a:prstDash val="solid"/>
              <a:round/>
            </a:ln>
          </p:spPr>
          <p:txBody>
            <a:bodyPr/>
            <a:lstStyle/>
            <a:p>
              <a:endParaRPr lang="zh-CN" altLang="en-US"/>
            </a:p>
          </p:txBody>
        </p:sp>
        <p:sp>
          <p:nvSpPr>
            <p:cNvPr id="1049441" name="文本框 150547"/>
            <p:cNvSpPr txBox="1"/>
            <p:nvPr/>
          </p:nvSpPr>
          <p:spPr>
            <a:xfrm>
              <a:off x="96" y="1678"/>
              <a:ext cx="591" cy="193"/>
            </a:xfrm>
            <a:prstGeom prst="rect">
              <a:avLst/>
            </a:prstGeom>
            <a:noFill/>
            <a:ln>
              <a:noFill/>
            </a:ln>
          </p:spPr>
          <p:txBody>
            <a:bodyPr vert="horz" lIns="91440" tIns="45720" rIns="91440" bIns="4572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spcBef>
                  <a:spcPct val="50000"/>
                </a:spcBef>
              </a:pPr>
              <a:r>
                <a:rPr lang="en-US" altLang="zh-CN" sz="1400" b="1"/>
                <a:t>CMOT</a:t>
              </a:r>
            </a:p>
          </p:txBody>
        </p:sp>
        <p:sp>
          <p:nvSpPr>
            <p:cNvPr id="1049442" name="直接连接符 150548"/>
            <p:cNvSpPr/>
            <p:nvPr/>
          </p:nvSpPr>
          <p:spPr>
            <a:xfrm flipV="1">
              <a:off x="529" y="1989"/>
              <a:ext cx="867" cy="1"/>
            </a:xfrm>
            <a:prstGeom prst="line">
              <a:avLst/>
            </a:prstGeom>
            <a:noFill/>
            <a:ln w="12700" cap="sq" cmpd="sng">
              <a:solidFill>
                <a:schemeClr val="dk1">
                  <a:alpha val="100000"/>
                </a:schemeClr>
              </a:solidFill>
              <a:prstDash val="solid"/>
              <a:round/>
            </a:ln>
          </p:spPr>
          <p:txBody>
            <a:bodyPr/>
            <a:lstStyle/>
            <a:p>
              <a:endParaRPr lang="zh-CN" altLang="en-US"/>
            </a:p>
          </p:txBody>
        </p:sp>
        <p:sp>
          <p:nvSpPr>
            <p:cNvPr id="1049443" name="直接连接符 150549"/>
            <p:cNvSpPr/>
            <p:nvPr/>
          </p:nvSpPr>
          <p:spPr>
            <a:xfrm flipH="1">
              <a:off x="963" y="1990"/>
              <a:ext cx="0" cy="311"/>
            </a:xfrm>
            <a:prstGeom prst="line">
              <a:avLst/>
            </a:prstGeom>
            <a:noFill/>
            <a:ln w="12700" cap="sq" cmpd="sng">
              <a:solidFill>
                <a:schemeClr val="dk1">
                  <a:alpha val="100000"/>
                </a:schemeClr>
              </a:solidFill>
              <a:prstDash val="solid"/>
              <a:round/>
            </a:ln>
          </p:spPr>
          <p:txBody>
            <a:bodyPr/>
            <a:lstStyle/>
            <a:p>
              <a:endParaRPr lang="zh-CN" altLang="en-US"/>
            </a:p>
          </p:txBody>
        </p:sp>
        <p:sp>
          <p:nvSpPr>
            <p:cNvPr id="1049444" name="文本框 150550"/>
            <p:cNvSpPr txBox="1"/>
            <p:nvPr/>
          </p:nvSpPr>
          <p:spPr>
            <a:xfrm>
              <a:off x="529" y="2035"/>
              <a:ext cx="552" cy="193"/>
            </a:xfrm>
            <a:prstGeom prst="rect">
              <a:avLst/>
            </a:prstGeom>
            <a:noFill/>
            <a:ln>
              <a:noFill/>
            </a:ln>
          </p:spPr>
          <p:txBody>
            <a:bodyPr vert="horz" lIns="91440" tIns="45720" rIns="91440" bIns="4572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spcBef>
                  <a:spcPct val="50000"/>
                </a:spcBef>
              </a:pPr>
              <a:r>
                <a:rPr lang="en-US" altLang="zh-CN" sz="1400" b="1"/>
                <a:t>SMTP</a:t>
              </a:r>
            </a:p>
          </p:txBody>
        </p:sp>
        <p:sp>
          <p:nvSpPr>
            <p:cNvPr id="1049445" name="直接连接符 150551"/>
            <p:cNvSpPr/>
            <p:nvPr/>
          </p:nvSpPr>
          <p:spPr>
            <a:xfrm>
              <a:off x="1396" y="1722"/>
              <a:ext cx="1" cy="581"/>
            </a:xfrm>
            <a:prstGeom prst="line">
              <a:avLst/>
            </a:prstGeom>
            <a:noFill/>
            <a:ln w="12700" cap="sq" cmpd="sng">
              <a:solidFill>
                <a:schemeClr val="dk1">
                  <a:alpha val="100000"/>
                </a:schemeClr>
              </a:solidFill>
              <a:prstDash val="solid"/>
              <a:round/>
            </a:ln>
          </p:spPr>
          <p:txBody>
            <a:bodyPr/>
            <a:lstStyle/>
            <a:p>
              <a:endParaRPr lang="zh-CN" altLang="en-US"/>
            </a:p>
          </p:txBody>
        </p:sp>
        <p:sp>
          <p:nvSpPr>
            <p:cNvPr id="1049446" name="文本框 150552"/>
            <p:cNvSpPr txBox="1"/>
            <p:nvPr/>
          </p:nvSpPr>
          <p:spPr>
            <a:xfrm>
              <a:off x="963" y="1990"/>
              <a:ext cx="434" cy="192"/>
            </a:xfrm>
            <a:prstGeom prst="rect">
              <a:avLst/>
            </a:prstGeom>
            <a:noFill/>
            <a:ln>
              <a:noFill/>
            </a:ln>
          </p:spPr>
          <p:txBody>
            <a:bodyPr vert="horz" lIns="91440" tIns="45720" rIns="91440" bIns="4572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spcBef>
                  <a:spcPct val="50000"/>
                </a:spcBef>
              </a:pPr>
              <a:r>
                <a:rPr lang="en-US" altLang="zh-CN" sz="1400" b="1"/>
                <a:t>Rlogin</a:t>
              </a:r>
            </a:p>
          </p:txBody>
        </p:sp>
        <p:sp>
          <p:nvSpPr>
            <p:cNvPr id="1049447" name="文本框 150553"/>
            <p:cNvSpPr txBox="1"/>
            <p:nvPr/>
          </p:nvSpPr>
          <p:spPr>
            <a:xfrm>
              <a:off x="1002" y="2125"/>
              <a:ext cx="394" cy="194"/>
            </a:xfrm>
            <a:prstGeom prst="rect">
              <a:avLst/>
            </a:prstGeom>
            <a:noFill/>
            <a:ln>
              <a:noFill/>
            </a:ln>
          </p:spPr>
          <p:txBody>
            <a:bodyPr vert="horz" lIns="91440" tIns="45720" rIns="91440" bIns="4572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spcBef>
                  <a:spcPct val="50000"/>
                </a:spcBef>
              </a:pPr>
              <a:r>
                <a:rPr lang="en-US" altLang="zh-CN" sz="1400" b="1"/>
                <a:t>rsh</a:t>
              </a:r>
            </a:p>
          </p:txBody>
        </p:sp>
        <p:sp>
          <p:nvSpPr>
            <p:cNvPr id="1049448" name="直接连接符 150554"/>
            <p:cNvSpPr/>
            <p:nvPr/>
          </p:nvSpPr>
          <p:spPr>
            <a:xfrm>
              <a:off x="1396" y="1722"/>
              <a:ext cx="315" cy="1"/>
            </a:xfrm>
            <a:prstGeom prst="line">
              <a:avLst/>
            </a:prstGeom>
            <a:noFill/>
            <a:ln w="12700" cap="sq" cmpd="sng">
              <a:solidFill>
                <a:schemeClr val="dk1">
                  <a:alpha val="100000"/>
                </a:schemeClr>
              </a:solidFill>
              <a:prstDash val="solid"/>
              <a:round/>
            </a:ln>
          </p:spPr>
          <p:txBody>
            <a:bodyPr/>
            <a:lstStyle/>
            <a:p>
              <a:endParaRPr lang="zh-CN" altLang="en-US"/>
            </a:p>
          </p:txBody>
        </p:sp>
        <p:sp>
          <p:nvSpPr>
            <p:cNvPr id="1049449" name="直接连接符 150555"/>
            <p:cNvSpPr/>
            <p:nvPr/>
          </p:nvSpPr>
          <p:spPr>
            <a:xfrm flipH="1">
              <a:off x="1475" y="1990"/>
              <a:ext cx="0" cy="313"/>
            </a:xfrm>
            <a:prstGeom prst="line">
              <a:avLst/>
            </a:prstGeom>
            <a:noFill/>
            <a:ln w="12700" cap="sq" cmpd="sng">
              <a:solidFill>
                <a:schemeClr val="dk1">
                  <a:alpha val="100000"/>
                </a:schemeClr>
              </a:solidFill>
              <a:prstDash val="solid"/>
              <a:round/>
            </a:ln>
          </p:spPr>
          <p:txBody>
            <a:bodyPr/>
            <a:lstStyle/>
            <a:p>
              <a:endParaRPr lang="zh-CN" altLang="en-US"/>
            </a:p>
          </p:txBody>
        </p:sp>
        <p:sp>
          <p:nvSpPr>
            <p:cNvPr id="1049450" name="直接连接符 150556"/>
            <p:cNvSpPr/>
            <p:nvPr/>
          </p:nvSpPr>
          <p:spPr>
            <a:xfrm flipV="1">
              <a:off x="1475" y="1990"/>
              <a:ext cx="791" cy="0"/>
            </a:xfrm>
            <a:prstGeom prst="line">
              <a:avLst/>
            </a:prstGeom>
            <a:noFill/>
            <a:ln w="12700" cap="sq" cmpd="sng">
              <a:solidFill>
                <a:schemeClr val="dk1">
                  <a:alpha val="100000"/>
                </a:schemeClr>
              </a:solidFill>
              <a:prstDash val="solid"/>
              <a:round/>
            </a:ln>
          </p:spPr>
          <p:txBody>
            <a:bodyPr/>
            <a:lstStyle/>
            <a:p>
              <a:endParaRPr lang="zh-CN" altLang="en-US"/>
            </a:p>
          </p:txBody>
        </p:sp>
        <p:sp>
          <p:nvSpPr>
            <p:cNvPr id="1049451" name="直接连接符 150557"/>
            <p:cNvSpPr/>
            <p:nvPr/>
          </p:nvSpPr>
          <p:spPr>
            <a:xfrm>
              <a:off x="1948" y="1990"/>
              <a:ext cx="0" cy="313"/>
            </a:xfrm>
            <a:prstGeom prst="line">
              <a:avLst/>
            </a:prstGeom>
            <a:noFill/>
            <a:ln w="12700" cap="sq" cmpd="sng">
              <a:solidFill>
                <a:schemeClr val="dk1">
                  <a:alpha val="100000"/>
                </a:schemeClr>
              </a:solidFill>
              <a:prstDash val="solid"/>
              <a:round/>
            </a:ln>
          </p:spPr>
          <p:txBody>
            <a:bodyPr/>
            <a:lstStyle/>
            <a:p>
              <a:endParaRPr lang="zh-CN" altLang="en-US"/>
            </a:p>
          </p:txBody>
        </p:sp>
        <p:sp>
          <p:nvSpPr>
            <p:cNvPr id="1049452" name="直接连接符 150558"/>
            <p:cNvSpPr/>
            <p:nvPr/>
          </p:nvSpPr>
          <p:spPr>
            <a:xfrm>
              <a:off x="2263" y="1990"/>
              <a:ext cx="1" cy="313"/>
            </a:xfrm>
            <a:prstGeom prst="line">
              <a:avLst/>
            </a:prstGeom>
            <a:noFill/>
            <a:ln w="12700" cap="sq" cmpd="sng">
              <a:solidFill>
                <a:schemeClr val="dk1">
                  <a:alpha val="100000"/>
                </a:schemeClr>
              </a:solidFill>
              <a:prstDash val="solid"/>
              <a:round/>
            </a:ln>
          </p:spPr>
          <p:txBody>
            <a:bodyPr/>
            <a:lstStyle/>
            <a:p>
              <a:endParaRPr lang="zh-CN" altLang="en-US"/>
            </a:p>
          </p:txBody>
        </p:sp>
        <p:sp>
          <p:nvSpPr>
            <p:cNvPr id="1049453" name="直接连接符 150559"/>
            <p:cNvSpPr/>
            <p:nvPr/>
          </p:nvSpPr>
          <p:spPr>
            <a:xfrm flipH="1">
              <a:off x="1948" y="1990"/>
              <a:ext cx="0" cy="313"/>
            </a:xfrm>
            <a:prstGeom prst="line">
              <a:avLst/>
            </a:prstGeom>
            <a:noFill/>
            <a:ln w="12700" cap="sq" cmpd="sng">
              <a:solidFill>
                <a:schemeClr val="dk1">
                  <a:alpha val="100000"/>
                </a:schemeClr>
              </a:solidFill>
              <a:prstDash val="solid"/>
              <a:round/>
            </a:ln>
          </p:spPr>
          <p:txBody>
            <a:bodyPr/>
            <a:lstStyle/>
            <a:p>
              <a:endParaRPr lang="zh-CN" altLang="en-US"/>
            </a:p>
          </p:txBody>
        </p:sp>
        <p:sp>
          <p:nvSpPr>
            <p:cNvPr id="1049454" name="直接连接符 150560"/>
            <p:cNvSpPr/>
            <p:nvPr/>
          </p:nvSpPr>
          <p:spPr>
            <a:xfrm>
              <a:off x="1711" y="1722"/>
              <a:ext cx="1" cy="268"/>
            </a:xfrm>
            <a:prstGeom prst="line">
              <a:avLst/>
            </a:prstGeom>
            <a:noFill/>
            <a:ln w="12700" cap="sq" cmpd="sng">
              <a:solidFill>
                <a:schemeClr val="dk1">
                  <a:alpha val="100000"/>
                </a:schemeClr>
              </a:solidFill>
              <a:prstDash val="solid"/>
              <a:round/>
            </a:ln>
          </p:spPr>
          <p:txBody>
            <a:bodyPr/>
            <a:lstStyle/>
            <a:p>
              <a:endParaRPr lang="zh-CN" altLang="en-US"/>
            </a:p>
          </p:txBody>
        </p:sp>
        <p:sp>
          <p:nvSpPr>
            <p:cNvPr id="1049455" name="文本框 150561"/>
            <p:cNvSpPr txBox="1"/>
            <p:nvPr/>
          </p:nvSpPr>
          <p:spPr>
            <a:xfrm>
              <a:off x="1435" y="1722"/>
              <a:ext cx="395" cy="192"/>
            </a:xfrm>
            <a:prstGeom prst="rect">
              <a:avLst/>
            </a:prstGeom>
            <a:noFill/>
            <a:ln>
              <a:noFill/>
            </a:ln>
          </p:spPr>
          <p:txBody>
            <a:bodyPr vert="horz" lIns="91440" tIns="45720" rIns="91440" bIns="4572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spcBef>
                  <a:spcPct val="50000"/>
                </a:spcBef>
              </a:pPr>
              <a:r>
                <a:rPr lang="en-US" altLang="zh-CN" sz="1400" b="1" dirty="0"/>
                <a:t>FTP</a:t>
              </a:r>
            </a:p>
          </p:txBody>
        </p:sp>
        <p:sp>
          <p:nvSpPr>
            <p:cNvPr id="1049456" name="文本框 150562"/>
            <p:cNvSpPr txBox="1"/>
            <p:nvPr/>
          </p:nvSpPr>
          <p:spPr>
            <a:xfrm>
              <a:off x="1435" y="2035"/>
              <a:ext cx="592" cy="193"/>
            </a:xfrm>
            <a:prstGeom prst="rect">
              <a:avLst/>
            </a:prstGeom>
            <a:noFill/>
            <a:ln>
              <a:noFill/>
            </a:ln>
          </p:spPr>
          <p:txBody>
            <a:bodyPr vert="horz" lIns="91440" tIns="45720" rIns="91440" bIns="4572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spcBef>
                  <a:spcPct val="50000"/>
                </a:spcBef>
              </a:pPr>
              <a:r>
                <a:rPr lang="en-US" altLang="zh-CN" sz="1400" b="1"/>
                <a:t>TELNET</a:t>
              </a:r>
            </a:p>
          </p:txBody>
        </p:sp>
        <p:sp>
          <p:nvSpPr>
            <p:cNvPr id="1049457" name="文本框 150563"/>
            <p:cNvSpPr txBox="1"/>
            <p:nvPr/>
          </p:nvSpPr>
          <p:spPr>
            <a:xfrm>
              <a:off x="1947" y="2035"/>
              <a:ext cx="394" cy="193"/>
            </a:xfrm>
            <a:prstGeom prst="rect">
              <a:avLst/>
            </a:prstGeom>
            <a:noFill/>
            <a:ln>
              <a:noFill/>
            </a:ln>
          </p:spPr>
          <p:txBody>
            <a:bodyPr vert="horz" lIns="91440" tIns="45720" rIns="91440" bIns="4572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spcBef>
                  <a:spcPct val="50000"/>
                </a:spcBef>
              </a:pPr>
              <a:r>
                <a:rPr lang="en-US" altLang="zh-CN" sz="1400" b="1"/>
                <a:t>DNS</a:t>
              </a:r>
            </a:p>
          </p:txBody>
        </p:sp>
        <p:sp>
          <p:nvSpPr>
            <p:cNvPr id="1049458" name="直接连接符 150564"/>
            <p:cNvSpPr/>
            <p:nvPr/>
          </p:nvSpPr>
          <p:spPr>
            <a:xfrm>
              <a:off x="2302" y="1768"/>
              <a:ext cx="1" cy="535"/>
            </a:xfrm>
            <a:prstGeom prst="line">
              <a:avLst/>
            </a:prstGeom>
            <a:noFill/>
            <a:ln w="12700" cap="sq" cmpd="sng">
              <a:solidFill>
                <a:schemeClr val="dk1">
                  <a:alpha val="100000"/>
                </a:schemeClr>
              </a:solidFill>
              <a:prstDash val="solid"/>
              <a:round/>
            </a:ln>
          </p:spPr>
          <p:txBody>
            <a:bodyPr/>
            <a:lstStyle/>
            <a:p>
              <a:endParaRPr lang="zh-CN" altLang="en-US"/>
            </a:p>
          </p:txBody>
        </p:sp>
        <p:sp>
          <p:nvSpPr>
            <p:cNvPr id="1049459" name="直接连接符 150565"/>
            <p:cNvSpPr/>
            <p:nvPr/>
          </p:nvSpPr>
          <p:spPr>
            <a:xfrm>
              <a:off x="2302" y="1768"/>
              <a:ext cx="709" cy="1"/>
            </a:xfrm>
            <a:prstGeom prst="line">
              <a:avLst/>
            </a:prstGeom>
            <a:noFill/>
            <a:ln w="12700" cap="sq" cmpd="sng">
              <a:solidFill>
                <a:schemeClr val="dk1">
                  <a:alpha val="100000"/>
                </a:schemeClr>
              </a:solidFill>
              <a:prstDash val="solid"/>
              <a:round/>
            </a:ln>
          </p:spPr>
          <p:txBody>
            <a:bodyPr/>
            <a:lstStyle/>
            <a:p>
              <a:endParaRPr lang="zh-CN" altLang="en-US"/>
            </a:p>
          </p:txBody>
        </p:sp>
        <p:sp>
          <p:nvSpPr>
            <p:cNvPr id="1049460" name="直接连接符 150566"/>
            <p:cNvSpPr/>
            <p:nvPr/>
          </p:nvSpPr>
          <p:spPr>
            <a:xfrm>
              <a:off x="3011" y="1768"/>
              <a:ext cx="1" cy="535"/>
            </a:xfrm>
            <a:prstGeom prst="line">
              <a:avLst/>
            </a:prstGeom>
            <a:noFill/>
            <a:ln w="12700" cap="sq" cmpd="sng">
              <a:solidFill>
                <a:schemeClr val="dk1">
                  <a:alpha val="100000"/>
                </a:schemeClr>
              </a:solidFill>
              <a:prstDash val="solid"/>
              <a:round/>
            </a:ln>
          </p:spPr>
          <p:txBody>
            <a:bodyPr/>
            <a:lstStyle/>
            <a:p>
              <a:endParaRPr lang="zh-CN" altLang="en-US"/>
            </a:p>
          </p:txBody>
        </p:sp>
        <p:sp>
          <p:nvSpPr>
            <p:cNvPr id="1049461" name="直接连接符 150567"/>
            <p:cNvSpPr/>
            <p:nvPr/>
          </p:nvSpPr>
          <p:spPr>
            <a:xfrm flipH="1">
              <a:off x="2656" y="1768"/>
              <a:ext cx="1" cy="222"/>
            </a:xfrm>
            <a:prstGeom prst="line">
              <a:avLst/>
            </a:prstGeom>
            <a:noFill/>
            <a:ln w="12700" cap="sq" cmpd="sng">
              <a:solidFill>
                <a:schemeClr val="dk1">
                  <a:alpha val="100000"/>
                </a:schemeClr>
              </a:solidFill>
              <a:prstDash val="solid"/>
              <a:round/>
            </a:ln>
          </p:spPr>
          <p:txBody>
            <a:bodyPr/>
            <a:lstStyle/>
            <a:p>
              <a:endParaRPr lang="zh-CN" altLang="en-US"/>
            </a:p>
          </p:txBody>
        </p:sp>
        <p:sp>
          <p:nvSpPr>
            <p:cNvPr id="1049462" name="文本框 150568"/>
            <p:cNvSpPr txBox="1"/>
            <p:nvPr/>
          </p:nvSpPr>
          <p:spPr>
            <a:xfrm>
              <a:off x="2263" y="1768"/>
              <a:ext cx="433" cy="194"/>
            </a:xfrm>
            <a:prstGeom prst="rect">
              <a:avLst/>
            </a:prstGeom>
            <a:noFill/>
            <a:ln>
              <a:noFill/>
            </a:ln>
          </p:spPr>
          <p:txBody>
            <a:bodyPr vert="horz" lIns="91440" tIns="45720" rIns="91440" bIns="4572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spcBef>
                  <a:spcPct val="50000"/>
                </a:spcBef>
              </a:pPr>
              <a:r>
                <a:rPr lang="en-US" altLang="zh-CN" sz="1400" b="1"/>
                <a:t>SNMP</a:t>
              </a:r>
            </a:p>
          </p:txBody>
        </p:sp>
        <p:sp>
          <p:nvSpPr>
            <p:cNvPr id="1049463" name="文本框 150569"/>
            <p:cNvSpPr txBox="1"/>
            <p:nvPr/>
          </p:nvSpPr>
          <p:spPr>
            <a:xfrm>
              <a:off x="2616" y="1768"/>
              <a:ext cx="473" cy="194"/>
            </a:xfrm>
            <a:prstGeom prst="rect">
              <a:avLst/>
            </a:prstGeom>
            <a:noFill/>
            <a:ln>
              <a:noFill/>
            </a:ln>
          </p:spPr>
          <p:txBody>
            <a:bodyPr vert="horz" lIns="91440" tIns="45720" rIns="91440" bIns="4572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spcBef>
                  <a:spcPct val="50000"/>
                </a:spcBef>
              </a:pPr>
              <a:r>
                <a:rPr lang="en-US" altLang="zh-CN" sz="1400" b="1"/>
                <a:t>CMOT</a:t>
              </a:r>
            </a:p>
          </p:txBody>
        </p:sp>
        <p:sp>
          <p:nvSpPr>
            <p:cNvPr id="1049464" name="矩形 150570"/>
            <p:cNvSpPr/>
            <p:nvPr/>
          </p:nvSpPr>
          <p:spPr>
            <a:xfrm>
              <a:off x="2460" y="1990"/>
              <a:ext cx="394" cy="179"/>
            </a:xfrm>
            <a:prstGeom prst="rect">
              <a:avLst/>
            </a:prstGeom>
            <a:noFill/>
            <a:ln w="12700" cap="sq" cmpd="sng">
              <a:solidFill>
                <a:schemeClr val="dk1">
                  <a:alpha val="100000"/>
                </a:schemeClr>
              </a:solidFill>
              <a:prstDash val="solid"/>
              <a:round/>
            </a:ln>
          </p:spPr>
          <p:txBody>
            <a:bodyPr vert="horz" wrap="none"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en-US" altLang="zh-CN" sz="1400" b="1"/>
                <a:t>ASN.1</a:t>
              </a:r>
            </a:p>
          </p:txBody>
        </p:sp>
        <p:sp>
          <p:nvSpPr>
            <p:cNvPr id="1049465" name="直接连接符 150571"/>
            <p:cNvSpPr/>
            <p:nvPr/>
          </p:nvSpPr>
          <p:spPr>
            <a:xfrm>
              <a:off x="2657" y="2169"/>
              <a:ext cx="1" cy="134"/>
            </a:xfrm>
            <a:prstGeom prst="line">
              <a:avLst/>
            </a:prstGeom>
            <a:noFill/>
            <a:ln w="12700" cap="sq" cmpd="sng">
              <a:solidFill>
                <a:schemeClr val="dk1">
                  <a:alpha val="100000"/>
                </a:schemeClr>
              </a:solidFill>
              <a:prstDash val="solid"/>
              <a:round/>
            </a:ln>
          </p:spPr>
          <p:txBody>
            <a:bodyPr/>
            <a:lstStyle/>
            <a:p>
              <a:endParaRPr lang="zh-CN" altLang="en-US"/>
            </a:p>
          </p:txBody>
        </p:sp>
        <p:sp>
          <p:nvSpPr>
            <p:cNvPr id="1049466" name="直接连接符 150572"/>
            <p:cNvSpPr/>
            <p:nvPr/>
          </p:nvSpPr>
          <p:spPr>
            <a:xfrm>
              <a:off x="3011" y="1989"/>
              <a:ext cx="1182" cy="1"/>
            </a:xfrm>
            <a:prstGeom prst="line">
              <a:avLst/>
            </a:prstGeom>
            <a:noFill/>
            <a:ln w="12700" cap="sq" cmpd="sng">
              <a:solidFill>
                <a:schemeClr val="dk1">
                  <a:alpha val="100000"/>
                </a:schemeClr>
              </a:solidFill>
              <a:prstDash val="solid"/>
              <a:round/>
            </a:ln>
          </p:spPr>
          <p:txBody>
            <a:bodyPr/>
            <a:lstStyle/>
            <a:p>
              <a:endParaRPr lang="zh-CN" altLang="en-US"/>
            </a:p>
          </p:txBody>
        </p:sp>
        <p:sp>
          <p:nvSpPr>
            <p:cNvPr id="1049467" name="直接连接符 150573"/>
            <p:cNvSpPr/>
            <p:nvPr/>
          </p:nvSpPr>
          <p:spPr>
            <a:xfrm flipH="1">
              <a:off x="3364" y="1990"/>
              <a:ext cx="1" cy="312"/>
            </a:xfrm>
            <a:prstGeom prst="line">
              <a:avLst/>
            </a:prstGeom>
            <a:noFill/>
            <a:ln w="12700" cap="sq" cmpd="sng">
              <a:solidFill>
                <a:schemeClr val="dk1">
                  <a:alpha val="100000"/>
                </a:schemeClr>
              </a:solidFill>
              <a:prstDash val="solid"/>
              <a:round/>
            </a:ln>
          </p:spPr>
          <p:txBody>
            <a:bodyPr/>
            <a:lstStyle/>
            <a:p>
              <a:endParaRPr lang="zh-CN" altLang="en-US"/>
            </a:p>
          </p:txBody>
        </p:sp>
        <p:sp>
          <p:nvSpPr>
            <p:cNvPr id="1049468" name="直接连接符 150574"/>
            <p:cNvSpPr/>
            <p:nvPr/>
          </p:nvSpPr>
          <p:spPr>
            <a:xfrm>
              <a:off x="3839" y="1544"/>
              <a:ext cx="0" cy="758"/>
            </a:xfrm>
            <a:prstGeom prst="line">
              <a:avLst/>
            </a:prstGeom>
            <a:noFill/>
            <a:ln w="12700" cap="sq" cmpd="sng">
              <a:solidFill>
                <a:schemeClr val="dk1">
                  <a:alpha val="100000"/>
                </a:schemeClr>
              </a:solidFill>
              <a:prstDash val="solid"/>
              <a:round/>
            </a:ln>
          </p:spPr>
          <p:txBody>
            <a:bodyPr/>
            <a:lstStyle/>
            <a:p>
              <a:endParaRPr lang="zh-CN" altLang="en-US"/>
            </a:p>
          </p:txBody>
        </p:sp>
        <p:sp>
          <p:nvSpPr>
            <p:cNvPr id="1049469" name="直接连接符 150575"/>
            <p:cNvSpPr/>
            <p:nvPr/>
          </p:nvSpPr>
          <p:spPr>
            <a:xfrm>
              <a:off x="3839" y="1541"/>
              <a:ext cx="315" cy="1"/>
            </a:xfrm>
            <a:prstGeom prst="line">
              <a:avLst/>
            </a:prstGeom>
            <a:noFill/>
            <a:ln w="12700" cap="sq" cmpd="sng">
              <a:solidFill>
                <a:schemeClr val="dk1">
                  <a:alpha val="100000"/>
                </a:schemeClr>
              </a:solidFill>
              <a:prstDash val="solid"/>
              <a:round/>
            </a:ln>
          </p:spPr>
          <p:txBody>
            <a:bodyPr/>
            <a:lstStyle/>
            <a:p>
              <a:endParaRPr lang="zh-CN" altLang="en-US"/>
            </a:p>
          </p:txBody>
        </p:sp>
        <p:sp>
          <p:nvSpPr>
            <p:cNvPr id="1049470" name="直接连接符 150576"/>
            <p:cNvSpPr/>
            <p:nvPr/>
          </p:nvSpPr>
          <p:spPr>
            <a:xfrm>
              <a:off x="3918" y="1768"/>
              <a:ext cx="1" cy="222"/>
            </a:xfrm>
            <a:prstGeom prst="line">
              <a:avLst/>
            </a:prstGeom>
            <a:noFill/>
            <a:ln w="12700" cap="sq" cmpd="sng">
              <a:solidFill>
                <a:schemeClr val="dk1">
                  <a:alpha val="100000"/>
                </a:schemeClr>
              </a:solidFill>
              <a:prstDash val="solid"/>
              <a:round/>
            </a:ln>
          </p:spPr>
          <p:txBody>
            <a:bodyPr/>
            <a:lstStyle/>
            <a:p>
              <a:endParaRPr lang="zh-CN" altLang="en-US"/>
            </a:p>
          </p:txBody>
        </p:sp>
        <p:sp>
          <p:nvSpPr>
            <p:cNvPr id="1049471" name="直接连接符 150577"/>
            <p:cNvSpPr/>
            <p:nvPr/>
          </p:nvSpPr>
          <p:spPr>
            <a:xfrm>
              <a:off x="3918" y="1768"/>
              <a:ext cx="275" cy="1"/>
            </a:xfrm>
            <a:prstGeom prst="line">
              <a:avLst/>
            </a:prstGeom>
            <a:noFill/>
            <a:ln w="12700" cap="sq" cmpd="sng">
              <a:solidFill>
                <a:schemeClr val="dk1">
                  <a:alpha val="100000"/>
                </a:schemeClr>
              </a:solidFill>
              <a:prstDash val="solid"/>
              <a:round/>
            </a:ln>
          </p:spPr>
          <p:txBody>
            <a:bodyPr/>
            <a:lstStyle/>
            <a:p>
              <a:endParaRPr lang="zh-CN" altLang="en-US"/>
            </a:p>
          </p:txBody>
        </p:sp>
        <p:sp>
          <p:nvSpPr>
            <p:cNvPr id="1049472" name="直接连接符 150578"/>
            <p:cNvSpPr/>
            <p:nvPr/>
          </p:nvSpPr>
          <p:spPr>
            <a:xfrm flipH="1">
              <a:off x="4154" y="1544"/>
              <a:ext cx="0" cy="224"/>
            </a:xfrm>
            <a:prstGeom prst="line">
              <a:avLst/>
            </a:prstGeom>
            <a:noFill/>
            <a:ln w="12700" cap="sq" cmpd="sng">
              <a:solidFill>
                <a:schemeClr val="dk1">
                  <a:alpha val="100000"/>
                </a:schemeClr>
              </a:solidFill>
              <a:prstDash val="solid"/>
              <a:round/>
            </a:ln>
          </p:spPr>
          <p:txBody>
            <a:bodyPr/>
            <a:lstStyle/>
            <a:p>
              <a:endParaRPr lang="zh-CN" altLang="en-US"/>
            </a:p>
          </p:txBody>
        </p:sp>
        <p:sp>
          <p:nvSpPr>
            <p:cNvPr id="1049473" name="文本框 150579"/>
            <p:cNvSpPr txBox="1"/>
            <p:nvPr/>
          </p:nvSpPr>
          <p:spPr>
            <a:xfrm>
              <a:off x="2972" y="2035"/>
              <a:ext cx="434" cy="193"/>
            </a:xfrm>
            <a:prstGeom prst="rect">
              <a:avLst/>
            </a:prstGeom>
            <a:noFill/>
            <a:ln>
              <a:noFill/>
            </a:ln>
          </p:spPr>
          <p:txBody>
            <a:bodyPr vert="horz" lIns="91440" tIns="45720" rIns="91440" bIns="4572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spcBef>
                  <a:spcPct val="50000"/>
                </a:spcBef>
              </a:pPr>
              <a:r>
                <a:rPr lang="en-US" altLang="zh-CN" sz="1400" b="1"/>
                <a:t>TFTP</a:t>
              </a:r>
            </a:p>
          </p:txBody>
        </p:sp>
        <p:sp>
          <p:nvSpPr>
            <p:cNvPr id="1049474" name="文本框 150580"/>
            <p:cNvSpPr txBox="1"/>
            <p:nvPr/>
          </p:nvSpPr>
          <p:spPr>
            <a:xfrm>
              <a:off x="3385" y="1986"/>
              <a:ext cx="446" cy="489"/>
            </a:xfrm>
            <a:prstGeom prst="rect">
              <a:avLst/>
            </a:prstGeom>
            <a:noFill/>
            <a:ln>
              <a:noFill/>
            </a:ln>
          </p:spPr>
          <p:txBody>
            <a:bodyPr vert="eaVert" lIns="91440" tIns="45720" rIns="91440" bIns="4572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r>
                <a:rPr lang="en-US" altLang="zh-CN" sz="1000" b="1">
                  <a:ea typeface="MingLiU" pitchFamily="49" charset="-120"/>
                </a:rPr>
                <a:t>BOOTP</a:t>
              </a:r>
            </a:p>
            <a:p>
              <a:pPr lvl="0" eaLnBrk="1" latinLnBrk="1" hangingPunct="1">
                <a:lnSpc>
                  <a:spcPct val="120000"/>
                </a:lnSpc>
              </a:pPr>
              <a:endParaRPr lang="en-US" altLang="zh-CN" sz="1000" b="1">
                <a:ea typeface="MingLiU" pitchFamily="49" charset="-120"/>
              </a:endParaRPr>
            </a:p>
            <a:p>
              <a:pPr lvl="0" eaLnBrk="1" latinLnBrk="1" hangingPunct="1"/>
              <a:r>
                <a:rPr lang="en-US" altLang="zh-CN" sz="1200" b="1">
                  <a:ea typeface="MingLiU" pitchFamily="49" charset="-120"/>
                </a:rPr>
                <a:t>DHCP</a:t>
              </a:r>
            </a:p>
          </p:txBody>
        </p:sp>
        <p:sp>
          <p:nvSpPr>
            <p:cNvPr id="1049475" name="文本框 150581"/>
            <p:cNvSpPr txBox="1"/>
            <p:nvPr/>
          </p:nvSpPr>
          <p:spPr>
            <a:xfrm>
              <a:off x="3878" y="2079"/>
              <a:ext cx="353" cy="192"/>
            </a:xfrm>
            <a:prstGeom prst="rect">
              <a:avLst/>
            </a:prstGeom>
            <a:noFill/>
            <a:ln>
              <a:noFill/>
            </a:ln>
          </p:spPr>
          <p:txBody>
            <a:bodyPr vert="horz" lIns="91440" tIns="45720" rIns="91440" bIns="4572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spcBef>
                  <a:spcPct val="50000"/>
                </a:spcBef>
              </a:pPr>
              <a:r>
                <a:rPr lang="en-US" altLang="zh-CN" sz="1400" b="1"/>
                <a:t>RPC</a:t>
              </a:r>
            </a:p>
          </p:txBody>
        </p:sp>
        <p:sp>
          <p:nvSpPr>
            <p:cNvPr id="1049476" name="文本框 150582"/>
            <p:cNvSpPr txBox="1"/>
            <p:nvPr/>
          </p:nvSpPr>
          <p:spPr>
            <a:xfrm>
              <a:off x="3878" y="1768"/>
              <a:ext cx="394" cy="194"/>
            </a:xfrm>
            <a:prstGeom prst="rect">
              <a:avLst/>
            </a:prstGeom>
            <a:noFill/>
            <a:ln>
              <a:noFill/>
            </a:ln>
          </p:spPr>
          <p:txBody>
            <a:bodyPr vert="horz" lIns="91440" tIns="45720" rIns="91440" bIns="4572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spcBef>
                  <a:spcPct val="50000"/>
                </a:spcBef>
              </a:pPr>
              <a:r>
                <a:rPr lang="en-US" altLang="zh-CN" sz="1400" b="1"/>
                <a:t>XDR</a:t>
              </a:r>
            </a:p>
          </p:txBody>
        </p:sp>
        <p:sp>
          <p:nvSpPr>
            <p:cNvPr id="1049477" name="文本框 150583"/>
            <p:cNvSpPr txBox="1"/>
            <p:nvPr/>
          </p:nvSpPr>
          <p:spPr>
            <a:xfrm>
              <a:off x="3878" y="1544"/>
              <a:ext cx="354" cy="192"/>
            </a:xfrm>
            <a:prstGeom prst="rect">
              <a:avLst/>
            </a:prstGeom>
            <a:noFill/>
            <a:ln>
              <a:noFill/>
            </a:ln>
          </p:spPr>
          <p:txBody>
            <a:bodyPr vert="horz" lIns="0" tIns="45720" rIns="0" bIns="4572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spcBef>
                  <a:spcPct val="50000"/>
                </a:spcBef>
              </a:pPr>
              <a:r>
                <a:rPr lang="en-US" altLang="zh-CN" sz="1400" b="1"/>
                <a:t>NFS</a:t>
              </a:r>
            </a:p>
          </p:txBody>
        </p:sp>
        <p:sp>
          <p:nvSpPr>
            <p:cNvPr id="1049478" name="上箭头 150584"/>
            <p:cNvSpPr/>
            <p:nvPr/>
          </p:nvSpPr>
          <p:spPr>
            <a:xfrm>
              <a:off x="2105" y="3374"/>
              <a:ext cx="158" cy="267"/>
            </a:xfrm>
            <a:prstGeom prst="upArrow">
              <a:avLst>
                <a:gd name="adj1" fmla="val 50000"/>
                <a:gd name="adj2" fmla="val 42231"/>
              </a:avLst>
            </a:prstGeom>
            <a:solidFill>
              <a:schemeClr val="accent1"/>
            </a:solidFill>
            <a:ln w="12700" cap="sq" cmpd="sng">
              <a:solidFill>
                <a:schemeClr val="dk1">
                  <a:alpha val="100000"/>
                </a:schemeClr>
              </a:solidFill>
              <a:prstDash val="solid"/>
              <a:round/>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endParaRPr lang="zh-CN" altLang="en-US"/>
            </a:p>
          </p:txBody>
        </p:sp>
        <p:sp>
          <p:nvSpPr>
            <p:cNvPr id="1049479" name="矩形 150585"/>
            <p:cNvSpPr/>
            <p:nvPr/>
          </p:nvSpPr>
          <p:spPr>
            <a:xfrm>
              <a:off x="175" y="1900"/>
              <a:ext cx="354" cy="135"/>
            </a:xfrm>
            <a:prstGeom prst="rect">
              <a:avLst/>
            </a:prstGeom>
            <a:noFill/>
            <a:ln w="12700" cap="sq" cmpd="sng">
              <a:solidFill>
                <a:schemeClr val="dk1">
                  <a:alpha val="100000"/>
                </a:schemeClr>
              </a:solidFill>
              <a:prstDash val="solid"/>
              <a:round/>
            </a:ln>
          </p:spPr>
          <p:txBody>
            <a:bodyPr vert="horz" wrap="none"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en-US" altLang="zh-CN" sz="1400" b="1"/>
                <a:t>ASN.1</a:t>
              </a:r>
            </a:p>
          </p:txBody>
        </p:sp>
        <p:sp>
          <p:nvSpPr>
            <p:cNvPr id="1049480" name="上箭头 150586"/>
            <p:cNvSpPr/>
            <p:nvPr/>
          </p:nvSpPr>
          <p:spPr>
            <a:xfrm>
              <a:off x="2066" y="1231"/>
              <a:ext cx="158" cy="178"/>
            </a:xfrm>
            <a:prstGeom prst="upArrow">
              <a:avLst>
                <a:gd name="adj1" fmla="val 50000"/>
                <a:gd name="adj2" fmla="val 28154"/>
              </a:avLst>
            </a:prstGeom>
            <a:solidFill>
              <a:schemeClr val="accent1"/>
            </a:solidFill>
            <a:ln w="12700" cap="sq" cmpd="sng">
              <a:solidFill>
                <a:schemeClr val="dk1">
                  <a:alpha val="100000"/>
                </a:schemeClr>
              </a:solidFill>
              <a:prstDash val="solid"/>
              <a:round/>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endParaRPr lang="zh-CN" altLang="en-US"/>
            </a:p>
          </p:txBody>
        </p:sp>
        <p:sp>
          <p:nvSpPr>
            <p:cNvPr id="1049481" name="文本框 150587"/>
            <p:cNvSpPr txBox="1"/>
            <p:nvPr/>
          </p:nvSpPr>
          <p:spPr>
            <a:xfrm>
              <a:off x="1987" y="1008"/>
              <a:ext cx="354" cy="194"/>
            </a:xfrm>
            <a:prstGeom prst="rect">
              <a:avLst/>
            </a:prstGeom>
            <a:noFill/>
            <a:ln>
              <a:noFill/>
            </a:ln>
          </p:spPr>
          <p:txBody>
            <a:bodyPr vert="horz" lIns="91440" tIns="45720" rIns="91440" bIns="4572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spcBef>
                  <a:spcPct val="50000"/>
                </a:spcBef>
              </a:pPr>
              <a:r>
                <a:rPr lang="zh-CN" altLang="en-US" sz="1400"/>
                <a:t>用户</a:t>
              </a:r>
            </a:p>
          </p:txBody>
        </p:sp>
        <p:sp>
          <p:nvSpPr>
            <p:cNvPr id="1049482" name="文本框 150588"/>
            <p:cNvSpPr txBox="1"/>
            <p:nvPr/>
          </p:nvSpPr>
          <p:spPr>
            <a:xfrm>
              <a:off x="1869" y="1491"/>
              <a:ext cx="788" cy="192"/>
            </a:xfrm>
            <a:prstGeom prst="rect">
              <a:avLst/>
            </a:prstGeom>
            <a:noFill/>
            <a:ln>
              <a:noFill/>
            </a:ln>
          </p:spPr>
          <p:txBody>
            <a:bodyPr vert="horz" lIns="91440" tIns="45720" rIns="91440" bIns="4572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spcBef>
                  <a:spcPct val="50000"/>
                </a:spcBef>
              </a:pPr>
              <a:r>
                <a:rPr lang="zh-CN" altLang="en-US" sz="1400"/>
                <a:t>应用程序</a:t>
              </a:r>
            </a:p>
          </p:txBody>
        </p:sp>
        <p:sp>
          <p:nvSpPr>
            <p:cNvPr id="1049483" name="矩形 150589"/>
            <p:cNvSpPr/>
            <p:nvPr/>
          </p:nvSpPr>
          <p:spPr>
            <a:xfrm>
              <a:off x="4193" y="2575"/>
              <a:ext cx="665" cy="261"/>
            </a:xfrm>
            <a:prstGeom prst="rect">
              <a:avLst/>
            </a:prstGeom>
            <a:solidFill>
              <a:schemeClr val="accent1"/>
            </a:solidFill>
            <a:ln w="9525" cap="flat" cmpd="sng">
              <a:solidFill>
                <a:schemeClr val="dk1">
                  <a:alpha val="100000"/>
                </a:schemeClr>
              </a:solidFill>
              <a:prstDash val="solid"/>
              <a:round/>
            </a:ln>
          </p:spPr>
          <p:txBody>
            <a:bodyPr vert="horz" wrap="none" lIns="91440" tIns="90000" rIns="91440" bIns="9000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en-US" altLang="zh-CN" sz="1400"/>
                <a:t>ICMP</a:t>
              </a:r>
            </a:p>
          </p:txBody>
        </p:sp>
        <p:sp>
          <p:nvSpPr>
            <p:cNvPr id="1049484" name="文本框 150590"/>
            <p:cNvSpPr txBox="1"/>
            <p:nvPr/>
          </p:nvSpPr>
          <p:spPr>
            <a:xfrm>
              <a:off x="5148" y="2573"/>
              <a:ext cx="336" cy="475"/>
            </a:xfrm>
            <a:prstGeom prst="rect">
              <a:avLst/>
            </a:prstGeom>
            <a:solidFill>
              <a:schemeClr val="accent1"/>
            </a:solidFill>
            <a:ln w="12700" cap="sq" cmpd="sng">
              <a:solidFill>
                <a:schemeClr val="dk1">
                  <a:alpha val="100000"/>
                </a:schemeClr>
              </a:solidFill>
              <a:prstDash val="solid"/>
              <a:round/>
            </a:ln>
          </p:spPr>
          <p:txBody>
            <a:bodyPr vert="horz" lIns="0" tIns="90000" rIns="0" bIns="11880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spcBef>
                  <a:spcPct val="50000"/>
                </a:spcBef>
              </a:pPr>
              <a:r>
                <a:rPr lang="en-US" altLang="zh-CN" sz="1400"/>
                <a:t> RARP</a:t>
              </a:r>
            </a:p>
            <a:p>
              <a:pPr lvl="0" eaLnBrk="1" latinLnBrk="1" hangingPunct="1">
                <a:spcBef>
                  <a:spcPct val="50000"/>
                </a:spcBef>
              </a:pPr>
              <a:endParaRPr lang="en-US" altLang="zh-CN" sz="1400"/>
            </a:p>
          </p:txBody>
        </p:sp>
        <p:sp>
          <p:nvSpPr>
            <p:cNvPr id="1049485" name="文本框 150591"/>
            <p:cNvSpPr txBox="1"/>
            <p:nvPr/>
          </p:nvSpPr>
          <p:spPr>
            <a:xfrm>
              <a:off x="4450" y="2304"/>
              <a:ext cx="408" cy="269"/>
            </a:xfrm>
            <a:prstGeom prst="rect">
              <a:avLst/>
            </a:prstGeom>
            <a:solidFill>
              <a:schemeClr val="accent1"/>
            </a:solidFill>
            <a:ln w="12700" cap="sq" cmpd="sng">
              <a:solidFill>
                <a:schemeClr val="dk1">
                  <a:alpha val="100000"/>
                </a:schemeClr>
              </a:solidFill>
              <a:prstDash val="solid"/>
              <a:round/>
            </a:ln>
          </p:spPr>
          <p:txBody>
            <a:bodyPr vert="horz" lIns="0" tIns="108000" rIns="0" bIns="9360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spcBef>
                  <a:spcPct val="50000"/>
                </a:spcBef>
              </a:pPr>
              <a:r>
                <a:rPr lang="en-US" altLang="zh-CN" sz="1400"/>
                <a:t>TraceRT</a:t>
              </a:r>
            </a:p>
          </p:txBody>
        </p:sp>
        <p:sp>
          <p:nvSpPr>
            <p:cNvPr id="1049486" name="直接连接符 150592"/>
            <p:cNvSpPr/>
            <p:nvPr/>
          </p:nvSpPr>
          <p:spPr>
            <a:xfrm flipV="1">
              <a:off x="4179" y="3375"/>
              <a:ext cx="1305" cy="1"/>
            </a:xfrm>
            <a:prstGeom prst="line">
              <a:avLst/>
            </a:prstGeom>
            <a:noFill/>
            <a:ln w="12700" cap="sq" cmpd="sng">
              <a:solidFill>
                <a:schemeClr val="dk1">
                  <a:alpha val="100000"/>
                </a:schemeClr>
              </a:solidFill>
              <a:prstDash val="solid"/>
              <a:round/>
            </a:ln>
          </p:spPr>
          <p:txBody>
            <a:bodyPr/>
            <a:lstStyle/>
            <a:p>
              <a:endParaRPr lang="zh-CN" altLang="en-US"/>
            </a:p>
          </p:txBody>
        </p:sp>
        <p:sp>
          <p:nvSpPr>
            <p:cNvPr id="1049487" name="直接连接符 150593"/>
            <p:cNvSpPr/>
            <p:nvPr/>
          </p:nvSpPr>
          <p:spPr>
            <a:xfrm>
              <a:off x="136" y="3051"/>
              <a:ext cx="5350" cy="1"/>
            </a:xfrm>
            <a:prstGeom prst="line">
              <a:avLst/>
            </a:prstGeom>
            <a:noFill/>
            <a:ln w="12700" cap="sq" cmpd="sng">
              <a:solidFill>
                <a:schemeClr val="dk1">
                  <a:alpha val="100000"/>
                </a:schemeClr>
              </a:solidFill>
              <a:prstDash val="solid"/>
              <a:round/>
            </a:ln>
          </p:spPr>
          <p:txBody>
            <a:bodyPr/>
            <a:lstStyle/>
            <a:p>
              <a:endParaRPr lang="zh-CN" altLang="en-US"/>
            </a:p>
          </p:txBody>
        </p:sp>
        <p:sp>
          <p:nvSpPr>
            <p:cNvPr id="1049488" name="直接连接符 150594"/>
            <p:cNvSpPr/>
            <p:nvPr/>
          </p:nvSpPr>
          <p:spPr>
            <a:xfrm flipH="1">
              <a:off x="3600" y="1992"/>
              <a:ext cx="0" cy="309"/>
            </a:xfrm>
            <a:prstGeom prst="line">
              <a:avLst/>
            </a:prstGeom>
            <a:noFill/>
            <a:ln w="12700" cap="sq" cmpd="sng">
              <a:solidFill>
                <a:schemeClr val="dk1">
                  <a:alpha val="100000"/>
                </a:schemeClr>
              </a:solidFill>
              <a:prstDash val="solid"/>
              <a:round/>
            </a:ln>
          </p:spPr>
          <p:txBody>
            <a:bodyPr/>
            <a:lstStyle/>
            <a:p>
              <a:endParaRPr lang="zh-CN" altLang="en-US"/>
            </a:p>
          </p:txBody>
        </p:sp>
      </p:grpSp>
      <p:sp>
        <p:nvSpPr>
          <p:cNvPr id="1049489" name="标题 4"/>
          <p:cNvSpPr>
            <a:spLocks noGrp="1"/>
          </p:cNvSpPr>
          <p:nvPr>
            <p:ph type="title"/>
          </p:nvPr>
        </p:nvSpPr>
        <p:spPr>
          <a:xfrm>
            <a:off x="31751" y="166688"/>
            <a:ext cx="10515600" cy="474663"/>
          </a:xfrm>
          <a:prstGeom prst="rect">
            <a:avLst/>
          </a:prstGeom>
          <a:noFill/>
          <a:ln>
            <a:noFill/>
          </a:ln>
        </p:spPr>
        <p:txBody>
          <a:bodyPr vert="horz" lIns="91440" tIns="45720" rIns="91440" bIns="45720" anchor="ctr">
            <a:normAutofit fontScale="90000"/>
          </a:bodyP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r>
              <a:rPr lang="en-US" altLang="zh-CN" dirty="0">
                <a:solidFill>
                  <a:schemeClr val="bg1"/>
                </a:solidFill>
              </a:rPr>
              <a:t>1.3  </a:t>
            </a:r>
            <a:r>
              <a:rPr lang="zh-CN" altLang="en-US" dirty="0">
                <a:solidFill>
                  <a:schemeClr val="bg1"/>
                </a:solidFill>
              </a:rPr>
              <a:t>网络通信体系结构</a:t>
            </a:r>
          </a:p>
        </p:txBody>
      </p:sp>
    </p:spTree>
  </p:cSld>
  <p:clrMapOvr>
    <a:masterClrMapping/>
  </p:clrMapOvr>
  <p:transition spd="slow">
    <p:zoom/>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493" name="矩形 151554"/>
          <p:cNvSpPr/>
          <p:nvPr/>
        </p:nvSpPr>
        <p:spPr>
          <a:xfrm>
            <a:off x="479376" y="970749"/>
            <a:ext cx="7921625" cy="649287"/>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r>
              <a:rPr lang="zh-CN" altLang="zh-CN" b="1" dirty="0">
                <a:solidFill>
                  <a:srgbClr val="003399"/>
                </a:solidFill>
                <a:effectLst>
                  <a:outerShdw blurRad="38100" dist="38100" dir="2700000" algn="tl">
                    <a:srgbClr val="C0C0C0"/>
                  </a:outerShdw>
                </a:effectLst>
                <a:ea typeface="黑体" pitchFamily="49" charset="-122"/>
              </a:rPr>
              <a:t> </a:t>
            </a:r>
            <a:r>
              <a:rPr lang="zh-CN" altLang="zh-CN" b="1" dirty="0">
                <a:solidFill>
                  <a:srgbClr val="003399"/>
                </a:solidFill>
                <a:ea typeface="黑体" pitchFamily="49" charset="-122"/>
              </a:rPr>
              <a:t>TCP/IP</a:t>
            </a:r>
            <a:r>
              <a:rPr lang="zh-CN" altLang="en-US" b="1" dirty="0">
                <a:solidFill>
                  <a:srgbClr val="003399"/>
                </a:solidFill>
                <a:ea typeface="黑体" pitchFamily="49" charset="-122"/>
              </a:rPr>
              <a:t>参考模型</a:t>
            </a:r>
          </a:p>
        </p:txBody>
      </p:sp>
      <p:sp>
        <p:nvSpPr>
          <p:cNvPr id="1049494" name="矩形 151555"/>
          <p:cNvSpPr/>
          <p:nvPr/>
        </p:nvSpPr>
        <p:spPr>
          <a:xfrm>
            <a:off x="2209800" y="5661025"/>
            <a:ext cx="7772400" cy="431800"/>
          </a:xfrm>
          <a:prstGeom prst="rect">
            <a:avLst/>
          </a:prstGeom>
          <a:noFill/>
          <a:ln>
            <a:noFill/>
          </a:ln>
        </p:spPr>
        <p:txBody>
          <a:bodyPr vert="horz" lIns="91440" tIns="45720" rIns="91440" bIns="45720" anchor="b"/>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latinLnBrk="1" hangingPunct="1"/>
            <a:r>
              <a:rPr lang="en-US" altLang="zh-CN" sz="2400" b="1">
                <a:solidFill>
                  <a:srgbClr val="003399"/>
                </a:solidFill>
                <a:ea typeface="黑体" pitchFamily="49" charset="-122"/>
              </a:rPr>
              <a:t>TCP/IP</a:t>
            </a:r>
            <a:r>
              <a:rPr lang="zh-CN" altLang="en-US" sz="2400" b="1">
                <a:solidFill>
                  <a:srgbClr val="003399"/>
                </a:solidFill>
                <a:ea typeface="黑体" pitchFamily="49" charset="-122"/>
              </a:rPr>
              <a:t>的沙漏模型</a:t>
            </a:r>
          </a:p>
        </p:txBody>
      </p:sp>
      <p:sp>
        <p:nvSpPr>
          <p:cNvPr id="1049495" name="标题 4"/>
          <p:cNvSpPr>
            <a:spLocks noGrp="1"/>
          </p:cNvSpPr>
          <p:nvPr>
            <p:ph type="title"/>
          </p:nvPr>
        </p:nvSpPr>
        <p:spPr>
          <a:xfrm>
            <a:off x="47328" y="184153"/>
            <a:ext cx="10515600" cy="565945"/>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r>
              <a:rPr lang="en-US" altLang="zh-CN" dirty="0">
                <a:solidFill>
                  <a:schemeClr val="bg1"/>
                </a:solidFill>
              </a:rPr>
              <a:t>1.3  </a:t>
            </a:r>
            <a:r>
              <a:rPr lang="zh-CN" altLang="en-US" dirty="0">
                <a:solidFill>
                  <a:schemeClr val="bg1"/>
                </a:solidFill>
              </a:rPr>
              <a:t>网络通信体系结构</a:t>
            </a:r>
          </a:p>
        </p:txBody>
      </p:sp>
      <p:graphicFrame>
        <p:nvGraphicFramePr>
          <p:cNvPr id="4194313" name="对象 4194312"/>
          <p:cNvGraphicFramePr>
            <a:graphicFrameLocks/>
          </p:cNvGraphicFramePr>
          <p:nvPr/>
        </p:nvGraphicFramePr>
        <p:xfrm>
          <a:off x="2971800" y="1893887"/>
          <a:ext cx="6477000" cy="3695700"/>
        </p:xfrm>
        <a:graphic>
          <a:graphicData uri="http://schemas.openxmlformats.org/presentationml/2006/ole">
            <mc:AlternateContent xmlns:mc="http://schemas.openxmlformats.org/markup-compatibility/2006">
              <mc:Choice xmlns:v="urn:schemas-microsoft-com:vml" Requires="v">
                <p:oleObj name="Visio" r:id="rId2" imgW="6477000" imgH="3695700" progId="Visio.Drawing.11">
                  <p:embed followColorScheme="full"/>
                </p:oleObj>
              </mc:Choice>
              <mc:Fallback>
                <p:oleObj name="Visio" r:id="rId2" imgW="6477000" imgH="3695700" progId="Visio.Drawing.11">
                  <p:embed followColorScheme="full"/>
                  <p:pic>
                    <p:nvPicPr>
                      <p:cNvPr id="2097192" name="Object 9"/>
                      <p:cNvPicPr>
                        <a:picLocks/>
                      </p:cNvPicPr>
                      <p:nvPr/>
                    </p:nvPicPr>
                    <p:blipFill>
                      <a:blip r:embed="rId3"/>
                      <a:srcRect/>
                      <a:stretch>
                        <a:fillRect/>
                      </a:stretch>
                    </p:blipFill>
                    <p:spPr>
                      <a:xfrm>
                        <a:off x="2971800" y="1893887"/>
                        <a:ext cx="6477000" cy="3695700"/>
                      </a:xfrm>
                      <a:prstGeom prst="rect">
                        <a:avLst/>
                      </a:prstGeom>
                      <a:noFill/>
                      <a:ln>
                        <a:noFill/>
                      </a:ln>
                    </p:spPr>
                  </p:pic>
                </p:oleObj>
              </mc:Fallback>
            </mc:AlternateContent>
          </a:graphicData>
        </a:graphic>
      </p:graphicFrame>
    </p:spTree>
  </p:cSld>
  <p:clrMapOvr>
    <a:masterClrMapping/>
  </p:clrMapOvr>
  <p:transition spd="slow">
    <p:zoom/>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94314" name="对象 4194313"/>
          <p:cNvGraphicFramePr>
            <a:graphicFrameLocks/>
          </p:cNvGraphicFramePr>
          <p:nvPr/>
        </p:nvGraphicFramePr>
        <p:xfrm>
          <a:off x="2819400" y="1990726"/>
          <a:ext cx="5867400" cy="3768725"/>
        </p:xfrm>
        <a:graphic>
          <a:graphicData uri="http://schemas.openxmlformats.org/presentationml/2006/ole">
            <mc:AlternateContent xmlns:mc="http://schemas.openxmlformats.org/markup-compatibility/2006">
              <mc:Choice xmlns:v="urn:schemas-microsoft-com:vml" Requires="v">
                <p:oleObj r:id="rId2" imgW="5867400" imgH="3768725" progId="Visio.Drawing.11">
                  <p:embed followColorScheme="full"/>
                </p:oleObj>
              </mc:Choice>
              <mc:Fallback>
                <p:oleObj r:id="rId2" imgW="5867400" imgH="3768725" progId="Visio.Drawing.11">
                  <p:embed followColorScheme="full"/>
                  <p:pic>
                    <p:nvPicPr>
                      <p:cNvPr id="2097193" name="对象 152577"/>
                      <p:cNvPicPr>
                        <a:picLocks/>
                      </p:cNvPicPr>
                      <p:nvPr/>
                    </p:nvPicPr>
                    <p:blipFill>
                      <a:blip r:embed="rId3"/>
                      <a:srcRect/>
                      <a:stretch>
                        <a:fillRect/>
                      </a:stretch>
                    </p:blipFill>
                    <p:spPr>
                      <a:xfrm>
                        <a:off x="2819400" y="1990726"/>
                        <a:ext cx="5867400" cy="3768725"/>
                      </a:xfrm>
                      <a:prstGeom prst="rect">
                        <a:avLst/>
                      </a:prstGeom>
                      <a:noFill/>
                      <a:ln>
                        <a:noFill/>
                      </a:ln>
                    </p:spPr>
                  </p:pic>
                </p:oleObj>
              </mc:Fallback>
            </mc:AlternateContent>
          </a:graphicData>
        </a:graphic>
      </p:graphicFrame>
      <p:sp>
        <p:nvSpPr>
          <p:cNvPr id="1049499" name="矩形 152578"/>
          <p:cNvSpPr/>
          <p:nvPr/>
        </p:nvSpPr>
        <p:spPr>
          <a:xfrm>
            <a:off x="3948113" y="5608637"/>
            <a:ext cx="3398837" cy="519112"/>
          </a:xfrm>
          <a:prstGeom prst="rect">
            <a:avLst/>
          </a:prstGeom>
          <a:noFill/>
          <a:ln>
            <a:noFill/>
          </a:ln>
        </p:spPr>
        <p:txBody>
          <a:bodyPr vert="horz" wrap="none" lIns="91440" tIns="45720" rIns="91440" bIns="45720" anchor="t">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a:r>
              <a:rPr lang="zh-CN" altLang="en-US" b="1">
                <a:solidFill>
                  <a:srgbClr val="003399"/>
                </a:solidFill>
                <a:ea typeface="黑体" pitchFamily="49" charset="-122"/>
              </a:rPr>
              <a:t>计算机网络实现模型</a:t>
            </a:r>
          </a:p>
        </p:txBody>
      </p:sp>
      <p:sp>
        <p:nvSpPr>
          <p:cNvPr id="1049500" name="矩形 152580"/>
          <p:cNvSpPr/>
          <p:nvPr/>
        </p:nvSpPr>
        <p:spPr>
          <a:xfrm>
            <a:off x="263352" y="908720"/>
            <a:ext cx="7921625" cy="649287"/>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latinLnBrk="1" hangingPunct="1"/>
            <a:r>
              <a:rPr lang="zh-CN" altLang="en-US" b="1" dirty="0">
                <a:solidFill>
                  <a:srgbClr val="003399"/>
                </a:solidFill>
                <a:ea typeface="黑体" pitchFamily="49" charset="-122"/>
              </a:rPr>
              <a:t>实现上，计算机网络参考模型可以表述为下图。</a:t>
            </a:r>
          </a:p>
        </p:txBody>
      </p:sp>
      <p:sp>
        <p:nvSpPr>
          <p:cNvPr id="1049501" name="标题 4"/>
          <p:cNvSpPr>
            <a:spLocks noGrp="1"/>
          </p:cNvSpPr>
          <p:nvPr>
            <p:ph type="title"/>
          </p:nvPr>
        </p:nvSpPr>
        <p:spPr>
          <a:xfrm>
            <a:off x="10956" y="154890"/>
            <a:ext cx="10515600" cy="495302"/>
          </a:xfrm>
          <a:prstGeom prst="rect">
            <a:avLst/>
          </a:prstGeom>
          <a:noFill/>
          <a:ln>
            <a:noFill/>
          </a:ln>
        </p:spPr>
        <p:txBody>
          <a:bodyPr vert="horz" lIns="91440" tIns="45720" rIns="91440" bIns="45720" anchor="ctr">
            <a:normAutofit fontScale="90000"/>
          </a:bodyP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a:r>
              <a:rPr lang="en-US" altLang="zh-CN" dirty="0">
                <a:solidFill>
                  <a:schemeClr val="bg1"/>
                </a:solidFill>
                <a:sym typeface="黑体" pitchFamily="49" charset="-122"/>
              </a:rPr>
              <a:t>1.3  </a:t>
            </a:r>
            <a:r>
              <a:rPr lang="zh-CN" altLang="en-US" dirty="0">
                <a:solidFill>
                  <a:schemeClr val="bg1"/>
                </a:solidFill>
                <a:sym typeface="黑体" pitchFamily="49" charset="-122"/>
              </a:rPr>
              <a:t>网络通信体系结构</a:t>
            </a:r>
          </a:p>
        </p:txBody>
      </p:sp>
    </p:spTree>
  </p:cSld>
  <p:clrMapOvr>
    <a:masterClrMapping/>
  </p:clrMapOvr>
  <p:transition spd="slow">
    <p:zoom/>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06" name="Rectangle 3"/>
          <p:cNvSpPr>
            <a:spLocks noGrp="1"/>
          </p:cNvSpPr>
          <p:nvPr>
            <p:ph idx="1"/>
          </p:nvPr>
        </p:nvSpPr>
        <p:spPr>
          <a:xfrm>
            <a:off x="407368" y="980728"/>
            <a:ext cx="10260632" cy="503584"/>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r>
              <a:rPr lang="en-US" altLang="zh-CN" b="0" dirty="0">
                <a:solidFill>
                  <a:srgbClr val="000099"/>
                </a:solidFill>
              </a:rPr>
              <a:t>TCP/IP</a:t>
            </a:r>
            <a:r>
              <a:rPr lang="zh-CN" altLang="en-US" b="0" dirty="0">
                <a:solidFill>
                  <a:srgbClr val="000099"/>
                </a:solidFill>
              </a:rPr>
              <a:t>系统结构与功能</a:t>
            </a:r>
          </a:p>
        </p:txBody>
      </p:sp>
      <p:sp>
        <p:nvSpPr>
          <p:cNvPr id="1049505" name="Rectangle 2"/>
          <p:cNvSpPr>
            <a:spLocks noGrp="1"/>
          </p:cNvSpPr>
          <p:nvPr>
            <p:ph type="title"/>
          </p:nvPr>
        </p:nvSpPr>
        <p:spPr>
          <a:xfrm>
            <a:off x="0" y="160335"/>
            <a:ext cx="10515600" cy="520702"/>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1.3  </a:t>
            </a:r>
            <a:r>
              <a:rPr lang="zh-CN" altLang="en-US" dirty="0">
                <a:solidFill>
                  <a:schemeClr val="bg1"/>
                </a:solidFill>
              </a:rPr>
              <a:t>网络通信体系结构</a:t>
            </a:r>
          </a:p>
        </p:txBody>
      </p:sp>
      <p:pic>
        <p:nvPicPr>
          <p:cNvPr id="2097194" name="Picture 4" descr="图01-07 TCP-IP体系结构模型4"/>
          <p:cNvPicPr>
            <a:picLocks/>
          </p:cNvPicPr>
          <p:nvPr/>
        </p:nvPicPr>
        <p:blipFill>
          <a:blip r:embed="rId5"/>
          <a:srcRect/>
          <a:stretch>
            <a:fillRect/>
          </a:stretch>
        </p:blipFill>
        <p:spPr>
          <a:xfrm>
            <a:off x="1879600" y="1901825"/>
            <a:ext cx="8788400" cy="3543300"/>
          </a:xfrm>
          <a:prstGeom prst="rect">
            <a:avLst/>
          </a:prstGeom>
          <a:noFill/>
          <a:ln>
            <a:noFill/>
          </a:ln>
        </p:spPr>
      </p:pic>
    </p:spTree>
  </p:cSld>
  <p:clrMapOvr>
    <a:masterClrMapping/>
  </p:clrMapOvr>
  <p:transition spd="slow">
    <p:zoom/>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11" name="Rectangle 3"/>
          <p:cNvSpPr>
            <a:spLocks noGrp="1"/>
          </p:cNvSpPr>
          <p:nvPr>
            <p:ph idx="1"/>
          </p:nvPr>
        </p:nvSpPr>
        <p:spPr>
          <a:xfrm>
            <a:off x="479376" y="980728"/>
            <a:ext cx="10515600" cy="4351338"/>
          </a:xfrm>
          <a:prstGeom prst="rect">
            <a:avLst/>
          </a:prstGeom>
          <a:noFill/>
          <a:ln>
            <a:noFill/>
          </a:ln>
        </p:spPr>
        <p:txBody>
          <a:bodyPr vert="horz" lIns="91440" tIns="45720" rIns="91440" bIns="45720" anchor="t">
            <a:normAutofit lnSpcReduction="10000"/>
          </a:bodyPr>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a:r>
              <a:rPr lang="en-US" altLang="zh-CN" b="0" dirty="0">
                <a:solidFill>
                  <a:schemeClr val="tx1"/>
                </a:solidFill>
              </a:rPr>
              <a:t>TCP/IP</a:t>
            </a:r>
            <a:r>
              <a:rPr lang="zh-CN" altLang="en-US" dirty="0">
                <a:solidFill>
                  <a:schemeClr val="tx1"/>
                </a:solidFill>
              </a:rPr>
              <a:t>网络体系结构的特点：</a:t>
            </a:r>
          </a:p>
          <a:p>
            <a:pPr lvl="0"/>
            <a:r>
              <a:rPr lang="zh-CN" altLang="en-US" dirty="0">
                <a:solidFill>
                  <a:schemeClr val="tx1"/>
                </a:solidFill>
              </a:rPr>
              <a:t>网络协议</a:t>
            </a:r>
          </a:p>
          <a:p>
            <a:pPr lvl="1"/>
            <a:r>
              <a:rPr lang="en-US" altLang="zh-CN" dirty="0">
                <a:solidFill>
                  <a:schemeClr val="tx1"/>
                </a:solidFill>
              </a:rPr>
              <a:t>TCP/IP</a:t>
            </a:r>
            <a:r>
              <a:rPr lang="zh-CN" altLang="en-US" dirty="0">
                <a:solidFill>
                  <a:schemeClr val="tx1"/>
                </a:solidFill>
              </a:rPr>
              <a:t>没有严格定义网络接口层的详细规范，而是选择</a:t>
            </a:r>
            <a:r>
              <a:rPr lang="en-US" altLang="zh-CN" dirty="0">
                <a:solidFill>
                  <a:schemeClr val="tx1"/>
                </a:solidFill>
              </a:rPr>
              <a:t>Ethernet</a:t>
            </a:r>
            <a:r>
              <a:rPr lang="zh-CN" altLang="en-US" dirty="0">
                <a:solidFill>
                  <a:schemeClr val="tx1"/>
                </a:solidFill>
              </a:rPr>
              <a:t>作为默认通信标准，这种看似不严格的方法，为</a:t>
            </a:r>
            <a:r>
              <a:rPr lang="en-US" altLang="zh-CN" dirty="0">
                <a:solidFill>
                  <a:schemeClr val="tx1"/>
                </a:solidFill>
              </a:rPr>
              <a:t>TCP/IP</a:t>
            </a:r>
            <a:r>
              <a:rPr lang="zh-CN" altLang="en-US" dirty="0">
                <a:solidFill>
                  <a:schemeClr val="tx1"/>
                </a:solidFill>
              </a:rPr>
              <a:t>适用其他网络形式提供了良好的基础。</a:t>
            </a:r>
          </a:p>
          <a:p>
            <a:pPr lvl="1"/>
            <a:endParaRPr lang="zh-CN" altLang="en-US" sz="3200" dirty="0">
              <a:solidFill>
                <a:schemeClr val="tx1"/>
              </a:solidFill>
            </a:endParaRPr>
          </a:p>
          <a:p>
            <a:pPr lvl="0"/>
            <a:r>
              <a:rPr lang="zh-CN" altLang="en-US" dirty="0">
                <a:solidFill>
                  <a:schemeClr val="tx1"/>
                </a:solidFill>
              </a:rPr>
              <a:t>软件与设备</a:t>
            </a:r>
          </a:p>
          <a:p>
            <a:pPr lvl="1"/>
            <a:r>
              <a:rPr lang="zh-CN" altLang="en-US" dirty="0">
                <a:solidFill>
                  <a:schemeClr val="tx1"/>
                </a:solidFill>
              </a:rPr>
              <a:t>应用层一般采用软件实现，这样具有功能的多样性，实现的灵活性；</a:t>
            </a:r>
          </a:p>
          <a:p>
            <a:pPr lvl="1"/>
            <a:r>
              <a:rPr lang="zh-CN" altLang="en-US" dirty="0">
                <a:solidFill>
                  <a:schemeClr val="tx1"/>
                </a:solidFill>
              </a:rPr>
              <a:t>其他层由硬件实现则提高了网络处理性能</a:t>
            </a:r>
          </a:p>
        </p:txBody>
      </p:sp>
      <p:sp>
        <p:nvSpPr>
          <p:cNvPr id="1049510" name="Rectangle 2"/>
          <p:cNvSpPr>
            <a:spLocks noGrp="1"/>
          </p:cNvSpPr>
          <p:nvPr>
            <p:ph type="title"/>
          </p:nvPr>
        </p:nvSpPr>
        <p:spPr>
          <a:xfrm>
            <a:off x="47328" y="130488"/>
            <a:ext cx="10515600" cy="565945"/>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1.3  </a:t>
            </a:r>
            <a:r>
              <a:rPr lang="zh-CN" altLang="en-US" dirty="0">
                <a:solidFill>
                  <a:schemeClr val="bg1"/>
                </a:solidFill>
              </a:rPr>
              <a:t>网络通信体系结构</a:t>
            </a:r>
          </a:p>
        </p:txBody>
      </p:sp>
    </p:spTree>
  </p:cSld>
  <p:clrMapOvr>
    <a:masterClrMapping/>
  </p:clrMapOvr>
  <p:transition spd="slow">
    <p:zoom/>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16" name="Rectangle 3"/>
          <p:cNvSpPr>
            <a:spLocks noGrp="1"/>
          </p:cNvSpPr>
          <p:nvPr>
            <p:ph idx="1"/>
          </p:nvPr>
        </p:nvSpPr>
        <p:spPr>
          <a:xfrm>
            <a:off x="623392" y="980728"/>
            <a:ext cx="10515600" cy="4351338"/>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r>
              <a:rPr lang="zh-CN" altLang="en-US" dirty="0">
                <a:solidFill>
                  <a:schemeClr val="tx1"/>
                </a:solidFill>
              </a:rPr>
              <a:t>网络寻址</a:t>
            </a:r>
          </a:p>
          <a:p>
            <a:pPr lvl="1"/>
            <a:r>
              <a:rPr lang="en-US" altLang="zh-CN" dirty="0" err="1">
                <a:solidFill>
                  <a:schemeClr val="tx1"/>
                </a:solidFill>
              </a:rPr>
              <a:t>应用层采用进程寻址</a:t>
            </a:r>
            <a:r>
              <a:rPr lang="en-US" altLang="zh-CN" dirty="0">
                <a:solidFill>
                  <a:schemeClr val="tx1"/>
                </a:solidFill>
              </a:rPr>
              <a:t>；</a:t>
            </a:r>
          </a:p>
          <a:p>
            <a:pPr lvl="1"/>
            <a:r>
              <a:rPr lang="en-US" altLang="zh-CN" dirty="0" err="1">
                <a:solidFill>
                  <a:schemeClr val="tx1"/>
                </a:solidFill>
              </a:rPr>
              <a:t>传输层采用端口号寻址</a:t>
            </a:r>
            <a:r>
              <a:rPr lang="en-US" altLang="zh-CN" dirty="0">
                <a:solidFill>
                  <a:schemeClr val="tx1"/>
                </a:solidFill>
              </a:rPr>
              <a:t>；</a:t>
            </a:r>
          </a:p>
          <a:p>
            <a:pPr lvl="1"/>
            <a:r>
              <a:rPr lang="en-US" altLang="zh-CN" dirty="0" err="1">
                <a:solidFill>
                  <a:schemeClr val="tx1"/>
                </a:solidFill>
              </a:rPr>
              <a:t>网络层采用IP</a:t>
            </a:r>
            <a:r>
              <a:rPr lang="zh-CN" altLang="en-US" dirty="0">
                <a:solidFill>
                  <a:schemeClr val="tx1"/>
                </a:solidFill>
              </a:rPr>
              <a:t>地址；</a:t>
            </a:r>
          </a:p>
          <a:p>
            <a:pPr lvl="1"/>
            <a:r>
              <a:rPr lang="zh-CN" altLang="en-US" dirty="0">
                <a:solidFill>
                  <a:schemeClr val="tx1"/>
                </a:solidFill>
              </a:rPr>
              <a:t>网络接口层采用</a:t>
            </a:r>
            <a:r>
              <a:rPr lang="en-US" altLang="zh-CN" dirty="0">
                <a:solidFill>
                  <a:schemeClr val="tx1"/>
                </a:solidFill>
              </a:rPr>
              <a:t>MAC</a:t>
            </a:r>
            <a:r>
              <a:rPr lang="zh-CN" altLang="en-US" dirty="0">
                <a:solidFill>
                  <a:schemeClr val="tx1"/>
                </a:solidFill>
              </a:rPr>
              <a:t>地址寻址</a:t>
            </a:r>
            <a:r>
              <a:rPr lang="en-US" altLang="zh-CN" dirty="0">
                <a:solidFill>
                  <a:schemeClr val="tx1"/>
                </a:solidFill>
              </a:rPr>
              <a:t>。</a:t>
            </a:r>
          </a:p>
          <a:p>
            <a:pPr lvl="1" eaLnBrk="1" latinLnBrk="1" hangingPunct="1"/>
            <a:endParaRPr lang="zh-CN" altLang="en-US" dirty="0">
              <a:solidFill>
                <a:schemeClr val="tx1"/>
              </a:solidFill>
            </a:endParaRPr>
          </a:p>
          <a:p>
            <a:pPr lvl="0" eaLnBrk="1" latinLnBrk="1" hangingPunct="1"/>
            <a:r>
              <a:rPr lang="zh-CN" altLang="en-US" dirty="0">
                <a:solidFill>
                  <a:schemeClr val="tx1"/>
                </a:solidFill>
              </a:rPr>
              <a:t>网络数据结构</a:t>
            </a:r>
          </a:p>
          <a:p>
            <a:pPr lvl="1"/>
            <a:r>
              <a:rPr lang="zh-CN" altLang="en-US" dirty="0">
                <a:solidFill>
                  <a:schemeClr val="tx1"/>
                </a:solidFill>
              </a:rPr>
              <a:t>各层数据包的格式不同，名称容易混淆。 </a:t>
            </a:r>
          </a:p>
        </p:txBody>
      </p:sp>
      <p:sp>
        <p:nvSpPr>
          <p:cNvPr id="1049515" name="Rectangle 2"/>
          <p:cNvSpPr>
            <a:spLocks noGrp="1"/>
          </p:cNvSpPr>
          <p:nvPr>
            <p:ph type="title"/>
          </p:nvPr>
        </p:nvSpPr>
        <p:spPr>
          <a:xfrm>
            <a:off x="47328" y="195596"/>
            <a:ext cx="10515600" cy="493937"/>
          </a:xfrm>
          <a:prstGeom prst="rect">
            <a:avLst/>
          </a:prstGeom>
          <a:noFill/>
          <a:ln>
            <a:noFill/>
          </a:ln>
        </p:spPr>
        <p:txBody>
          <a:bodyPr vert="horz" lIns="91440" tIns="45720" rIns="91440" bIns="45720" anchor="ctr">
            <a:normAutofit fontScale="90000"/>
          </a:bodyP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1.3  </a:t>
            </a:r>
            <a:r>
              <a:rPr lang="zh-CN" altLang="en-US" dirty="0">
                <a:solidFill>
                  <a:schemeClr val="bg1"/>
                </a:solidFill>
              </a:rPr>
              <a:t>网络通信体系结构</a:t>
            </a:r>
          </a:p>
        </p:txBody>
      </p:sp>
    </p:spTree>
  </p:cSld>
  <p:clrMapOvr>
    <a:masterClrMapping/>
  </p:clrMapOvr>
  <p:transition spd="slow">
    <p:zoom/>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21" name="Rectangle 3"/>
          <p:cNvSpPr>
            <a:spLocks noGrp="1"/>
          </p:cNvSpPr>
          <p:nvPr>
            <p:ph idx="1"/>
          </p:nvPr>
        </p:nvSpPr>
        <p:spPr>
          <a:xfrm>
            <a:off x="479376" y="980728"/>
            <a:ext cx="10515600" cy="4351338"/>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r>
              <a:rPr lang="zh-CN" altLang="en-US" dirty="0">
                <a:solidFill>
                  <a:schemeClr val="tx1"/>
                </a:solidFill>
              </a:rPr>
              <a:t>网络标准</a:t>
            </a:r>
          </a:p>
          <a:p>
            <a:pPr lvl="1" eaLnBrk="1" latinLnBrk="1" hangingPunct="1"/>
            <a:r>
              <a:rPr lang="en-US" altLang="zh-CN" dirty="0">
                <a:solidFill>
                  <a:schemeClr val="tx1"/>
                </a:solidFill>
              </a:rPr>
              <a:t>IEEE</a:t>
            </a:r>
            <a:r>
              <a:rPr lang="zh-CN" altLang="en-US" dirty="0">
                <a:solidFill>
                  <a:schemeClr val="tx1"/>
                </a:solidFill>
              </a:rPr>
              <a:t>主要定义了局域网的接口层规范；</a:t>
            </a:r>
          </a:p>
          <a:p>
            <a:pPr lvl="1" eaLnBrk="1" latinLnBrk="1" hangingPunct="1"/>
            <a:r>
              <a:rPr lang="en-US" altLang="zh-CN" dirty="0">
                <a:solidFill>
                  <a:schemeClr val="tx1"/>
                </a:solidFill>
              </a:rPr>
              <a:t>ITU-T</a:t>
            </a:r>
            <a:r>
              <a:rPr lang="zh-CN" altLang="en-US" dirty="0">
                <a:solidFill>
                  <a:schemeClr val="tx1"/>
                </a:solidFill>
              </a:rPr>
              <a:t>主要定义了广域网的接口层规范；</a:t>
            </a:r>
          </a:p>
          <a:p>
            <a:pPr lvl="1" eaLnBrk="1" latinLnBrk="1" hangingPunct="1"/>
            <a:r>
              <a:rPr lang="en-US" altLang="zh-CN" dirty="0">
                <a:solidFill>
                  <a:schemeClr val="tx1"/>
                </a:solidFill>
              </a:rPr>
              <a:t>IETF</a:t>
            </a:r>
            <a:r>
              <a:rPr lang="zh-CN" altLang="en-US" dirty="0">
                <a:solidFill>
                  <a:schemeClr val="tx1"/>
                </a:solidFill>
              </a:rPr>
              <a:t>定义了其他各层的网络规范。</a:t>
            </a:r>
          </a:p>
          <a:p>
            <a:pPr lvl="1" eaLnBrk="1" latinLnBrk="1" hangingPunct="1">
              <a:buFontTx/>
              <a:buNone/>
            </a:pPr>
            <a:endParaRPr lang="zh-CN" altLang="en-US" dirty="0">
              <a:solidFill>
                <a:schemeClr val="tx1"/>
              </a:solidFill>
            </a:endParaRPr>
          </a:p>
          <a:p>
            <a:pPr lvl="0" eaLnBrk="1" latinLnBrk="1" hangingPunct="1"/>
            <a:r>
              <a:rPr lang="zh-CN" altLang="en-US" dirty="0">
                <a:solidFill>
                  <a:schemeClr val="tx1"/>
                </a:solidFill>
              </a:rPr>
              <a:t>应用</a:t>
            </a:r>
          </a:p>
          <a:p>
            <a:pPr lvl="1" eaLnBrk="1" latinLnBrk="1" hangingPunct="1"/>
            <a:r>
              <a:rPr lang="zh-CN" altLang="en-US" dirty="0">
                <a:solidFill>
                  <a:schemeClr val="tx1"/>
                </a:solidFill>
              </a:rPr>
              <a:t>应用层面对用户和网络管理人员；</a:t>
            </a:r>
          </a:p>
          <a:p>
            <a:pPr lvl="1" eaLnBrk="1" latinLnBrk="1" hangingPunct="1"/>
            <a:r>
              <a:rPr lang="zh-CN" altLang="en-US" dirty="0">
                <a:solidFill>
                  <a:schemeClr val="tx1"/>
                </a:solidFill>
              </a:rPr>
              <a:t>其他层主要用于数据传输。</a:t>
            </a:r>
          </a:p>
        </p:txBody>
      </p:sp>
      <p:sp>
        <p:nvSpPr>
          <p:cNvPr id="1049520" name="Rectangle 2"/>
          <p:cNvSpPr>
            <a:spLocks noGrp="1"/>
          </p:cNvSpPr>
          <p:nvPr>
            <p:ph type="title"/>
          </p:nvPr>
        </p:nvSpPr>
        <p:spPr>
          <a:xfrm>
            <a:off x="26636" y="135129"/>
            <a:ext cx="10515600" cy="565945"/>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1.3  </a:t>
            </a:r>
            <a:r>
              <a:rPr lang="zh-CN" altLang="en-US" dirty="0">
                <a:solidFill>
                  <a:schemeClr val="bg1"/>
                </a:solidFill>
              </a:rPr>
              <a:t>网络通信体系结构</a:t>
            </a:r>
          </a:p>
        </p:txBody>
      </p:sp>
    </p:spTree>
  </p:cSld>
  <p:clrMapOvr>
    <a:masterClrMapping/>
  </p:clrMapOvr>
  <p:transition spd="slow">
    <p:zoom/>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26" name="Rectangle 3"/>
          <p:cNvSpPr>
            <a:spLocks noGrp="1"/>
          </p:cNvSpPr>
          <p:nvPr>
            <p:ph idx="1"/>
          </p:nvPr>
        </p:nvSpPr>
        <p:spPr>
          <a:xfrm>
            <a:off x="407368" y="980728"/>
            <a:ext cx="10515600" cy="4351338"/>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buFontTx/>
              <a:buNone/>
            </a:pPr>
            <a:r>
              <a:rPr lang="en-US" altLang="zh-CN" sz="3200" dirty="0">
                <a:solidFill>
                  <a:schemeClr val="tx1"/>
                </a:solidFill>
                <a:effectLst>
                  <a:outerShdw blurRad="38100" dist="38100" dir="2700000" algn="tl">
                    <a:srgbClr val="C0C0C0"/>
                  </a:outerShdw>
                </a:effectLst>
              </a:rPr>
              <a:t>1.3.3  </a:t>
            </a:r>
            <a:r>
              <a:rPr lang="zh-CN" altLang="en-US" sz="3200" dirty="0">
                <a:solidFill>
                  <a:schemeClr val="tx1"/>
                </a:solidFill>
                <a:effectLst>
                  <a:outerShdw blurRad="38100" dist="38100" dir="2700000" algn="tl">
                    <a:srgbClr val="C0C0C0"/>
                  </a:outerShdw>
                </a:effectLst>
              </a:rPr>
              <a:t>物联网体系结构</a:t>
            </a:r>
          </a:p>
          <a:p>
            <a:pPr lvl="0" eaLnBrk="1" latinLnBrk="1" hangingPunct="1">
              <a:buFontTx/>
              <a:buNone/>
            </a:pPr>
            <a:r>
              <a:rPr lang="en-US" altLang="zh-CN" dirty="0">
                <a:solidFill>
                  <a:schemeClr val="tx1"/>
                </a:solidFill>
              </a:rPr>
              <a:t>1.  </a:t>
            </a:r>
            <a:r>
              <a:rPr lang="zh-CN" altLang="en-US" dirty="0">
                <a:solidFill>
                  <a:schemeClr val="tx1"/>
                </a:solidFill>
              </a:rPr>
              <a:t>物联网的发展</a:t>
            </a:r>
          </a:p>
          <a:p>
            <a:pPr lvl="0" eaLnBrk="1" latinLnBrk="1" hangingPunct="1"/>
            <a:r>
              <a:rPr lang="en-US" altLang="zh-CN" b="0" dirty="0">
                <a:solidFill>
                  <a:schemeClr val="tx1"/>
                </a:solidFill>
              </a:rPr>
              <a:t>2005</a:t>
            </a:r>
            <a:r>
              <a:rPr lang="zh-CN" altLang="en-US" b="0" dirty="0">
                <a:solidFill>
                  <a:schemeClr val="tx1"/>
                </a:solidFill>
              </a:rPr>
              <a:t>年，</a:t>
            </a:r>
            <a:r>
              <a:rPr lang="en-US" altLang="zh-CN" b="0" dirty="0">
                <a:solidFill>
                  <a:schemeClr val="tx1"/>
                </a:solidFill>
              </a:rPr>
              <a:t>ITU</a:t>
            </a:r>
            <a:r>
              <a:rPr lang="zh-CN" altLang="en-US" b="0" dirty="0">
                <a:solidFill>
                  <a:schemeClr val="tx1"/>
                </a:solidFill>
              </a:rPr>
              <a:t>正式提出了</a:t>
            </a:r>
            <a:r>
              <a:rPr lang="en-US" altLang="zh-CN" b="0" dirty="0" err="1">
                <a:solidFill>
                  <a:schemeClr val="tx1"/>
                </a:solidFill>
                <a:effectLst>
                  <a:outerShdw blurRad="38100" dist="38100" dir="2700000" algn="tl">
                    <a:srgbClr val="C0C0C0"/>
                  </a:outerShdw>
                </a:effectLst>
              </a:rPr>
              <a:t>物联网（IOT</a:t>
            </a:r>
            <a:r>
              <a:rPr lang="zh-CN" altLang="en-US" b="0" dirty="0">
                <a:solidFill>
                  <a:schemeClr val="tx1"/>
                </a:solidFill>
                <a:effectLst>
                  <a:outerShdw blurRad="38100" dist="38100" dir="2700000" algn="tl">
                    <a:srgbClr val="C0C0C0"/>
                  </a:outerShdw>
                </a:effectLst>
              </a:rPr>
              <a:t>）</a:t>
            </a:r>
            <a:r>
              <a:rPr lang="zh-CN" altLang="en-US" b="0" dirty="0">
                <a:solidFill>
                  <a:schemeClr val="tx1"/>
                </a:solidFill>
              </a:rPr>
              <a:t>的概念</a:t>
            </a:r>
            <a:r>
              <a:rPr lang="en-US" altLang="zh-CN" b="0" dirty="0">
                <a:solidFill>
                  <a:schemeClr val="tx1"/>
                </a:solidFill>
              </a:rPr>
              <a:t>。</a:t>
            </a:r>
          </a:p>
          <a:p>
            <a:pPr lvl="0" eaLnBrk="1" latinLnBrk="1" hangingPunct="1"/>
            <a:endParaRPr lang="zh-CN" altLang="en-US" b="0" dirty="0">
              <a:solidFill>
                <a:schemeClr val="tx1"/>
              </a:solidFill>
            </a:endParaRPr>
          </a:p>
          <a:p>
            <a:pPr lvl="0" eaLnBrk="1" latinLnBrk="1" hangingPunct="1"/>
            <a:r>
              <a:rPr lang="en-US" altLang="zh-CN" b="0" dirty="0">
                <a:solidFill>
                  <a:schemeClr val="tx1"/>
                </a:solidFill>
              </a:rPr>
              <a:t>ITU</a:t>
            </a:r>
            <a:r>
              <a:rPr lang="zh-CN" altLang="en-US" b="0" dirty="0">
                <a:solidFill>
                  <a:schemeClr val="tx1"/>
                </a:solidFill>
              </a:rPr>
              <a:t>指出：无所不在的“物联网”时代即将来临，世界上所有物体，都可以通过互联网进行交换。</a:t>
            </a:r>
          </a:p>
          <a:p>
            <a:pPr lvl="0" eaLnBrk="1" latinLnBrk="1" hangingPunct="1"/>
            <a:endParaRPr lang="zh-CN" altLang="en-US" b="0" dirty="0">
              <a:solidFill>
                <a:schemeClr val="tx1"/>
              </a:solidFill>
            </a:endParaRPr>
          </a:p>
          <a:p>
            <a:pPr lvl="0" eaLnBrk="1" latinLnBrk="1" hangingPunct="1"/>
            <a:r>
              <a:rPr lang="en-US" altLang="zh-CN" b="0" dirty="0">
                <a:solidFill>
                  <a:schemeClr val="tx1"/>
                </a:solidFill>
                <a:effectLst>
                  <a:outerShdw blurRad="38100" dist="38100" dir="2700000" algn="tl">
                    <a:srgbClr val="C0C0C0"/>
                  </a:outerShdw>
                </a:effectLst>
              </a:rPr>
              <a:t>RFID</a:t>
            </a:r>
            <a:r>
              <a:rPr lang="zh-CN" altLang="en-US" sz="2000" b="0" dirty="0">
                <a:solidFill>
                  <a:schemeClr val="tx1"/>
                </a:solidFill>
              </a:rPr>
              <a:t>（射频识别）</a:t>
            </a:r>
            <a:r>
              <a:rPr lang="zh-CN" altLang="en-US" b="0" dirty="0">
                <a:solidFill>
                  <a:schemeClr val="tx1"/>
                </a:solidFill>
              </a:rPr>
              <a:t>技术、</a:t>
            </a:r>
            <a:r>
              <a:rPr lang="zh-CN" altLang="en-US" b="0" dirty="0">
                <a:solidFill>
                  <a:schemeClr val="tx1"/>
                </a:solidFill>
                <a:effectLst>
                  <a:outerShdw blurRad="38100" dist="38100" dir="2700000" algn="tl">
                    <a:srgbClr val="C0C0C0"/>
                  </a:outerShdw>
                </a:effectLst>
              </a:rPr>
              <a:t>传感器</a:t>
            </a:r>
            <a:r>
              <a:rPr lang="zh-CN" altLang="en-US" b="0" dirty="0">
                <a:solidFill>
                  <a:schemeClr val="tx1"/>
                </a:solidFill>
              </a:rPr>
              <a:t>技术、</a:t>
            </a:r>
            <a:r>
              <a:rPr lang="zh-CN" altLang="en-US" b="0" dirty="0">
                <a:solidFill>
                  <a:schemeClr val="tx1"/>
                </a:solidFill>
                <a:effectLst>
                  <a:outerShdw blurRad="38100" dist="38100" dir="2700000" algn="tl">
                    <a:srgbClr val="C0C0C0"/>
                  </a:outerShdw>
                </a:effectLst>
              </a:rPr>
              <a:t>纳米</a:t>
            </a:r>
            <a:r>
              <a:rPr lang="zh-CN" altLang="en-US" b="0" dirty="0">
                <a:solidFill>
                  <a:schemeClr val="tx1"/>
                </a:solidFill>
              </a:rPr>
              <a:t>技术、智能</a:t>
            </a:r>
            <a:r>
              <a:rPr lang="zh-CN" altLang="en-US" b="0" dirty="0">
                <a:solidFill>
                  <a:schemeClr val="tx1"/>
                </a:solidFill>
                <a:effectLst>
                  <a:outerShdw blurRad="38100" dist="38100" dir="2700000" algn="tl">
                    <a:srgbClr val="C0C0C0"/>
                  </a:outerShdw>
                </a:effectLst>
              </a:rPr>
              <a:t>嵌入</a:t>
            </a:r>
            <a:r>
              <a:rPr lang="zh-CN" altLang="en-US" b="0" dirty="0">
                <a:solidFill>
                  <a:schemeClr val="tx1"/>
                </a:solidFill>
              </a:rPr>
              <a:t>技术，将得到更加广泛的应用。</a:t>
            </a:r>
          </a:p>
        </p:txBody>
      </p:sp>
      <p:sp>
        <p:nvSpPr>
          <p:cNvPr id="1049525" name="Rectangle 2"/>
          <p:cNvSpPr>
            <a:spLocks noGrp="1"/>
          </p:cNvSpPr>
          <p:nvPr>
            <p:ph type="title"/>
          </p:nvPr>
        </p:nvSpPr>
        <p:spPr>
          <a:xfrm>
            <a:off x="47328" y="152400"/>
            <a:ext cx="10515600" cy="565945"/>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1.3  </a:t>
            </a:r>
            <a:r>
              <a:rPr lang="zh-CN" altLang="en-US" dirty="0">
                <a:solidFill>
                  <a:schemeClr val="bg1"/>
                </a:solidFill>
              </a:rPr>
              <a:t>网络通信体系结构</a:t>
            </a:r>
          </a:p>
        </p:txBody>
      </p:sp>
    </p:spTree>
  </p:cSld>
  <p:clrMapOvr>
    <a:masterClrMapping/>
  </p:clrMapOvr>
  <p:transition spd="slow">
    <p:zoom/>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31" name="Rectangle 3"/>
          <p:cNvSpPr>
            <a:spLocks noGrp="1"/>
          </p:cNvSpPr>
          <p:nvPr>
            <p:ph idx="1"/>
          </p:nvPr>
        </p:nvSpPr>
        <p:spPr>
          <a:xfrm>
            <a:off x="479376" y="980728"/>
            <a:ext cx="10515600" cy="4351338"/>
          </a:xfrm>
          <a:prstGeom prst="rect">
            <a:avLst/>
          </a:prstGeom>
          <a:noFill/>
          <a:ln>
            <a:noFill/>
          </a:ln>
        </p:spPr>
        <p:txBody>
          <a:bodyPr vert="horz" lIns="91440" tIns="45720" rIns="91440" bIns="45720" anchor="t">
            <a:normAutofit/>
          </a:bodyPr>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buFontTx/>
              <a:buNone/>
            </a:pPr>
            <a:r>
              <a:rPr lang="en-US" altLang="zh-CN" dirty="0">
                <a:solidFill>
                  <a:schemeClr val="tx1"/>
                </a:solidFill>
              </a:rPr>
              <a:t>2.  </a:t>
            </a:r>
            <a:r>
              <a:rPr lang="zh-CN" altLang="en-US" dirty="0">
                <a:solidFill>
                  <a:schemeClr val="tx1"/>
                </a:solidFill>
              </a:rPr>
              <a:t>物联网的应用前景</a:t>
            </a:r>
          </a:p>
          <a:p>
            <a:pPr lvl="0" eaLnBrk="1" latinLnBrk="1" hangingPunct="1"/>
            <a:r>
              <a:rPr lang="en-US" altLang="zh-CN" b="0" dirty="0">
                <a:solidFill>
                  <a:schemeClr val="tx1"/>
                </a:solidFill>
              </a:rPr>
              <a:t>IBM</a:t>
            </a:r>
            <a:r>
              <a:rPr lang="zh-CN" altLang="en-US" b="0" dirty="0">
                <a:solidFill>
                  <a:schemeClr val="tx1"/>
                </a:solidFill>
              </a:rPr>
              <a:t>公司认为：</a:t>
            </a:r>
          </a:p>
          <a:p>
            <a:pPr lvl="1" eaLnBrk="1" latinLnBrk="1" hangingPunct="1"/>
            <a:r>
              <a:rPr lang="en-US" altLang="zh-CN" dirty="0">
                <a:solidFill>
                  <a:schemeClr val="tx1"/>
                </a:solidFill>
              </a:rPr>
              <a:t>IT</a:t>
            </a:r>
            <a:r>
              <a:rPr lang="zh-CN" altLang="en-US" dirty="0">
                <a:solidFill>
                  <a:schemeClr val="tx1"/>
                </a:solidFill>
                <a:latin typeface="华文楷体" pitchFamily="2" charset="-122"/>
              </a:rPr>
              <a:t>产业下一阶段的任务是把新一代</a:t>
            </a:r>
            <a:r>
              <a:rPr lang="en-US" altLang="zh-CN" dirty="0">
                <a:solidFill>
                  <a:schemeClr val="tx1"/>
                </a:solidFill>
              </a:rPr>
              <a:t>IT</a:t>
            </a:r>
            <a:r>
              <a:rPr lang="zh-CN" altLang="en-US" dirty="0">
                <a:solidFill>
                  <a:schemeClr val="tx1"/>
                </a:solidFill>
                <a:latin typeface="华文楷体" pitchFamily="2" charset="-122"/>
              </a:rPr>
              <a:t>技术充分运用在各行各业之中。具体地说，就是把感应器嵌入和装备到电网、铁路、桥梁、隧道、公路、建筑、供水系统、大坝、油气管道等各种物体中，并且被普遍连接，形成物联网。</a:t>
            </a:r>
          </a:p>
          <a:p>
            <a:pPr lvl="1" eaLnBrk="1" latinLnBrk="1" hangingPunct="1"/>
            <a:endParaRPr lang="zh-CN" altLang="en-US" dirty="0">
              <a:solidFill>
                <a:schemeClr val="tx1"/>
              </a:solidFill>
              <a:latin typeface="华文楷体" pitchFamily="2" charset="-122"/>
            </a:endParaRPr>
          </a:p>
          <a:p>
            <a:pPr lvl="0" eaLnBrk="1" latinLnBrk="1" hangingPunct="1"/>
            <a:r>
              <a:rPr lang="zh-CN" altLang="en-US" b="0" dirty="0">
                <a:solidFill>
                  <a:schemeClr val="tx1"/>
                </a:solidFill>
              </a:rPr>
              <a:t>目前物联网已经形成大规模应用。</a:t>
            </a:r>
          </a:p>
        </p:txBody>
      </p:sp>
      <p:sp>
        <p:nvSpPr>
          <p:cNvPr id="1049530" name="Rectangle 2"/>
          <p:cNvSpPr>
            <a:spLocks noGrp="1"/>
          </p:cNvSpPr>
          <p:nvPr>
            <p:ph type="title"/>
          </p:nvPr>
        </p:nvSpPr>
        <p:spPr>
          <a:xfrm>
            <a:off x="47328" y="115092"/>
            <a:ext cx="10515600" cy="565945"/>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1.3  </a:t>
            </a:r>
            <a:r>
              <a:rPr lang="zh-CN" altLang="en-US" dirty="0">
                <a:solidFill>
                  <a:schemeClr val="bg1"/>
                </a:solidFill>
              </a:rPr>
              <a:t>网络通信体系结构</a:t>
            </a:r>
          </a:p>
        </p:txBody>
      </p:sp>
    </p:spTree>
  </p:cSld>
  <p:clrMapOvr>
    <a:masterClrMapping/>
  </p:clrMapOvr>
  <p:transition spd="slow">
    <p:zoom/>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36" name="Rectangle 3"/>
          <p:cNvSpPr>
            <a:spLocks noGrp="1"/>
          </p:cNvSpPr>
          <p:nvPr>
            <p:ph idx="1"/>
          </p:nvPr>
        </p:nvSpPr>
        <p:spPr>
          <a:xfrm>
            <a:off x="407368" y="980728"/>
            <a:ext cx="10515600" cy="4351338"/>
          </a:xfrm>
          <a:prstGeom prst="rect">
            <a:avLst/>
          </a:prstGeom>
          <a:noFill/>
          <a:ln>
            <a:noFill/>
          </a:ln>
        </p:spPr>
        <p:txBody>
          <a:bodyPr vert="horz" lIns="91440" tIns="45720" rIns="91440" bIns="45720" anchor="t">
            <a:normAutofit lnSpcReduction="10000"/>
          </a:bodyPr>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buFontTx/>
              <a:buNone/>
            </a:pPr>
            <a:r>
              <a:rPr lang="en-US" altLang="zh-CN" dirty="0">
                <a:solidFill>
                  <a:schemeClr val="tx1"/>
                </a:solidFill>
              </a:rPr>
              <a:t>3.  </a:t>
            </a:r>
            <a:r>
              <a:rPr lang="zh-CN" altLang="en-US" dirty="0">
                <a:solidFill>
                  <a:schemeClr val="tx1"/>
                </a:solidFill>
              </a:rPr>
              <a:t>物联网的定义</a:t>
            </a:r>
          </a:p>
          <a:p>
            <a:pPr lvl="0" eaLnBrk="1" latinLnBrk="1" hangingPunct="1"/>
            <a:r>
              <a:rPr lang="en-US" altLang="zh-CN" b="0" dirty="0">
                <a:solidFill>
                  <a:schemeClr val="tx1"/>
                </a:solidFill>
              </a:rPr>
              <a:t>早期（1999</a:t>
            </a:r>
            <a:r>
              <a:rPr lang="zh-CN" altLang="en-US" b="0" dirty="0">
                <a:solidFill>
                  <a:schemeClr val="tx1"/>
                </a:solidFill>
              </a:rPr>
              <a:t>年）物联网的定义：</a:t>
            </a:r>
          </a:p>
          <a:p>
            <a:pPr lvl="1" eaLnBrk="1" latinLnBrk="1" hangingPunct="1"/>
            <a:r>
              <a:rPr lang="en-US" altLang="zh-CN" dirty="0" err="1">
                <a:solidFill>
                  <a:schemeClr val="tx1"/>
                </a:solidFill>
                <a:effectLst>
                  <a:outerShdw blurRad="38100" dist="38100" dir="2700000" algn="tl">
                    <a:srgbClr val="C0C0C0"/>
                  </a:outerShdw>
                </a:effectLst>
              </a:rPr>
              <a:t>将物品通过射频识别信息、传感设备与互联网连接起来，实现物品的智能化识别和管理</a:t>
            </a:r>
            <a:r>
              <a:rPr lang="en-US" altLang="zh-CN" dirty="0">
                <a:solidFill>
                  <a:schemeClr val="tx1"/>
                </a:solidFill>
                <a:effectLst>
                  <a:outerShdw blurRad="38100" dist="38100" dir="2700000" algn="tl">
                    <a:srgbClr val="C0C0C0"/>
                  </a:outerShdw>
                </a:effectLst>
              </a:rPr>
              <a:t>。</a:t>
            </a:r>
          </a:p>
          <a:p>
            <a:pPr lvl="1" eaLnBrk="1" latinLnBrk="1" hangingPunct="1"/>
            <a:endParaRPr lang="zh-CN" altLang="en-US" dirty="0">
              <a:solidFill>
                <a:schemeClr val="tx1"/>
              </a:solidFill>
              <a:effectLst>
                <a:outerShdw blurRad="38100" dist="38100" dir="2700000" algn="tl">
                  <a:srgbClr val="C0C0C0"/>
                </a:outerShdw>
              </a:effectLst>
            </a:endParaRPr>
          </a:p>
          <a:p>
            <a:pPr lvl="0" eaLnBrk="1" latinLnBrk="1" hangingPunct="1"/>
            <a:r>
              <a:rPr lang="zh-CN" altLang="en-US" b="0" dirty="0">
                <a:solidFill>
                  <a:schemeClr val="tx1"/>
                </a:solidFill>
              </a:rPr>
              <a:t>物联网的三个基本特征：</a:t>
            </a:r>
          </a:p>
          <a:p>
            <a:pPr lvl="1" eaLnBrk="1" latinLnBrk="1" hangingPunct="1"/>
            <a:r>
              <a:rPr lang="zh-CN" altLang="en-US" dirty="0">
                <a:solidFill>
                  <a:schemeClr val="tx1"/>
                </a:solidFill>
                <a:effectLst>
                  <a:outerShdw blurRad="38100" dist="38100" dir="2700000" algn="tl">
                    <a:srgbClr val="C0C0C0"/>
                  </a:outerShdw>
                </a:effectLst>
                <a:ea typeface="黑体" pitchFamily="49" charset="-122"/>
              </a:rPr>
              <a:t>互联网</a:t>
            </a:r>
            <a:r>
              <a:rPr lang="zh-CN" altLang="en-US" dirty="0">
                <a:solidFill>
                  <a:schemeClr val="tx1"/>
                </a:solidFill>
              </a:rPr>
              <a:t>特征，联网的物品能够实现互联互通。</a:t>
            </a:r>
          </a:p>
          <a:p>
            <a:pPr lvl="1" eaLnBrk="1" latinLnBrk="1" hangingPunct="1"/>
            <a:r>
              <a:rPr lang="zh-CN" altLang="en-US" dirty="0">
                <a:solidFill>
                  <a:schemeClr val="tx1"/>
                </a:solidFill>
                <a:effectLst>
                  <a:outerShdw blurRad="38100" dist="38100" dir="2700000" algn="tl">
                    <a:srgbClr val="C0C0C0"/>
                  </a:outerShdw>
                </a:effectLst>
                <a:ea typeface="黑体" pitchFamily="49" charset="-122"/>
              </a:rPr>
              <a:t>识别与通信</a:t>
            </a:r>
            <a:r>
              <a:rPr lang="zh-CN" altLang="en-US" dirty="0">
                <a:solidFill>
                  <a:schemeClr val="tx1"/>
                </a:solidFill>
              </a:rPr>
              <a:t>特征， “物体”具备自动识别与物物通信功能。</a:t>
            </a:r>
          </a:p>
          <a:p>
            <a:pPr lvl="1" eaLnBrk="1" latinLnBrk="1" hangingPunct="1"/>
            <a:r>
              <a:rPr lang="zh-CN" altLang="en-US" dirty="0">
                <a:solidFill>
                  <a:schemeClr val="tx1"/>
                </a:solidFill>
                <a:effectLst>
                  <a:outerShdw blurRad="38100" dist="38100" dir="2700000" algn="tl">
                    <a:srgbClr val="C0C0C0"/>
                  </a:outerShdw>
                </a:effectLst>
                <a:ea typeface="黑体" pitchFamily="49" charset="-122"/>
              </a:rPr>
              <a:t>智能化</a:t>
            </a:r>
            <a:r>
              <a:rPr lang="zh-CN" altLang="en-US" dirty="0">
                <a:solidFill>
                  <a:schemeClr val="tx1"/>
                </a:solidFill>
              </a:rPr>
              <a:t>特征，网络系统具有自动化，自我反馈与智能控制的特点。</a:t>
            </a:r>
          </a:p>
        </p:txBody>
      </p:sp>
      <p:sp>
        <p:nvSpPr>
          <p:cNvPr id="1049535" name="Rectangle 2"/>
          <p:cNvSpPr>
            <a:spLocks noGrp="1"/>
          </p:cNvSpPr>
          <p:nvPr>
            <p:ph type="title"/>
          </p:nvPr>
        </p:nvSpPr>
        <p:spPr>
          <a:xfrm>
            <a:off x="0" y="187100"/>
            <a:ext cx="10515600" cy="493937"/>
          </a:xfrm>
          <a:prstGeom prst="rect">
            <a:avLst/>
          </a:prstGeom>
          <a:noFill/>
          <a:ln>
            <a:noFill/>
          </a:ln>
        </p:spPr>
        <p:txBody>
          <a:bodyPr vert="horz" lIns="91440" tIns="45720" rIns="91440" bIns="45720" anchor="ctr">
            <a:normAutofit fontScale="90000"/>
          </a:bodyP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1.3  </a:t>
            </a:r>
            <a:r>
              <a:rPr lang="zh-CN" altLang="en-US" dirty="0">
                <a:solidFill>
                  <a:schemeClr val="bg1"/>
                </a:solidFill>
              </a:rPr>
              <a:t>网络通信体系结构</a:t>
            </a:r>
          </a:p>
        </p:txBody>
      </p:sp>
    </p:spTree>
  </p:cSld>
  <p:clrMapOvr>
    <a:masterClrMapping/>
  </p:clrMapOvr>
  <p:transition spd="slow">
    <p:zoom/>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41" name="Rectangle 3"/>
          <p:cNvSpPr>
            <a:spLocks noGrp="1"/>
          </p:cNvSpPr>
          <p:nvPr>
            <p:ph idx="1"/>
          </p:nvPr>
        </p:nvSpPr>
        <p:spPr>
          <a:xfrm>
            <a:off x="407368" y="836712"/>
            <a:ext cx="10515600" cy="4351338"/>
          </a:xfrm>
          <a:prstGeom prst="rect">
            <a:avLst/>
          </a:prstGeom>
          <a:noFill/>
          <a:ln>
            <a:noFill/>
          </a:ln>
        </p:spPr>
        <p:txBody>
          <a:bodyPr vert="horz" lIns="91440" tIns="45720" rIns="91440" bIns="45720" anchor="t">
            <a:normAutofit lnSpcReduction="10000"/>
          </a:bodyPr>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r>
              <a:rPr lang="zh-CN" altLang="en-US" b="0" dirty="0">
                <a:solidFill>
                  <a:schemeClr val="tx1"/>
                </a:solidFill>
              </a:rPr>
              <a:t>物联网中的“物”要满足以下条件：</a:t>
            </a:r>
          </a:p>
          <a:p>
            <a:pPr lvl="1" eaLnBrk="1" latinLnBrk="1" hangingPunct="1"/>
            <a:r>
              <a:rPr lang="en-US" altLang="zh-CN" dirty="0" err="1">
                <a:solidFill>
                  <a:schemeClr val="tx1"/>
                </a:solidFill>
              </a:rPr>
              <a:t>有相应信息的接收器</a:t>
            </a:r>
            <a:r>
              <a:rPr lang="en-US" altLang="zh-CN" dirty="0">
                <a:solidFill>
                  <a:schemeClr val="tx1"/>
                </a:solidFill>
              </a:rPr>
              <a:t>；</a:t>
            </a:r>
          </a:p>
          <a:p>
            <a:pPr lvl="1" eaLnBrk="1" latinLnBrk="1" hangingPunct="1"/>
            <a:r>
              <a:rPr lang="en-US" altLang="zh-CN" dirty="0" err="1">
                <a:solidFill>
                  <a:schemeClr val="tx1"/>
                </a:solidFill>
              </a:rPr>
              <a:t>有数据传输通路</a:t>
            </a:r>
            <a:r>
              <a:rPr lang="en-US" altLang="zh-CN" dirty="0">
                <a:solidFill>
                  <a:schemeClr val="tx1"/>
                </a:solidFill>
              </a:rPr>
              <a:t>；</a:t>
            </a:r>
          </a:p>
          <a:p>
            <a:pPr lvl="1" eaLnBrk="1" latinLnBrk="1" hangingPunct="1"/>
            <a:r>
              <a:rPr lang="en-US" altLang="zh-CN" dirty="0" err="1">
                <a:solidFill>
                  <a:schemeClr val="tx1"/>
                </a:solidFill>
              </a:rPr>
              <a:t>有一定的存储功能</a:t>
            </a:r>
            <a:r>
              <a:rPr lang="en-US" altLang="zh-CN" dirty="0">
                <a:solidFill>
                  <a:schemeClr val="tx1"/>
                </a:solidFill>
              </a:rPr>
              <a:t>；</a:t>
            </a:r>
          </a:p>
          <a:p>
            <a:pPr lvl="1" eaLnBrk="1" latinLnBrk="1" hangingPunct="1"/>
            <a:r>
              <a:rPr lang="en-US" altLang="zh-CN" dirty="0" err="1">
                <a:solidFill>
                  <a:schemeClr val="tx1"/>
                </a:solidFill>
              </a:rPr>
              <a:t>有专门的应用程序</a:t>
            </a:r>
            <a:r>
              <a:rPr lang="en-US" altLang="zh-CN" dirty="0">
                <a:solidFill>
                  <a:schemeClr val="tx1"/>
                </a:solidFill>
              </a:rPr>
              <a:t>；</a:t>
            </a:r>
          </a:p>
          <a:p>
            <a:pPr lvl="1" eaLnBrk="1" latinLnBrk="1" hangingPunct="1"/>
            <a:r>
              <a:rPr lang="en-US" altLang="zh-CN" dirty="0" err="1">
                <a:solidFill>
                  <a:schemeClr val="tx1"/>
                </a:solidFill>
              </a:rPr>
              <a:t>有数据发送器</a:t>
            </a:r>
            <a:r>
              <a:rPr lang="en-US" altLang="zh-CN" dirty="0">
                <a:solidFill>
                  <a:schemeClr val="tx1"/>
                </a:solidFill>
              </a:rPr>
              <a:t>；</a:t>
            </a:r>
          </a:p>
          <a:p>
            <a:pPr lvl="1" eaLnBrk="1" latinLnBrk="1" hangingPunct="1"/>
            <a:r>
              <a:rPr lang="en-US" altLang="zh-CN" dirty="0" err="1">
                <a:solidFill>
                  <a:schemeClr val="tx1"/>
                </a:solidFill>
              </a:rPr>
              <a:t>遵循物联网的通信协议</a:t>
            </a:r>
            <a:r>
              <a:rPr lang="en-US" altLang="zh-CN" dirty="0">
                <a:solidFill>
                  <a:schemeClr val="tx1"/>
                </a:solidFill>
              </a:rPr>
              <a:t>；</a:t>
            </a:r>
          </a:p>
          <a:p>
            <a:pPr lvl="1" eaLnBrk="1" latinLnBrk="1" hangingPunct="1"/>
            <a:r>
              <a:rPr lang="en-US" altLang="zh-CN" dirty="0" err="1">
                <a:solidFill>
                  <a:schemeClr val="tx1"/>
                </a:solidFill>
              </a:rPr>
              <a:t>在网络中有被识别的唯一编码等</a:t>
            </a:r>
            <a:r>
              <a:rPr lang="en-US" altLang="zh-CN" dirty="0">
                <a:solidFill>
                  <a:schemeClr val="tx1"/>
                </a:solidFill>
              </a:rPr>
              <a:t>。</a:t>
            </a:r>
          </a:p>
          <a:p>
            <a:pPr lvl="1" eaLnBrk="1" latinLnBrk="1" hangingPunct="1"/>
            <a:endParaRPr lang="zh-CN" altLang="en-US" dirty="0">
              <a:solidFill>
                <a:schemeClr val="tx1"/>
              </a:solidFill>
            </a:endParaRPr>
          </a:p>
          <a:p>
            <a:pPr lvl="0" eaLnBrk="1" latinLnBrk="1" hangingPunct="1"/>
            <a:r>
              <a:rPr lang="zh-CN" altLang="en-US" b="0" dirty="0">
                <a:solidFill>
                  <a:schemeClr val="tx1"/>
                </a:solidFill>
                <a:effectLst>
                  <a:outerShdw blurRad="38100" dist="38100" dir="2700000" algn="tl">
                    <a:srgbClr val="C0C0C0"/>
                  </a:outerShdw>
                </a:effectLst>
              </a:rPr>
              <a:t>物联网就是物物相连的互联网。</a:t>
            </a:r>
          </a:p>
        </p:txBody>
      </p:sp>
      <p:sp>
        <p:nvSpPr>
          <p:cNvPr id="1049540" name="Rectangle 2"/>
          <p:cNvSpPr>
            <a:spLocks noGrp="1"/>
          </p:cNvSpPr>
          <p:nvPr>
            <p:ph type="title"/>
          </p:nvPr>
        </p:nvSpPr>
        <p:spPr>
          <a:xfrm>
            <a:off x="47328" y="214163"/>
            <a:ext cx="10515600" cy="493937"/>
          </a:xfrm>
          <a:prstGeom prst="rect">
            <a:avLst/>
          </a:prstGeom>
          <a:noFill/>
          <a:ln>
            <a:noFill/>
          </a:ln>
        </p:spPr>
        <p:txBody>
          <a:bodyPr vert="horz" lIns="91440" tIns="45720" rIns="91440" bIns="45720" anchor="ctr">
            <a:normAutofit fontScale="90000"/>
          </a:bodyP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1.3  </a:t>
            </a:r>
            <a:r>
              <a:rPr lang="zh-CN" altLang="en-US" dirty="0">
                <a:solidFill>
                  <a:schemeClr val="bg1"/>
                </a:solidFill>
              </a:rPr>
              <a:t>网络通信体系结构</a:t>
            </a:r>
          </a:p>
        </p:txBody>
      </p:sp>
    </p:spTree>
  </p:cSld>
  <p:clrMapOvr>
    <a:masterClrMapping/>
  </p:clrMapOvr>
  <p:transition spd="slow">
    <p:zoom/>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46" name="Rectangle 3"/>
          <p:cNvSpPr>
            <a:spLocks noGrp="1"/>
          </p:cNvSpPr>
          <p:nvPr>
            <p:ph idx="1"/>
          </p:nvPr>
        </p:nvSpPr>
        <p:spPr>
          <a:xfrm>
            <a:off x="407368" y="932656"/>
            <a:ext cx="5976664" cy="2928392"/>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marL="514350" indent="-514350">
              <a:buFontTx/>
              <a:buAutoNum type="arabicPeriod" startAt="4"/>
            </a:pPr>
            <a:r>
              <a:rPr lang="zh-CN" altLang="en-US" dirty="0">
                <a:solidFill>
                  <a:srgbClr val="000099"/>
                </a:solidFill>
              </a:rPr>
              <a:t>物联网总体结构</a:t>
            </a:r>
          </a:p>
          <a:p>
            <a:pPr marL="514350" indent="-514350">
              <a:buNone/>
            </a:pPr>
            <a:endParaRPr lang="zh-CN" altLang="en-US" dirty="0">
              <a:solidFill>
                <a:srgbClr val="000099"/>
              </a:solidFill>
            </a:endParaRPr>
          </a:p>
          <a:p>
            <a:pPr marL="514350" indent="-514350"/>
            <a:r>
              <a:rPr lang="en-US" altLang="zh-CN" b="0" dirty="0">
                <a:solidFill>
                  <a:srgbClr val="000099"/>
                </a:solidFill>
              </a:rPr>
              <a:t>物联网整体结构可以分为3</a:t>
            </a:r>
            <a:r>
              <a:rPr lang="zh-CN" altLang="en-US" b="0" dirty="0">
                <a:solidFill>
                  <a:srgbClr val="000099"/>
                </a:solidFill>
              </a:rPr>
              <a:t>个层次</a:t>
            </a:r>
            <a:r>
              <a:rPr lang="zh-CN" altLang="en-US" b="0" dirty="0"/>
              <a:t>：</a:t>
            </a:r>
          </a:p>
          <a:p>
            <a:pPr lvl="1" eaLnBrk="1" latinLnBrk="1" hangingPunct="1"/>
            <a:r>
              <a:rPr lang="zh-CN" altLang="en-US" dirty="0">
                <a:solidFill>
                  <a:srgbClr val="FF0000"/>
                </a:solidFill>
                <a:effectLst>
                  <a:outerShdw blurRad="38100" dist="38100" dir="2700000" algn="tl">
                    <a:srgbClr val="C0C0C0"/>
                  </a:outerShdw>
                </a:effectLst>
                <a:ea typeface="黑体" pitchFamily="49" charset="-122"/>
              </a:rPr>
              <a:t>感知层；</a:t>
            </a:r>
          </a:p>
          <a:p>
            <a:pPr lvl="1" eaLnBrk="1" latinLnBrk="1" hangingPunct="1"/>
            <a:r>
              <a:rPr lang="zh-CN" altLang="en-US" dirty="0">
                <a:solidFill>
                  <a:srgbClr val="FF0000"/>
                </a:solidFill>
                <a:effectLst>
                  <a:outerShdw blurRad="38100" dist="38100" dir="2700000" algn="tl">
                    <a:srgbClr val="C0C0C0"/>
                  </a:outerShdw>
                </a:effectLst>
                <a:ea typeface="黑体" pitchFamily="49" charset="-122"/>
              </a:rPr>
              <a:t>传送层；</a:t>
            </a:r>
          </a:p>
          <a:p>
            <a:pPr lvl="1" eaLnBrk="1" latinLnBrk="1" hangingPunct="1"/>
            <a:r>
              <a:rPr lang="zh-CN" altLang="en-US" dirty="0">
                <a:solidFill>
                  <a:srgbClr val="FF0000"/>
                </a:solidFill>
                <a:effectLst>
                  <a:outerShdw blurRad="38100" dist="38100" dir="2700000" algn="tl">
                    <a:srgbClr val="C0C0C0"/>
                  </a:outerShdw>
                </a:effectLst>
                <a:ea typeface="黑体" pitchFamily="49" charset="-122"/>
              </a:rPr>
              <a:t>应用层</a:t>
            </a:r>
            <a:r>
              <a:rPr lang="zh-CN" altLang="en-US" dirty="0"/>
              <a:t>。</a:t>
            </a:r>
          </a:p>
        </p:txBody>
      </p:sp>
      <p:sp>
        <p:nvSpPr>
          <p:cNvPr id="1049545" name="Rectangle 2"/>
          <p:cNvSpPr>
            <a:spLocks noGrp="1"/>
          </p:cNvSpPr>
          <p:nvPr>
            <p:ph type="title"/>
          </p:nvPr>
        </p:nvSpPr>
        <p:spPr>
          <a:xfrm>
            <a:off x="0" y="204879"/>
            <a:ext cx="10515600" cy="493937"/>
          </a:xfrm>
          <a:prstGeom prst="rect">
            <a:avLst/>
          </a:prstGeom>
          <a:noFill/>
          <a:ln>
            <a:noFill/>
          </a:ln>
        </p:spPr>
        <p:txBody>
          <a:bodyPr vert="horz" lIns="91440" tIns="45720" rIns="91440" bIns="45720" anchor="ctr">
            <a:normAutofit fontScale="90000"/>
          </a:bodyP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1.3  </a:t>
            </a:r>
            <a:r>
              <a:rPr lang="zh-CN" altLang="en-US" dirty="0">
                <a:solidFill>
                  <a:schemeClr val="bg1"/>
                </a:solidFill>
              </a:rPr>
              <a:t>网络通信体系结构</a:t>
            </a:r>
          </a:p>
        </p:txBody>
      </p:sp>
      <p:pic>
        <p:nvPicPr>
          <p:cNvPr id="2097195" name="图片 1"/>
          <p:cNvPicPr>
            <a:picLocks/>
          </p:cNvPicPr>
          <p:nvPr/>
        </p:nvPicPr>
        <p:blipFill>
          <a:blip r:embed="rId5"/>
          <a:srcRect/>
          <a:stretch>
            <a:fillRect/>
          </a:stretch>
        </p:blipFill>
        <p:spPr>
          <a:xfrm>
            <a:off x="4367808" y="2924944"/>
            <a:ext cx="6811962" cy="2743200"/>
          </a:xfrm>
          <a:prstGeom prst="rect">
            <a:avLst/>
          </a:prstGeom>
          <a:noFill/>
          <a:ln>
            <a:noFill/>
          </a:ln>
        </p:spPr>
      </p:pic>
    </p:spTree>
  </p:cSld>
  <p:clrMapOvr>
    <a:masterClrMapping/>
  </p:clrMapOvr>
  <p:transition spd="slow">
    <p:zoom/>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51" name="Rectangle 3"/>
          <p:cNvSpPr>
            <a:spLocks noGrp="1"/>
          </p:cNvSpPr>
          <p:nvPr>
            <p:ph idx="1"/>
          </p:nvPr>
        </p:nvSpPr>
        <p:spPr>
          <a:xfrm>
            <a:off x="292306" y="908720"/>
            <a:ext cx="10268190" cy="576064"/>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buFontTx/>
              <a:buNone/>
            </a:pPr>
            <a:r>
              <a:rPr lang="en-US" altLang="zh-CN" dirty="0">
                <a:solidFill>
                  <a:schemeClr val="tx1"/>
                </a:solidFill>
              </a:rPr>
              <a:t>4. </a:t>
            </a:r>
            <a:r>
              <a:rPr lang="zh-CN" altLang="en-US" b="0" dirty="0">
                <a:solidFill>
                  <a:schemeClr val="tx1"/>
                </a:solidFill>
              </a:rPr>
              <a:t>物联网整体结构</a:t>
            </a:r>
          </a:p>
        </p:txBody>
      </p:sp>
      <p:sp>
        <p:nvSpPr>
          <p:cNvPr id="1049550" name="Rectangle 2"/>
          <p:cNvSpPr>
            <a:spLocks noGrp="1"/>
          </p:cNvSpPr>
          <p:nvPr>
            <p:ph type="title"/>
          </p:nvPr>
        </p:nvSpPr>
        <p:spPr>
          <a:xfrm>
            <a:off x="7065" y="181846"/>
            <a:ext cx="10515600" cy="421929"/>
          </a:xfrm>
          <a:prstGeom prst="rect">
            <a:avLst/>
          </a:prstGeom>
          <a:noFill/>
          <a:ln>
            <a:noFill/>
          </a:ln>
        </p:spPr>
        <p:txBody>
          <a:bodyPr vert="horz" lIns="91440" tIns="45720" rIns="91440" bIns="45720" anchor="ctr">
            <a:normAutofit fontScale="90000"/>
          </a:bodyP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1.3  </a:t>
            </a:r>
            <a:r>
              <a:rPr lang="zh-CN" altLang="en-US" dirty="0">
                <a:solidFill>
                  <a:schemeClr val="bg1"/>
                </a:solidFill>
              </a:rPr>
              <a:t>网络通信体系结构</a:t>
            </a:r>
          </a:p>
        </p:txBody>
      </p:sp>
      <p:pic>
        <p:nvPicPr>
          <p:cNvPr id="2097196" name="Picture 4" descr="图01-09 物联网基本结构"/>
          <p:cNvPicPr>
            <a:picLocks/>
          </p:cNvPicPr>
          <p:nvPr/>
        </p:nvPicPr>
        <p:blipFill>
          <a:blip r:embed="rId5"/>
          <a:srcRect/>
          <a:stretch>
            <a:fillRect/>
          </a:stretch>
        </p:blipFill>
        <p:spPr>
          <a:xfrm>
            <a:off x="3431704" y="908720"/>
            <a:ext cx="8639944" cy="5399980"/>
          </a:xfrm>
          <a:prstGeom prst="rect">
            <a:avLst/>
          </a:prstGeom>
          <a:noFill/>
          <a:ln>
            <a:noFill/>
          </a:ln>
        </p:spPr>
      </p:pic>
    </p:spTree>
  </p:cSld>
  <p:clrMapOvr>
    <a:masterClrMapping/>
  </p:clrMapOvr>
  <p:transition spd="slow">
    <p:zoom/>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56" name="Rectangle 3"/>
          <p:cNvSpPr>
            <a:spLocks noGrp="1"/>
          </p:cNvSpPr>
          <p:nvPr>
            <p:ph idx="1"/>
          </p:nvPr>
        </p:nvSpPr>
        <p:spPr>
          <a:xfrm>
            <a:off x="551384" y="980728"/>
            <a:ext cx="10515600" cy="4351338"/>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r>
              <a:rPr lang="zh-CN" altLang="en-US" b="0" dirty="0">
                <a:solidFill>
                  <a:schemeClr val="tx1"/>
                </a:solidFill>
              </a:rPr>
              <a:t>感知层：</a:t>
            </a:r>
          </a:p>
          <a:p>
            <a:pPr lvl="1" eaLnBrk="1" latinLnBrk="1" hangingPunct="1"/>
            <a:r>
              <a:rPr lang="en-US" altLang="zh-CN" dirty="0" err="1">
                <a:solidFill>
                  <a:schemeClr val="tx1"/>
                </a:solidFill>
              </a:rPr>
              <a:t>包括传感器等数据采集设备，以及数据接入到网关之前的传感器网络</a:t>
            </a:r>
            <a:r>
              <a:rPr lang="en-US" altLang="zh-CN" dirty="0">
                <a:solidFill>
                  <a:schemeClr val="tx1"/>
                </a:solidFill>
              </a:rPr>
              <a:t>。</a:t>
            </a:r>
          </a:p>
          <a:p>
            <a:pPr lvl="1" eaLnBrk="1" latinLnBrk="1" hangingPunct="1"/>
            <a:endParaRPr lang="zh-CN" altLang="en-US" dirty="0">
              <a:solidFill>
                <a:schemeClr val="tx1"/>
              </a:solidFill>
            </a:endParaRPr>
          </a:p>
          <a:p>
            <a:pPr lvl="0" eaLnBrk="1" latinLnBrk="1" hangingPunct="1"/>
            <a:r>
              <a:rPr lang="zh-CN" altLang="en-US" b="0" dirty="0">
                <a:solidFill>
                  <a:schemeClr val="tx1"/>
                </a:solidFill>
              </a:rPr>
              <a:t>传送层：</a:t>
            </a:r>
          </a:p>
          <a:p>
            <a:pPr lvl="1" eaLnBrk="1" latinLnBrk="1" hangingPunct="1"/>
            <a:r>
              <a:rPr lang="zh-CN" altLang="en-US" dirty="0">
                <a:solidFill>
                  <a:schemeClr val="tx1"/>
                </a:solidFill>
              </a:rPr>
              <a:t>感知数据的管理与处理是物联网的核心技术。处理技术包括：数据的存储，查询，分析，挖掘，理解，以及应用等技术。</a:t>
            </a:r>
          </a:p>
        </p:txBody>
      </p:sp>
      <p:sp>
        <p:nvSpPr>
          <p:cNvPr id="1049555" name="Rectangle 2"/>
          <p:cNvSpPr>
            <a:spLocks noGrp="1"/>
          </p:cNvSpPr>
          <p:nvPr>
            <p:ph type="title"/>
          </p:nvPr>
        </p:nvSpPr>
        <p:spPr>
          <a:xfrm>
            <a:off x="47328" y="187100"/>
            <a:ext cx="10515600" cy="493937"/>
          </a:xfrm>
          <a:prstGeom prst="rect">
            <a:avLst/>
          </a:prstGeom>
          <a:noFill/>
          <a:ln>
            <a:noFill/>
          </a:ln>
        </p:spPr>
        <p:txBody>
          <a:bodyPr vert="horz" lIns="91440" tIns="45720" rIns="91440" bIns="45720" anchor="ctr">
            <a:normAutofit fontScale="90000"/>
          </a:bodyP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a:solidFill>
                  <a:schemeClr val="bg1"/>
                </a:solidFill>
              </a:rPr>
              <a:t>1.3  </a:t>
            </a:r>
            <a:r>
              <a:rPr lang="zh-CN" altLang="en-US">
                <a:solidFill>
                  <a:schemeClr val="bg1"/>
                </a:solidFill>
              </a:rPr>
              <a:t>网络通信体系结构</a:t>
            </a:r>
          </a:p>
        </p:txBody>
      </p:sp>
    </p:spTree>
  </p:cSld>
  <p:clrMapOvr>
    <a:masterClrMapping/>
  </p:clrMapOvr>
  <p:transition spd="slow">
    <p:zoom/>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61" name="Rectangle 3"/>
          <p:cNvSpPr>
            <a:spLocks noGrp="1"/>
          </p:cNvSpPr>
          <p:nvPr>
            <p:ph idx="1"/>
          </p:nvPr>
        </p:nvSpPr>
        <p:spPr>
          <a:xfrm>
            <a:off x="407368" y="980728"/>
            <a:ext cx="10515600" cy="4351338"/>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r>
              <a:rPr lang="zh-CN" altLang="en-US" b="0" dirty="0">
                <a:solidFill>
                  <a:schemeClr val="tx1"/>
                </a:solidFill>
              </a:rPr>
              <a:t>应用层：</a:t>
            </a:r>
          </a:p>
          <a:p>
            <a:pPr lvl="1" eaLnBrk="1" latinLnBrk="1" hangingPunct="1"/>
            <a:r>
              <a:rPr lang="zh-CN" altLang="en-US" dirty="0">
                <a:solidFill>
                  <a:schemeClr val="tx1"/>
                </a:solidFill>
              </a:rPr>
              <a:t>利用感知数据，为用户提供丰富的特定服务。</a:t>
            </a:r>
          </a:p>
          <a:p>
            <a:pPr lvl="1" eaLnBrk="1" latinLnBrk="1" hangingPunct="1"/>
            <a:r>
              <a:rPr lang="zh-CN" altLang="en-US" dirty="0">
                <a:solidFill>
                  <a:schemeClr val="tx1"/>
                </a:solidFill>
              </a:rPr>
              <a:t>物联网的应用可分为：</a:t>
            </a:r>
          </a:p>
          <a:p>
            <a:pPr lvl="2" eaLnBrk="1" latinLnBrk="1" hangingPunct="1"/>
            <a:r>
              <a:rPr lang="en-US" altLang="zh-CN" sz="2000" b="0" dirty="0" err="1">
                <a:solidFill>
                  <a:schemeClr val="tx1"/>
                </a:solidFill>
              </a:rPr>
              <a:t>监控型（物流监控、污染监控等）应用</a:t>
            </a:r>
            <a:r>
              <a:rPr lang="en-US" altLang="zh-CN" sz="2000" b="0" dirty="0">
                <a:solidFill>
                  <a:schemeClr val="tx1"/>
                </a:solidFill>
              </a:rPr>
              <a:t>；</a:t>
            </a:r>
          </a:p>
          <a:p>
            <a:pPr lvl="2" eaLnBrk="1" latinLnBrk="1" hangingPunct="1"/>
            <a:r>
              <a:rPr lang="en-US" altLang="zh-CN" sz="2000" b="0" dirty="0" err="1">
                <a:solidFill>
                  <a:schemeClr val="tx1"/>
                </a:solidFill>
              </a:rPr>
              <a:t>查询型（智能检索、远程抄表等）应用</a:t>
            </a:r>
            <a:r>
              <a:rPr lang="en-US" altLang="zh-CN" sz="2000" b="0" dirty="0">
                <a:solidFill>
                  <a:schemeClr val="tx1"/>
                </a:solidFill>
              </a:rPr>
              <a:t>；</a:t>
            </a:r>
          </a:p>
          <a:p>
            <a:pPr lvl="2" eaLnBrk="1" latinLnBrk="1" hangingPunct="1"/>
            <a:r>
              <a:rPr lang="en-US" altLang="zh-CN" sz="2000" b="0" dirty="0" err="1">
                <a:solidFill>
                  <a:schemeClr val="tx1"/>
                </a:solidFill>
              </a:rPr>
              <a:t>控制型（智能交通、智能家居等）应用</a:t>
            </a:r>
            <a:r>
              <a:rPr lang="en-US" altLang="zh-CN" sz="2000" b="0" dirty="0">
                <a:solidFill>
                  <a:schemeClr val="tx1"/>
                </a:solidFill>
              </a:rPr>
              <a:t>；</a:t>
            </a:r>
          </a:p>
          <a:p>
            <a:pPr lvl="2" eaLnBrk="1" latinLnBrk="1" hangingPunct="1"/>
            <a:r>
              <a:rPr lang="en-US" altLang="zh-CN" sz="2000" b="0" dirty="0" err="1">
                <a:solidFill>
                  <a:schemeClr val="tx1"/>
                </a:solidFill>
              </a:rPr>
              <a:t>扫描型（手机钱包、不停车收费等）应用</a:t>
            </a:r>
            <a:r>
              <a:rPr lang="en-US" altLang="zh-CN" sz="2000" b="0" dirty="0">
                <a:solidFill>
                  <a:schemeClr val="tx1"/>
                </a:solidFill>
              </a:rPr>
              <a:t>。</a:t>
            </a:r>
          </a:p>
          <a:p>
            <a:pPr lvl="2" eaLnBrk="1" latinLnBrk="1" hangingPunct="1"/>
            <a:endParaRPr lang="zh-CN" altLang="en-US" dirty="0">
              <a:solidFill>
                <a:schemeClr val="tx1"/>
              </a:solidFill>
            </a:endParaRPr>
          </a:p>
          <a:p>
            <a:pPr lvl="0" eaLnBrk="1" latinLnBrk="1" hangingPunct="1"/>
            <a:r>
              <a:rPr lang="zh-CN" altLang="en-US" b="0" dirty="0">
                <a:solidFill>
                  <a:schemeClr val="tx1"/>
                </a:solidFill>
              </a:rPr>
              <a:t>应用层的发展，将会推动物联网的普及，也将给整个物联网产业带来利润。</a:t>
            </a:r>
          </a:p>
        </p:txBody>
      </p:sp>
      <p:sp>
        <p:nvSpPr>
          <p:cNvPr id="1049560" name="Rectangle 2"/>
          <p:cNvSpPr>
            <a:spLocks noGrp="1"/>
          </p:cNvSpPr>
          <p:nvPr>
            <p:ph type="title"/>
          </p:nvPr>
        </p:nvSpPr>
        <p:spPr>
          <a:xfrm>
            <a:off x="47328" y="167796"/>
            <a:ext cx="10515600" cy="565945"/>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1.3  </a:t>
            </a:r>
            <a:r>
              <a:rPr lang="zh-CN" altLang="en-US" dirty="0">
                <a:solidFill>
                  <a:schemeClr val="bg1"/>
                </a:solidFill>
              </a:rPr>
              <a:t>网络通信体系结构</a:t>
            </a:r>
          </a:p>
        </p:txBody>
      </p:sp>
    </p:spTree>
  </p:cSld>
  <p:clrMapOvr>
    <a:masterClrMapping/>
  </p:clrMapOvr>
  <p:transition spd="slow">
    <p:zoom/>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66" name="Rectangle 3"/>
          <p:cNvSpPr>
            <a:spLocks noGrp="1"/>
          </p:cNvSpPr>
          <p:nvPr>
            <p:ph idx="1"/>
          </p:nvPr>
        </p:nvSpPr>
        <p:spPr>
          <a:xfrm>
            <a:off x="479376" y="980728"/>
            <a:ext cx="10515600" cy="4351338"/>
          </a:xfrm>
          <a:prstGeom prst="rect">
            <a:avLst/>
          </a:prstGeom>
          <a:noFill/>
          <a:ln>
            <a:noFill/>
          </a:ln>
        </p:spPr>
        <p:txBody>
          <a:bodyPr vert="horz" lIns="91440" tIns="45720" rIns="91440" bIns="45720" anchor="t">
            <a:normAutofit lnSpcReduction="10000"/>
          </a:bodyPr>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buFontTx/>
              <a:buNone/>
            </a:pPr>
            <a:r>
              <a:rPr lang="en-US" altLang="zh-CN" dirty="0">
                <a:solidFill>
                  <a:schemeClr val="tx1"/>
                </a:solidFill>
              </a:rPr>
              <a:t>5.  </a:t>
            </a:r>
            <a:r>
              <a:rPr lang="zh-CN" altLang="en-US" dirty="0">
                <a:solidFill>
                  <a:schemeClr val="tx1"/>
                </a:solidFill>
              </a:rPr>
              <a:t>物联网存在的问题</a:t>
            </a:r>
          </a:p>
          <a:p>
            <a:pPr lvl="0" eaLnBrk="1" latinLnBrk="1" hangingPunct="1"/>
            <a:r>
              <a:rPr lang="zh-CN" altLang="en-US" b="0" dirty="0">
                <a:solidFill>
                  <a:schemeClr val="tx1"/>
                </a:solidFill>
              </a:rPr>
              <a:t>安全问题</a:t>
            </a:r>
          </a:p>
          <a:p>
            <a:pPr lvl="1" eaLnBrk="1" latinLnBrk="1" hangingPunct="1"/>
            <a:r>
              <a:rPr lang="en-US" altLang="zh-CN" dirty="0" err="1">
                <a:solidFill>
                  <a:schemeClr val="tx1"/>
                </a:solidFill>
              </a:rPr>
              <a:t>传感器植入在芯片中，可能被任何人感知</a:t>
            </a:r>
            <a:r>
              <a:rPr lang="en-US" altLang="zh-CN" dirty="0">
                <a:solidFill>
                  <a:schemeClr val="tx1"/>
                </a:solidFill>
              </a:rPr>
              <a:t>。</a:t>
            </a:r>
          </a:p>
          <a:p>
            <a:pPr lvl="1" eaLnBrk="1" latinLnBrk="1" hangingPunct="1"/>
            <a:r>
              <a:rPr lang="en-US" altLang="zh-CN" dirty="0" err="1">
                <a:solidFill>
                  <a:schemeClr val="tx1"/>
                </a:solidFill>
              </a:rPr>
              <a:t>如何做到信息为用户所用，不被别人所用，这需要建立一套强大的安全体系</a:t>
            </a:r>
            <a:r>
              <a:rPr lang="en-US" altLang="zh-CN" dirty="0">
                <a:solidFill>
                  <a:schemeClr val="tx1"/>
                </a:solidFill>
              </a:rPr>
              <a:t>。</a:t>
            </a:r>
          </a:p>
          <a:p>
            <a:pPr lvl="1" eaLnBrk="1" latinLnBrk="1" hangingPunct="1"/>
            <a:endParaRPr lang="zh-CN" altLang="en-US" dirty="0">
              <a:solidFill>
                <a:schemeClr val="tx1"/>
              </a:solidFill>
            </a:endParaRPr>
          </a:p>
          <a:p>
            <a:pPr lvl="0" eaLnBrk="1" latinLnBrk="1" hangingPunct="1"/>
            <a:r>
              <a:rPr lang="zh-CN" altLang="en-US" b="0" dirty="0">
                <a:solidFill>
                  <a:schemeClr val="tx1"/>
                </a:solidFill>
              </a:rPr>
              <a:t>隐私问题</a:t>
            </a:r>
          </a:p>
          <a:p>
            <a:pPr lvl="1" eaLnBrk="1" latinLnBrk="1" hangingPunct="1"/>
            <a:r>
              <a:rPr lang="zh-CN" altLang="en-US" dirty="0">
                <a:solidFill>
                  <a:schemeClr val="tx1"/>
                </a:solidFill>
              </a:rPr>
              <a:t>在日常生活物品中，物品的拥有者不一定觉察该物品已预先嵌入了电子标签，这可能会导致人们自身不受控制地被扫描，定位和追踪。</a:t>
            </a:r>
          </a:p>
        </p:txBody>
      </p:sp>
      <p:sp>
        <p:nvSpPr>
          <p:cNvPr id="1049565" name="Rectangle 2"/>
          <p:cNvSpPr>
            <a:spLocks noGrp="1"/>
          </p:cNvSpPr>
          <p:nvPr>
            <p:ph type="title"/>
          </p:nvPr>
        </p:nvSpPr>
        <p:spPr>
          <a:xfrm>
            <a:off x="47328" y="188640"/>
            <a:ext cx="10515600" cy="421929"/>
          </a:xfrm>
          <a:prstGeom prst="rect">
            <a:avLst/>
          </a:prstGeom>
          <a:noFill/>
          <a:ln>
            <a:noFill/>
          </a:ln>
        </p:spPr>
        <p:txBody>
          <a:bodyPr vert="horz" lIns="91440" tIns="45720" rIns="91440" bIns="45720" anchor="ctr">
            <a:normAutofit fontScale="90000"/>
          </a:bodyP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1.3  </a:t>
            </a:r>
            <a:r>
              <a:rPr lang="zh-CN" altLang="en-US" dirty="0">
                <a:solidFill>
                  <a:schemeClr val="bg1"/>
                </a:solidFill>
              </a:rPr>
              <a:t>网络通信体系结构</a:t>
            </a:r>
          </a:p>
        </p:txBody>
      </p:sp>
    </p:spTree>
  </p:cSld>
  <p:clrMapOvr>
    <a:masterClrMapping/>
  </p:clrMapOvr>
  <p:transition spd="slow">
    <p:zoom/>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71" name="Rectangle 3"/>
          <p:cNvSpPr>
            <a:spLocks noGrp="1"/>
          </p:cNvSpPr>
          <p:nvPr>
            <p:ph idx="1"/>
          </p:nvPr>
        </p:nvSpPr>
        <p:spPr>
          <a:xfrm>
            <a:off x="335360" y="946850"/>
            <a:ext cx="10801200" cy="2050102"/>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r>
              <a:rPr lang="zh-CN" altLang="en-US" b="0" dirty="0">
                <a:solidFill>
                  <a:schemeClr val="tx1"/>
                </a:solidFill>
              </a:rPr>
              <a:t>技术标准</a:t>
            </a:r>
          </a:p>
          <a:p>
            <a:pPr lvl="1" eaLnBrk="1" latinLnBrk="1" hangingPunct="1"/>
            <a:r>
              <a:rPr lang="zh-CN" altLang="en-US" dirty="0">
                <a:solidFill>
                  <a:schemeClr val="tx1"/>
                </a:solidFill>
              </a:rPr>
              <a:t>物联网发展过程中，传感、传输、应用各个层面会有大量的技术出现，可能会采用不同的技术方案。如果企业各行其是，相互无法互连，就不能形成规模经济，不能形成整合的商业模式。</a:t>
            </a:r>
          </a:p>
        </p:txBody>
      </p:sp>
      <p:sp>
        <p:nvSpPr>
          <p:cNvPr id="1049570" name="Rectangle 2"/>
          <p:cNvSpPr>
            <a:spLocks noGrp="1"/>
          </p:cNvSpPr>
          <p:nvPr>
            <p:ph type="title"/>
          </p:nvPr>
        </p:nvSpPr>
        <p:spPr>
          <a:xfrm>
            <a:off x="1296" y="116632"/>
            <a:ext cx="10515600" cy="63795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1.3  </a:t>
            </a:r>
            <a:r>
              <a:rPr lang="zh-CN" altLang="en-US" dirty="0">
                <a:solidFill>
                  <a:schemeClr val="bg1"/>
                </a:solidFill>
              </a:rPr>
              <a:t>网络通信体系结构</a:t>
            </a:r>
          </a:p>
        </p:txBody>
      </p:sp>
      <p:pic>
        <p:nvPicPr>
          <p:cNvPr id="2097197" name="图片 4"/>
          <p:cNvPicPr>
            <a:picLocks/>
          </p:cNvPicPr>
          <p:nvPr/>
        </p:nvPicPr>
        <p:blipFill>
          <a:blip r:embed="rId5"/>
          <a:srcRect/>
          <a:stretch>
            <a:fillRect/>
          </a:stretch>
        </p:blipFill>
        <p:spPr>
          <a:xfrm>
            <a:off x="1775520" y="3744788"/>
            <a:ext cx="8820150" cy="1960562"/>
          </a:xfrm>
          <a:prstGeom prst="rect">
            <a:avLst/>
          </a:prstGeom>
          <a:noFill/>
          <a:ln>
            <a:noFill/>
          </a:ln>
        </p:spPr>
      </p:pic>
    </p:spTree>
  </p:cSld>
  <p:clrMapOvr>
    <a:masterClrMapping/>
  </p:clrMapOvr>
  <p:transition spd="slow">
    <p:zoom/>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76" name="Rectangle 3"/>
          <p:cNvSpPr>
            <a:spLocks noGrp="1"/>
          </p:cNvSpPr>
          <p:nvPr>
            <p:ph idx="1"/>
          </p:nvPr>
        </p:nvSpPr>
        <p:spPr>
          <a:xfrm>
            <a:off x="479376" y="980728"/>
            <a:ext cx="10225136" cy="504056"/>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r>
              <a:rPr lang="en-US" altLang="zh-CN" b="0">
                <a:solidFill>
                  <a:srgbClr val="000099"/>
                </a:solidFill>
              </a:rPr>
              <a:t>[</a:t>
            </a:r>
            <a:r>
              <a:rPr lang="zh-CN" altLang="en-US" b="0">
                <a:solidFill>
                  <a:srgbClr val="000099"/>
                </a:solidFill>
              </a:rPr>
              <a:t>案例</a:t>
            </a:r>
            <a:r>
              <a:rPr lang="en-US" altLang="zh-CN" b="0">
                <a:solidFill>
                  <a:srgbClr val="000099"/>
                </a:solidFill>
              </a:rPr>
              <a:t>] </a:t>
            </a:r>
            <a:r>
              <a:rPr lang="zh-CN" altLang="en-US" b="0">
                <a:solidFill>
                  <a:srgbClr val="000099"/>
                </a:solidFill>
              </a:rPr>
              <a:t>物联网智慧农业应用</a:t>
            </a:r>
          </a:p>
        </p:txBody>
      </p:sp>
      <p:sp>
        <p:nvSpPr>
          <p:cNvPr id="1049575" name="Rectangle 2"/>
          <p:cNvSpPr>
            <a:spLocks noGrp="1"/>
          </p:cNvSpPr>
          <p:nvPr>
            <p:ph type="title"/>
          </p:nvPr>
        </p:nvSpPr>
        <p:spPr>
          <a:xfrm>
            <a:off x="47328" y="153871"/>
            <a:ext cx="10515600" cy="565945"/>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1.3  </a:t>
            </a:r>
            <a:r>
              <a:rPr lang="zh-CN" altLang="en-US" dirty="0">
                <a:solidFill>
                  <a:schemeClr val="bg1"/>
                </a:solidFill>
              </a:rPr>
              <a:t>网络通信体系结构</a:t>
            </a:r>
          </a:p>
        </p:txBody>
      </p:sp>
      <p:pic>
        <p:nvPicPr>
          <p:cNvPr id="2097198" name="图片 3"/>
          <p:cNvPicPr>
            <a:picLocks/>
          </p:cNvPicPr>
          <p:nvPr/>
        </p:nvPicPr>
        <p:blipFill>
          <a:blip r:embed="rId5"/>
          <a:srcRect/>
          <a:stretch>
            <a:fillRect/>
          </a:stretch>
        </p:blipFill>
        <p:spPr>
          <a:xfrm>
            <a:off x="1775520" y="1778236"/>
            <a:ext cx="8447088" cy="4176712"/>
          </a:xfrm>
          <a:prstGeom prst="rect">
            <a:avLst/>
          </a:prstGeom>
          <a:noFill/>
          <a:ln>
            <a:noFill/>
          </a:ln>
        </p:spPr>
      </p:pic>
    </p:spTree>
  </p:cSld>
  <p:clrMapOvr>
    <a:masterClrMapping/>
  </p:clrMapOvr>
  <p:transition spd="slow">
    <p:zoom/>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81" name="Rectangle 3"/>
          <p:cNvSpPr>
            <a:spLocks noGrp="1"/>
          </p:cNvSpPr>
          <p:nvPr>
            <p:ph idx="1"/>
          </p:nvPr>
        </p:nvSpPr>
        <p:spPr>
          <a:xfrm>
            <a:off x="407368" y="863487"/>
            <a:ext cx="10515600" cy="4351338"/>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r>
              <a:rPr lang="en-US" altLang="zh-CN" b="0" dirty="0">
                <a:solidFill>
                  <a:srgbClr val="000099"/>
                </a:solidFill>
              </a:rPr>
              <a:t>[</a:t>
            </a:r>
            <a:r>
              <a:rPr lang="zh-CN" altLang="en-US" b="0" dirty="0">
                <a:solidFill>
                  <a:srgbClr val="000099"/>
                </a:solidFill>
              </a:rPr>
              <a:t>案例</a:t>
            </a:r>
            <a:r>
              <a:rPr lang="en-US" altLang="zh-CN" b="0" dirty="0">
                <a:solidFill>
                  <a:srgbClr val="000099"/>
                </a:solidFill>
              </a:rPr>
              <a:t>] </a:t>
            </a:r>
            <a:r>
              <a:rPr lang="zh-CN" altLang="en-US" b="0" dirty="0">
                <a:solidFill>
                  <a:srgbClr val="000099"/>
                </a:solidFill>
              </a:rPr>
              <a:t>物联网的应用</a:t>
            </a:r>
          </a:p>
        </p:txBody>
      </p:sp>
      <p:sp>
        <p:nvSpPr>
          <p:cNvPr id="1049580" name="Rectangle 2"/>
          <p:cNvSpPr>
            <a:spLocks noGrp="1"/>
          </p:cNvSpPr>
          <p:nvPr>
            <p:ph type="title"/>
          </p:nvPr>
        </p:nvSpPr>
        <p:spPr>
          <a:xfrm>
            <a:off x="33913" y="177799"/>
            <a:ext cx="10515600" cy="503238"/>
          </a:xfrm>
          <a:prstGeom prst="rect">
            <a:avLst/>
          </a:prstGeom>
          <a:noFill/>
          <a:ln>
            <a:noFill/>
          </a:ln>
        </p:spPr>
        <p:txBody>
          <a:bodyPr vert="horz" lIns="91440" tIns="45720" rIns="91440" bIns="45720" anchor="ctr">
            <a:normAutofit fontScale="90000"/>
          </a:bodyP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1.3  </a:t>
            </a:r>
            <a:r>
              <a:rPr lang="zh-CN" altLang="en-US" dirty="0">
                <a:solidFill>
                  <a:schemeClr val="bg1"/>
                </a:solidFill>
              </a:rPr>
              <a:t>网络通信体系结构</a:t>
            </a:r>
          </a:p>
        </p:txBody>
      </p:sp>
      <p:pic>
        <p:nvPicPr>
          <p:cNvPr id="2097199" name="图片 2"/>
          <p:cNvPicPr>
            <a:picLocks/>
          </p:cNvPicPr>
          <p:nvPr/>
        </p:nvPicPr>
        <p:blipFill>
          <a:blip r:embed="rId5"/>
          <a:srcRect/>
          <a:stretch>
            <a:fillRect/>
          </a:stretch>
        </p:blipFill>
        <p:spPr>
          <a:xfrm>
            <a:off x="4583832" y="1042509"/>
            <a:ext cx="7488237" cy="4976812"/>
          </a:xfrm>
          <a:prstGeom prst="rect">
            <a:avLst/>
          </a:prstGeom>
          <a:noFill/>
          <a:ln>
            <a:noFill/>
          </a:ln>
        </p:spPr>
      </p:pic>
    </p:spTree>
  </p:cSld>
  <p:clrMapOvr>
    <a:masterClrMapping/>
  </p:clrMapOvr>
  <p:transition spd="slow">
    <p:zoom/>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86" name="Rectangle 3"/>
          <p:cNvSpPr>
            <a:spLocks noGrp="1"/>
          </p:cNvSpPr>
          <p:nvPr>
            <p:ph idx="1"/>
          </p:nvPr>
        </p:nvSpPr>
        <p:spPr>
          <a:xfrm>
            <a:off x="263352" y="811942"/>
            <a:ext cx="10515600" cy="4351338"/>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r>
              <a:rPr lang="en-US" altLang="zh-CN" b="0" dirty="0">
                <a:solidFill>
                  <a:srgbClr val="000099"/>
                </a:solidFill>
              </a:rPr>
              <a:t>[</a:t>
            </a:r>
            <a:r>
              <a:rPr lang="zh-CN" altLang="en-US" b="0" dirty="0">
                <a:solidFill>
                  <a:srgbClr val="000099"/>
                </a:solidFill>
              </a:rPr>
              <a:t>案例</a:t>
            </a:r>
            <a:r>
              <a:rPr lang="en-US" altLang="zh-CN" b="0" dirty="0">
                <a:solidFill>
                  <a:srgbClr val="000099"/>
                </a:solidFill>
              </a:rPr>
              <a:t>] </a:t>
            </a:r>
            <a:r>
              <a:rPr lang="zh-CN" altLang="en-US" b="0" dirty="0">
                <a:solidFill>
                  <a:srgbClr val="000099"/>
                </a:solidFill>
              </a:rPr>
              <a:t>物联网食品安全应用</a:t>
            </a:r>
          </a:p>
        </p:txBody>
      </p:sp>
      <p:sp>
        <p:nvSpPr>
          <p:cNvPr id="1049585" name="Rectangle 2"/>
          <p:cNvSpPr>
            <a:spLocks noGrp="1"/>
          </p:cNvSpPr>
          <p:nvPr>
            <p:ph type="title"/>
          </p:nvPr>
        </p:nvSpPr>
        <p:spPr>
          <a:xfrm>
            <a:off x="24630" y="133528"/>
            <a:ext cx="10515600" cy="54451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1.3  </a:t>
            </a:r>
            <a:r>
              <a:rPr lang="zh-CN" altLang="en-US" dirty="0">
                <a:solidFill>
                  <a:schemeClr val="bg1"/>
                </a:solidFill>
              </a:rPr>
              <a:t>网络通信体系结构</a:t>
            </a:r>
          </a:p>
        </p:txBody>
      </p:sp>
      <p:pic>
        <p:nvPicPr>
          <p:cNvPr id="2097200" name="图片 1"/>
          <p:cNvPicPr>
            <a:picLocks/>
          </p:cNvPicPr>
          <p:nvPr/>
        </p:nvPicPr>
        <p:blipFill>
          <a:blip r:embed="rId5"/>
          <a:srcRect/>
          <a:stretch>
            <a:fillRect/>
          </a:stretch>
        </p:blipFill>
        <p:spPr>
          <a:xfrm>
            <a:off x="2495600" y="1412776"/>
            <a:ext cx="7559675" cy="5030787"/>
          </a:xfrm>
          <a:prstGeom prst="rect">
            <a:avLst/>
          </a:prstGeom>
          <a:noFill/>
          <a:ln>
            <a:noFill/>
          </a:ln>
        </p:spPr>
      </p:pic>
    </p:spTree>
  </p:cSld>
  <p:clrMapOvr>
    <a:masterClrMapping/>
  </p:clrMapOvr>
  <p:transition spd="slow">
    <p:zoom/>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91" name="Rectangle 3"/>
          <p:cNvSpPr>
            <a:spLocks noGrp="1"/>
          </p:cNvSpPr>
          <p:nvPr>
            <p:ph idx="1"/>
          </p:nvPr>
        </p:nvSpPr>
        <p:spPr>
          <a:xfrm>
            <a:off x="407368" y="878409"/>
            <a:ext cx="10515600" cy="4351338"/>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buFontTx/>
              <a:buNone/>
            </a:pPr>
            <a:r>
              <a:rPr lang="en-US" altLang="zh-CN" sz="3200" dirty="0">
                <a:solidFill>
                  <a:schemeClr val="tx1"/>
                </a:solidFill>
                <a:effectLst>
                  <a:outerShdw blurRad="38100" dist="38100" dir="2700000" algn="tl">
                    <a:srgbClr val="C0C0C0"/>
                  </a:outerShdw>
                </a:effectLst>
              </a:rPr>
              <a:t>1.3.4  </a:t>
            </a:r>
            <a:r>
              <a:rPr lang="zh-CN" altLang="en-US" sz="3200" dirty="0">
                <a:solidFill>
                  <a:schemeClr val="tx1"/>
                </a:solidFill>
                <a:effectLst>
                  <a:outerShdw blurRad="38100" dist="38100" dir="2700000" algn="tl">
                    <a:srgbClr val="C0C0C0"/>
                  </a:outerShdw>
                </a:effectLst>
              </a:rPr>
              <a:t>云计算基本模型</a:t>
            </a:r>
          </a:p>
          <a:p>
            <a:pPr lvl="0" eaLnBrk="1" latinLnBrk="1" hangingPunct="1"/>
            <a:r>
              <a:rPr lang="zh-CN" altLang="zh-CN" b="0" dirty="0">
                <a:solidFill>
                  <a:schemeClr val="tx1"/>
                </a:solidFill>
              </a:rPr>
              <a:t>云计算将网络中分布的计算、存储、服务设备、网络软件等资源集中起来，将资源以虚拟化的方式为用户提供方便快捷的服务。</a:t>
            </a:r>
          </a:p>
          <a:p>
            <a:pPr lvl="0" eaLnBrk="1" latinLnBrk="1" hangingPunct="1"/>
            <a:endParaRPr lang="en-US" altLang="zh-CN" b="0" dirty="0">
              <a:solidFill>
                <a:schemeClr val="tx1"/>
              </a:solidFill>
            </a:endParaRPr>
          </a:p>
          <a:p>
            <a:pPr lvl="0" eaLnBrk="1" latinLnBrk="1" hangingPunct="1"/>
            <a:r>
              <a:rPr lang="zh-CN" altLang="zh-CN" b="0" dirty="0">
                <a:solidFill>
                  <a:schemeClr val="tx1"/>
                </a:solidFill>
              </a:rPr>
              <a:t>云计算是一种基于因特网的超级计算模式</a:t>
            </a:r>
            <a:r>
              <a:rPr lang="zh-CN" altLang="en-US" b="0" dirty="0">
                <a:solidFill>
                  <a:schemeClr val="tx1"/>
                </a:solidFill>
              </a:rPr>
              <a:t>。</a:t>
            </a:r>
          </a:p>
        </p:txBody>
      </p:sp>
      <p:sp>
        <p:nvSpPr>
          <p:cNvPr id="1049590" name="Rectangle 2"/>
          <p:cNvSpPr>
            <a:spLocks noGrp="1"/>
          </p:cNvSpPr>
          <p:nvPr>
            <p:ph type="title"/>
          </p:nvPr>
        </p:nvSpPr>
        <p:spPr>
          <a:xfrm>
            <a:off x="44449" y="188640"/>
            <a:ext cx="10515600" cy="522288"/>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1.3  </a:t>
            </a:r>
            <a:r>
              <a:rPr lang="zh-CN" altLang="en-US" dirty="0">
                <a:solidFill>
                  <a:schemeClr val="bg1"/>
                </a:solidFill>
              </a:rPr>
              <a:t>网络通信体系结构</a:t>
            </a:r>
          </a:p>
        </p:txBody>
      </p:sp>
      <p:pic>
        <p:nvPicPr>
          <p:cNvPr id="2097201" name="图片 2"/>
          <p:cNvPicPr>
            <a:picLocks/>
          </p:cNvPicPr>
          <p:nvPr/>
        </p:nvPicPr>
        <p:blipFill>
          <a:blip r:embed="rId5"/>
          <a:srcRect/>
          <a:stretch>
            <a:fillRect/>
          </a:stretch>
        </p:blipFill>
        <p:spPr>
          <a:xfrm>
            <a:off x="839416" y="3471069"/>
            <a:ext cx="4627562" cy="2724150"/>
          </a:xfrm>
          <a:prstGeom prst="rect">
            <a:avLst/>
          </a:prstGeom>
          <a:noFill/>
          <a:ln>
            <a:noFill/>
          </a:ln>
        </p:spPr>
      </p:pic>
      <p:pic>
        <p:nvPicPr>
          <p:cNvPr id="2097202" name="图片 4"/>
          <p:cNvPicPr>
            <a:picLocks/>
          </p:cNvPicPr>
          <p:nvPr/>
        </p:nvPicPr>
        <p:blipFill>
          <a:blip r:embed="rId6"/>
          <a:srcRect/>
          <a:stretch>
            <a:fillRect/>
          </a:stretch>
        </p:blipFill>
        <p:spPr>
          <a:xfrm>
            <a:off x="6434138" y="3659981"/>
            <a:ext cx="3548062" cy="2371725"/>
          </a:xfrm>
          <a:prstGeom prst="rect">
            <a:avLst/>
          </a:prstGeom>
          <a:noFill/>
          <a:ln>
            <a:noFill/>
          </a:ln>
        </p:spPr>
      </p:pic>
      <p:cxnSp>
        <p:nvCxnSpPr>
          <p:cNvPr id="3145728" name="直接连接符 6"/>
          <p:cNvCxnSpPr>
            <a:cxnSpLocks/>
          </p:cNvCxnSpPr>
          <p:nvPr/>
        </p:nvCxnSpPr>
        <p:spPr>
          <a:xfrm flipV="1">
            <a:off x="5087937" y="4335462"/>
            <a:ext cx="1924050" cy="317500"/>
          </a:xfrm>
          <a:prstGeom prst="line">
            <a:avLst/>
          </a:prstGeom>
          <a:noFill/>
          <a:ln w="28575" cap="flat" cmpd="sng">
            <a:solidFill>
              <a:srgbClr val="FF0066">
                <a:alpha val="100000"/>
              </a:srgbClr>
            </a:solidFill>
            <a:prstDash val="solid"/>
            <a:round/>
            <a:tailEnd type="triangle" w="med" len="med"/>
          </a:ln>
        </p:spPr>
      </p:cxnSp>
      <p:cxnSp>
        <p:nvCxnSpPr>
          <p:cNvPr id="3145729" name="直接连接符 12"/>
          <p:cNvCxnSpPr>
            <a:cxnSpLocks/>
          </p:cNvCxnSpPr>
          <p:nvPr/>
        </p:nvCxnSpPr>
        <p:spPr>
          <a:xfrm>
            <a:off x="5180013" y="5013325"/>
            <a:ext cx="1831974" cy="287883"/>
          </a:xfrm>
          <a:prstGeom prst="line">
            <a:avLst/>
          </a:prstGeom>
          <a:noFill/>
          <a:ln w="28575" cap="flat" cmpd="sng">
            <a:solidFill>
              <a:srgbClr val="FF0066">
                <a:alpha val="100000"/>
              </a:srgbClr>
            </a:solidFill>
            <a:prstDash val="solid"/>
            <a:round/>
            <a:tailEnd type="triangle" w="med" len="med"/>
          </a:ln>
        </p:spPr>
      </p:cxnSp>
    </p:spTree>
  </p:cSld>
  <p:clrMapOvr>
    <a:masterClrMapping/>
  </p:clrMapOvr>
  <p:transition spd="slow">
    <p:zoom/>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96" name="Rectangle 3"/>
          <p:cNvSpPr>
            <a:spLocks noGrp="1"/>
          </p:cNvSpPr>
          <p:nvPr>
            <p:ph idx="1"/>
          </p:nvPr>
        </p:nvSpPr>
        <p:spPr>
          <a:xfrm>
            <a:off x="407368" y="889968"/>
            <a:ext cx="10081120" cy="522808"/>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r>
              <a:rPr lang="zh-CN" altLang="zh-CN" b="0" dirty="0">
                <a:solidFill>
                  <a:schemeClr val="tx1"/>
                </a:solidFill>
              </a:rPr>
              <a:t>云计算的系统结构</a:t>
            </a:r>
          </a:p>
        </p:txBody>
      </p:sp>
      <p:sp>
        <p:nvSpPr>
          <p:cNvPr id="1049595" name="Rectangle 2"/>
          <p:cNvSpPr>
            <a:spLocks noGrp="1"/>
          </p:cNvSpPr>
          <p:nvPr>
            <p:ph type="title"/>
          </p:nvPr>
        </p:nvSpPr>
        <p:spPr>
          <a:xfrm>
            <a:off x="50136" y="188640"/>
            <a:ext cx="10515600" cy="421929"/>
          </a:xfrm>
          <a:prstGeom prst="rect">
            <a:avLst/>
          </a:prstGeom>
          <a:noFill/>
          <a:ln>
            <a:noFill/>
          </a:ln>
        </p:spPr>
        <p:txBody>
          <a:bodyPr vert="horz" lIns="91440" tIns="45720" rIns="91440" bIns="45720" anchor="ctr">
            <a:normAutofit fontScale="90000"/>
          </a:bodyP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1.3  </a:t>
            </a:r>
            <a:r>
              <a:rPr lang="zh-CN" altLang="en-US" dirty="0">
                <a:solidFill>
                  <a:schemeClr val="bg1"/>
                </a:solidFill>
              </a:rPr>
              <a:t>网络通信体系结构</a:t>
            </a:r>
          </a:p>
        </p:txBody>
      </p:sp>
      <p:pic>
        <p:nvPicPr>
          <p:cNvPr id="2097203" name="图片 3"/>
          <p:cNvPicPr>
            <a:picLocks/>
          </p:cNvPicPr>
          <p:nvPr/>
        </p:nvPicPr>
        <p:blipFill>
          <a:blip r:embed="rId5"/>
          <a:srcRect/>
          <a:stretch>
            <a:fillRect/>
          </a:stretch>
        </p:blipFill>
        <p:spPr>
          <a:xfrm>
            <a:off x="1847850" y="1484784"/>
            <a:ext cx="8496300" cy="5033962"/>
          </a:xfrm>
          <a:prstGeom prst="rect">
            <a:avLst/>
          </a:prstGeom>
          <a:noFill/>
          <a:ln>
            <a:noFill/>
          </a:ln>
        </p:spPr>
      </p:pic>
    </p:spTree>
  </p:cSld>
  <p:clrMapOvr>
    <a:masterClrMapping/>
  </p:clrMapOvr>
  <p:transition spd="slow">
    <p:zoom/>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01" name="Rectangle 3"/>
          <p:cNvSpPr>
            <a:spLocks noGrp="1"/>
          </p:cNvSpPr>
          <p:nvPr>
            <p:ph idx="1"/>
          </p:nvPr>
        </p:nvSpPr>
        <p:spPr>
          <a:xfrm>
            <a:off x="551384" y="980728"/>
            <a:ext cx="10153128" cy="1512168"/>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buFontTx/>
              <a:buNone/>
            </a:pPr>
            <a:r>
              <a:rPr lang="en-US" altLang="zh-CN" sz="3200" dirty="0">
                <a:solidFill>
                  <a:schemeClr val="tx1"/>
                </a:solidFill>
                <a:effectLst>
                  <a:outerShdw blurRad="38100" dist="38100" dir="2700000" algn="tl">
                    <a:srgbClr val="C0C0C0"/>
                  </a:outerShdw>
                </a:effectLst>
              </a:rPr>
              <a:t>1.3.4  </a:t>
            </a:r>
            <a:r>
              <a:rPr lang="zh-CN" altLang="en-US" sz="3200" dirty="0">
                <a:solidFill>
                  <a:schemeClr val="tx1"/>
                </a:solidFill>
                <a:effectLst>
                  <a:outerShdw blurRad="38100" dist="38100" dir="2700000" algn="tl">
                    <a:srgbClr val="C0C0C0"/>
                  </a:outerShdw>
                </a:effectLst>
              </a:rPr>
              <a:t>云计算基本模型</a:t>
            </a:r>
          </a:p>
          <a:p>
            <a:pPr lvl="0" eaLnBrk="1" latinLnBrk="1" hangingPunct="1"/>
            <a:r>
              <a:rPr lang="zh-CN" altLang="zh-CN" b="0" dirty="0">
                <a:solidFill>
                  <a:schemeClr val="tx1"/>
                </a:solidFill>
              </a:rPr>
              <a:t>云计算把</a:t>
            </a:r>
            <a:r>
              <a:rPr lang="en-US" altLang="zh-CN" b="0" dirty="0">
                <a:solidFill>
                  <a:schemeClr val="tx1"/>
                </a:solidFill>
              </a:rPr>
              <a:t>IT</a:t>
            </a:r>
            <a:r>
              <a:rPr lang="zh-CN" altLang="zh-CN" b="0" dirty="0">
                <a:solidFill>
                  <a:schemeClr val="tx1"/>
                </a:solidFill>
              </a:rPr>
              <a:t>资源与物理设施分离，让</a:t>
            </a:r>
            <a:r>
              <a:rPr lang="en-US" altLang="zh-CN" b="0" dirty="0">
                <a:solidFill>
                  <a:schemeClr val="tx1"/>
                </a:solidFill>
              </a:rPr>
              <a:t>IT</a:t>
            </a:r>
            <a:r>
              <a:rPr lang="zh-CN" altLang="zh-CN" b="0" dirty="0">
                <a:solidFill>
                  <a:schemeClr val="tx1"/>
                </a:solidFill>
              </a:rPr>
              <a:t>资源“</a:t>
            </a:r>
            <a:r>
              <a:rPr lang="zh-CN" altLang="zh-CN" b="0" dirty="0">
                <a:solidFill>
                  <a:schemeClr val="tx1"/>
                </a:solidFill>
                <a:effectLst>
                  <a:outerShdw blurRad="38100" dist="38100" dir="2700000" algn="tl">
                    <a:srgbClr val="C0C0C0"/>
                  </a:outerShdw>
                </a:effectLst>
              </a:rPr>
              <a:t>浮</a:t>
            </a:r>
            <a:r>
              <a:rPr lang="zh-CN" altLang="zh-CN" b="0" dirty="0">
                <a:solidFill>
                  <a:schemeClr val="tx1"/>
                </a:solidFill>
              </a:rPr>
              <a:t>”起来，成为一朵“</a:t>
            </a:r>
            <a:r>
              <a:rPr lang="zh-CN" altLang="zh-CN" b="0" dirty="0">
                <a:solidFill>
                  <a:schemeClr val="tx1"/>
                </a:solidFill>
                <a:effectLst>
                  <a:outerShdw blurRad="38100" dist="38100" dir="2700000" algn="tl">
                    <a:srgbClr val="C0C0C0"/>
                  </a:outerShdw>
                </a:effectLst>
              </a:rPr>
              <a:t>云</a:t>
            </a:r>
            <a:r>
              <a:rPr lang="zh-CN" altLang="en-US" b="0" dirty="0">
                <a:solidFill>
                  <a:schemeClr val="tx1"/>
                </a:solidFill>
              </a:rPr>
              <a:t>”，让用户随时随地方便地根据自己的需求使用。</a:t>
            </a:r>
          </a:p>
        </p:txBody>
      </p:sp>
      <p:sp>
        <p:nvSpPr>
          <p:cNvPr id="1049600" name="Rectangle 2"/>
          <p:cNvSpPr>
            <a:spLocks noGrp="1"/>
          </p:cNvSpPr>
          <p:nvPr>
            <p:ph type="title"/>
          </p:nvPr>
        </p:nvSpPr>
        <p:spPr>
          <a:xfrm>
            <a:off x="47328" y="200238"/>
            <a:ext cx="10515600" cy="493937"/>
          </a:xfrm>
          <a:prstGeom prst="rect">
            <a:avLst/>
          </a:prstGeom>
          <a:noFill/>
          <a:ln>
            <a:noFill/>
          </a:ln>
        </p:spPr>
        <p:txBody>
          <a:bodyPr vert="horz" lIns="91440" tIns="45720" rIns="91440" bIns="45720" anchor="ctr">
            <a:normAutofit fontScale="90000"/>
          </a:bodyP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1.3  </a:t>
            </a:r>
            <a:r>
              <a:rPr lang="zh-CN" altLang="en-US" dirty="0">
                <a:solidFill>
                  <a:schemeClr val="bg1"/>
                </a:solidFill>
              </a:rPr>
              <a:t>网络通信体系结构</a:t>
            </a:r>
          </a:p>
        </p:txBody>
      </p:sp>
      <p:pic>
        <p:nvPicPr>
          <p:cNvPr id="2097204" name="图片 1"/>
          <p:cNvPicPr>
            <a:picLocks/>
          </p:cNvPicPr>
          <p:nvPr/>
        </p:nvPicPr>
        <p:blipFill>
          <a:blip r:embed="rId5"/>
          <a:srcRect/>
          <a:stretch>
            <a:fillRect/>
          </a:stretch>
        </p:blipFill>
        <p:spPr>
          <a:xfrm>
            <a:off x="3468688" y="2779294"/>
            <a:ext cx="4608512" cy="3333750"/>
          </a:xfrm>
          <a:prstGeom prst="rect">
            <a:avLst/>
          </a:prstGeom>
          <a:noFill/>
          <a:ln>
            <a:noFill/>
          </a:ln>
        </p:spPr>
      </p:pic>
    </p:spTree>
  </p:cSld>
  <p:clrMapOvr>
    <a:masterClrMapping/>
  </p:clrMapOvr>
  <p:transition spd="slow">
    <p:zoom/>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06" name="Rectangle 3"/>
          <p:cNvSpPr>
            <a:spLocks noGrp="1"/>
          </p:cNvSpPr>
          <p:nvPr>
            <p:ph idx="1"/>
          </p:nvPr>
        </p:nvSpPr>
        <p:spPr>
          <a:xfrm>
            <a:off x="407368" y="905553"/>
            <a:ext cx="9824070" cy="565945"/>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r>
              <a:rPr lang="zh-CN" altLang="zh-CN" b="0" dirty="0">
                <a:solidFill>
                  <a:srgbClr val="000099"/>
                </a:solidFill>
              </a:rPr>
              <a:t>云计算中最关键的技术是</a:t>
            </a:r>
            <a:r>
              <a:rPr lang="zh-CN" altLang="zh-CN" b="0" dirty="0">
                <a:solidFill>
                  <a:srgbClr val="FF0000"/>
                </a:solidFill>
                <a:effectLst>
                  <a:outerShdw blurRad="38100" dist="38100" dir="2700000" algn="tl">
                    <a:srgbClr val="C0C0C0"/>
                  </a:outerShdw>
                </a:effectLst>
              </a:rPr>
              <a:t>虚拟化</a:t>
            </a:r>
            <a:r>
              <a:rPr lang="zh-CN" altLang="en-US" b="0" dirty="0">
                <a:solidFill>
                  <a:srgbClr val="000099"/>
                </a:solidFill>
              </a:rPr>
              <a:t>。</a:t>
            </a:r>
          </a:p>
        </p:txBody>
      </p:sp>
      <p:sp>
        <p:nvSpPr>
          <p:cNvPr id="1049605" name="Rectangle 2"/>
          <p:cNvSpPr>
            <a:spLocks noGrp="1"/>
          </p:cNvSpPr>
          <p:nvPr>
            <p:ph type="title"/>
          </p:nvPr>
        </p:nvSpPr>
        <p:spPr>
          <a:xfrm>
            <a:off x="35920" y="153871"/>
            <a:ext cx="10515600" cy="565945"/>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1.3  </a:t>
            </a:r>
            <a:r>
              <a:rPr lang="zh-CN" altLang="en-US" dirty="0">
                <a:solidFill>
                  <a:schemeClr val="bg1"/>
                </a:solidFill>
              </a:rPr>
              <a:t>网络通信体系结构</a:t>
            </a:r>
          </a:p>
        </p:txBody>
      </p:sp>
      <p:pic>
        <p:nvPicPr>
          <p:cNvPr id="2097205" name="图片 2"/>
          <p:cNvPicPr>
            <a:picLocks/>
          </p:cNvPicPr>
          <p:nvPr/>
        </p:nvPicPr>
        <p:blipFill>
          <a:blip r:embed="rId5"/>
          <a:srcRect/>
          <a:stretch>
            <a:fillRect/>
          </a:stretch>
        </p:blipFill>
        <p:spPr>
          <a:xfrm>
            <a:off x="2012156" y="1450124"/>
            <a:ext cx="8167687" cy="4819650"/>
          </a:xfrm>
          <a:prstGeom prst="rect">
            <a:avLst/>
          </a:prstGeom>
          <a:noFill/>
          <a:ln>
            <a:noFill/>
          </a:ln>
        </p:spPr>
      </p:pic>
    </p:spTree>
  </p:cSld>
  <p:clrMapOvr>
    <a:masterClrMapping/>
  </p:clrMapOvr>
  <p:transition spd="slow">
    <p:zoom/>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11" name="Rectangle 3"/>
          <p:cNvSpPr>
            <a:spLocks noGrp="1"/>
          </p:cNvSpPr>
          <p:nvPr>
            <p:ph idx="1"/>
          </p:nvPr>
        </p:nvSpPr>
        <p:spPr>
          <a:xfrm>
            <a:off x="407368" y="908720"/>
            <a:ext cx="10081120" cy="576064"/>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r>
              <a:rPr lang="zh-CN" altLang="zh-CN" b="0" dirty="0">
                <a:solidFill>
                  <a:srgbClr val="000099"/>
                </a:solidFill>
              </a:rPr>
              <a:t>云计算中最关键的技术是</a:t>
            </a:r>
            <a:r>
              <a:rPr lang="zh-CN" altLang="zh-CN" b="0" dirty="0">
                <a:solidFill>
                  <a:srgbClr val="FF0000"/>
                </a:solidFill>
                <a:effectLst>
                  <a:outerShdw blurRad="38100" dist="38100" dir="2700000" algn="tl">
                    <a:srgbClr val="C0C0C0"/>
                  </a:outerShdw>
                </a:effectLst>
              </a:rPr>
              <a:t>虚拟化</a:t>
            </a:r>
          </a:p>
        </p:txBody>
      </p:sp>
      <p:sp>
        <p:nvSpPr>
          <p:cNvPr id="1049610" name="Rectangle 2"/>
          <p:cNvSpPr>
            <a:spLocks noGrp="1"/>
          </p:cNvSpPr>
          <p:nvPr>
            <p:ph type="title"/>
          </p:nvPr>
        </p:nvSpPr>
        <p:spPr>
          <a:xfrm>
            <a:off x="0" y="190919"/>
            <a:ext cx="10515600" cy="503238"/>
          </a:xfrm>
          <a:prstGeom prst="rect">
            <a:avLst/>
          </a:prstGeom>
          <a:noFill/>
          <a:ln>
            <a:noFill/>
          </a:ln>
        </p:spPr>
        <p:txBody>
          <a:bodyPr vert="horz" lIns="91440" tIns="45720" rIns="91440" bIns="45720" anchor="ctr">
            <a:normAutofit fontScale="90000"/>
          </a:bodyP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1.3  </a:t>
            </a:r>
            <a:r>
              <a:rPr lang="zh-CN" altLang="en-US" dirty="0">
                <a:solidFill>
                  <a:schemeClr val="bg1"/>
                </a:solidFill>
              </a:rPr>
              <a:t>网络通信体系结构</a:t>
            </a:r>
          </a:p>
        </p:txBody>
      </p:sp>
      <p:pic>
        <p:nvPicPr>
          <p:cNvPr id="2097206" name="图片 3"/>
          <p:cNvPicPr>
            <a:picLocks/>
          </p:cNvPicPr>
          <p:nvPr/>
        </p:nvPicPr>
        <p:blipFill>
          <a:blip r:embed="rId5"/>
          <a:srcRect/>
          <a:stretch>
            <a:fillRect/>
          </a:stretch>
        </p:blipFill>
        <p:spPr>
          <a:xfrm>
            <a:off x="1888331" y="1628800"/>
            <a:ext cx="8415338" cy="4779962"/>
          </a:xfrm>
          <a:prstGeom prst="rect">
            <a:avLst/>
          </a:prstGeom>
          <a:noFill/>
          <a:ln>
            <a:noFill/>
          </a:ln>
        </p:spPr>
      </p:pic>
    </p:spTree>
  </p:cSld>
  <p:clrMapOvr>
    <a:masterClrMapping/>
  </p:clrMapOvr>
  <p:transition spd="slow">
    <p:zoom/>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16" name="Rectangle 3"/>
          <p:cNvSpPr>
            <a:spLocks noGrp="1"/>
          </p:cNvSpPr>
          <p:nvPr>
            <p:ph idx="1"/>
          </p:nvPr>
        </p:nvSpPr>
        <p:spPr>
          <a:xfrm>
            <a:off x="477044" y="908720"/>
            <a:ext cx="10011444" cy="432048"/>
          </a:xfrm>
          <a:prstGeom prst="rect">
            <a:avLst/>
          </a:prstGeom>
          <a:noFill/>
          <a:ln>
            <a:noFill/>
          </a:ln>
        </p:spPr>
        <p:txBody>
          <a:bodyPr vert="horz" lIns="91440" tIns="45720" rIns="91440" bIns="45720" anchor="t">
            <a:normAutofit fontScale="92500" lnSpcReduction="10000"/>
          </a:bodyPr>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r>
              <a:rPr lang="zh-CN" altLang="zh-CN" b="0" dirty="0">
                <a:solidFill>
                  <a:srgbClr val="000099"/>
                </a:solidFill>
              </a:rPr>
              <a:t>云计算</a:t>
            </a:r>
            <a:r>
              <a:rPr lang="zh-CN" altLang="en-US" b="0" dirty="0">
                <a:solidFill>
                  <a:srgbClr val="000099"/>
                </a:solidFill>
              </a:rPr>
              <a:t>应用</a:t>
            </a:r>
          </a:p>
        </p:txBody>
      </p:sp>
      <p:sp>
        <p:nvSpPr>
          <p:cNvPr id="1049615" name="Rectangle 2"/>
          <p:cNvSpPr>
            <a:spLocks noGrp="1"/>
          </p:cNvSpPr>
          <p:nvPr>
            <p:ph type="title"/>
          </p:nvPr>
        </p:nvSpPr>
        <p:spPr>
          <a:xfrm>
            <a:off x="26762" y="177253"/>
            <a:ext cx="10515600" cy="565945"/>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1.3  </a:t>
            </a:r>
            <a:r>
              <a:rPr lang="zh-CN" altLang="en-US" dirty="0">
                <a:solidFill>
                  <a:schemeClr val="bg1"/>
                </a:solidFill>
              </a:rPr>
              <a:t>网络通信体系结构</a:t>
            </a:r>
          </a:p>
        </p:txBody>
      </p:sp>
      <p:pic>
        <p:nvPicPr>
          <p:cNvPr id="2097207" name="图片 1"/>
          <p:cNvPicPr>
            <a:picLocks/>
          </p:cNvPicPr>
          <p:nvPr/>
        </p:nvPicPr>
        <p:blipFill>
          <a:blip r:embed="rId5"/>
          <a:srcRect/>
          <a:stretch>
            <a:fillRect/>
          </a:stretch>
        </p:blipFill>
        <p:spPr>
          <a:xfrm>
            <a:off x="2675731" y="1376238"/>
            <a:ext cx="6840537" cy="4995862"/>
          </a:xfrm>
          <a:prstGeom prst="rect">
            <a:avLst/>
          </a:prstGeom>
          <a:noFill/>
          <a:ln>
            <a:noFill/>
          </a:ln>
        </p:spPr>
      </p:pic>
    </p:spTree>
  </p:cSld>
  <p:clrMapOvr>
    <a:masterClrMapping/>
  </p:clrMapOvr>
  <p:transition spd="slow">
    <p:zoom/>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21" name="Rectangle 3"/>
          <p:cNvSpPr>
            <a:spLocks noGrp="1"/>
          </p:cNvSpPr>
          <p:nvPr>
            <p:ph idx="1"/>
          </p:nvPr>
        </p:nvSpPr>
        <p:spPr>
          <a:xfrm>
            <a:off x="479376" y="946672"/>
            <a:ext cx="10009112" cy="637953"/>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r>
              <a:rPr lang="zh-CN" altLang="zh-CN" b="0" dirty="0">
                <a:solidFill>
                  <a:srgbClr val="000099"/>
                </a:solidFill>
              </a:rPr>
              <a:t>云计算</a:t>
            </a:r>
            <a:r>
              <a:rPr lang="zh-CN" altLang="en-US" b="0" dirty="0">
                <a:solidFill>
                  <a:srgbClr val="000099"/>
                </a:solidFill>
              </a:rPr>
              <a:t>在视频监控中的应用</a:t>
            </a:r>
          </a:p>
        </p:txBody>
      </p:sp>
      <p:sp>
        <p:nvSpPr>
          <p:cNvPr id="1049620" name="Rectangle 2"/>
          <p:cNvSpPr>
            <a:spLocks noGrp="1"/>
          </p:cNvSpPr>
          <p:nvPr>
            <p:ph type="title"/>
          </p:nvPr>
        </p:nvSpPr>
        <p:spPr>
          <a:xfrm>
            <a:off x="19611" y="116632"/>
            <a:ext cx="10515600" cy="63795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1.3  </a:t>
            </a:r>
            <a:r>
              <a:rPr lang="zh-CN" altLang="en-US" dirty="0">
                <a:solidFill>
                  <a:schemeClr val="bg1"/>
                </a:solidFill>
              </a:rPr>
              <a:t>网络通信体系结构</a:t>
            </a:r>
          </a:p>
        </p:txBody>
      </p:sp>
      <p:pic>
        <p:nvPicPr>
          <p:cNvPr id="2097208" name="图片 2"/>
          <p:cNvPicPr>
            <a:picLocks/>
          </p:cNvPicPr>
          <p:nvPr/>
        </p:nvPicPr>
        <p:blipFill>
          <a:blip r:embed="rId5"/>
          <a:srcRect/>
          <a:stretch>
            <a:fillRect/>
          </a:stretch>
        </p:blipFill>
        <p:spPr>
          <a:xfrm>
            <a:off x="2927648" y="1588483"/>
            <a:ext cx="6481762" cy="4614862"/>
          </a:xfrm>
          <a:prstGeom prst="rect">
            <a:avLst/>
          </a:prstGeom>
          <a:noFill/>
          <a:ln>
            <a:noFill/>
          </a:ln>
        </p:spPr>
      </p:pic>
    </p:spTree>
  </p:cSld>
  <p:clrMapOvr>
    <a:masterClrMapping/>
  </p:clrMapOvr>
  <p:transition spd="slow">
    <p:zoom/>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26" name="文本占位符 158722"/>
          <p:cNvSpPr>
            <a:spLocks noGrp="1"/>
          </p:cNvSpPr>
          <p:nvPr>
            <p:ph idx="1"/>
          </p:nvPr>
        </p:nvSpPr>
        <p:spPr>
          <a:xfrm>
            <a:off x="479376" y="908720"/>
            <a:ext cx="10515600" cy="4351338"/>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a:lnSpc>
                <a:spcPct val="100000"/>
              </a:lnSpc>
              <a:buFont typeface="Wingdings" pitchFamily="2" charset="2"/>
              <a:buBlip>
                <a:blip r:embed="rId2"/>
              </a:buBlip>
            </a:pPr>
            <a:r>
              <a:rPr lang="en-US" altLang="zh-CN" sz="2400" dirty="0">
                <a:solidFill>
                  <a:schemeClr val="tx1"/>
                </a:solidFill>
              </a:rPr>
              <a:t>1.3.5 SDN </a:t>
            </a:r>
            <a:r>
              <a:rPr lang="zh-CN" altLang="en-US" sz="2400" dirty="0">
                <a:solidFill>
                  <a:schemeClr val="tx1"/>
                </a:solidFill>
              </a:rPr>
              <a:t>软件定义网络</a:t>
            </a:r>
          </a:p>
          <a:p>
            <a:pPr lvl="1">
              <a:lnSpc>
                <a:spcPct val="100000"/>
              </a:lnSpc>
              <a:buFont typeface="Wingdings" pitchFamily="2" charset="2"/>
              <a:buBlip>
                <a:blip r:embed="rId3"/>
              </a:buBlip>
            </a:pPr>
            <a:r>
              <a:rPr lang="en-US" altLang="zh-CN" sz="2000" dirty="0">
                <a:solidFill>
                  <a:schemeClr val="tx1"/>
                </a:solidFill>
              </a:rPr>
              <a:t>2006</a:t>
            </a:r>
            <a:r>
              <a:rPr lang="zh-CN" altLang="en-US" sz="2000" dirty="0">
                <a:solidFill>
                  <a:schemeClr val="tx1"/>
                </a:solidFill>
              </a:rPr>
              <a:t>年，</a:t>
            </a:r>
            <a:r>
              <a:rPr lang="en-US" altLang="zh-CN" sz="2000" dirty="0">
                <a:solidFill>
                  <a:schemeClr val="tx1"/>
                </a:solidFill>
              </a:rPr>
              <a:t>SDN</a:t>
            </a:r>
            <a:r>
              <a:rPr lang="zh-CN" altLang="en-US" sz="2000" dirty="0">
                <a:solidFill>
                  <a:schemeClr val="tx1"/>
                </a:solidFill>
              </a:rPr>
              <a:t>是美国</a:t>
            </a:r>
            <a:r>
              <a:rPr lang="en-US" altLang="zh-CN" sz="2000" dirty="0">
                <a:solidFill>
                  <a:schemeClr val="tx1"/>
                </a:solidFill>
              </a:rPr>
              <a:t>GENI</a:t>
            </a:r>
            <a:r>
              <a:rPr lang="zh-CN" altLang="en-US" sz="2000" dirty="0">
                <a:solidFill>
                  <a:schemeClr val="tx1"/>
                </a:solidFill>
              </a:rPr>
              <a:t>项目中由斯坦福大学</a:t>
            </a:r>
            <a:r>
              <a:rPr lang="en-US" altLang="zh-CN" sz="2000" dirty="0">
                <a:solidFill>
                  <a:schemeClr val="tx1"/>
                </a:solidFill>
              </a:rPr>
              <a:t>Clean Slate</a:t>
            </a:r>
            <a:r>
              <a:rPr lang="zh-CN" altLang="en-US" sz="2000" dirty="0">
                <a:solidFill>
                  <a:schemeClr val="tx1"/>
                </a:solidFill>
              </a:rPr>
              <a:t>课题提出的一种新型网络创新架构。</a:t>
            </a:r>
            <a:r>
              <a:rPr lang="en-US" altLang="zh-CN" sz="2000" dirty="0">
                <a:solidFill>
                  <a:schemeClr val="tx1"/>
                </a:solidFill>
              </a:rPr>
              <a:t>SDN</a:t>
            </a:r>
            <a:r>
              <a:rPr lang="zh-CN" altLang="en-US" sz="2000" dirty="0">
                <a:solidFill>
                  <a:schemeClr val="tx1"/>
                </a:solidFill>
              </a:rPr>
              <a:t>的目的是提供一个可编程的开放性的接口来控制网络中通信，网络中流量都通过它进行修改或查看。在</a:t>
            </a:r>
            <a:r>
              <a:rPr lang="en-US" altLang="zh-CN" sz="2000" dirty="0">
                <a:solidFill>
                  <a:schemeClr val="tx1"/>
                </a:solidFill>
              </a:rPr>
              <a:t>SDN</a:t>
            </a:r>
            <a:r>
              <a:rPr lang="zh-CN" altLang="en-US" sz="2000" dirty="0">
                <a:solidFill>
                  <a:schemeClr val="tx1"/>
                </a:solidFill>
              </a:rPr>
              <a:t>的架构中，控制层和转发层是解耦的，网络是智能化并且是集中控制的，对于应用层来说下层网络基础设施是抽象的。这个体系架构能提供前所未有的可编程，自动化，网络控制来建立大规模，灵活，满足多变的商业需求。</a:t>
            </a:r>
          </a:p>
          <a:p>
            <a:pPr lvl="1">
              <a:lnSpc>
                <a:spcPct val="100000"/>
              </a:lnSpc>
              <a:buFont typeface="Wingdings" pitchFamily="2" charset="2"/>
              <a:buBlip>
                <a:blip r:embed="rId3"/>
              </a:buBlip>
            </a:pPr>
            <a:r>
              <a:rPr lang="en-US" altLang="zh-CN" sz="2000" dirty="0">
                <a:solidFill>
                  <a:schemeClr val="tx1"/>
                </a:solidFill>
              </a:rPr>
              <a:t>SDN</a:t>
            </a:r>
            <a:r>
              <a:rPr lang="zh-CN" altLang="en-US" sz="2000" dirty="0">
                <a:solidFill>
                  <a:schemeClr val="tx1"/>
                </a:solidFill>
              </a:rPr>
              <a:t>架构的基本理论分为</a:t>
            </a:r>
            <a:r>
              <a:rPr lang="en-US" altLang="zh-CN" sz="2000" dirty="0">
                <a:solidFill>
                  <a:schemeClr val="tx1"/>
                </a:solidFill>
              </a:rPr>
              <a:t>3</a:t>
            </a:r>
            <a:r>
              <a:rPr lang="zh-CN" altLang="en-US" sz="2000" dirty="0">
                <a:solidFill>
                  <a:schemeClr val="tx1"/>
                </a:solidFill>
              </a:rPr>
              <a:t>个部分</a:t>
            </a:r>
          </a:p>
          <a:p>
            <a:pPr lvl="2">
              <a:lnSpc>
                <a:spcPct val="100000"/>
              </a:lnSpc>
            </a:pPr>
            <a:r>
              <a:rPr lang="zh-CN" altLang="en-US" sz="1800" dirty="0">
                <a:solidFill>
                  <a:schemeClr val="tx1"/>
                </a:solidFill>
              </a:rPr>
              <a:t>控制层和数据层的解耦：虽然控制层和数据层解耦了，但是控制层可以通过接口来控制数据层转发数据。</a:t>
            </a:r>
          </a:p>
          <a:p>
            <a:pPr lvl="2">
              <a:lnSpc>
                <a:spcPct val="100000"/>
              </a:lnSpc>
            </a:pPr>
            <a:r>
              <a:rPr lang="zh-CN" altLang="en-US" sz="1800" dirty="0">
                <a:solidFill>
                  <a:schemeClr val="tx1"/>
                </a:solidFill>
              </a:rPr>
              <a:t>逻辑上集中控制：</a:t>
            </a:r>
          </a:p>
          <a:p>
            <a:pPr lvl="2">
              <a:lnSpc>
                <a:spcPct val="100000"/>
              </a:lnSpc>
            </a:pPr>
            <a:r>
              <a:rPr lang="zh-CN" altLang="en-US" sz="1800" dirty="0">
                <a:solidFill>
                  <a:schemeClr val="tx1"/>
                </a:solidFill>
              </a:rPr>
              <a:t>将底层的网络资源从应用中抽象出来</a:t>
            </a:r>
          </a:p>
        </p:txBody>
      </p:sp>
      <p:sp>
        <p:nvSpPr>
          <p:cNvPr id="1049625" name="标题 158721"/>
          <p:cNvSpPr>
            <a:spLocks noGrp="1"/>
          </p:cNvSpPr>
          <p:nvPr>
            <p:ph type="title"/>
          </p:nvPr>
        </p:nvSpPr>
        <p:spPr>
          <a:xfrm>
            <a:off x="8196" y="152400"/>
            <a:ext cx="10515600" cy="565945"/>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a:r>
              <a:rPr lang="zh-CN" altLang="zh-CN" dirty="0">
                <a:solidFill>
                  <a:schemeClr val="bg1"/>
                </a:solidFill>
                <a:sym typeface="+mn-ea"/>
              </a:rPr>
              <a:t>1.3  </a:t>
            </a:r>
            <a:r>
              <a:rPr lang="zh-CN" altLang="en-US" dirty="0">
                <a:solidFill>
                  <a:schemeClr val="bg1"/>
                </a:solidFill>
                <a:sym typeface="+mn-ea"/>
              </a:rPr>
              <a:t>网络通信体系结构</a:t>
            </a:r>
          </a:p>
        </p:txBody>
      </p:sp>
    </p:spTree>
  </p:cSld>
  <p:clrMapOvr>
    <a:masterClrMapping/>
  </p:clrMapOvr>
  <p:transition spd="slow">
    <p:zoom/>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30" name="文本占位符 159746"/>
          <p:cNvSpPr>
            <a:spLocks noGrp="1"/>
          </p:cNvSpPr>
          <p:nvPr>
            <p:ph idx="1"/>
          </p:nvPr>
        </p:nvSpPr>
        <p:spPr>
          <a:xfrm>
            <a:off x="407368" y="849741"/>
            <a:ext cx="10441160" cy="1283115"/>
          </a:xfrm>
          <a:prstGeom prst="rect">
            <a:avLst/>
          </a:prstGeom>
          <a:noFill/>
          <a:ln>
            <a:noFill/>
          </a:ln>
        </p:spPr>
        <p:txBody>
          <a:bodyPr vert="horz" lIns="91440" tIns="45720" rIns="91440" bIns="45720" anchor="t">
            <a:normAutofit fontScale="92500" lnSpcReduction="10000"/>
          </a:bodyPr>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marL="0" indent="0">
              <a:buNone/>
            </a:pPr>
            <a:r>
              <a:rPr lang="zh-CN" altLang="zh-CN" sz="2400" dirty="0">
                <a:solidFill>
                  <a:schemeClr val="tx1"/>
                </a:solidFill>
                <a:sym typeface="+mn-ea"/>
              </a:rPr>
              <a:t>1. ONF</a:t>
            </a:r>
            <a:r>
              <a:rPr lang="zh-CN" altLang="en-US" sz="2400" dirty="0">
                <a:solidFill>
                  <a:schemeClr val="tx1"/>
                </a:solidFill>
                <a:sym typeface="+mn-ea"/>
              </a:rPr>
              <a:t>定义的</a:t>
            </a:r>
            <a:r>
              <a:rPr lang="zh-CN" altLang="zh-CN" sz="2400" dirty="0">
                <a:solidFill>
                  <a:schemeClr val="tx1"/>
                </a:solidFill>
                <a:sym typeface="+mn-ea"/>
              </a:rPr>
              <a:t>SDN</a:t>
            </a:r>
            <a:r>
              <a:rPr lang="zh-CN" altLang="en-US" sz="2400" dirty="0">
                <a:solidFill>
                  <a:schemeClr val="tx1"/>
                </a:solidFill>
                <a:sym typeface="+mn-ea"/>
              </a:rPr>
              <a:t>结构图 </a:t>
            </a:r>
          </a:p>
          <a:p>
            <a:pPr marL="0" indent="0"/>
            <a:r>
              <a:rPr lang="zh-CN" altLang="zh-CN" sz="2400" dirty="0">
                <a:solidFill>
                  <a:schemeClr val="tx1"/>
                </a:solidFill>
              </a:rPr>
              <a:t>开放网络基金会（Open Networking Foundation, ONF</a:t>
            </a:r>
            <a:r>
              <a:rPr lang="zh-CN" altLang="en-US" sz="2400" dirty="0">
                <a:solidFill>
                  <a:schemeClr val="tx1"/>
                </a:solidFill>
              </a:rPr>
              <a:t>）提供的白皮书中定义了</a:t>
            </a:r>
            <a:r>
              <a:rPr lang="zh-CN" altLang="zh-CN" sz="2400" dirty="0">
                <a:solidFill>
                  <a:schemeClr val="tx1"/>
                </a:solidFill>
              </a:rPr>
              <a:t>SDN</a:t>
            </a:r>
            <a:r>
              <a:rPr lang="zh-CN" altLang="en-US" sz="2400" dirty="0">
                <a:solidFill>
                  <a:schemeClr val="tx1"/>
                </a:solidFill>
              </a:rPr>
              <a:t>体系结构。 </a:t>
            </a:r>
            <a:br>
              <a:rPr dirty="0">
                <a:solidFill>
                  <a:schemeClr val="tx1"/>
                </a:solidFill>
              </a:rPr>
            </a:br>
            <a:endParaRPr lang="zh-CN" altLang="en-US" sz="2400" dirty="0">
              <a:solidFill>
                <a:schemeClr val="tx1"/>
              </a:solidFill>
            </a:endParaRPr>
          </a:p>
        </p:txBody>
      </p:sp>
      <p:sp>
        <p:nvSpPr>
          <p:cNvPr id="1049632" name="标题 1"/>
          <p:cNvSpPr>
            <a:spLocks noGrp="1"/>
          </p:cNvSpPr>
          <p:nvPr>
            <p:ph type="title"/>
          </p:nvPr>
        </p:nvSpPr>
        <p:spPr>
          <a:xfrm>
            <a:off x="47328" y="259108"/>
            <a:ext cx="10515600" cy="421929"/>
          </a:xfrm>
          <a:prstGeom prst="rect">
            <a:avLst/>
          </a:prstGeom>
          <a:noFill/>
          <a:ln>
            <a:noFill/>
          </a:ln>
        </p:spPr>
        <p:txBody>
          <a:bodyPr vert="horz" lIns="91440" tIns="45720" rIns="91440" bIns="45720" anchor="ctr">
            <a:normAutofit fontScale="90000"/>
          </a:bodyP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a:r>
              <a:rPr lang="en-US" altLang="zh-CN" dirty="0">
                <a:solidFill>
                  <a:schemeClr val="bg1"/>
                </a:solidFill>
                <a:sym typeface="黑体" pitchFamily="49" charset="-122"/>
              </a:rPr>
              <a:t>1.3  </a:t>
            </a:r>
            <a:r>
              <a:rPr lang="zh-CN" altLang="en-US" dirty="0">
                <a:solidFill>
                  <a:schemeClr val="bg1"/>
                </a:solidFill>
                <a:sym typeface="黑体" pitchFamily="49" charset="-122"/>
              </a:rPr>
              <a:t>网络通信体系结构</a:t>
            </a:r>
          </a:p>
        </p:txBody>
      </p:sp>
      <p:sp>
        <p:nvSpPr>
          <p:cNvPr id="1049631" name="矩形 159748"/>
          <p:cNvSpPr/>
          <p:nvPr/>
        </p:nvSpPr>
        <p:spPr>
          <a:xfrm>
            <a:off x="1524000" y="1576387"/>
            <a:ext cx="9144000" cy="0"/>
          </a:xfrm>
          <a:prstGeom prst="rect">
            <a:avLst/>
          </a:prstGeom>
          <a:noFill/>
          <a:ln>
            <a:noFill/>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endParaRPr lang="zh-CN" altLang="en-US"/>
          </a:p>
        </p:txBody>
      </p:sp>
      <p:graphicFrame>
        <p:nvGraphicFramePr>
          <p:cNvPr id="4194315" name="对象 4194314"/>
          <p:cNvGraphicFramePr>
            <a:graphicFrameLocks/>
          </p:cNvGraphicFramePr>
          <p:nvPr>
            <p:extLst>
              <p:ext uri="{D42A27DB-BD31-4B8C-83A1-F6EECF244321}">
                <p14:modId xmlns:p14="http://schemas.microsoft.com/office/powerpoint/2010/main" val="2971522483"/>
              </p:ext>
            </p:extLst>
          </p:nvPr>
        </p:nvGraphicFramePr>
        <p:xfrm>
          <a:off x="3919537" y="2276872"/>
          <a:ext cx="4352925" cy="3705225"/>
        </p:xfrm>
        <a:graphic>
          <a:graphicData uri="http://schemas.openxmlformats.org/presentationml/2006/ole">
            <mc:AlternateContent xmlns:mc="http://schemas.openxmlformats.org/markup-compatibility/2006">
              <mc:Choice xmlns:v="urn:schemas-microsoft-com:vml" Requires="v">
                <p:oleObj r:id="rId5" imgW="4352925" imgH="3705225" progId="Visio.Drawing.11">
                  <p:embed followColorScheme="full"/>
                </p:oleObj>
              </mc:Choice>
              <mc:Fallback>
                <p:oleObj r:id="rId5" imgW="4352925" imgH="3705225" progId="Visio.Drawing.11">
                  <p:embed followColorScheme="full"/>
                  <p:pic>
                    <p:nvPicPr>
                      <p:cNvPr id="2097209" name="对象 159747"/>
                      <p:cNvPicPr>
                        <a:picLocks/>
                      </p:cNvPicPr>
                      <p:nvPr/>
                    </p:nvPicPr>
                    <p:blipFill>
                      <a:blip r:embed="rId6"/>
                      <a:srcRect/>
                      <a:stretch>
                        <a:fillRect/>
                      </a:stretch>
                    </p:blipFill>
                    <p:spPr>
                      <a:xfrm>
                        <a:off x="3919537" y="2276872"/>
                        <a:ext cx="4352925" cy="3705225"/>
                      </a:xfrm>
                      <a:prstGeom prst="rect">
                        <a:avLst/>
                      </a:prstGeom>
                      <a:noFill/>
                      <a:ln>
                        <a:noFill/>
                      </a:ln>
                    </p:spPr>
                  </p:pic>
                </p:oleObj>
              </mc:Fallback>
            </mc:AlternateContent>
          </a:graphicData>
        </a:graphic>
      </p:graphicFrame>
    </p:spTree>
  </p:cSld>
  <p:clrMapOvr>
    <a:masterClrMapping/>
  </p:clrMapOvr>
  <p:transition spd="slow">
    <p:zoom/>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36" name="文本占位符 160770"/>
          <p:cNvSpPr>
            <a:spLocks noGrp="1"/>
          </p:cNvSpPr>
          <p:nvPr>
            <p:ph idx="1"/>
          </p:nvPr>
        </p:nvSpPr>
        <p:spPr>
          <a:xfrm>
            <a:off x="551384" y="1052736"/>
            <a:ext cx="10515600" cy="4351338"/>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marL="0" indent="0">
              <a:buNone/>
            </a:pPr>
            <a:r>
              <a:rPr lang="zh-CN" altLang="zh-CN" sz="2400" dirty="0">
                <a:solidFill>
                  <a:schemeClr val="tx1"/>
                </a:solidFill>
                <a:sym typeface="+mn-ea"/>
              </a:rPr>
              <a:t>2. RFC 7429</a:t>
            </a:r>
            <a:r>
              <a:rPr lang="zh-CN" altLang="en-US" sz="2400" dirty="0">
                <a:solidFill>
                  <a:schemeClr val="tx1"/>
                </a:solidFill>
                <a:sym typeface="+mn-ea"/>
              </a:rPr>
              <a:t>标准的</a:t>
            </a:r>
            <a:r>
              <a:rPr lang="zh-CN" altLang="zh-CN" sz="2400" dirty="0">
                <a:solidFill>
                  <a:schemeClr val="tx1"/>
                </a:solidFill>
                <a:sym typeface="+mn-ea"/>
              </a:rPr>
              <a:t>SDN</a:t>
            </a:r>
          </a:p>
          <a:p>
            <a:pPr marL="0" indent="0"/>
            <a:r>
              <a:rPr lang="zh-CN" altLang="en-US" sz="2400" dirty="0">
                <a:solidFill>
                  <a:schemeClr val="tx1"/>
                </a:solidFill>
              </a:rPr>
              <a:t>在</a:t>
            </a:r>
            <a:r>
              <a:rPr lang="zh-CN" altLang="zh-CN" sz="2400" dirty="0">
                <a:solidFill>
                  <a:schemeClr val="tx1"/>
                </a:solidFill>
              </a:rPr>
              <a:t>RFC 7429</a:t>
            </a:r>
            <a:r>
              <a:rPr lang="zh-CN" altLang="en-US" sz="2400" dirty="0">
                <a:solidFill>
                  <a:schemeClr val="tx1"/>
                </a:solidFill>
              </a:rPr>
              <a:t>标准中，对</a:t>
            </a:r>
            <a:r>
              <a:rPr lang="zh-CN" altLang="zh-CN" sz="2400" dirty="0">
                <a:solidFill>
                  <a:schemeClr val="tx1"/>
                </a:solidFill>
              </a:rPr>
              <a:t>SDN</a:t>
            </a:r>
            <a:r>
              <a:rPr lang="zh-CN" altLang="en-US" sz="2400" dirty="0">
                <a:solidFill>
                  <a:schemeClr val="tx1"/>
                </a:solidFill>
              </a:rPr>
              <a:t>体系结构做了更详细的定义，把</a:t>
            </a:r>
            <a:r>
              <a:rPr lang="zh-CN" altLang="zh-CN" sz="2400" dirty="0">
                <a:solidFill>
                  <a:schemeClr val="tx1"/>
                </a:solidFill>
              </a:rPr>
              <a:t>SDN</a:t>
            </a:r>
            <a:r>
              <a:rPr lang="zh-CN" altLang="en-US" sz="2400" dirty="0">
                <a:solidFill>
                  <a:schemeClr val="tx1"/>
                </a:solidFill>
              </a:rPr>
              <a:t>网络分为</a:t>
            </a:r>
            <a:r>
              <a:rPr lang="zh-CN" altLang="zh-CN" sz="2400" dirty="0">
                <a:solidFill>
                  <a:schemeClr val="tx1"/>
                </a:solidFill>
              </a:rPr>
              <a:t>4</a:t>
            </a:r>
            <a:r>
              <a:rPr lang="zh-CN" altLang="en-US" sz="2400" dirty="0">
                <a:solidFill>
                  <a:schemeClr val="tx1"/>
                </a:solidFill>
              </a:rPr>
              <a:t>个平面，存在多个平面（</a:t>
            </a:r>
            <a:r>
              <a:rPr lang="zh-CN" altLang="zh-CN" sz="2400" dirty="0">
                <a:solidFill>
                  <a:schemeClr val="tx1"/>
                </a:solidFill>
              </a:rPr>
              <a:t>Plane</a:t>
            </a:r>
            <a:r>
              <a:rPr lang="zh-CN" altLang="en-US" sz="2400" dirty="0">
                <a:solidFill>
                  <a:schemeClr val="tx1"/>
                </a:solidFill>
              </a:rPr>
              <a:t>），且平面可以是物理上独立的，也可以是由其他平面或层组合形成。</a:t>
            </a:r>
          </a:p>
        </p:txBody>
      </p:sp>
      <p:sp>
        <p:nvSpPr>
          <p:cNvPr id="1049638" name="标题 1"/>
          <p:cNvSpPr>
            <a:spLocks noGrp="1"/>
          </p:cNvSpPr>
          <p:nvPr>
            <p:ph type="title"/>
          </p:nvPr>
        </p:nvSpPr>
        <p:spPr>
          <a:xfrm>
            <a:off x="47328" y="149236"/>
            <a:ext cx="10515600" cy="565939"/>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a:r>
              <a:rPr lang="en-US" altLang="zh-CN" dirty="0">
                <a:solidFill>
                  <a:schemeClr val="bg1"/>
                </a:solidFill>
                <a:sym typeface="黑体" pitchFamily="49" charset="-122"/>
              </a:rPr>
              <a:t>1.3  </a:t>
            </a:r>
            <a:r>
              <a:rPr lang="zh-CN" altLang="en-US" dirty="0">
                <a:solidFill>
                  <a:schemeClr val="bg1"/>
                </a:solidFill>
                <a:sym typeface="黑体" pitchFamily="49" charset="-122"/>
              </a:rPr>
              <a:t>网络通信体系结构</a:t>
            </a:r>
          </a:p>
        </p:txBody>
      </p:sp>
      <p:sp>
        <p:nvSpPr>
          <p:cNvPr id="1049637" name="矩形 160772"/>
          <p:cNvSpPr/>
          <p:nvPr/>
        </p:nvSpPr>
        <p:spPr>
          <a:xfrm>
            <a:off x="1524000" y="676275"/>
            <a:ext cx="9144000" cy="0"/>
          </a:xfrm>
          <a:prstGeom prst="rect">
            <a:avLst/>
          </a:prstGeom>
          <a:noFill/>
          <a:ln>
            <a:noFill/>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endParaRPr lang="zh-CN" altLang="en-US"/>
          </a:p>
        </p:txBody>
      </p:sp>
    </p:spTree>
  </p:cSld>
  <p:clrMapOvr>
    <a:masterClrMapping/>
  </p:clrMapOvr>
  <p:transition spd="slow">
    <p:zoom/>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94316" name="对象 4194315"/>
          <p:cNvGraphicFramePr>
            <a:graphicFrameLocks/>
          </p:cNvGraphicFramePr>
          <p:nvPr>
            <p:extLst>
              <p:ext uri="{D42A27DB-BD31-4B8C-83A1-F6EECF244321}">
                <p14:modId xmlns:p14="http://schemas.microsoft.com/office/powerpoint/2010/main" val="3357144445"/>
              </p:ext>
            </p:extLst>
          </p:nvPr>
        </p:nvGraphicFramePr>
        <p:xfrm>
          <a:off x="4151784" y="1416049"/>
          <a:ext cx="3860800" cy="4525962"/>
        </p:xfrm>
        <a:graphic>
          <a:graphicData uri="http://schemas.openxmlformats.org/presentationml/2006/ole">
            <mc:AlternateContent xmlns:mc="http://schemas.openxmlformats.org/markup-compatibility/2006">
              <mc:Choice xmlns:v="urn:schemas-microsoft-com:vml" Requires="v">
                <p:oleObj r:id="rId2" imgW="3860800" imgH="4525962" progId="Visio.Drawing.11">
                  <p:embed followColorScheme="full"/>
                </p:oleObj>
              </mc:Choice>
              <mc:Fallback>
                <p:oleObj r:id="rId2" imgW="3860800" imgH="4525962" progId="Visio.Drawing.11">
                  <p:embed followColorScheme="full"/>
                  <p:pic>
                    <p:nvPicPr>
                      <p:cNvPr id="2097210" name="内容占位符 161795"/>
                      <p:cNvPicPr>
                        <a:picLocks/>
                      </p:cNvPicPr>
                      <p:nvPr>
                        <p:ph idx="1"/>
                      </p:nvPr>
                    </p:nvPicPr>
                    <p:blipFill>
                      <a:blip r:embed="rId3"/>
                      <a:srcRect/>
                      <a:stretch>
                        <a:fillRect/>
                      </a:stretch>
                    </p:blipFill>
                    <p:spPr bwMode="auto">
                      <a:xfrm>
                        <a:off x="4151784" y="1416049"/>
                        <a:ext cx="3860800" cy="4525962"/>
                      </a:xfrm>
                      <a:prstGeom prst="rect">
                        <a:avLst/>
                      </a:prstGeom>
                      <a:noFill/>
                      <a:ln>
                        <a:noFill/>
                      </a:ln>
                    </p:spPr>
                  </p:pic>
                </p:oleObj>
              </mc:Fallback>
            </mc:AlternateContent>
          </a:graphicData>
        </a:graphic>
      </p:graphicFrame>
      <p:sp>
        <p:nvSpPr>
          <p:cNvPr id="1049642" name="标题 161796"/>
          <p:cNvSpPr/>
          <p:nvPr/>
        </p:nvSpPr>
        <p:spPr>
          <a:xfrm>
            <a:off x="407368" y="839787"/>
            <a:ext cx="6480175" cy="576262"/>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r>
              <a:rPr lang="en-US" altLang="zh-CN" sz="2400" b="1" dirty="0">
                <a:solidFill>
                  <a:schemeClr val="tx1"/>
                </a:solidFill>
              </a:rPr>
              <a:t>RFC 7429</a:t>
            </a:r>
            <a:r>
              <a:rPr lang="zh-CN" altLang="en-US" sz="2400" b="1" dirty="0">
                <a:solidFill>
                  <a:schemeClr val="tx1"/>
                </a:solidFill>
                <a:ea typeface="幼圆" pitchFamily="49" charset="-122"/>
              </a:rPr>
              <a:t>标准的</a:t>
            </a:r>
            <a:r>
              <a:rPr lang="en-US" altLang="zh-CN" sz="2400" b="1" dirty="0">
                <a:solidFill>
                  <a:schemeClr val="tx1"/>
                </a:solidFill>
              </a:rPr>
              <a:t>SDN</a:t>
            </a:r>
            <a:r>
              <a:rPr lang="zh-CN" altLang="en-US" sz="2400" b="1" dirty="0">
                <a:solidFill>
                  <a:schemeClr val="tx1"/>
                </a:solidFill>
                <a:ea typeface="幼圆" pitchFamily="49" charset="-122"/>
              </a:rPr>
              <a:t>结构图</a:t>
            </a:r>
          </a:p>
        </p:txBody>
      </p:sp>
      <p:sp>
        <p:nvSpPr>
          <p:cNvPr id="1049643" name="标题 2"/>
          <p:cNvSpPr>
            <a:spLocks noGrp="1"/>
          </p:cNvSpPr>
          <p:nvPr>
            <p:ph type="title"/>
          </p:nvPr>
        </p:nvSpPr>
        <p:spPr>
          <a:xfrm>
            <a:off x="36513" y="146968"/>
            <a:ext cx="10515600" cy="563565"/>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a:r>
              <a:rPr lang="en-US" altLang="zh-CN" dirty="0">
                <a:solidFill>
                  <a:schemeClr val="bg1"/>
                </a:solidFill>
                <a:sym typeface="黑体" pitchFamily="49" charset="-122"/>
              </a:rPr>
              <a:t>1.3  </a:t>
            </a:r>
            <a:r>
              <a:rPr lang="zh-CN" altLang="en-US" dirty="0">
                <a:solidFill>
                  <a:schemeClr val="bg1"/>
                </a:solidFill>
                <a:sym typeface="黑体" pitchFamily="49" charset="-122"/>
              </a:rPr>
              <a:t>网络通信体系结构</a:t>
            </a:r>
          </a:p>
        </p:txBody>
      </p:sp>
    </p:spTree>
  </p:cSld>
  <p:clrMapOvr>
    <a:masterClrMapping/>
  </p:clrMapOvr>
  <p:transition spd="slow">
    <p:zoom/>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47" name="文本占位符 164866"/>
          <p:cNvSpPr>
            <a:spLocks noGrp="1"/>
          </p:cNvSpPr>
          <p:nvPr>
            <p:ph idx="1"/>
          </p:nvPr>
        </p:nvSpPr>
        <p:spPr>
          <a:xfrm>
            <a:off x="479376" y="908720"/>
            <a:ext cx="10515600" cy="4351338"/>
          </a:xfrm>
          <a:prstGeom prst="rect">
            <a:avLst/>
          </a:prstGeom>
          <a:noFill/>
          <a:ln>
            <a:noFill/>
          </a:ln>
        </p:spPr>
        <p:txBody>
          <a:bodyPr vert="horz" lIns="91440" tIns="45720" rIns="91440" bIns="45720" anchor="t">
            <a:normAutofit/>
          </a:bodyPr>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marL="0" indent="0">
              <a:lnSpc>
                <a:spcPct val="100000"/>
              </a:lnSpc>
              <a:buNone/>
            </a:pPr>
            <a:r>
              <a:rPr lang="zh-CN" altLang="zh-CN" sz="2400" dirty="0">
                <a:solidFill>
                  <a:schemeClr val="tx1"/>
                </a:solidFill>
              </a:rPr>
              <a:t>3. </a:t>
            </a:r>
            <a:r>
              <a:rPr lang="zh-CN" altLang="zh-CN" sz="2400" dirty="0">
                <a:solidFill>
                  <a:schemeClr val="tx1"/>
                </a:solidFill>
                <a:sym typeface="+mn-ea"/>
              </a:rPr>
              <a:t>SDN </a:t>
            </a:r>
            <a:r>
              <a:rPr lang="zh-CN" altLang="en-US" sz="2400" dirty="0">
                <a:solidFill>
                  <a:schemeClr val="tx1"/>
                </a:solidFill>
              </a:rPr>
              <a:t>OpenFlow技术 </a:t>
            </a:r>
          </a:p>
          <a:p>
            <a:pPr marL="0" indent="0">
              <a:lnSpc>
                <a:spcPct val="100000"/>
              </a:lnSpc>
            </a:pPr>
            <a:r>
              <a:rPr lang="zh-CN" altLang="zh-CN" sz="2400" dirty="0">
                <a:solidFill>
                  <a:schemeClr val="tx1"/>
                </a:solidFill>
              </a:rPr>
              <a:t>一个OpenFlow</a:t>
            </a:r>
            <a:r>
              <a:rPr lang="zh-CN" altLang="en-US" sz="2400" dirty="0">
                <a:solidFill>
                  <a:schemeClr val="tx1"/>
                </a:solidFill>
              </a:rPr>
              <a:t>交换机有至少三个部分组成</a:t>
            </a:r>
          </a:p>
          <a:p>
            <a:pPr lvl="1">
              <a:lnSpc>
                <a:spcPct val="100000"/>
              </a:lnSpc>
            </a:pPr>
            <a:r>
              <a:rPr lang="zh-CN" altLang="zh-CN" sz="2000" dirty="0">
                <a:solidFill>
                  <a:schemeClr val="tx1"/>
                </a:solidFill>
              </a:rPr>
              <a:t>流表：由流表项和指令组成，它告诉交换机怎么处理流。</a:t>
            </a:r>
          </a:p>
          <a:p>
            <a:pPr lvl="1">
              <a:lnSpc>
                <a:spcPct val="100000"/>
              </a:lnSpc>
            </a:pPr>
            <a:r>
              <a:rPr lang="zh-CN" altLang="zh-CN" sz="2000" dirty="0">
                <a:solidFill>
                  <a:schemeClr val="tx1"/>
                </a:solidFill>
              </a:rPr>
              <a:t>安全信道：交换机和控制器之间的交流通道，传输控制器对交换机的命令和包。</a:t>
            </a:r>
          </a:p>
          <a:p>
            <a:pPr lvl="1">
              <a:lnSpc>
                <a:spcPct val="100000"/>
              </a:lnSpc>
            </a:pPr>
            <a:r>
              <a:rPr lang="zh-CN" altLang="zh-CN" sz="2000" dirty="0">
                <a:solidFill>
                  <a:schemeClr val="tx1"/>
                </a:solidFill>
              </a:rPr>
              <a:t>OpenFlow</a:t>
            </a:r>
            <a:r>
              <a:rPr lang="zh-CN" altLang="en-US" sz="2000" dirty="0">
                <a:solidFill>
                  <a:schemeClr val="tx1"/>
                </a:solidFill>
              </a:rPr>
              <a:t>协议：为控制器和交换机之间通信提供一个开放的标准化的方法。</a:t>
            </a:r>
          </a:p>
          <a:p>
            <a:pPr marL="0" indent="0">
              <a:lnSpc>
                <a:spcPct val="100000"/>
              </a:lnSpc>
            </a:pPr>
            <a:r>
              <a:rPr lang="zh-CN" altLang="zh-CN" sz="2400" dirty="0">
                <a:solidFill>
                  <a:schemeClr val="tx1"/>
                </a:solidFill>
              </a:rPr>
              <a:t>OpenFlow</a:t>
            </a:r>
            <a:r>
              <a:rPr lang="zh-CN" altLang="en-US" sz="2400" dirty="0">
                <a:solidFill>
                  <a:schemeClr val="tx1"/>
                </a:solidFill>
              </a:rPr>
              <a:t>是在</a:t>
            </a:r>
            <a:r>
              <a:rPr lang="zh-CN" altLang="zh-CN" sz="2400" dirty="0">
                <a:solidFill>
                  <a:schemeClr val="tx1"/>
                </a:solidFill>
              </a:rPr>
              <a:t>SDN</a:t>
            </a:r>
            <a:r>
              <a:rPr lang="zh-CN" altLang="en-US" sz="2400" dirty="0">
                <a:solidFill>
                  <a:schemeClr val="tx1"/>
                </a:solidFill>
              </a:rPr>
              <a:t>架构的控制层和转发层之间第一个标准通信接口。</a:t>
            </a:r>
            <a:r>
              <a:rPr lang="zh-CN" altLang="zh-CN" sz="2400" dirty="0">
                <a:solidFill>
                  <a:schemeClr val="tx1"/>
                </a:solidFill>
              </a:rPr>
              <a:t>OpenFlow</a:t>
            </a:r>
            <a:r>
              <a:rPr lang="zh-CN" altLang="en-US" sz="2400" dirty="0">
                <a:solidFill>
                  <a:schemeClr val="tx1"/>
                </a:solidFill>
              </a:rPr>
              <a:t>可以直接处理网络设备的转发。基于</a:t>
            </a:r>
            <a:r>
              <a:rPr lang="zh-CN" altLang="zh-CN" sz="2400" dirty="0">
                <a:solidFill>
                  <a:schemeClr val="tx1"/>
                </a:solidFill>
              </a:rPr>
              <a:t>OpenFlow</a:t>
            </a:r>
            <a:r>
              <a:rPr lang="zh-CN" altLang="en-US" sz="2400" dirty="0">
                <a:solidFill>
                  <a:schemeClr val="tx1"/>
                </a:solidFill>
              </a:rPr>
              <a:t>的</a:t>
            </a:r>
            <a:r>
              <a:rPr lang="zh-CN" altLang="zh-CN" sz="2400" dirty="0">
                <a:solidFill>
                  <a:schemeClr val="tx1"/>
                </a:solidFill>
              </a:rPr>
              <a:t>SDN</a:t>
            </a:r>
            <a:r>
              <a:rPr lang="zh-CN" altLang="en-US" sz="2400" dirty="0">
                <a:solidFill>
                  <a:schemeClr val="tx1"/>
                </a:solidFill>
              </a:rPr>
              <a:t>技术能够帮助技术人员解决高带宽，现在应用的动态性，适应多变的商业需求，大大减少操作和管理的复杂性。</a:t>
            </a:r>
          </a:p>
        </p:txBody>
      </p:sp>
      <p:sp>
        <p:nvSpPr>
          <p:cNvPr id="1049648" name="标题 1"/>
          <p:cNvSpPr>
            <a:spLocks noGrp="1"/>
          </p:cNvSpPr>
          <p:nvPr>
            <p:ph type="title"/>
          </p:nvPr>
        </p:nvSpPr>
        <p:spPr>
          <a:xfrm>
            <a:off x="47328" y="246780"/>
            <a:ext cx="10515600" cy="421929"/>
          </a:xfrm>
          <a:prstGeom prst="rect">
            <a:avLst/>
          </a:prstGeom>
          <a:noFill/>
          <a:ln>
            <a:noFill/>
          </a:ln>
        </p:spPr>
        <p:txBody>
          <a:bodyPr vert="horz" lIns="91440" tIns="45720" rIns="91440" bIns="45720" anchor="ctr">
            <a:normAutofit fontScale="90000"/>
          </a:bodyP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a:r>
              <a:rPr lang="en-US" altLang="zh-CN" dirty="0">
                <a:solidFill>
                  <a:schemeClr val="bg1"/>
                </a:solidFill>
                <a:sym typeface="黑体" pitchFamily="49" charset="-122"/>
              </a:rPr>
              <a:t>1.3  </a:t>
            </a:r>
            <a:r>
              <a:rPr lang="zh-CN" altLang="en-US" dirty="0">
                <a:solidFill>
                  <a:schemeClr val="bg1"/>
                </a:solidFill>
                <a:sym typeface="黑体" pitchFamily="49" charset="-122"/>
              </a:rPr>
              <a:t>网络通信体系结构</a:t>
            </a:r>
          </a:p>
        </p:txBody>
      </p:sp>
    </p:spTree>
  </p:cSld>
  <p:clrMapOvr>
    <a:masterClrMapping/>
  </p:clrMapOvr>
  <p:transition spd="slow">
    <p:zoom/>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52" name="文本占位符 165890"/>
          <p:cNvSpPr>
            <a:spLocks noGrp="1"/>
          </p:cNvSpPr>
          <p:nvPr>
            <p:ph idx="1"/>
          </p:nvPr>
        </p:nvSpPr>
        <p:spPr>
          <a:xfrm>
            <a:off x="407368" y="836712"/>
            <a:ext cx="10515600" cy="4351338"/>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r>
              <a:rPr lang="en-US" altLang="zh-CN" dirty="0">
                <a:solidFill>
                  <a:schemeClr val="tx1"/>
                </a:solidFill>
              </a:rPr>
              <a:t>OpenFlow</a:t>
            </a:r>
            <a:r>
              <a:rPr lang="zh-CN" altLang="en-US" dirty="0">
                <a:solidFill>
                  <a:schemeClr val="tx1"/>
                </a:solidFill>
              </a:rPr>
              <a:t>体系架构 </a:t>
            </a:r>
          </a:p>
        </p:txBody>
      </p:sp>
      <p:sp>
        <p:nvSpPr>
          <p:cNvPr id="1049653" name="标题 1"/>
          <p:cNvSpPr>
            <a:spLocks noGrp="1"/>
          </p:cNvSpPr>
          <p:nvPr>
            <p:ph type="title"/>
          </p:nvPr>
        </p:nvSpPr>
        <p:spPr>
          <a:xfrm>
            <a:off x="47328" y="172388"/>
            <a:ext cx="10515600" cy="493937"/>
          </a:xfrm>
          <a:prstGeom prst="rect">
            <a:avLst/>
          </a:prstGeom>
          <a:noFill/>
          <a:ln>
            <a:noFill/>
          </a:ln>
        </p:spPr>
        <p:txBody>
          <a:bodyPr vert="horz" lIns="91440" tIns="45720" rIns="91440" bIns="45720" anchor="ctr">
            <a:normAutofit fontScale="90000"/>
          </a:bodyP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a:r>
              <a:rPr lang="en-US" altLang="zh-CN" dirty="0">
                <a:solidFill>
                  <a:schemeClr val="bg1"/>
                </a:solidFill>
                <a:sym typeface="黑体" pitchFamily="49" charset="-122"/>
              </a:rPr>
              <a:t>1.3  </a:t>
            </a:r>
            <a:r>
              <a:rPr lang="zh-CN" altLang="en-US" dirty="0">
                <a:solidFill>
                  <a:schemeClr val="bg1"/>
                </a:solidFill>
                <a:sym typeface="黑体" pitchFamily="49" charset="-122"/>
              </a:rPr>
              <a:t>网络通信体系结构</a:t>
            </a:r>
          </a:p>
        </p:txBody>
      </p:sp>
      <p:pic>
        <p:nvPicPr>
          <p:cNvPr id="2097211" name="图片 165891"/>
          <p:cNvPicPr>
            <a:picLocks/>
          </p:cNvPicPr>
          <p:nvPr/>
        </p:nvPicPr>
        <p:blipFill>
          <a:blip r:embed="rId5"/>
          <a:srcRect/>
          <a:stretch>
            <a:fillRect/>
          </a:stretch>
        </p:blipFill>
        <p:spPr>
          <a:xfrm>
            <a:off x="3503712" y="1556792"/>
            <a:ext cx="5410200" cy="4114800"/>
          </a:xfrm>
          <a:prstGeom prst="rect">
            <a:avLst/>
          </a:prstGeom>
          <a:noFill/>
          <a:ln>
            <a:noFill/>
          </a:ln>
        </p:spPr>
      </p:pic>
    </p:spTree>
  </p:cSld>
  <p:clrMapOvr>
    <a:masterClrMapping/>
  </p:clrMapOvr>
  <p:transition spd="slow">
    <p:zoom/>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57" name="文本占位符 163842"/>
          <p:cNvSpPr>
            <a:spLocks noGrp="1"/>
          </p:cNvSpPr>
          <p:nvPr>
            <p:ph idx="1"/>
          </p:nvPr>
        </p:nvSpPr>
        <p:spPr>
          <a:xfrm>
            <a:off x="407368" y="967582"/>
            <a:ext cx="10515600" cy="4351338"/>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a:r>
              <a:rPr lang="en-US" altLang="zh-CN" dirty="0">
                <a:solidFill>
                  <a:schemeClr val="dk1"/>
                </a:solidFill>
              </a:rPr>
              <a:t>OpenFlow</a:t>
            </a:r>
            <a:r>
              <a:rPr lang="zh-CN" altLang="en-US" dirty="0">
                <a:solidFill>
                  <a:schemeClr val="dk1"/>
                </a:solidFill>
              </a:rPr>
              <a:t>版本变迁</a:t>
            </a:r>
          </a:p>
        </p:txBody>
      </p:sp>
      <p:sp>
        <p:nvSpPr>
          <p:cNvPr id="1049660" name="标题 1"/>
          <p:cNvSpPr>
            <a:spLocks noGrp="1"/>
          </p:cNvSpPr>
          <p:nvPr>
            <p:ph type="title"/>
          </p:nvPr>
        </p:nvSpPr>
        <p:spPr>
          <a:xfrm>
            <a:off x="0" y="152400"/>
            <a:ext cx="10515600" cy="565945"/>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a:r>
              <a:rPr lang="en-US" altLang="zh-CN" dirty="0">
                <a:solidFill>
                  <a:schemeClr val="bg1"/>
                </a:solidFill>
                <a:sym typeface="黑体" pitchFamily="49" charset="-122"/>
              </a:rPr>
              <a:t>1.3  </a:t>
            </a:r>
            <a:r>
              <a:rPr lang="zh-CN" altLang="en-US" dirty="0">
                <a:solidFill>
                  <a:schemeClr val="bg1"/>
                </a:solidFill>
                <a:sym typeface="黑体" pitchFamily="49" charset="-122"/>
              </a:rPr>
              <a:t>网络通信体系结构</a:t>
            </a:r>
          </a:p>
        </p:txBody>
      </p:sp>
      <p:sp>
        <p:nvSpPr>
          <p:cNvPr id="1049658" name="矩形 163844"/>
          <p:cNvSpPr/>
          <p:nvPr/>
        </p:nvSpPr>
        <p:spPr>
          <a:xfrm>
            <a:off x="1524000" y="2587625"/>
            <a:ext cx="9144000" cy="0"/>
          </a:xfrm>
          <a:prstGeom prst="rect">
            <a:avLst/>
          </a:prstGeom>
          <a:noFill/>
          <a:ln>
            <a:noFill/>
          </a:ln>
        </p:spPr>
        <p:txBody>
          <a:bodyPr vert="horz" lIns="91440" tIns="45720" rIns="91440" bIns="45720" anchor="t"/>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endParaRPr lang="zh-CN" altLang="en-US"/>
          </a:p>
        </p:txBody>
      </p:sp>
      <p:pic>
        <p:nvPicPr>
          <p:cNvPr id="2097212" name="图片 163843"/>
          <p:cNvPicPr>
            <a:picLocks/>
          </p:cNvPicPr>
          <p:nvPr/>
        </p:nvPicPr>
        <p:blipFill>
          <a:blip r:embed="rId5"/>
          <a:srcRect/>
          <a:stretch>
            <a:fillRect/>
          </a:stretch>
        </p:blipFill>
        <p:spPr>
          <a:xfrm>
            <a:off x="1933576" y="2349501"/>
            <a:ext cx="8339137" cy="2244725"/>
          </a:xfrm>
          <a:prstGeom prst="rect">
            <a:avLst/>
          </a:prstGeom>
          <a:noFill/>
          <a:ln>
            <a:noFill/>
          </a:ln>
        </p:spPr>
      </p:pic>
      <p:sp>
        <p:nvSpPr>
          <p:cNvPr id="1049659" name="矩形 163845"/>
          <p:cNvSpPr/>
          <p:nvPr/>
        </p:nvSpPr>
        <p:spPr>
          <a:xfrm>
            <a:off x="5376863" y="5099051"/>
            <a:ext cx="1436687" cy="274637"/>
          </a:xfrm>
          <a:prstGeom prst="rect">
            <a:avLst/>
          </a:prstGeom>
          <a:noFill/>
          <a:ln>
            <a:noFill/>
          </a:ln>
        </p:spPr>
        <p:txBody>
          <a:bodyPr vert="horz" wrap="none" lIns="91440" tIns="45720" rIns="91440" bIns="45720" anchor="ctr">
            <a:spAutoFit/>
          </a:bodyPr>
          <a:lstStyle>
            <a:lvl1pPr marL="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fontAlgn="base" latinLnBrk="1">
              <a:lnSpc>
                <a:spcPct val="100000"/>
              </a:lnSpc>
              <a:spcBef>
                <a:spcPct val="0"/>
              </a:spcBef>
              <a:spcAft>
                <a:spcPct val="0"/>
              </a:spcAft>
              <a:buFont typeface="Arial" pitchFamily="34" charset="0"/>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a:r>
              <a:rPr lang="en-US" altLang="zh-CN" sz="1200">
                <a:ea typeface="Times New Roman" pitchFamily="18" charset="0"/>
              </a:rPr>
              <a:t>OpenFlow</a:t>
            </a:r>
            <a:r>
              <a:rPr lang="zh-CN" altLang="en-US" sz="1200">
                <a:ea typeface="Times New Roman" pitchFamily="18" charset="0"/>
              </a:rPr>
              <a:t>版本变迁</a:t>
            </a:r>
          </a:p>
        </p:txBody>
      </p:sp>
    </p:spTree>
  </p:cSld>
  <p:clrMapOvr>
    <a:masterClrMapping/>
  </p:clrMapOvr>
  <p:transition spd="slow">
    <p:zoom/>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64" name="文本占位符 166914"/>
          <p:cNvSpPr>
            <a:spLocks noGrp="1"/>
          </p:cNvSpPr>
          <p:nvPr>
            <p:ph idx="1"/>
          </p:nvPr>
        </p:nvSpPr>
        <p:spPr>
          <a:xfrm>
            <a:off x="551384" y="980728"/>
            <a:ext cx="10515600" cy="4351338"/>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r>
              <a:rPr lang="en-US" altLang="zh-CN" dirty="0">
                <a:solidFill>
                  <a:schemeClr val="tx1"/>
                </a:solidFill>
              </a:rPr>
              <a:t>OpenFlow</a:t>
            </a:r>
            <a:r>
              <a:rPr lang="zh-CN" altLang="en-US" dirty="0">
                <a:solidFill>
                  <a:schemeClr val="tx1"/>
                </a:solidFill>
              </a:rPr>
              <a:t>交换机</a:t>
            </a:r>
          </a:p>
          <a:p>
            <a:r>
              <a:rPr lang="en-US" altLang="zh-CN" dirty="0">
                <a:solidFill>
                  <a:schemeClr val="tx1"/>
                </a:solidFill>
              </a:rPr>
              <a:t>OpenFlow</a:t>
            </a:r>
            <a:r>
              <a:rPr lang="zh-CN" altLang="en-US" dirty="0">
                <a:solidFill>
                  <a:schemeClr val="tx1"/>
                </a:solidFill>
              </a:rPr>
              <a:t>兼容的交换机有两种，一种是只支持</a:t>
            </a:r>
            <a:r>
              <a:rPr lang="en-US" altLang="zh-CN" dirty="0">
                <a:solidFill>
                  <a:schemeClr val="tx1"/>
                </a:solidFill>
              </a:rPr>
              <a:t>OpenFlow</a:t>
            </a:r>
            <a:r>
              <a:rPr lang="zh-CN" altLang="en-US" dirty="0">
                <a:solidFill>
                  <a:schemeClr val="tx1"/>
                </a:solidFill>
              </a:rPr>
              <a:t>的交换机</a:t>
            </a:r>
            <a:r>
              <a:rPr lang="en-US" altLang="zh-CN" dirty="0">
                <a:solidFill>
                  <a:schemeClr val="tx1"/>
                </a:solidFill>
              </a:rPr>
              <a:t>OpenFlow-only</a:t>
            </a:r>
            <a:r>
              <a:rPr lang="zh-CN" altLang="en-US" dirty="0">
                <a:solidFill>
                  <a:schemeClr val="tx1"/>
                </a:solidFill>
              </a:rPr>
              <a:t>，还有一种是兼容</a:t>
            </a:r>
            <a:r>
              <a:rPr lang="en-US" altLang="zh-CN" dirty="0">
                <a:solidFill>
                  <a:schemeClr val="tx1"/>
                </a:solidFill>
              </a:rPr>
              <a:t>OpenFlow</a:t>
            </a:r>
            <a:r>
              <a:rPr lang="zh-CN" altLang="en-US" dirty="0">
                <a:solidFill>
                  <a:schemeClr val="tx1"/>
                </a:solidFill>
              </a:rPr>
              <a:t>的以太网交换机</a:t>
            </a:r>
            <a:r>
              <a:rPr lang="en-US" altLang="zh-CN" dirty="0">
                <a:solidFill>
                  <a:schemeClr val="tx1"/>
                </a:solidFill>
              </a:rPr>
              <a:t>OpenFlow-hybrid</a:t>
            </a:r>
            <a:r>
              <a:rPr lang="zh-CN" altLang="en-US" dirty="0">
                <a:solidFill>
                  <a:schemeClr val="tx1"/>
                </a:solidFill>
              </a:rPr>
              <a:t>。</a:t>
            </a:r>
            <a:r>
              <a:rPr lang="en-US" altLang="zh-CN" dirty="0">
                <a:solidFill>
                  <a:schemeClr val="tx1"/>
                </a:solidFill>
              </a:rPr>
              <a:t>OpenFlow-only</a:t>
            </a:r>
            <a:r>
              <a:rPr lang="zh-CN" altLang="en-US" dirty="0">
                <a:solidFill>
                  <a:schemeClr val="tx1"/>
                </a:solidFill>
              </a:rPr>
              <a:t>交换机只支持</a:t>
            </a:r>
            <a:r>
              <a:rPr lang="en-US" altLang="zh-CN" dirty="0">
                <a:solidFill>
                  <a:schemeClr val="tx1"/>
                </a:solidFill>
              </a:rPr>
              <a:t>OpenFlow</a:t>
            </a:r>
            <a:r>
              <a:rPr lang="zh-CN" altLang="en-US" dirty="0">
                <a:solidFill>
                  <a:schemeClr val="tx1"/>
                </a:solidFill>
              </a:rPr>
              <a:t>操作，所有数据包都由</a:t>
            </a:r>
            <a:r>
              <a:rPr lang="en-US" altLang="zh-CN" dirty="0">
                <a:solidFill>
                  <a:schemeClr val="tx1"/>
                </a:solidFill>
              </a:rPr>
              <a:t>OpenFlow</a:t>
            </a:r>
            <a:r>
              <a:rPr lang="zh-CN" altLang="en-US" dirty="0">
                <a:solidFill>
                  <a:schemeClr val="tx1"/>
                </a:solidFill>
              </a:rPr>
              <a:t>流水线处理。</a:t>
            </a:r>
            <a:r>
              <a:rPr lang="en-US" altLang="zh-CN" dirty="0">
                <a:solidFill>
                  <a:schemeClr val="tx1"/>
                </a:solidFill>
              </a:rPr>
              <a:t>OpenFlow-hybrid</a:t>
            </a:r>
            <a:r>
              <a:rPr lang="zh-CN" altLang="en-US" dirty="0">
                <a:solidFill>
                  <a:schemeClr val="tx1"/>
                </a:solidFill>
              </a:rPr>
              <a:t>交换机是以传统的交换机为基础，它提供一个分类机制，可以让流量进入</a:t>
            </a:r>
            <a:r>
              <a:rPr lang="en-US" altLang="zh-CN" dirty="0">
                <a:solidFill>
                  <a:schemeClr val="tx1"/>
                </a:solidFill>
              </a:rPr>
              <a:t>OpenFlow</a:t>
            </a:r>
            <a:r>
              <a:rPr lang="zh-CN" altLang="en-US" dirty="0">
                <a:solidFill>
                  <a:schemeClr val="tx1"/>
                </a:solidFill>
              </a:rPr>
              <a:t>流水线或者是普通流水线。</a:t>
            </a:r>
          </a:p>
        </p:txBody>
      </p:sp>
      <p:sp>
        <p:nvSpPr>
          <p:cNvPr id="1049665" name="标题 1"/>
          <p:cNvSpPr>
            <a:spLocks noGrp="1"/>
          </p:cNvSpPr>
          <p:nvPr>
            <p:ph type="title"/>
          </p:nvPr>
        </p:nvSpPr>
        <p:spPr>
          <a:xfrm>
            <a:off x="0" y="152400"/>
            <a:ext cx="10515600" cy="63795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a:r>
              <a:rPr lang="en-US" altLang="zh-CN" dirty="0">
                <a:solidFill>
                  <a:schemeClr val="bg1"/>
                </a:solidFill>
                <a:sym typeface="黑体" pitchFamily="49" charset="-122"/>
              </a:rPr>
              <a:t>1.3  </a:t>
            </a:r>
            <a:r>
              <a:rPr lang="zh-CN" altLang="en-US" dirty="0">
                <a:solidFill>
                  <a:schemeClr val="bg1"/>
                </a:solidFill>
                <a:sym typeface="黑体" pitchFamily="49" charset="-122"/>
              </a:rPr>
              <a:t>网络通信体系结构</a:t>
            </a:r>
          </a:p>
        </p:txBody>
      </p:sp>
    </p:spTree>
  </p:cSld>
  <p:clrMapOvr>
    <a:masterClrMapping/>
  </p:clrMapOvr>
  <p:transition spd="slow">
    <p:zoom/>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69" name="文本占位符 167938"/>
          <p:cNvSpPr>
            <a:spLocks noGrp="1"/>
          </p:cNvSpPr>
          <p:nvPr>
            <p:ph idx="1"/>
          </p:nvPr>
        </p:nvSpPr>
        <p:spPr>
          <a:xfrm>
            <a:off x="407368" y="863721"/>
            <a:ext cx="10515600" cy="4351338"/>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r>
              <a:rPr lang="en-US" altLang="zh-CN" dirty="0">
                <a:solidFill>
                  <a:schemeClr val="tx1"/>
                </a:solidFill>
              </a:rPr>
              <a:t>OpenFlow</a:t>
            </a:r>
            <a:r>
              <a:rPr lang="zh-CN" altLang="en-US" dirty="0">
                <a:solidFill>
                  <a:schemeClr val="tx1"/>
                </a:solidFill>
              </a:rPr>
              <a:t>交换机处理流表过程</a:t>
            </a:r>
          </a:p>
        </p:txBody>
      </p:sp>
      <p:sp>
        <p:nvSpPr>
          <p:cNvPr id="1049670" name="标题 1"/>
          <p:cNvSpPr>
            <a:spLocks noGrp="1"/>
          </p:cNvSpPr>
          <p:nvPr>
            <p:ph type="title"/>
          </p:nvPr>
        </p:nvSpPr>
        <p:spPr>
          <a:xfrm>
            <a:off x="47328" y="152400"/>
            <a:ext cx="10515600" cy="565945"/>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a:r>
              <a:rPr lang="en-US" altLang="zh-CN" dirty="0">
                <a:solidFill>
                  <a:schemeClr val="bg1"/>
                </a:solidFill>
                <a:sym typeface="黑体" pitchFamily="49" charset="-122"/>
              </a:rPr>
              <a:t>1.3  </a:t>
            </a:r>
            <a:r>
              <a:rPr lang="zh-CN" altLang="en-US" dirty="0">
                <a:solidFill>
                  <a:schemeClr val="bg1"/>
                </a:solidFill>
                <a:sym typeface="黑体" pitchFamily="49" charset="-122"/>
              </a:rPr>
              <a:t>网络通信体系结构</a:t>
            </a:r>
          </a:p>
        </p:txBody>
      </p:sp>
      <p:pic>
        <p:nvPicPr>
          <p:cNvPr id="2097213" name="图片 167939"/>
          <p:cNvPicPr>
            <a:picLocks/>
          </p:cNvPicPr>
          <p:nvPr/>
        </p:nvPicPr>
        <p:blipFill>
          <a:blip r:embed="rId5"/>
          <a:srcRect/>
          <a:stretch>
            <a:fillRect/>
          </a:stretch>
        </p:blipFill>
        <p:spPr>
          <a:xfrm>
            <a:off x="1992313" y="1771651"/>
            <a:ext cx="8135937" cy="4537075"/>
          </a:xfrm>
          <a:prstGeom prst="rect">
            <a:avLst/>
          </a:prstGeom>
          <a:noFill/>
          <a:ln>
            <a:noFill/>
          </a:ln>
        </p:spPr>
      </p:pic>
    </p:spTree>
  </p:cSld>
  <p:clrMapOvr>
    <a:masterClrMapping/>
  </p:clrMapOvr>
  <p:transition spd="slow">
    <p:zoom/>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74" name="文本占位符 168962"/>
          <p:cNvSpPr>
            <a:spLocks noGrp="1"/>
          </p:cNvSpPr>
          <p:nvPr>
            <p:ph idx="1"/>
          </p:nvPr>
        </p:nvSpPr>
        <p:spPr>
          <a:xfrm>
            <a:off x="479376" y="908720"/>
            <a:ext cx="10515600" cy="4351338"/>
          </a:xfrm>
          <a:prstGeom prst="rect">
            <a:avLst/>
          </a:prstGeom>
          <a:noFill/>
          <a:ln>
            <a:noFill/>
          </a:ln>
        </p:spPr>
        <p:txBody>
          <a:bodyPr vert="horz" lIns="91440" tIns="45720" rIns="91440" bIns="45720" anchor="t">
            <a:normAutofit lnSpcReduction="10000"/>
          </a:bodyPr>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a:lnSpc>
                <a:spcPct val="100000"/>
              </a:lnSpc>
            </a:pPr>
            <a:r>
              <a:rPr lang="en-US" altLang="zh-CN" sz="2400" dirty="0">
                <a:solidFill>
                  <a:schemeClr val="tx1"/>
                </a:solidFill>
              </a:rPr>
              <a:t>OpenFlow</a:t>
            </a:r>
            <a:r>
              <a:rPr lang="zh-CN" altLang="en-US" sz="2400" dirty="0">
                <a:solidFill>
                  <a:schemeClr val="tx1"/>
                </a:solidFill>
              </a:rPr>
              <a:t>端口</a:t>
            </a:r>
          </a:p>
          <a:p>
            <a:pPr lvl="0">
              <a:lnSpc>
                <a:spcPct val="100000"/>
              </a:lnSpc>
            </a:pPr>
            <a:r>
              <a:rPr lang="zh-CN" altLang="en-US" sz="2000" dirty="0">
                <a:solidFill>
                  <a:schemeClr val="tx1"/>
                </a:solidFill>
              </a:rPr>
              <a:t>(1)OpenFlow的端口是处理网络数据包的网络接口，</a:t>
            </a:r>
            <a:r>
              <a:rPr lang="en-US" altLang="zh-CN" sz="2000" dirty="0">
                <a:solidFill>
                  <a:schemeClr val="tx1"/>
                </a:solidFill>
              </a:rPr>
              <a:t>OpenFlow</a:t>
            </a:r>
            <a:r>
              <a:rPr lang="zh-CN" altLang="en-US" sz="2000" dirty="0">
                <a:solidFill>
                  <a:schemeClr val="tx1"/>
                </a:solidFill>
              </a:rPr>
              <a:t>交换机通过</a:t>
            </a:r>
            <a:r>
              <a:rPr lang="en-US" altLang="zh-CN" sz="2000" dirty="0">
                <a:solidFill>
                  <a:schemeClr val="tx1"/>
                </a:solidFill>
              </a:rPr>
              <a:t>OpenFlow</a:t>
            </a:r>
            <a:r>
              <a:rPr lang="zh-CN" altLang="en-US" sz="2000" dirty="0">
                <a:solidFill>
                  <a:schemeClr val="tx1"/>
                </a:solidFill>
              </a:rPr>
              <a:t>端口在逻辑上相连。</a:t>
            </a:r>
            <a:r>
              <a:rPr lang="en-US" altLang="zh-CN" sz="2000" dirty="0">
                <a:solidFill>
                  <a:schemeClr val="tx1"/>
                </a:solidFill>
              </a:rPr>
              <a:t>OpenFlow</a:t>
            </a:r>
            <a:r>
              <a:rPr lang="zh-CN" altLang="en-US" sz="2000" dirty="0">
                <a:solidFill>
                  <a:schemeClr val="tx1"/>
                </a:solidFill>
              </a:rPr>
              <a:t>交换机使用一些端口，而有些网络接口可能被</a:t>
            </a:r>
            <a:r>
              <a:rPr lang="en-US" altLang="zh-CN" sz="2000" dirty="0">
                <a:solidFill>
                  <a:schemeClr val="tx1"/>
                </a:solidFill>
              </a:rPr>
              <a:t>OpenFlow</a:t>
            </a:r>
            <a:r>
              <a:rPr lang="zh-CN" altLang="en-US" sz="2000" dirty="0">
                <a:solidFill>
                  <a:schemeClr val="tx1"/>
                </a:solidFill>
              </a:rPr>
              <a:t>禁用，</a:t>
            </a:r>
            <a:r>
              <a:rPr lang="en-US" altLang="zh-CN" sz="2000" dirty="0">
                <a:solidFill>
                  <a:schemeClr val="tx1"/>
                </a:solidFill>
              </a:rPr>
              <a:t>OpenFlow</a:t>
            </a:r>
            <a:r>
              <a:rPr lang="zh-CN" altLang="en-US" sz="2000" dirty="0">
                <a:solidFill>
                  <a:schemeClr val="tx1"/>
                </a:solidFill>
              </a:rPr>
              <a:t>交换机也可以定义额外的端口。</a:t>
            </a:r>
            <a:r>
              <a:rPr lang="en-US" altLang="zh-CN" sz="2000" dirty="0">
                <a:solidFill>
                  <a:schemeClr val="tx1"/>
                </a:solidFill>
              </a:rPr>
              <a:t>OpenFlow</a:t>
            </a:r>
            <a:r>
              <a:rPr lang="zh-CN" altLang="en-US" sz="2000" dirty="0">
                <a:solidFill>
                  <a:schemeClr val="tx1"/>
                </a:solidFill>
              </a:rPr>
              <a:t>必须支持三种</a:t>
            </a:r>
            <a:r>
              <a:rPr lang="en-US" altLang="zh-CN" sz="2000" dirty="0">
                <a:solidFill>
                  <a:schemeClr val="tx1"/>
                </a:solidFill>
              </a:rPr>
              <a:t>OpenFlow</a:t>
            </a:r>
            <a:r>
              <a:rPr lang="zh-CN" altLang="en-US" sz="2000" dirty="0">
                <a:solidFill>
                  <a:schemeClr val="tx1"/>
                </a:solidFill>
              </a:rPr>
              <a:t>端口：逻辑端口，物理端口和保留端口。</a:t>
            </a:r>
          </a:p>
          <a:p>
            <a:pPr lvl="0">
              <a:lnSpc>
                <a:spcPct val="100000"/>
              </a:lnSpc>
            </a:pPr>
            <a:r>
              <a:rPr lang="en-US" altLang="zh-CN" sz="2000" dirty="0">
                <a:solidFill>
                  <a:schemeClr val="tx1"/>
                </a:solidFill>
              </a:rPr>
              <a:t>(2)OpenFlow</a:t>
            </a:r>
            <a:r>
              <a:rPr lang="zh-CN" altLang="en-US" sz="2000" dirty="0">
                <a:solidFill>
                  <a:schemeClr val="tx1"/>
                </a:solidFill>
              </a:rPr>
              <a:t>的标准端口分为逻辑端口，物理端口和保留端口。</a:t>
            </a:r>
          </a:p>
          <a:p>
            <a:pPr lvl="0">
              <a:lnSpc>
                <a:spcPct val="100000"/>
              </a:lnSpc>
            </a:pPr>
            <a:r>
              <a:rPr lang="en-US" altLang="zh-CN" sz="2000" dirty="0">
                <a:solidFill>
                  <a:schemeClr val="tx1"/>
                </a:solidFill>
              </a:rPr>
              <a:t>(3)OpenFlow</a:t>
            </a:r>
            <a:r>
              <a:rPr lang="zh-CN" altLang="en-US" sz="2000" dirty="0">
                <a:solidFill>
                  <a:schemeClr val="tx1"/>
                </a:solidFill>
              </a:rPr>
              <a:t>的物理端口对应与交换机上的一个物理接口。在某些虚拟化的应用中，一个物理端口可以代表交换机对应的虚拟切片。</a:t>
            </a:r>
          </a:p>
          <a:p>
            <a:pPr lvl="0">
              <a:lnSpc>
                <a:spcPct val="100000"/>
              </a:lnSpc>
            </a:pPr>
            <a:r>
              <a:rPr lang="en-US" altLang="zh-CN" sz="2000" dirty="0">
                <a:solidFill>
                  <a:schemeClr val="tx1"/>
                </a:solidFill>
              </a:rPr>
              <a:t>(4)OpenFlow</a:t>
            </a:r>
            <a:r>
              <a:rPr lang="zh-CN" altLang="en-US" sz="2000" dirty="0">
                <a:solidFill>
                  <a:schemeClr val="tx1"/>
                </a:solidFill>
              </a:rPr>
              <a:t>的逻辑端口是一种高层次的抽象概念，不一定是交换机上的物理端口。它与物理端口的差别就是逻辑端口有个隧道</a:t>
            </a:r>
            <a:r>
              <a:rPr lang="en-US" altLang="zh-CN" sz="2000" dirty="0">
                <a:solidFill>
                  <a:schemeClr val="tx1"/>
                </a:solidFill>
              </a:rPr>
              <a:t>ID</a:t>
            </a:r>
            <a:r>
              <a:rPr lang="zh-CN" altLang="en-US" sz="2000" dirty="0">
                <a:solidFill>
                  <a:schemeClr val="tx1"/>
                </a:solidFill>
              </a:rPr>
              <a:t>的数据字段和它相联，当逻辑端口收到数据包需要发送给控制器时，逻辑端口和物理端口都会通知控制器。</a:t>
            </a:r>
          </a:p>
          <a:p>
            <a:pPr lvl="0">
              <a:lnSpc>
                <a:spcPct val="100000"/>
              </a:lnSpc>
            </a:pPr>
            <a:r>
              <a:rPr lang="en-US" altLang="zh-CN" sz="2000" dirty="0">
                <a:solidFill>
                  <a:schemeClr val="tx1"/>
                </a:solidFill>
              </a:rPr>
              <a:t>(5)OpenFlow</a:t>
            </a:r>
            <a:r>
              <a:rPr lang="zh-CN" altLang="en-US" sz="2000" dirty="0">
                <a:solidFill>
                  <a:schemeClr val="tx1"/>
                </a:solidFill>
              </a:rPr>
              <a:t>保留端口指定通用的转发指令，如转发给控制器，洪泛，或使用非</a:t>
            </a:r>
            <a:r>
              <a:rPr lang="en-US" altLang="zh-CN" sz="2000" dirty="0">
                <a:solidFill>
                  <a:schemeClr val="tx1"/>
                </a:solidFill>
              </a:rPr>
              <a:t>OpenFlow</a:t>
            </a:r>
            <a:r>
              <a:rPr lang="zh-CN" altLang="en-US" sz="2000" dirty="0">
                <a:solidFill>
                  <a:schemeClr val="tx1"/>
                </a:solidFill>
              </a:rPr>
              <a:t>的方法转发，如正常的交换机处理。</a:t>
            </a:r>
          </a:p>
        </p:txBody>
      </p:sp>
      <p:sp>
        <p:nvSpPr>
          <p:cNvPr id="1049675" name="标题 1"/>
          <p:cNvSpPr>
            <a:spLocks noGrp="1"/>
          </p:cNvSpPr>
          <p:nvPr>
            <p:ph type="title"/>
          </p:nvPr>
        </p:nvSpPr>
        <p:spPr>
          <a:xfrm>
            <a:off x="17353" y="142204"/>
            <a:ext cx="10515600" cy="63795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a:r>
              <a:rPr lang="en-US" altLang="zh-CN" dirty="0">
                <a:solidFill>
                  <a:schemeClr val="bg1"/>
                </a:solidFill>
                <a:sym typeface="黑体" pitchFamily="49" charset="-122"/>
              </a:rPr>
              <a:t>1.3  </a:t>
            </a:r>
            <a:r>
              <a:rPr lang="zh-CN" altLang="en-US" dirty="0">
                <a:solidFill>
                  <a:schemeClr val="bg1"/>
                </a:solidFill>
                <a:sym typeface="黑体" pitchFamily="49" charset="-122"/>
              </a:rPr>
              <a:t>网络通信体系结构</a:t>
            </a:r>
          </a:p>
        </p:txBody>
      </p:sp>
    </p:spTree>
  </p:cSld>
  <p:clrMapOvr>
    <a:masterClrMapping/>
  </p:clrMapOvr>
  <p:transition spd="slow">
    <p:zoom/>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79" name="文本占位符 169986"/>
          <p:cNvSpPr>
            <a:spLocks noGrp="1"/>
          </p:cNvSpPr>
          <p:nvPr>
            <p:ph idx="1"/>
          </p:nvPr>
        </p:nvSpPr>
        <p:spPr>
          <a:xfrm>
            <a:off x="263352" y="935832"/>
            <a:ext cx="8229600" cy="4427537"/>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a:r>
              <a:rPr lang="en-US" altLang="zh-CN" sz="2400" dirty="0">
                <a:solidFill>
                  <a:schemeClr val="tx1"/>
                </a:solidFill>
              </a:rPr>
              <a:t>OpenFlow</a:t>
            </a:r>
            <a:r>
              <a:rPr lang="zh-CN" altLang="en-US" sz="2400" dirty="0">
                <a:solidFill>
                  <a:schemeClr val="tx1"/>
                </a:solidFill>
              </a:rPr>
              <a:t>流表</a:t>
            </a:r>
          </a:p>
          <a:p>
            <a:pPr lvl="0"/>
            <a:r>
              <a:rPr lang="zh-CN" altLang="en-US" sz="2400" dirty="0">
                <a:solidFill>
                  <a:schemeClr val="tx1"/>
                </a:solidFill>
              </a:rPr>
              <a:t>一个流表具有多个流表项。每个流表项包含匹配字段，权重，计数器，指令集，超时，</a:t>
            </a:r>
            <a:r>
              <a:rPr lang="en-US" altLang="zh-CN" sz="2400" dirty="0">
                <a:solidFill>
                  <a:schemeClr val="tx1"/>
                </a:solidFill>
              </a:rPr>
              <a:t>Cookie</a:t>
            </a:r>
            <a:r>
              <a:rPr lang="zh-CN" altLang="en-US" sz="2400" dirty="0">
                <a:solidFill>
                  <a:schemeClr val="tx1"/>
                </a:solidFill>
              </a:rPr>
              <a:t>。流表项通过匹配字段和权值共同决定。</a:t>
            </a:r>
          </a:p>
        </p:txBody>
      </p:sp>
      <p:sp>
        <p:nvSpPr>
          <p:cNvPr id="1049680" name="标题 1"/>
          <p:cNvSpPr>
            <a:spLocks noGrp="1"/>
          </p:cNvSpPr>
          <p:nvPr>
            <p:ph type="title"/>
          </p:nvPr>
        </p:nvSpPr>
        <p:spPr>
          <a:xfrm>
            <a:off x="47328" y="152400"/>
            <a:ext cx="10515600" cy="555627"/>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a:r>
              <a:rPr lang="en-US" altLang="zh-CN" dirty="0">
                <a:solidFill>
                  <a:schemeClr val="bg1"/>
                </a:solidFill>
                <a:sym typeface="黑体" pitchFamily="49" charset="-122"/>
              </a:rPr>
              <a:t>1.3  </a:t>
            </a:r>
            <a:r>
              <a:rPr lang="zh-CN" altLang="en-US" dirty="0">
                <a:solidFill>
                  <a:schemeClr val="bg1"/>
                </a:solidFill>
                <a:sym typeface="黑体" pitchFamily="49" charset="-122"/>
              </a:rPr>
              <a:t>网络通信体系结构</a:t>
            </a:r>
          </a:p>
        </p:txBody>
      </p:sp>
      <p:pic>
        <p:nvPicPr>
          <p:cNvPr id="2097214" name="图片 169987"/>
          <p:cNvPicPr>
            <a:picLocks/>
          </p:cNvPicPr>
          <p:nvPr/>
        </p:nvPicPr>
        <p:blipFill>
          <a:blip r:embed="rId5"/>
          <a:srcRect/>
          <a:stretch>
            <a:fillRect/>
          </a:stretch>
        </p:blipFill>
        <p:spPr>
          <a:xfrm>
            <a:off x="2855912" y="2708276"/>
            <a:ext cx="6985000" cy="509587"/>
          </a:xfrm>
          <a:prstGeom prst="rect">
            <a:avLst/>
          </a:prstGeom>
          <a:noFill/>
          <a:ln>
            <a:noFill/>
          </a:ln>
        </p:spPr>
      </p:pic>
      <p:pic>
        <p:nvPicPr>
          <p:cNvPr id="2097215" name="图片 169988"/>
          <p:cNvPicPr>
            <a:picLocks/>
          </p:cNvPicPr>
          <p:nvPr/>
        </p:nvPicPr>
        <p:blipFill>
          <a:blip r:embed="rId6"/>
          <a:srcRect/>
          <a:stretch>
            <a:fillRect/>
          </a:stretch>
        </p:blipFill>
        <p:spPr>
          <a:xfrm>
            <a:off x="3352800" y="3149601"/>
            <a:ext cx="5486400" cy="3170237"/>
          </a:xfrm>
          <a:prstGeom prst="rect">
            <a:avLst/>
          </a:prstGeom>
          <a:noFill/>
          <a:ln>
            <a:noFill/>
          </a:ln>
        </p:spPr>
      </p:pic>
    </p:spTree>
  </p:cSld>
  <p:clrMapOvr>
    <a:masterClrMapping/>
  </p:clrMapOvr>
  <p:transition spd="slow">
    <p:zoom/>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a:extLst>
              <a:ext uri="{FF2B5EF4-FFF2-40B4-BE49-F238E27FC236}">
                <a16:creationId xmlns:a16="http://schemas.microsoft.com/office/drawing/2014/main" id="{CD748BD9-D565-486C-98D2-FADC8597EEA7}"/>
              </a:ext>
            </a:extLst>
          </p:cNvPr>
          <p:cNvGrpSpPr/>
          <p:nvPr/>
        </p:nvGrpSpPr>
        <p:grpSpPr>
          <a:xfrm>
            <a:off x="279471" y="2164991"/>
            <a:ext cx="2960721" cy="2350284"/>
            <a:chOff x="400216" y="1425650"/>
            <a:chExt cx="3711212" cy="2882853"/>
          </a:xfrm>
        </p:grpSpPr>
        <p:grpSp>
          <p:nvGrpSpPr>
            <p:cNvPr id="14" name="组合 13">
              <a:extLst>
                <a:ext uri="{FF2B5EF4-FFF2-40B4-BE49-F238E27FC236}">
                  <a16:creationId xmlns:a16="http://schemas.microsoft.com/office/drawing/2014/main" id="{51077B62-17CF-4B61-B4F9-BDB0314C4782}"/>
                </a:ext>
              </a:extLst>
            </p:cNvPr>
            <p:cNvGrpSpPr/>
            <p:nvPr/>
          </p:nvGrpSpPr>
          <p:grpSpPr>
            <a:xfrm>
              <a:off x="400216" y="1425650"/>
              <a:ext cx="3711212" cy="2882853"/>
              <a:chOff x="445935" y="809294"/>
              <a:chExt cx="6990119" cy="5470972"/>
            </a:xfrm>
          </p:grpSpPr>
          <p:sp>
            <p:nvSpPr>
              <p:cNvPr id="18" name="íśļïḋé">
                <a:extLst>
                  <a:ext uri="{FF2B5EF4-FFF2-40B4-BE49-F238E27FC236}">
                    <a16:creationId xmlns:a16="http://schemas.microsoft.com/office/drawing/2014/main" id="{976C2238-92B1-43CC-8A8D-718726B4C86F}"/>
                  </a:ext>
                </a:extLst>
              </p:cNvPr>
              <p:cNvSpPr/>
              <p:nvPr/>
            </p:nvSpPr>
            <p:spPr bwMode="auto">
              <a:xfrm rot="12330823">
                <a:off x="1684541" y="809294"/>
                <a:ext cx="5751513" cy="2876549"/>
              </a:xfrm>
              <a:custGeom>
                <a:avLst/>
                <a:gdLst>
                  <a:gd name="connsiteX0" fmla="*/ 842247 w 5751228"/>
                  <a:gd name="connsiteY0" fmla="*/ 2033366 h 2875614"/>
                  <a:gd name="connsiteX1" fmla="*/ 0 w 5751228"/>
                  <a:gd name="connsiteY1" fmla="*/ 0 h 2875614"/>
                  <a:gd name="connsiteX2" fmla="*/ 408346 w 5751228"/>
                  <a:gd name="connsiteY2" fmla="*/ 0 h 2875614"/>
                  <a:gd name="connsiteX3" fmla="*/ 407043 w 5751228"/>
                  <a:gd name="connsiteY3" fmla="*/ 74793 h 2875614"/>
                  <a:gd name="connsiteX4" fmla="*/ 1182959 w 5751228"/>
                  <a:gd name="connsiteY4" fmla="*/ 1798429 h 2875614"/>
                  <a:gd name="connsiteX5" fmla="*/ 4674044 w 5751228"/>
                  <a:gd name="connsiteY5" fmla="*/ 1692653 h 2875614"/>
                  <a:gd name="connsiteX6" fmla="*/ 5340056 w 5751228"/>
                  <a:gd name="connsiteY6" fmla="*/ 162164 h 2875614"/>
                  <a:gd name="connsiteX7" fmla="*/ 5342881 w 5751228"/>
                  <a:gd name="connsiteY7" fmla="*/ 0 h 2875614"/>
                  <a:gd name="connsiteX8" fmla="*/ 5751228 w 5751228"/>
                  <a:gd name="connsiteY8" fmla="*/ 0 h 2875614"/>
                  <a:gd name="connsiteX9" fmla="*/ 2875614 w 5751228"/>
                  <a:gd name="connsiteY9" fmla="*/ 2875614 h 2875614"/>
                  <a:gd name="connsiteX10" fmla="*/ 842247 w 5751228"/>
                  <a:gd name="connsiteY10" fmla="*/ 2033366 h 2875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51228" h="2875614">
                    <a:moveTo>
                      <a:pt x="842247" y="2033366"/>
                    </a:moveTo>
                    <a:cubicBezTo>
                      <a:pt x="321864" y="1512982"/>
                      <a:pt x="0" y="794078"/>
                      <a:pt x="0" y="0"/>
                    </a:cubicBezTo>
                    <a:lnTo>
                      <a:pt x="408346" y="0"/>
                    </a:lnTo>
                    <a:lnTo>
                      <a:pt x="407043" y="74793"/>
                    </a:lnTo>
                    <a:cubicBezTo>
                      <a:pt x="426185" y="706556"/>
                      <a:pt x="686336" y="1331016"/>
                      <a:pt x="1182959" y="1798429"/>
                    </a:cubicBezTo>
                    <a:cubicBezTo>
                      <a:pt x="2176205" y="2733256"/>
                      <a:pt x="3739217" y="2685899"/>
                      <a:pt x="4674044" y="1692653"/>
                    </a:cubicBezTo>
                    <a:cubicBezTo>
                      <a:pt x="5083031" y="1258108"/>
                      <a:pt x="5304022" y="714506"/>
                      <a:pt x="5340056" y="162164"/>
                    </a:cubicBezTo>
                    <a:lnTo>
                      <a:pt x="5342881" y="0"/>
                    </a:lnTo>
                    <a:lnTo>
                      <a:pt x="5751228" y="0"/>
                    </a:lnTo>
                    <a:cubicBezTo>
                      <a:pt x="5751228" y="1588157"/>
                      <a:pt x="4463771" y="2875614"/>
                      <a:pt x="2875614" y="2875614"/>
                    </a:cubicBezTo>
                    <a:cubicBezTo>
                      <a:pt x="2081535" y="2875614"/>
                      <a:pt x="1362632" y="2553750"/>
                      <a:pt x="842247" y="2033366"/>
                    </a:cubicBezTo>
                    <a:close/>
                  </a:path>
                </a:pathLst>
              </a:custGeom>
              <a:solidFill>
                <a:srgbClr val="0AA39D">
                  <a:alpha val="75000"/>
                </a:srgbClr>
              </a:solidFill>
              <a:ln w="19050">
                <a:noFill/>
                <a:round/>
                <a:headEnd/>
                <a:tailEnd/>
              </a:ln>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000000"/>
                  </a:solidFill>
                  <a:effectLst/>
                  <a:uLnTx/>
                  <a:uFillTx/>
                  <a:latin typeface="Arial"/>
                  <a:ea typeface="微软雅黑" panose="020B0503020204020204" pitchFamily="34" charset="-122"/>
                </a:endParaRPr>
              </a:p>
            </p:txBody>
          </p:sp>
          <p:sp>
            <p:nvSpPr>
              <p:cNvPr id="19" name="íSḷîďê">
                <a:extLst>
                  <a:ext uri="{FF2B5EF4-FFF2-40B4-BE49-F238E27FC236}">
                    <a16:creationId xmlns:a16="http://schemas.microsoft.com/office/drawing/2014/main" id="{7AB1AF71-AAC3-4B0C-8E29-199DDE974FCE}"/>
                  </a:ext>
                </a:extLst>
              </p:cNvPr>
              <p:cNvSpPr>
                <a:spLocks/>
              </p:cNvSpPr>
              <p:nvPr/>
            </p:nvSpPr>
            <p:spPr bwMode="auto">
              <a:xfrm rot="12330823">
                <a:off x="445935" y="3404681"/>
                <a:ext cx="5751328" cy="2875585"/>
              </a:xfrm>
              <a:custGeom>
                <a:avLst/>
                <a:gdLst>
                  <a:gd name="T0" fmla="*/ 0 w 5751227"/>
                  <a:gd name="T1" fmla="*/ 2875615 h 2875615"/>
                  <a:gd name="T2" fmla="*/ 2875628 w 5751227"/>
                  <a:gd name="T3" fmla="*/ 0 h 2875615"/>
                  <a:gd name="T4" fmla="*/ 5751227 w 5751227"/>
                  <a:gd name="T5" fmla="*/ 2875615 h 2875615"/>
                  <a:gd name="T6" fmla="*/ 5342883 w 5751227"/>
                  <a:gd name="T7" fmla="*/ 2875615 h 2875615"/>
                  <a:gd name="T8" fmla="*/ 5344183 w 5751227"/>
                  <a:gd name="T9" fmla="*/ 2800821 h 2875615"/>
                  <a:gd name="T10" fmla="*/ 4568267 w 5751227"/>
                  <a:gd name="T11" fmla="*/ 1077193 h 2875615"/>
                  <a:gd name="T12" fmla="*/ 1077190 w 5751227"/>
                  <a:gd name="T13" fmla="*/ 1182968 h 2875615"/>
                  <a:gd name="T14" fmla="*/ 411171 w 5751227"/>
                  <a:gd name="T15" fmla="*/ 2713449 h 2875615"/>
                  <a:gd name="T16" fmla="*/ 408345 w 5751227"/>
                  <a:gd name="T17" fmla="*/ 2875615 h 2875615"/>
                  <a:gd name="T18" fmla="*/ 0 w 5751227"/>
                  <a:gd name="T19" fmla="*/ 2875615 h 28756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51227"/>
                  <a:gd name="T31" fmla="*/ 0 h 2875615"/>
                  <a:gd name="T32" fmla="*/ 5751227 w 5751227"/>
                  <a:gd name="T33" fmla="*/ 2875615 h 287561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51227" h="2875615">
                    <a:moveTo>
                      <a:pt x="0" y="2875615"/>
                    </a:moveTo>
                    <a:cubicBezTo>
                      <a:pt x="0" y="1287457"/>
                      <a:pt x="1287456" y="0"/>
                      <a:pt x="2875613" y="0"/>
                    </a:cubicBezTo>
                    <a:cubicBezTo>
                      <a:pt x="4463770" y="0"/>
                      <a:pt x="5751227" y="1287457"/>
                      <a:pt x="5751227" y="2875614"/>
                    </a:cubicBezTo>
                    <a:lnTo>
                      <a:pt x="5342880" y="2875614"/>
                    </a:lnTo>
                    <a:lnTo>
                      <a:pt x="5344183" y="2800820"/>
                    </a:lnTo>
                    <a:cubicBezTo>
                      <a:pt x="5325041" y="2169058"/>
                      <a:pt x="5064890" y="1544598"/>
                      <a:pt x="4568267" y="1077185"/>
                    </a:cubicBezTo>
                    <a:cubicBezTo>
                      <a:pt x="3575022" y="142357"/>
                      <a:pt x="2012009" y="189715"/>
                      <a:pt x="1077182" y="1182960"/>
                    </a:cubicBezTo>
                    <a:cubicBezTo>
                      <a:pt x="668195" y="1617505"/>
                      <a:pt x="447204" y="2161107"/>
                      <a:pt x="411171" y="2713449"/>
                    </a:cubicBezTo>
                    <a:lnTo>
                      <a:pt x="408345" y="2875614"/>
                    </a:lnTo>
                    <a:lnTo>
                      <a:pt x="0" y="2875615"/>
                    </a:lnTo>
                    <a:close/>
                  </a:path>
                </a:pathLst>
              </a:custGeom>
              <a:solidFill>
                <a:srgbClr val="003F98">
                  <a:alpha val="73000"/>
                </a:srgbClr>
              </a:solidFill>
              <a:ln>
                <a:noFill/>
              </a:ln>
              <a:extLst>
                <a:ext uri="{91240B29-F687-4F45-9708-019B960494DF}">
                  <a14:hiddenLine xmlns:a14="http://schemas.microsoft.com/office/drawing/2010/main" w="19050">
                    <a:solidFill>
                      <a:srgbClr val="000000"/>
                    </a:solidFill>
                    <a:round/>
                    <a:headEnd/>
                    <a:tailEnd/>
                  </a14:hiddenLine>
                </a:ext>
              </a:extLst>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a:ea typeface="微软雅黑" panose="020B0503020204020204" pitchFamily="34" charset="-122"/>
                </a:endParaRPr>
              </a:p>
            </p:txBody>
          </p:sp>
        </p:grpSp>
        <p:grpSp>
          <p:nvGrpSpPr>
            <p:cNvPr id="15" name="iṧľiďe">
              <a:extLst>
                <a:ext uri="{FF2B5EF4-FFF2-40B4-BE49-F238E27FC236}">
                  <a16:creationId xmlns:a16="http://schemas.microsoft.com/office/drawing/2014/main" id="{891052D4-C542-414B-91C5-DB7B72CDD9F2}"/>
                </a:ext>
              </a:extLst>
            </p:cNvPr>
            <p:cNvGrpSpPr>
              <a:grpSpLocks/>
            </p:cNvGrpSpPr>
            <p:nvPr/>
          </p:nvGrpSpPr>
          <p:grpSpPr bwMode="auto">
            <a:xfrm>
              <a:off x="1507376" y="1987353"/>
              <a:ext cx="1391523" cy="1797372"/>
              <a:chOff x="1987251" y="3051050"/>
              <a:chExt cx="1826411" cy="2359035"/>
            </a:xfrm>
          </p:grpSpPr>
          <p:sp>
            <p:nvSpPr>
              <p:cNvPr id="16" name="iSlïḓé">
                <a:extLst>
                  <a:ext uri="{FF2B5EF4-FFF2-40B4-BE49-F238E27FC236}">
                    <a16:creationId xmlns:a16="http://schemas.microsoft.com/office/drawing/2014/main" id="{068C083D-D9FD-4334-828B-B06B75F8977F}"/>
                  </a:ext>
                </a:extLst>
              </p:cNvPr>
              <p:cNvSpPr txBox="1">
                <a:spLocks noChangeArrowheads="1"/>
              </p:cNvSpPr>
              <p:nvPr/>
            </p:nvSpPr>
            <p:spPr bwMode="auto">
              <a:xfrm>
                <a:off x="2301494" y="3051050"/>
                <a:ext cx="1512168" cy="2308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Times New Roman" panose="02020603050405020304" pitchFamily="18" charset="0"/>
                    <a:ea typeface="微软雅黑" panose="020B0503020204020204" pitchFamily="34" charset="-122"/>
                  </a:defRPr>
                </a:lvl1pPr>
                <a:lvl2pPr marL="742950" indent="-285750">
                  <a:defRPr>
                    <a:solidFill>
                      <a:schemeClr val="tx1"/>
                    </a:solidFill>
                    <a:latin typeface="Times New Roman" panose="02020603050405020304" pitchFamily="18" charset="0"/>
                    <a:ea typeface="微软雅黑" panose="020B0503020204020204" pitchFamily="34" charset="-122"/>
                  </a:defRPr>
                </a:lvl2pPr>
                <a:lvl3pPr marL="1143000" indent="-228600">
                  <a:defRPr>
                    <a:solidFill>
                      <a:schemeClr val="tx1"/>
                    </a:solidFill>
                    <a:latin typeface="Times New Roman" panose="02020603050405020304" pitchFamily="18" charset="0"/>
                    <a:ea typeface="微软雅黑" panose="020B0503020204020204" pitchFamily="34" charset="-122"/>
                  </a:defRPr>
                </a:lvl3pPr>
                <a:lvl4pPr marL="1600200" indent="-228600">
                  <a:defRPr>
                    <a:solidFill>
                      <a:schemeClr val="tx1"/>
                    </a:solidFill>
                    <a:latin typeface="Times New Roman" panose="02020603050405020304" pitchFamily="18" charset="0"/>
                    <a:ea typeface="微软雅黑" panose="020B0503020204020204" pitchFamily="34" charset="-122"/>
                  </a:defRPr>
                </a:lvl4pPr>
                <a:lvl5pPr marL="2057400" indent="-228600">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48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rPr>
                  <a:t>目录</a:t>
                </a:r>
              </a:p>
            </p:txBody>
          </p:sp>
          <p:sp>
            <p:nvSpPr>
              <p:cNvPr id="17" name="îsļïdé">
                <a:extLst>
                  <a:ext uri="{FF2B5EF4-FFF2-40B4-BE49-F238E27FC236}">
                    <a16:creationId xmlns:a16="http://schemas.microsoft.com/office/drawing/2014/main" id="{53CBF4E9-5B09-4897-BB1F-C3B8F9B2F91D}"/>
                  </a:ext>
                </a:extLst>
              </p:cNvPr>
              <p:cNvSpPr txBox="1">
                <a:spLocks noChangeArrowheads="1"/>
              </p:cNvSpPr>
              <p:nvPr/>
            </p:nvSpPr>
            <p:spPr bwMode="auto">
              <a:xfrm rot="5400000">
                <a:off x="1044712" y="4077375"/>
                <a:ext cx="2275249" cy="390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imes New Roman" panose="02020603050405020304" pitchFamily="18" charset="0"/>
                    <a:ea typeface="微软雅黑" panose="020B0503020204020204" pitchFamily="34" charset="-122"/>
                  </a:defRPr>
                </a:lvl1pPr>
                <a:lvl2pPr marL="742950" indent="-285750">
                  <a:defRPr>
                    <a:solidFill>
                      <a:schemeClr val="tx1"/>
                    </a:solidFill>
                    <a:latin typeface="Times New Roman" panose="02020603050405020304" pitchFamily="18" charset="0"/>
                    <a:ea typeface="微软雅黑" panose="020B0503020204020204" pitchFamily="34" charset="-122"/>
                  </a:defRPr>
                </a:lvl2pPr>
                <a:lvl3pPr marL="1143000" indent="-228600">
                  <a:defRPr>
                    <a:solidFill>
                      <a:schemeClr val="tx1"/>
                    </a:solidFill>
                    <a:latin typeface="Times New Roman" panose="02020603050405020304" pitchFamily="18" charset="0"/>
                    <a:ea typeface="微软雅黑" panose="020B0503020204020204" pitchFamily="34" charset="-122"/>
                  </a:defRPr>
                </a:lvl3pPr>
                <a:lvl4pPr marL="1600200" indent="-228600">
                  <a:defRPr>
                    <a:solidFill>
                      <a:schemeClr val="tx1"/>
                    </a:solidFill>
                    <a:latin typeface="Times New Roman" panose="02020603050405020304" pitchFamily="18" charset="0"/>
                    <a:ea typeface="微软雅黑" panose="020B0503020204020204" pitchFamily="34" charset="-122"/>
                  </a:defRPr>
                </a:lvl4pPr>
                <a:lvl5pPr marL="2057400" indent="-228600">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rPr>
                  <a:t>CONTENT</a:t>
                </a:r>
              </a:p>
            </p:txBody>
          </p:sp>
        </p:grpSp>
      </p:grpSp>
      <p:sp>
        <p:nvSpPr>
          <p:cNvPr id="21" name="í$1iďê">
            <a:extLst>
              <a:ext uri="{FF2B5EF4-FFF2-40B4-BE49-F238E27FC236}">
                <a16:creationId xmlns:a16="http://schemas.microsoft.com/office/drawing/2014/main" id="{C541662A-52BD-4B26-B8C7-EF7AE024A9BF}"/>
              </a:ext>
            </a:extLst>
          </p:cNvPr>
          <p:cNvSpPr txBox="1"/>
          <p:nvPr/>
        </p:nvSpPr>
        <p:spPr bwMode="auto">
          <a:xfrm>
            <a:off x="3287688" y="2996952"/>
            <a:ext cx="7168405" cy="539442"/>
          </a:xfrm>
          <a:prstGeom prst="rect">
            <a:avLst/>
          </a:prstGeom>
          <a:noFill/>
        </p:spPr>
        <p:txBody>
          <a:bodyPr wrap="none" anchor="ctr">
            <a:noAutofit/>
          </a:bodyPr>
          <a:lstStyle/>
          <a:p>
            <a:pPr>
              <a:defRPr/>
            </a:pPr>
            <a:r>
              <a:rPr lang="en-US" altLang="zh-CN" sz="3600" b="1" dirty="0">
                <a:solidFill>
                  <a:srgbClr val="11406C">
                    <a:lumMod val="100000"/>
                  </a:srgbClr>
                </a:solidFill>
                <a:latin typeface="Impact" panose="020B0806030902050204" pitchFamily="34" charset="0"/>
                <a:ea typeface="微软雅黑" panose="020B0503020204020204" pitchFamily="34" charset="-122"/>
              </a:rPr>
              <a:t>1.4  </a:t>
            </a:r>
            <a:r>
              <a:rPr lang="zh-CN" altLang="en-US" sz="3600" b="1" dirty="0">
                <a:solidFill>
                  <a:srgbClr val="11406C">
                    <a:lumMod val="100000"/>
                  </a:srgbClr>
                </a:solidFill>
                <a:latin typeface="Impact" panose="020B0806030902050204" pitchFamily="34" charset="0"/>
                <a:ea typeface="微软雅黑" panose="020B0503020204020204" pitchFamily="34" charset="-122"/>
              </a:rPr>
              <a:t>网络工程设计分析</a:t>
            </a:r>
          </a:p>
        </p:txBody>
      </p:sp>
    </p:spTree>
    <p:extLst>
      <p:ext uri="{BB962C8B-B14F-4D97-AF65-F5344CB8AC3E}">
        <p14:creationId xmlns:p14="http://schemas.microsoft.com/office/powerpoint/2010/main" val="3797159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92" name="Rectangle 3"/>
          <p:cNvSpPr>
            <a:spLocks noGrp="1"/>
          </p:cNvSpPr>
          <p:nvPr>
            <p:ph idx="1"/>
          </p:nvPr>
        </p:nvSpPr>
        <p:spPr>
          <a:xfrm>
            <a:off x="407368" y="908720"/>
            <a:ext cx="10515600" cy="4351338"/>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buFontTx/>
              <a:buNone/>
            </a:pPr>
            <a:r>
              <a:rPr lang="en-US" altLang="zh-CN" sz="3200" dirty="0">
                <a:solidFill>
                  <a:schemeClr val="tx1"/>
                </a:solidFill>
              </a:rPr>
              <a:t>1.4.1  </a:t>
            </a:r>
            <a:r>
              <a:rPr lang="zh-CN" altLang="en-US" sz="3200" dirty="0">
                <a:solidFill>
                  <a:schemeClr val="tx1"/>
                </a:solidFill>
              </a:rPr>
              <a:t>简单设计原则</a:t>
            </a:r>
          </a:p>
          <a:p>
            <a:pPr lvl="0" eaLnBrk="1" latinLnBrk="1" hangingPunct="1"/>
            <a:r>
              <a:rPr lang="zh-CN" altLang="zh-CN" b="0" dirty="0">
                <a:solidFill>
                  <a:schemeClr val="tx1"/>
                </a:solidFill>
              </a:rPr>
              <a:t>网络规模越大时，涉及的约束条件越多，耗费的资源也越多。</a:t>
            </a:r>
          </a:p>
          <a:p>
            <a:pPr lvl="0" eaLnBrk="1" latinLnBrk="1" hangingPunct="1"/>
            <a:endParaRPr lang="zh-CN" altLang="zh-CN" dirty="0">
              <a:solidFill>
                <a:schemeClr val="tx1"/>
              </a:solidFill>
            </a:endParaRPr>
          </a:p>
          <a:p>
            <a:pPr lvl="0" eaLnBrk="1" latinLnBrk="1" hangingPunct="1"/>
            <a:r>
              <a:rPr lang="zh-CN" altLang="zh-CN" dirty="0">
                <a:solidFill>
                  <a:schemeClr val="tx1"/>
                </a:solidFill>
              </a:rPr>
              <a:t>笛卡尔《方法论》指出：</a:t>
            </a:r>
          </a:p>
          <a:p>
            <a:pPr lvl="1" eaLnBrk="1" latinLnBrk="1" hangingPunct="1"/>
            <a:r>
              <a:rPr lang="zh-CN" altLang="zh-CN" dirty="0">
                <a:solidFill>
                  <a:schemeClr val="tx1"/>
                </a:solidFill>
              </a:rPr>
              <a:t>如果一个问题过于复杂以至于一下子难以解决，那么就将原问题分解成足够小的问题，然后再分别解决。</a:t>
            </a:r>
          </a:p>
        </p:txBody>
      </p:sp>
      <p:sp>
        <p:nvSpPr>
          <p:cNvPr id="1049691" name="Rectangle 2"/>
          <p:cNvSpPr>
            <a:spLocks noGrp="1"/>
          </p:cNvSpPr>
          <p:nvPr>
            <p:ph type="title"/>
          </p:nvPr>
        </p:nvSpPr>
        <p:spPr>
          <a:xfrm>
            <a:off x="0" y="152400"/>
            <a:ext cx="10515600" cy="565945"/>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1.4  </a:t>
            </a:r>
            <a:r>
              <a:rPr lang="zh-CN" altLang="en-US" dirty="0">
                <a:solidFill>
                  <a:schemeClr val="bg1"/>
                </a:solidFill>
              </a:rPr>
              <a:t>网络工程设计分析</a:t>
            </a:r>
          </a:p>
        </p:txBody>
      </p:sp>
    </p:spTree>
  </p:cSld>
  <p:clrMapOvr>
    <a:masterClrMapping/>
  </p:clrMapOvr>
  <p:transition spd="slow">
    <p:zoom/>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97" name="Rectangle 3"/>
          <p:cNvSpPr>
            <a:spLocks noGrp="1"/>
          </p:cNvSpPr>
          <p:nvPr>
            <p:ph idx="1"/>
          </p:nvPr>
        </p:nvSpPr>
        <p:spPr>
          <a:xfrm>
            <a:off x="479376" y="908720"/>
            <a:ext cx="10515600" cy="4351338"/>
          </a:xfrm>
          <a:prstGeom prst="rect">
            <a:avLst/>
          </a:prstGeom>
          <a:noFill/>
          <a:ln>
            <a:noFill/>
          </a:ln>
        </p:spPr>
        <p:txBody>
          <a:bodyPr vert="horz" lIns="91440" tIns="45720" rIns="91440" bIns="45720" anchor="t">
            <a:normAutofit lnSpcReduction="10000"/>
          </a:bodyPr>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a:r>
              <a:rPr lang="zh-CN" altLang="en-US" b="0" dirty="0">
                <a:solidFill>
                  <a:schemeClr val="tx1"/>
                </a:solidFill>
              </a:rPr>
              <a:t>复杂性</a:t>
            </a:r>
            <a:r>
              <a:rPr lang="zh-CN" altLang="zh-CN" b="0" dirty="0">
                <a:solidFill>
                  <a:schemeClr val="tx1"/>
                </a:solidFill>
              </a:rPr>
              <a:t>理论给人们</a:t>
            </a:r>
            <a:r>
              <a:rPr lang="zh-CN" altLang="en-US" b="0" dirty="0">
                <a:solidFill>
                  <a:schemeClr val="tx1"/>
                </a:solidFill>
              </a:rPr>
              <a:t>的</a:t>
            </a:r>
            <a:r>
              <a:rPr lang="zh-CN" altLang="zh-CN" b="0" dirty="0">
                <a:solidFill>
                  <a:schemeClr val="tx1"/>
                </a:solidFill>
              </a:rPr>
              <a:t>启示</a:t>
            </a:r>
          </a:p>
          <a:p>
            <a:pPr lvl="0">
              <a:buFontTx/>
              <a:buNone/>
            </a:pPr>
            <a:r>
              <a:rPr lang="en-US" altLang="zh-CN" dirty="0">
                <a:solidFill>
                  <a:schemeClr val="tx1"/>
                </a:solidFill>
              </a:rPr>
              <a:t>（1</a:t>
            </a:r>
            <a:r>
              <a:rPr lang="zh-CN" altLang="zh-CN" dirty="0">
                <a:solidFill>
                  <a:schemeClr val="tx1"/>
                </a:solidFill>
              </a:rPr>
              <a:t>）</a:t>
            </a:r>
            <a:r>
              <a:rPr lang="zh-CN" altLang="zh-CN" b="0" dirty="0">
                <a:solidFill>
                  <a:schemeClr val="tx1"/>
                </a:solidFill>
                <a:effectLst>
                  <a:outerShdw blurRad="38100" dist="38100" dir="2700000" algn="tl">
                    <a:srgbClr val="C0C0C0"/>
                  </a:outerShdw>
                </a:effectLst>
              </a:rPr>
              <a:t>在复杂系统中，冲突不可避免</a:t>
            </a:r>
            <a:r>
              <a:rPr lang="zh-CN" altLang="zh-CN" dirty="0">
                <a:solidFill>
                  <a:schemeClr val="tx1"/>
                </a:solidFill>
              </a:rPr>
              <a:t>。</a:t>
            </a:r>
          </a:p>
          <a:p>
            <a:pPr marL="457200" lvl="1" indent="-274320">
              <a:buNone/>
            </a:pPr>
            <a:endParaRPr lang="en-US" altLang="zh-CN" dirty="0">
              <a:solidFill>
                <a:schemeClr val="tx1"/>
              </a:solidFill>
            </a:endParaRPr>
          </a:p>
          <a:p>
            <a:pPr lvl="0">
              <a:buFontTx/>
              <a:buNone/>
            </a:pPr>
            <a:r>
              <a:rPr lang="zh-CN" altLang="zh-CN" dirty="0">
                <a:solidFill>
                  <a:schemeClr val="tx1"/>
                </a:solidFill>
              </a:rPr>
              <a:t>（</a:t>
            </a:r>
            <a:r>
              <a:rPr lang="en-US" altLang="zh-CN" dirty="0">
                <a:solidFill>
                  <a:schemeClr val="tx1"/>
                </a:solidFill>
              </a:rPr>
              <a:t>2</a:t>
            </a:r>
            <a:r>
              <a:rPr lang="zh-CN" altLang="zh-CN" dirty="0">
                <a:solidFill>
                  <a:schemeClr val="tx1"/>
                </a:solidFill>
              </a:rPr>
              <a:t>）</a:t>
            </a:r>
            <a:r>
              <a:rPr lang="zh-CN" altLang="zh-CN" b="0" dirty="0">
                <a:solidFill>
                  <a:schemeClr val="tx1"/>
                </a:solidFill>
                <a:effectLst>
                  <a:outerShdw blurRad="38100" dist="38100" dir="2700000" algn="tl">
                    <a:srgbClr val="C0C0C0"/>
                  </a:outerShdw>
                </a:effectLst>
              </a:rPr>
              <a:t>凡事有代价</a:t>
            </a:r>
            <a:r>
              <a:rPr lang="zh-CN" altLang="zh-CN" dirty="0">
                <a:solidFill>
                  <a:schemeClr val="tx1"/>
                </a:solidFill>
              </a:rPr>
              <a:t>，需要达成某种妥协与平衡。</a:t>
            </a:r>
          </a:p>
          <a:p>
            <a:pPr marL="457200" lvl="1" indent="-274320">
              <a:buNone/>
            </a:pPr>
            <a:r>
              <a:rPr lang="zh-CN" altLang="zh-CN" dirty="0">
                <a:solidFill>
                  <a:schemeClr val="tx1"/>
                </a:solidFill>
              </a:rPr>
              <a:t>如，分层会对性能有所损害，但不分层又会带来系统过于复杂的问题。</a:t>
            </a:r>
          </a:p>
          <a:p>
            <a:pPr marL="457200" lvl="1" indent="-274320">
              <a:buNone/>
            </a:pPr>
            <a:endParaRPr lang="en-US" altLang="zh-CN" dirty="0">
              <a:solidFill>
                <a:schemeClr val="tx1"/>
              </a:solidFill>
            </a:endParaRPr>
          </a:p>
          <a:p>
            <a:pPr lvl="0">
              <a:buFontTx/>
              <a:buNone/>
            </a:pPr>
            <a:r>
              <a:rPr lang="zh-CN" altLang="zh-CN" dirty="0">
                <a:solidFill>
                  <a:schemeClr val="tx1"/>
                </a:solidFill>
              </a:rPr>
              <a:t>（</a:t>
            </a:r>
            <a:r>
              <a:rPr lang="en-US" altLang="zh-CN" dirty="0">
                <a:solidFill>
                  <a:schemeClr val="tx1"/>
                </a:solidFill>
              </a:rPr>
              <a:t>3</a:t>
            </a:r>
            <a:r>
              <a:rPr lang="zh-CN" altLang="zh-CN" dirty="0">
                <a:solidFill>
                  <a:schemeClr val="tx1"/>
                </a:solidFill>
              </a:rPr>
              <a:t>）复杂性由需求所决定。</a:t>
            </a:r>
          </a:p>
          <a:p>
            <a:pPr marL="457200" lvl="1" indent="-274320">
              <a:buNone/>
            </a:pPr>
            <a:r>
              <a:rPr lang="zh-CN" altLang="zh-CN" dirty="0">
                <a:solidFill>
                  <a:schemeClr val="tx1"/>
                </a:solidFill>
              </a:rPr>
              <a:t>如，既要求容量大，又要求效率高，这种需求本身就不简单，因此无法简单地解决。</a:t>
            </a:r>
          </a:p>
        </p:txBody>
      </p:sp>
      <p:sp>
        <p:nvSpPr>
          <p:cNvPr id="1049696" name="Rectangle 2"/>
          <p:cNvSpPr>
            <a:spLocks noGrp="1"/>
          </p:cNvSpPr>
          <p:nvPr>
            <p:ph type="title"/>
          </p:nvPr>
        </p:nvSpPr>
        <p:spPr>
          <a:xfrm>
            <a:off x="3428" y="135129"/>
            <a:ext cx="10515600" cy="565945"/>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1.4  </a:t>
            </a:r>
            <a:r>
              <a:rPr lang="zh-CN" altLang="en-US" dirty="0">
                <a:solidFill>
                  <a:schemeClr val="bg1"/>
                </a:solidFill>
              </a:rPr>
              <a:t>网络工程设计分析</a:t>
            </a:r>
          </a:p>
        </p:txBody>
      </p:sp>
    </p:spTree>
  </p:cSld>
  <p:clrMapOvr>
    <a:masterClrMapping/>
  </p:clrMapOvr>
  <p:transition spd="slow">
    <p:zoom/>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702" name="Rectangle 3"/>
          <p:cNvSpPr>
            <a:spLocks noGrp="1"/>
          </p:cNvSpPr>
          <p:nvPr>
            <p:ph idx="1"/>
          </p:nvPr>
        </p:nvSpPr>
        <p:spPr>
          <a:xfrm>
            <a:off x="335360" y="908720"/>
            <a:ext cx="10515600" cy="4351338"/>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r>
              <a:rPr lang="zh-CN" altLang="zh-CN" b="0" dirty="0">
                <a:solidFill>
                  <a:schemeClr val="tx1"/>
                </a:solidFill>
              </a:rPr>
              <a:t>即使每个环节最简单，由于不确定性的存在，整个系统还是会出现不可控的风险。</a:t>
            </a:r>
          </a:p>
          <a:p>
            <a:pPr lvl="0" eaLnBrk="1" latinLnBrk="1" hangingPunct="1"/>
            <a:endParaRPr lang="en-US" altLang="zh-CN" dirty="0">
              <a:solidFill>
                <a:schemeClr val="tx1"/>
              </a:solidFill>
            </a:endParaRPr>
          </a:p>
          <a:p>
            <a:pPr lvl="1" eaLnBrk="1" latinLnBrk="1" hangingPunct="1"/>
            <a:r>
              <a:rPr lang="zh-CN" altLang="zh-CN" dirty="0">
                <a:solidFill>
                  <a:schemeClr val="tx1"/>
                </a:solidFill>
              </a:rPr>
              <a:t>【例】在大规模数据中心：假设一台机器处理请求的平均响应时间为</a:t>
            </a:r>
            <a:r>
              <a:rPr lang="en-US" altLang="zh-CN" dirty="0">
                <a:solidFill>
                  <a:schemeClr val="tx1"/>
                </a:solidFill>
              </a:rPr>
              <a:t>1ms</a:t>
            </a:r>
            <a:r>
              <a:rPr lang="zh-CN" altLang="zh-CN" dirty="0">
                <a:solidFill>
                  <a:schemeClr val="tx1"/>
                </a:solidFill>
              </a:rPr>
              <a:t>，只有</a:t>
            </a:r>
            <a:r>
              <a:rPr lang="en-US" altLang="zh-CN" dirty="0">
                <a:solidFill>
                  <a:schemeClr val="tx1"/>
                </a:solidFill>
              </a:rPr>
              <a:t>1%</a:t>
            </a:r>
            <a:r>
              <a:rPr lang="zh-CN" altLang="zh-CN" dirty="0">
                <a:solidFill>
                  <a:schemeClr val="tx1"/>
                </a:solidFill>
              </a:rPr>
              <a:t>的请求处理时间会大于</a:t>
            </a:r>
            <a:r>
              <a:rPr lang="en-US" altLang="zh-CN" dirty="0">
                <a:solidFill>
                  <a:schemeClr val="tx1"/>
                </a:solidFill>
              </a:rPr>
              <a:t>1s</a:t>
            </a:r>
            <a:r>
              <a:rPr lang="zh-CN" altLang="zh-CN" dirty="0">
                <a:solidFill>
                  <a:schemeClr val="tx1"/>
                </a:solidFill>
              </a:rPr>
              <a:t>。如果一个请求需要由</a:t>
            </a:r>
            <a:r>
              <a:rPr lang="en-US" altLang="zh-CN" dirty="0">
                <a:solidFill>
                  <a:schemeClr val="tx1"/>
                </a:solidFill>
              </a:rPr>
              <a:t>100</a:t>
            </a:r>
            <a:r>
              <a:rPr lang="zh-CN" altLang="zh-CN" dirty="0">
                <a:solidFill>
                  <a:schemeClr val="tx1"/>
                </a:solidFill>
              </a:rPr>
              <a:t>个节点机并行处理，那么就会出现</a:t>
            </a:r>
            <a:r>
              <a:rPr lang="en-US" altLang="zh-CN" dirty="0">
                <a:solidFill>
                  <a:schemeClr val="tx1"/>
                </a:solidFill>
              </a:rPr>
              <a:t>63%</a:t>
            </a:r>
            <a:r>
              <a:rPr lang="zh-CN" altLang="zh-CN" dirty="0">
                <a:solidFill>
                  <a:schemeClr val="tx1"/>
                </a:solidFill>
              </a:rPr>
              <a:t>的请求响应时间大于</a:t>
            </a:r>
            <a:r>
              <a:rPr lang="en-US" altLang="zh-CN" dirty="0">
                <a:solidFill>
                  <a:schemeClr val="tx1"/>
                </a:solidFill>
              </a:rPr>
              <a:t>1s</a:t>
            </a:r>
            <a:r>
              <a:rPr lang="zh-CN" altLang="zh-CN" dirty="0">
                <a:solidFill>
                  <a:schemeClr val="tx1"/>
                </a:solidFill>
              </a:rPr>
              <a:t>，这完全不可接受。</a:t>
            </a:r>
          </a:p>
        </p:txBody>
      </p:sp>
      <p:sp>
        <p:nvSpPr>
          <p:cNvPr id="1049701" name="Rectangle 2"/>
          <p:cNvSpPr>
            <a:spLocks noGrp="1"/>
          </p:cNvSpPr>
          <p:nvPr>
            <p:ph type="title"/>
          </p:nvPr>
        </p:nvSpPr>
        <p:spPr>
          <a:xfrm>
            <a:off x="8447" y="116632"/>
            <a:ext cx="10515600" cy="63795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1.4  </a:t>
            </a:r>
            <a:r>
              <a:rPr lang="zh-CN" altLang="en-US" dirty="0">
                <a:solidFill>
                  <a:schemeClr val="bg1"/>
                </a:solidFill>
              </a:rPr>
              <a:t>网络工程设计分析</a:t>
            </a:r>
          </a:p>
        </p:txBody>
      </p:sp>
    </p:spTree>
  </p:cSld>
  <p:clrMapOvr>
    <a:masterClrMapping/>
  </p:clrMapOvr>
  <p:transition spd="slow">
    <p:zoom/>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707" name="Rectangle 3"/>
          <p:cNvSpPr>
            <a:spLocks noGrp="1"/>
          </p:cNvSpPr>
          <p:nvPr>
            <p:ph idx="1"/>
          </p:nvPr>
        </p:nvSpPr>
        <p:spPr>
          <a:xfrm>
            <a:off x="407368" y="932655"/>
            <a:ext cx="10515600" cy="4351338"/>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r>
              <a:rPr lang="zh-CN" altLang="zh-CN" b="0" dirty="0">
                <a:solidFill>
                  <a:schemeClr val="tx1"/>
                </a:solidFill>
              </a:rPr>
              <a:t>网络工程设计中，应当遵循</a:t>
            </a:r>
            <a:r>
              <a:rPr lang="en-US" altLang="zh-CN" b="0" dirty="0">
                <a:solidFill>
                  <a:schemeClr val="tx1"/>
                </a:solidFill>
                <a:effectLst>
                  <a:outerShdw blurRad="38100" dist="38100" dir="2700000" algn="tl">
                    <a:srgbClr val="C0C0C0"/>
                  </a:outerShdw>
                </a:effectLst>
              </a:rPr>
              <a:t>KISS</a:t>
            </a:r>
            <a:r>
              <a:rPr lang="zh-CN" altLang="zh-CN" b="0" dirty="0">
                <a:solidFill>
                  <a:schemeClr val="tx1"/>
                </a:solidFill>
                <a:effectLst>
                  <a:outerShdw blurRad="38100" dist="38100" dir="2700000" algn="tl">
                    <a:srgbClr val="C0C0C0"/>
                  </a:outerShdw>
                </a:effectLst>
              </a:rPr>
              <a:t>原则</a:t>
            </a:r>
            <a:r>
              <a:rPr lang="zh-CN" altLang="zh-CN" sz="2000" b="0" dirty="0">
                <a:solidFill>
                  <a:schemeClr val="tx1"/>
                </a:solidFill>
              </a:rPr>
              <a:t>（</a:t>
            </a:r>
            <a:r>
              <a:rPr lang="zh-CN" altLang="en-US" sz="2000" b="0" dirty="0">
                <a:solidFill>
                  <a:schemeClr val="tx1"/>
                </a:solidFill>
              </a:rPr>
              <a:t>保持</a:t>
            </a:r>
            <a:r>
              <a:rPr lang="zh-CN" altLang="zh-CN" sz="2000" b="0" dirty="0">
                <a:solidFill>
                  <a:schemeClr val="tx1"/>
                </a:solidFill>
              </a:rPr>
              <a:t>简单）</a:t>
            </a:r>
            <a:r>
              <a:rPr lang="en-US" altLang="zh-CN" b="0" dirty="0">
                <a:solidFill>
                  <a:schemeClr val="tx1"/>
                </a:solidFill>
              </a:rPr>
              <a:t>。</a:t>
            </a:r>
          </a:p>
          <a:p>
            <a:pPr lvl="0" eaLnBrk="1" latinLnBrk="1" hangingPunct="1"/>
            <a:endParaRPr lang="en-US" altLang="zh-CN" b="0" dirty="0">
              <a:solidFill>
                <a:schemeClr val="tx1"/>
              </a:solidFill>
            </a:endParaRPr>
          </a:p>
          <a:p>
            <a:pPr lvl="1" eaLnBrk="1" latinLnBrk="1" hangingPunct="1"/>
            <a:r>
              <a:rPr lang="zh-CN" altLang="zh-CN" dirty="0">
                <a:solidFill>
                  <a:schemeClr val="tx1"/>
                </a:solidFill>
              </a:rPr>
              <a:t>做到</a:t>
            </a:r>
            <a:r>
              <a:rPr lang="en-US" altLang="zh-CN" dirty="0">
                <a:solidFill>
                  <a:schemeClr val="tx1"/>
                </a:solidFill>
              </a:rPr>
              <a:t>KISS</a:t>
            </a:r>
            <a:r>
              <a:rPr lang="zh-CN" altLang="zh-CN" dirty="0">
                <a:solidFill>
                  <a:schemeClr val="tx1"/>
                </a:solidFill>
              </a:rPr>
              <a:t>原则并不容易，人们遇到问题时，往往会从各个方面去考虑，难免包含了问题的各种细枝末节，这种方式会导致问题变得非常复杂。</a:t>
            </a:r>
          </a:p>
        </p:txBody>
      </p:sp>
      <p:sp>
        <p:nvSpPr>
          <p:cNvPr id="1049706" name="Rectangle 2"/>
          <p:cNvSpPr>
            <a:spLocks noGrp="1"/>
          </p:cNvSpPr>
          <p:nvPr>
            <p:ph type="title"/>
          </p:nvPr>
        </p:nvSpPr>
        <p:spPr>
          <a:xfrm>
            <a:off x="10705" y="116632"/>
            <a:ext cx="10515600" cy="63795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1.4  </a:t>
            </a:r>
            <a:r>
              <a:rPr lang="zh-CN" altLang="en-US" dirty="0">
                <a:solidFill>
                  <a:schemeClr val="bg1"/>
                </a:solidFill>
              </a:rPr>
              <a:t>网络工程设计分析</a:t>
            </a:r>
          </a:p>
        </p:txBody>
      </p:sp>
      <p:pic>
        <p:nvPicPr>
          <p:cNvPr id="2097217" name="图片 1"/>
          <p:cNvPicPr>
            <a:picLocks/>
          </p:cNvPicPr>
          <p:nvPr/>
        </p:nvPicPr>
        <p:blipFill>
          <a:blip r:embed="rId5"/>
          <a:srcRect/>
          <a:stretch>
            <a:fillRect/>
          </a:stretch>
        </p:blipFill>
        <p:spPr>
          <a:xfrm>
            <a:off x="5159896" y="2924944"/>
            <a:ext cx="5473700" cy="3109912"/>
          </a:xfrm>
          <a:prstGeom prst="rect">
            <a:avLst/>
          </a:prstGeom>
          <a:noFill/>
          <a:ln>
            <a:noFill/>
          </a:ln>
        </p:spPr>
      </p:pic>
    </p:spTree>
  </p:cSld>
  <p:clrMapOvr>
    <a:masterClrMapping/>
  </p:clrMapOvr>
  <p:transition spd="slow">
    <p:zoom/>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712" name="Rectangle 3"/>
          <p:cNvSpPr>
            <a:spLocks noGrp="1"/>
          </p:cNvSpPr>
          <p:nvPr>
            <p:ph idx="1"/>
          </p:nvPr>
        </p:nvSpPr>
        <p:spPr>
          <a:xfrm>
            <a:off x="335360" y="908720"/>
            <a:ext cx="10515600" cy="4351338"/>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r>
              <a:rPr lang="en-US" altLang="zh-CN" b="0" dirty="0">
                <a:solidFill>
                  <a:srgbClr val="FF0066"/>
                </a:solidFill>
                <a:effectLst>
                  <a:outerShdw blurRad="38100" dist="38100" dir="2700000" algn="tl">
                    <a:srgbClr val="C0C0C0"/>
                  </a:outerShdw>
                </a:effectLst>
              </a:rPr>
              <a:t>KISS</a:t>
            </a:r>
            <a:r>
              <a:rPr lang="zh-CN" altLang="zh-CN" b="0" dirty="0">
                <a:solidFill>
                  <a:srgbClr val="FF0066"/>
                </a:solidFill>
                <a:effectLst>
                  <a:outerShdw blurRad="38100" dist="38100" dir="2700000" algn="tl">
                    <a:srgbClr val="C0C0C0"/>
                  </a:outerShdw>
                </a:effectLst>
              </a:rPr>
              <a:t>原则</a:t>
            </a:r>
          </a:p>
        </p:txBody>
      </p:sp>
      <p:sp>
        <p:nvSpPr>
          <p:cNvPr id="1049711" name="Rectangle 2"/>
          <p:cNvSpPr>
            <a:spLocks noGrp="1"/>
          </p:cNvSpPr>
          <p:nvPr>
            <p:ph type="title"/>
          </p:nvPr>
        </p:nvSpPr>
        <p:spPr>
          <a:xfrm>
            <a:off x="0" y="142204"/>
            <a:ext cx="10515600" cy="63795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1.4  </a:t>
            </a:r>
            <a:r>
              <a:rPr lang="zh-CN" altLang="en-US" dirty="0">
                <a:solidFill>
                  <a:schemeClr val="bg1"/>
                </a:solidFill>
              </a:rPr>
              <a:t>网络工程设计分析</a:t>
            </a:r>
          </a:p>
        </p:txBody>
      </p:sp>
      <p:pic>
        <p:nvPicPr>
          <p:cNvPr id="2097218" name="图片 2"/>
          <p:cNvPicPr>
            <a:picLocks/>
          </p:cNvPicPr>
          <p:nvPr/>
        </p:nvPicPr>
        <p:blipFill>
          <a:blip r:embed="rId5"/>
          <a:srcRect/>
          <a:stretch>
            <a:fillRect/>
          </a:stretch>
        </p:blipFill>
        <p:spPr>
          <a:xfrm>
            <a:off x="2495600" y="1268760"/>
            <a:ext cx="8683625" cy="4886325"/>
          </a:xfrm>
          <a:prstGeom prst="rect">
            <a:avLst/>
          </a:prstGeom>
          <a:noFill/>
          <a:ln>
            <a:noFill/>
          </a:ln>
        </p:spPr>
      </p:pic>
    </p:spTree>
  </p:cSld>
  <p:clrMapOvr>
    <a:masterClrMapping/>
  </p:clrMapOvr>
  <p:transition spd="slow">
    <p:zoom/>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717" name="Rectangle 3"/>
          <p:cNvSpPr>
            <a:spLocks noGrp="1"/>
          </p:cNvSpPr>
          <p:nvPr>
            <p:ph idx="1"/>
          </p:nvPr>
        </p:nvSpPr>
        <p:spPr>
          <a:xfrm>
            <a:off x="407368" y="908720"/>
            <a:ext cx="10515600" cy="4351338"/>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buFontTx/>
              <a:buNone/>
            </a:pPr>
            <a:r>
              <a:rPr lang="en-US" altLang="zh-CN" sz="3200" dirty="0">
                <a:solidFill>
                  <a:schemeClr val="tx1"/>
                </a:solidFill>
              </a:rPr>
              <a:t>1.4.2  </a:t>
            </a:r>
            <a:r>
              <a:rPr lang="zh-CN" altLang="en-US" sz="3200" dirty="0">
                <a:solidFill>
                  <a:schemeClr val="tx1"/>
                </a:solidFill>
              </a:rPr>
              <a:t>效率设计原则</a:t>
            </a:r>
          </a:p>
          <a:p>
            <a:pPr lvl="0" eaLnBrk="1" latinLnBrk="1" hangingPunct="1"/>
            <a:r>
              <a:rPr lang="en-US" altLang="zh-CN" b="0" dirty="0" err="1">
                <a:solidFill>
                  <a:schemeClr val="tx1"/>
                </a:solidFill>
              </a:rPr>
              <a:t>奥肯在</a:t>
            </a:r>
            <a:r>
              <a:rPr lang="en-US" altLang="zh-CN" b="0" dirty="0">
                <a:solidFill>
                  <a:schemeClr val="tx1"/>
                </a:solidFill>
              </a:rPr>
              <a:t>《</a:t>
            </a:r>
            <a:r>
              <a:rPr lang="zh-CN" altLang="en-US" b="0" dirty="0">
                <a:solidFill>
                  <a:schemeClr val="tx1"/>
                </a:solidFill>
              </a:rPr>
              <a:t>平等与效率</a:t>
            </a:r>
            <a:r>
              <a:rPr lang="en-US" altLang="zh-CN" b="0" dirty="0">
                <a:solidFill>
                  <a:schemeClr val="tx1"/>
                </a:solidFill>
              </a:rPr>
              <a:t>》</a:t>
            </a:r>
            <a:r>
              <a:rPr lang="zh-CN" altLang="en-US" b="0" dirty="0">
                <a:solidFill>
                  <a:schemeClr val="tx1"/>
                </a:solidFill>
              </a:rPr>
              <a:t>中断言：</a:t>
            </a:r>
          </a:p>
          <a:p>
            <a:pPr lvl="1" eaLnBrk="1" latinLnBrk="1" hangingPunct="1"/>
            <a:r>
              <a:rPr lang="zh-CN" altLang="en-US" dirty="0">
                <a:solidFill>
                  <a:schemeClr val="tx1"/>
                </a:solidFill>
                <a:effectLst>
                  <a:outerShdw blurRad="38100" dist="38100" dir="2700000" algn="tl">
                    <a:srgbClr val="C0C0C0"/>
                  </a:outerShdw>
                </a:effectLst>
                <a:ea typeface="黑体" pitchFamily="49" charset="-122"/>
              </a:rPr>
              <a:t>为了效率就要牺牲某些平等，并且为了平等就要牺牲某些效率</a:t>
            </a:r>
            <a:r>
              <a:rPr lang="en-US" altLang="zh-CN" dirty="0">
                <a:solidFill>
                  <a:schemeClr val="tx1"/>
                </a:solidFill>
              </a:rPr>
              <a:t>。</a:t>
            </a:r>
          </a:p>
          <a:p>
            <a:pPr lvl="1" eaLnBrk="1" latinLnBrk="1" hangingPunct="1"/>
            <a:endParaRPr lang="zh-CN" altLang="en-US" dirty="0">
              <a:solidFill>
                <a:schemeClr val="tx1"/>
              </a:solidFill>
            </a:endParaRPr>
          </a:p>
          <a:p>
            <a:pPr lvl="1" eaLnBrk="1" latinLnBrk="1" hangingPunct="1"/>
            <a:r>
              <a:rPr lang="zh-CN" altLang="en-US" dirty="0">
                <a:solidFill>
                  <a:schemeClr val="tx1"/>
                </a:solidFill>
              </a:rPr>
              <a:t>如果多台交换机采用级联方式时，网络设备利用率高，但对最底层交换机用户不平等；</a:t>
            </a:r>
          </a:p>
          <a:p>
            <a:pPr lvl="1" eaLnBrk="1" latinLnBrk="1" hangingPunct="1"/>
            <a:r>
              <a:rPr lang="zh-CN" altLang="en-US" dirty="0">
                <a:solidFill>
                  <a:schemeClr val="tx1"/>
                </a:solidFill>
              </a:rPr>
              <a:t>采用堆叠互连时，所有交换机用户都平等共享网络带宽，但资金利用效率不高。</a:t>
            </a:r>
          </a:p>
        </p:txBody>
      </p:sp>
      <p:sp>
        <p:nvSpPr>
          <p:cNvPr id="1049716" name="Rectangle 2"/>
          <p:cNvSpPr>
            <a:spLocks noGrp="1"/>
          </p:cNvSpPr>
          <p:nvPr>
            <p:ph type="title"/>
          </p:nvPr>
        </p:nvSpPr>
        <p:spPr>
          <a:xfrm>
            <a:off x="47328" y="116632"/>
            <a:ext cx="10515600" cy="63795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1.4  </a:t>
            </a:r>
            <a:r>
              <a:rPr lang="zh-CN" altLang="en-US" dirty="0">
                <a:solidFill>
                  <a:schemeClr val="bg1"/>
                </a:solidFill>
              </a:rPr>
              <a:t>网络工程设计分析</a:t>
            </a:r>
          </a:p>
        </p:txBody>
      </p:sp>
    </p:spTree>
  </p:cSld>
  <p:clrMapOvr>
    <a:masterClrMapping/>
  </p:clrMapOvr>
  <p:transition spd="slow">
    <p:zoom/>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722" name="Rectangle 3"/>
          <p:cNvSpPr>
            <a:spLocks noGrp="1"/>
          </p:cNvSpPr>
          <p:nvPr>
            <p:ph idx="1"/>
          </p:nvPr>
        </p:nvSpPr>
        <p:spPr>
          <a:xfrm>
            <a:off x="407368" y="908720"/>
            <a:ext cx="10515600" cy="4351338"/>
          </a:xfrm>
          <a:prstGeom prst="rect">
            <a:avLst/>
          </a:prstGeom>
          <a:noFill/>
          <a:ln>
            <a:noFill/>
          </a:ln>
        </p:spPr>
        <p:txBody>
          <a:bodyPr vert="horz" lIns="91440" tIns="45720" rIns="91440" bIns="45720" anchor="t">
            <a:normAutofit fontScale="92500"/>
          </a:bodyPr>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a:r>
              <a:rPr lang="zh-CN" altLang="zh-CN" b="0" dirty="0">
                <a:solidFill>
                  <a:schemeClr val="tx1"/>
                </a:solidFill>
              </a:rPr>
              <a:t>提高网络工程设计效率</a:t>
            </a:r>
            <a:r>
              <a:rPr lang="zh-CN" altLang="en-US" b="0" dirty="0">
                <a:solidFill>
                  <a:schemeClr val="tx1"/>
                </a:solidFill>
              </a:rPr>
              <a:t>的方法：</a:t>
            </a:r>
          </a:p>
          <a:p>
            <a:pPr lvl="0">
              <a:buFontTx/>
              <a:buNone/>
            </a:pPr>
            <a:r>
              <a:rPr lang="zh-CN" altLang="zh-CN" b="0" dirty="0">
                <a:solidFill>
                  <a:schemeClr val="tx1"/>
                </a:solidFill>
              </a:rPr>
              <a:t>（1）技术简单性原则。</a:t>
            </a:r>
          </a:p>
          <a:p>
            <a:pPr lvl="1"/>
            <a:r>
              <a:rPr lang="zh-CN" altLang="zh-CN" dirty="0">
                <a:solidFill>
                  <a:schemeClr val="tx1"/>
                </a:solidFill>
              </a:rPr>
              <a:t>在满足业务需求前提下，尽可能选择简单实用的技术和设备。否则，今后运行管理、故障维护都需要专业人员，管理开销过大。</a:t>
            </a:r>
          </a:p>
          <a:p>
            <a:pPr lvl="1"/>
            <a:endParaRPr lang="zh-CN" altLang="zh-CN" dirty="0">
              <a:solidFill>
                <a:schemeClr val="tx1"/>
              </a:solidFill>
            </a:endParaRPr>
          </a:p>
          <a:p>
            <a:pPr lvl="0">
              <a:buFontTx/>
              <a:buNone/>
            </a:pPr>
            <a:r>
              <a:rPr lang="en-US" altLang="zh-CN" b="0" dirty="0">
                <a:solidFill>
                  <a:schemeClr val="tx1"/>
                </a:solidFill>
              </a:rPr>
              <a:t>（2</a:t>
            </a:r>
            <a:r>
              <a:rPr lang="zh-CN" altLang="zh-CN" b="0" dirty="0">
                <a:solidFill>
                  <a:schemeClr val="tx1"/>
                </a:solidFill>
              </a:rPr>
              <a:t>）奥卡姆剃刀原则</a:t>
            </a:r>
          </a:p>
          <a:p>
            <a:pPr lvl="1"/>
            <a:r>
              <a:rPr lang="zh-CN" altLang="zh-CN" b="1" dirty="0">
                <a:solidFill>
                  <a:schemeClr val="tx1"/>
                </a:solidFill>
                <a:effectLst>
                  <a:outerShdw blurRad="38100" dist="38100" dir="2700000" algn="tl">
                    <a:srgbClr val="C0C0C0"/>
                  </a:outerShdw>
                </a:effectLst>
              </a:rPr>
              <a:t>不要把简单事情复杂化</a:t>
            </a:r>
            <a:r>
              <a:rPr lang="zh-CN" altLang="zh-CN" dirty="0">
                <a:solidFill>
                  <a:schemeClr val="tx1"/>
                </a:solidFill>
              </a:rPr>
              <a:t>。</a:t>
            </a:r>
          </a:p>
          <a:p>
            <a:pPr lvl="1"/>
            <a:r>
              <a:rPr lang="zh-CN" altLang="zh-CN" dirty="0">
                <a:solidFill>
                  <a:schemeClr val="tx1"/>
                </a:solidFill>
              </a:rPr>
              <a:t>设计中采用最简单和最可行的解决方案，只有在有特殊要求的情况下，或者能带来很好性价比的情况下，增加网络复杂性才是合理的。</a:t>
            </a:r>
          </a:p>
        </p:txBody>
      </p:sp>
      <p:sp>
        <p:nvSpPr>
          <p:cNvPr id="1049721" name="Rectangle 2"/>
          <p:cNvSpPr>
            <a:spLocks noGrp="1"/>
          </p:cNvSpPr>
          <p:nvPr>
            <p:ph type="title"/>
          </p:nvPr>
        </p:nvSpPr>
        <p:spPr>
          <a:xfrm>
            <a:off x="0" y="163154"/>
            <a:ext cx="10515600" cy="565945"/>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1.4  </a:t>
            </a:r>
            <a:r>
              <a:rPr lang="zh-CN" altLang="en-US" dirty="0">
                <a:solidFill>
                  <a:schemeClr val="bg1"/>
                </a:solidFill>
              </a:rPr>
              <a:t>网络工程设计分析</a:t>
            </a:r>
          </a:p>
        </p:txBody>
      </p:sp>
    </p:spTree>
  </p:cSld>
  <p:clrMapOvr>
    <a:masterClrMapping/>
  </p:clrMapOvr>
  <p:transition spd="slow">
    <p:zoom/>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727" name="Rectangle 3"/>
          <p:cNvSpPr>
            <a:spLocks noGrp="1"/>
          </p:cNvSpPr>
          <p:nvPr>
            <p:ph idx="1"/>
          </p:nvPr>
        </p:nvSpPr>
        <p:spPr>
          <a:xfrm>
            <a:off x="551384" y="1052736"/>
            <a:ext cx="10515600" cy="4351338"/>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marL="0" indent="0">
              <a:buNone/>
            </a:pPr>
            <a:r>
              <a:rPr lang="zh-CN" altLang="zh-CN" b="0" dirty="0">
                <a:solidFill>
                  <a:schemeClr val="tx1"/>
                </a:solidFill>
              </a:rPr>
              <a:t>（</a:t>
            </a:r>
            <a:r>
              <a:rPr lang="en-US" altLang="zh-CN" b="0" dirty="0">
                <a:solidFill>
                  <a:schemeClr val="tx1"/>
                </a:solidFill>
              </a:rPr>
              <a:t>3</a:t>
            </a:r>
            <a:r>
              <a:rPr lang="zh-CN" altLang="zh-CN" b="0" dirty="0">
                <a:solidFill>
                  <a:schemeClr val="tx1"/>
                </a:solidFill>
              </a:rPr>
              <a:t>）弱路由原则</a:t>
            </a:r>
          </a:p>
          <a:p>
            <a:pPr lvl="1"/>
            <a:r>
              <a:rPr lang="zh-CN" altLang="zh-CN" dirty="0">
                <a:solidFill>
                  <a:schemeClr val="tx1"/>
                </a:solidFill>
              </a:rPr>
              <a:t>路由器容易成为网络的性能瓶颈。</a:t>
            </a:r>
          </a:p>
          <a:p>
            <a:pPr lvl="1"/>
            <a:r>
              <a:rPr lang="zh-CN" altLang="zh-CN" dirty="0">
                <a:solidFill>
                  <a:schemeClr val="tx1"/>
                </a:solidFill>
              </a:rPr>
              <a:t>连接外网使用路由器</a:t>
            </a:r>
            <a:r>
              <a:rPr lang="zh-CN" altLang="en-US" dirty="0">
                <a:solidFill>
                  <a:schemeClr val="tx1"/>
                </a:solidFill>
              </a:rPr>
              <a:t>；</a:t>
            </a:r>
          </a:p>
          <a:p>
            <a:pPr lvl="1"/>
            <a:r>
              <a:rPr lang="zh-CN" altLang="zh-CN" dirty="0">
                <a:solidFill>
                  <a:schemeClr val="tx1"/>
                </a:solidFill>
              </a:rPr>
              <a:t>内网尽量使用</a:t>
            </a:r>
            <a:r>
              <a:rPr lang="en-US" altLang="zh-CN" dirty="0">
                <a:solidFill>
                  <a:schemeClr val="tx1"/>
                </a:solidFill>
              </a:rPr>
              <a:t>3</a:t>
            </a:r>
            <a:r>
              <a:rPr lang="zh-CN" altLang="zh-CN" dirty="0">
                <a:solidFill>
                  <a:schemeClr val="tx1"/>
                </a:solidFill>
              </a:rPr>
              <a:t>层交换机。</a:t>
            </a:r>
          </a:p>
          <a:p>
            <a:pPr marL="0" indent="0"/>
            <a:endParaRPr lang="zh-CN" altLang="zh-CN" b="0" dirty="0">
              <a:solidFill>
                <a:schemeClr val="tx1"/>
              </a:solidFill>
            </a:endParaRPr>
          </a:p>
          <a:p>
            <a:pPr marL="0" indent="0">
              <a:buNone/>
            </a:pPr>
            <a:r>
              <a:rPr lang="zh-CN" altLang="zh-CN" b="0" dirty="0">
                <a:solidFill>
                  <a:schemeClr val="tx1"/>
                </a:solidFill>
              </a:rPr>
              <a:t>（4）标准化原则</a:t>
            </a:r>
          </a:p>
          <a:p>
            <a:pPr lvl="1"/>
            <a:r>
              <a:rPr lang="zh-CN" altLang="zh-CN" dirty="0">
                <a:solidFill>
                  <a:schemeClr val="tx1"/>
                </a:solidFill>
              </a:rPr>
              <a:t>网络设备尽量遵循国际或国内标准。</a:t>
            </a:r>
          </a:p>
          <a:p>
            <a:pPr lvl="1"/>
            <a:r>
              <a:rPr lang="zh-CN" altLang="zh-CN" dirty="0">
                <a:solidFill>
                  <a:schemeClr val="tx1"/>
                </a:solidFill>
              </a:rPr>
              <a:t>基于标准的产品</a:t>
            </a:r>
            <a:r>
              <a:rPr lang="zh-CN" altLang="en-US" dirty="0">
                <a:solidFill>
                  <a:schemeClr val="tx1"/>
                </a:solidFill>
              </a:rPr>
              <a:t>能</a:t>
            </a:r>
            <a:r>
              <a:rPr lang="zh-CN" altLang="zh-CN" dirty="0">
                <a:solidFill>
                  <a:schemeClr val="tx1"/>
                </a:solidFill>
              </a:rPr>
              <a:t>很好的互连互通。</a:t>
            </a:r>
          </a:p>
        </p:txBody>
      </p:sp>
      <p:sp>
        <p:nvSpPr>
          <p:cNvPr id="1049726" name="Rectangle 2"/>
          <p:cNvSpPr>
            <a:spLocks noGrp="1"/>
          </p:cNvSpPr>
          <p:nvPr>
            <p:ph type="title"/>
          </p:nvPr>
        </p:nvSpPr>
        <p:spPr>
          <a:xfrm>
            <a:off x="0" y="152400"/>
            <a:ext cx="10515600" cy="63795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1.4  </a:t>
            </a:r>
            <a:r>
              <a:rPr lang="zh-CN" altLang="en-US" dirty="0">
                <a:solidFill>
                  <a:schemeClr val="bg1"/>
                </a:solidFill>
              </a:rPr>
              <a:t>网络工程设计分析</a:t>
            </a:r>
          </a:p>
        </p:txBody>
      </p:sp>
    </p:spTree>
  </p:cSld>
  <p:clrMapOvr>
    <a:masterClrMapping/>
  </p:clrMapOvr>
  <p:transition spd="slow">
    <p:zoom/>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732" name="Rectangle 3"/>
          <p:cNvSpPr>
            <a:spLocks noGrp="1"/>
          </p:cNvSpPr>
          <p:nvPr>
            <p:ph idx="1"/>
          </p:nvPr>
        </p:nvSpPr>
        <p:spPr>
          <a:xfrm>
            <a:off x="479376" y="980728"/>
            <a:ext cx="10515600" cy="4351338"/>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marL="0" indent="0">
              <a:buNone/>
            </a:pPr>
            <a:r>
              <a:rPr lang="zh-CN" altLang="zh-CN" b="0" dirty="0">
                <a:solidFill>
                  <a:schemeClr val="tx1"/>
                </a:solidFill>
              </a:rPr>
              <a:t>（</a:t>
            </a:r>
            <a:r>
              <a:rPr lang="en-US" altLang="zh-CN" b="0" dirty="0">
                <a:solidFill>
                  <a:schemeClr val="tx1"/>
                </a:solidFill>
              </a:rPr>
              <a:t>5</a:t>
            </a:r>
            <a:r>
              <a:rPr lang="zh-CN" altLang="zh-CN" b="0" dirty="0">
                <a:solidFill>
                  <a:schemeClr val="tx1"/>
                </a:solidFill>
              </a:rPr>
              <a:t>）基本结构不变原则</a:t>
            </a:r>
          </a:p>
          <a:p>
            <a:pPr lvl="1"/>
            <a:r>
              <a:rPr lang="zh-CN" altLang="zh-CN" dirty="0">
                <a:solidFill>
                  <a:schemeClr val="tx1"/>
                </a:solidFill>
              </a:rPr>
              <a:t>设计方案具有灵活性，可随网络工程的实施进行局部改进。</a:t>
            </a:r>
          </a:p>
          <a:p>
            <a:pPr lvl="1"/>
            <a:r>
              <a:rPr lang="zh-CN" altLang="zh-CN" dirty="0">
                <a:solidFill>
                  <a:schemeClr val="tx1"/>
                </a:solidFill>
              </a:rPr>
              <a:t>基本设计方案不能随意改变。</a:t>
            </a:r>
          </a:p>
          <a:p>
            <a:pPr lvl="1"/>
            <a:r>
              <a:rPr lang="zh-CN" altLang="zh-CN" dirty="0">
                <a:solidFill>
                  <a:schemeClr val="tx1"/>
                </a:solidFill>
              </a:rPr>
              <a:t>频繁地修改基本设计方案，原来的设计原则就会消失，网络设计也就不再存在了。</a:t>
            </a:r>
          </a:p>
          <a:p>
            <a:pPr lvl="1"/>
            <a:endParaRPr lang="zh-CN" altLang="zh-CN" dirty="0">
              <a:solidFill>
                <a:schemeClr val="tx1"/>
              </a:solidFill>
            </a:endParaRPr>
          </a:p>
          <a:p>
            <a:pPr marL="0" indent="0">
              <a:buNone/>
            </a:pPr>
            <a:r>
              <a:rPr lang="en-US" altLang="zh-CN" b="0" dirty="0">
                <a:solidFill>
                  <a:schemeClr val="tx1"/>
                </a:solidFill>
              </a:rPr>
              <a:t>（6</a:t>
            </a:r>
            <a:r>
              <a:rPr lang="zh-CN" altLang="zh-CN" b="0" dirty="0">
                <a:solidFill>
                  <a:schemeClr val="tx1"/>
                </a:solidFill>
              </a:rPr>
              <a:t>）影响最小原则</a:t>
            </a:r>
          </a:p>
          <a:p>
            <a:pPr lvl="1"/>
            <a:r>
              <a:rPr lang="zh-CN" altLang="zh-CN" dirty="0">
                <a:solidFill>
                  <a:schemeClr val="tx1"/>
                </a:solidFill>
              </a:rPr>
              <a:t>网络结构改变受影响的区域</a:t>
            </a:r>
            <a:r>
              <a:rPr lang="zh-CN" altLang="en-US" dirty="0">
                <a:solidFill>
                  <a:schemeClr val="tx1"/>
                </a:solidFill>
              </a:rPr>
              <a:t>减小</a:t>
            </a:r>
            <a:r>
              <a:rPr lang="zh-CN" altLang="zh-CN" dirty="0">
                <a:solidFill>
                  <a:schemeClr val="tx1"/>
                </a:solidFill>
              </a:rPr>
              <a:t>到最小程度。</a:t>
            </a:r>
          </a:p>
        </p:txBody>
      </p:sp>
      <p:sp>
        <p:nvSpPr>
          <p:cNvPr id="1049731" name="Rectangle 2"/>
          <p:cNvSpPr>
            <a:spLocks noGrp="1"/>
          </p:cNvSpPr>
          <p:nvPr>
            <p:ph type="title"/>
          </p:nvPr>
        </p:nvSpPr>
        <p:spPr>
          <a:xfrm>
            <a:off x="47328" y="152400"/>
            <a:ext cx="10515600" cy="565945"/>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1.4  </a:t>
            </a:r>
            <a:r>
              <a:rPr lang="zh-CN" altLang="en-US" dirty="0">
                <a:solidFill>
                  <a:schemeClr val="bg1"/>
                </a:solidFill>
              </a:rPr>
              <a:t>网络工程设计分析</a:t>
            </a:r>
          </a:p>
        </p:txBody>
      </p:sp>
    </p:spTree>
  </p:cSld>
  <p:clrMapOvr>
    <a:masterClrMapping/>
  </p:clrMapOvr>
  <p:transition spd="slow">
    <p:zoom/>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737" name="Rectangle 3"/>
          <p:cNvSpPr>
            <a:spLocks noGrp="1"/>
          </p:cNvSpPr>
          <p:nvPr>
            <p:ph idx="1"/>
          </p:nvPr>
        </p:nvSpPr>
        <p:spPr>
          <a:xfrm>
            <a:off x="551384" y="908720"/>
            <a:ext cx="10515600" cy="4351338"/>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buFontTx/>
              <a:buNone/>
            </a:pPr>
            <a:r>
              <a:rPr lang="en-US" altLang="zh-CN" sz="3200" dirty="0">
                <a:solidFill>
                  <a:schemeClr val="tx1"/>
                </a:solidFill>
              </a:rPr>
              <a:t>1.4.3  </a:t>
            </a:r>
            <a:r>
              <a:rPr lang="zh-CN" altLang="en-US" sz="3200" dirty="0">
                <a:solidFill>
                  <a:schemeClr val="tx1"/>
                </a:solidFill>
              </a:rPr>
              <a:t>安全设计原则</a:t>
            </a:r>
          </a:p>
          <a:p>
            <a:pPr lvl="0" eaLnBrk="1" latinLnBrk="1" hangingPunct="1"/>
            <a:r>
              <a:rPr lang="zh-CN" altLang="en-US" dirty="0">
                <a:solidFill>
                  <a:schemeClr val="tx1"/>
                </a:solidFill>
                <a:effectLst>
                  <a:outerShdw blurRad="38100" dist="38100" dir="2700000" algn="tl">
                    <a:srgbClr val="C0C0C0"/>
                  </a:outerShdw>
                </a:effectLst>
              </a:rPr>
              <a:t>适度安全的原则</a:t>
            </a:r>
          </a:p>
          <a:p>
            <a:pPr lvl="1" eaLnBrk="1" latinLnBrk="1" hangingPunct="1"/>
            <a:r>
              <a:rPr lang="zh-CN" altLang="en-US" dirty="0">
                <a:solidFill>
                  <a:schemeClr val="tx1"/>
                </a:solidFill>
              </a:rPr>
              <a:t>安全需求永无止境。</a:t>
            </a:r>
          </a:p>
          <a:p>
            <a:pPr lvl="1" eaLnBrk="1" latinLnBrk="1" hangingPunct="1"/>
            <a:r>
              <a:rPr lang="zh-CN" altLang="en-US" dirty="0">
                <a:solidFill>
                  <a:schemeClr val="tx1"/>
                </a:solidFill>
              </a:rPr>
              <a:t>根据业务重要性划分安全级别。</a:t>
            </a:r>
          </a:p>
          <a:p>
            <a:pPr lvl="1" eaLnBrk="1" latinLnBrk="1" hangingPunct="1"/>
            <a:endParaRPr lang="zh-CN" altLang="en-US" dirty="0">
              <a:solidFill>
                <a:schemeClr val="tx1"/>
              </a:solidFill>
            </a:endParaRPr>
          </a:p>
          <a:p>
            <a:pPr lvl="0" eaLnBrk="1" latinLnBrk="1" hangingPunct="1"/>
            <a:r>
              <a:rPr lang="zh-CN" altLang="en-US" dirty="0">
                <a:solidFill>
                  <a:schemeClr val="tx1"/>
                </a:solidFill>
              </a:rPr>
              <a:t>定时更新原则</a:t>
            </a:r>
          </a:p>
          <a:p>
            <a:pPr lvl="1" eaLnBrk="1" latinLnBrk="1" hangingPunct="1"/>
            <a:r>
              <a:rPr lang="zh-CN" altLang="en-US" dirty="0">
                <a:solidFill>
                  <a:schemeClr val="tx1"/>
                </a:solidFill>
              </a:rPr>
              <a:t>网络重要设备更新时间一般为</a:t>
            </a:r>
            <a:r>
              <a:rPr lang="en-US" altLang="zh-CN" dirty="0">
                <a:solidFill>
                  <a:schemeClr val="tx1"/>
                </a:solidFill>
              </a:rPr>
              <a:t>3</a:t>
            </a:r>
            <a:r>
              <a:rPr lang="zh-CN" altLang="en-US" dirty="0">
                <a:solidFill>
                  <a:schemeClr val="tx1"/>
                </a:solidFill>
              </a:rPr>
              <a:t>年左右。</a:t>
            </a:r>
          </a:p>
          <a:p>
            <a:pPr lvl="1" eaLnBrk="1" latinLnBrk="1" hangingPunct="1"/>
            <a:r>
              <a:rPr lang="zh-CN" altLang="en-US" dirty="0">
                <a:solidFill>
                  <a:schemeClr val="tx1"/>
                </a:solidFill>
              </a:rPr>
              <a:t>设备更新的驱动力来自对安全的需求。</a:t>
            </a:r>
          </a:p>
          <a:p>
            <a:pPr lvl="2" eaLnBrk="1" latinLnBrk="1" hangingPunct="1"/>
            <a:r>
              <a:rPr lang="zh-CN" altLang="en-US" b="0" dirty="0">
                <a:solidFill>
                  <a:schemeClr val="tx1"/>
                </a:solidFill>
              </a:rPr>
              <a:t>如端点安全控制，如交换机自身的安全保护等。</a:t>
            </a:r>
          </a:p>
        </p:txBody>
      </p:sp>
      <p:sp>
        <p:nvSpPr>
          <p:cNvPr id="1049736" name="Rectangle 2"/>
          <p:cNvSpPr>
            <a:spLocks noGrp="1"/>
          </p:cNvSpPr>
          <p:nvPr>
            <p:ph type="title"/>
          </p:nvPr>
        </p:nvSpPr>
        <p:spPr>
          <a:xfrm>
            <a:off x="22120" y="152400"/>
            <a:ext cx="10515600" cy="63795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1.4  </a:t>
            </a:r>
            <a:r>
              <a:rPr lang="zh-CN" altLang="en-US" dirty="0">
                <a:solidFill>
                  <a:schemeClr val="bg1"/>
                </a:solidFill>
              </a:rPr>
              <a:t>网络工程设计分析</a:t>
            </a:r>
          </a:p>
        </p:txBody>
      </p:sp>
    </p:spTree>
  </p:cSld>
  <p:clrMapOvr>
    <a:masterClrMapping/>
  </p:clrMapOvr>
  <p:transition spd="slow">
    <p:zoom/>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742" name="Rectangle 3"/>
          <p:cNvSpPr>
            <a:spLocks noGrp="1"/>
          </p:cNvSpPr>
          <p:nvPr>
            <p:ph idx="1"/>
          </p:nvPr>
        </p:nvSpPr>
        <p:spPr>
          <a:xfrm>
            <a:off x="479376" y="908720"/>
            <a:ext cx="10515600" cy="4351338"/>
          </a:xfrm>
          <a:prstGeom prst="rect">
            <a:avLst/>
          </a:prstGeom>
          <a:noFill/>
          <a:ln>
            <a:noFill/>
          </a:ln>
        </p:spPr>
        <p:txBody>
          <a:bodyPr vert="horz" lIns="91440" tIns="45720" rIns="91440" bIns="45720" anchor="t">
            <a:normAutofit fontScale="92500" lnSpcReduction="10000"/>
          </a:bodyPr>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marL="0" indent="0">
              <a:buNone/>
            </a:pPr>
            <a:r>
              <a:rPr lang="en-US" altLang="zh-CN" sz="3200">
                <a:solidFill>
                  <a:schemeClr val="tx1"/>
                </a:solidFill>
              </a:rPr>
              <a:t>1.4.4  </a:t>
            </a:r>
            <a:r>
              <a:rPr lang="zh-CN" altLang="en-US" sz="3200">
                <a:solidFill>
                  <a:schemeClr val="tx1"/>
                </a:solidFill>
              </a:rPr>
              <a:t>设计中的折中</a:t>
            </a:r>
          </a:p>
          <a:p>
            <a:pPr marL="0" indent="0">
              <a:buNone/>
            </a:pPr>
            <a:r>
              <a:rPr lang="zh-CN" altLang="zh-CN" b="0">
                <a:solidFill>
                  <a:schemeClr val="tx1"/>
                </a:solidFill>
              </a:rPr>
              <a:t>1．主流技术与新技术的矛盾</a:t>
            </a:r>
          </a:p>
          <a:p>
            <a:pPr marL="0" indent="0">
              <a:buNone/>
            </a:pPr>
            <a:r>
              <a:rPr lang="zh-CN" altLang="zh-CN" b="0">
                <a:solidFill>
                  <a:schemeClr val="tx1"/>
                </a:solidFill>
              </a:rPr>
              <a:t>（</a:t>
            </a:r>
            <a:r>
              <a:rPr lang="en-US" altLang="zh-CN" b="0">
                <a:solidFill>
                  <a:schemeClr val="tx1"/>
                </a:solidFill>
              </a:rPr>
              <a:t>1</a:t>
            </a:r>
            <a:r>
              <a:rPr lang="zh-CN" altLang="zh-CN" b="0">
                <a:solidFill>
                  <a:schemeClr val="tx1"/>
                </a:solidFill>
              </a:rPr>
              <a:t>）主流技术的观点</a:t>
            </a:r>
          </a:p>
          <a:p>
            <a:pPr lvl="1"/>
            <a:r>
              <a:rPr lang="zh-CN" altLang="zh-CN">
                <a:solidFill>
                  <a:schemeClr val="tx1"/>
                </a:solidFill>
              </a:rPr>
              <a:t>网络工程师无法看清</a:t>
            </a:r>
            <a:r>
              <a:rPr lang="en-US" altLang="zh-CN">
                <a:solidFill>
                  <a:schemeClr val="tx1"/>
                </a:solidFill>
              </a:rPr>
              <a:t>10</a:t>
            </a:r>
            <a:r>
              <a:rPr lang="zh-CN" altLang="zh-CN">
                <a:solidFill>
                  <a:schemeClr val="tx1"/>
                </a:solidFill>
              </a:rPr>
              <a:t>年甚至</a:t>
            </a:r>
            <a:r>
              <a:rPr lang="en-US" altLang="zh-CN">
                <a:solidFill>
                  <a:schemeClr val="tx1"/>
                </a:solidFill>
              </a:rPr>
              <a:t>5</a:t>
            </a:r>
            <a:r>
              <a:rPr lang="zh-CN" altLang="zh-CN">
                <a:solidFill>
                  <a:schemeClr val="tx1"/>
                </a:solidFill>
              </a:rPr>
              <a:t>年后技术的发展，所以在网络设计中采用成熟的网络技术，选用成熟的主流产品。</a:t>
            </a:r>
          </a:p>
          <a:p>
            <a:pPr lvl="1"/>
            <a:endParaRPr lang="zh-CN" altLang="zh-CN">
              <a:solidFill>
                <a:schemeClr val="tx1"/>
              </a:solidFill>
            </a:endParaRPr>
          </a:p>
          <a:p>
            <a:pPr marL="0" indent="0">
              <a:buNone/>
            </a:pPr>
            <a:r>
              <a:rPr lang="en-US" altLang="zh-CN" b="0">
                <a:solidFill>
                  <a:schemeClr val="tx1"/>
                </a:solidFill>
              </a:rPr>
              <a:t>（2</a:t>
            </a:r>
            <a:r>
              <a:rPr lang="zh-CN" altLang="zh-CN" b="0">
                <a:solidFill>
                  <a:schemeClr val="tx1"/>
                </a:solidFill>
              </a:rPr>
              <a:t>）新技术的观点</a:t>
            </a:r>
          </a:p>
          <a:p>
            <a:pPr lvl="1"/>
            <a:r>
              <a:rPr lang="zh-CN" altLang="zh-CN">
                <a:solidFill>
                  <a:schemeClr val="tx1"/>
                </a:solidFill>
              </a:rPr>
              <a:t>网络设计的先进性体现在设计思想先进，网络技术先进，硬件设备先进等方面。</a:t>
            </a:r>
          </a:p>
          <a:p>
            <a:pPr lvl="1"/>
            <a:r>
              <a:rPr lang="zh-CN" altLang="zh-CN">
                <a:solidFill>
                  <a:schemeClr val="tx1"/>
                </a:solidFill>
              </a:rPr>
              <a:t>成熟技术处于发展的顶峰，接下来会进入技术淘汰期。因此设计应当有一定的前瞻性。</a:t>
            </a:r>
          </a:p>
        </p:txBody>
      </p:sp>
      <p:sp>
        <p:nvSpPr>
          <p:cNvPr id="1049741" name="Rectangle 2"/>
          <p:cNvSpPr>
            <a:spLocks noGrp="1"/>
          </p:cNvSpPr>
          <p:nvPr>
            <p:ph type="title"/>
          </p:nvPr>
        </p:nvSpPr>
        <p:spPr>
          <a:xfrm>
            <a:off x="12963" y="146846"/>
            <a:ext cx="10515600" cy="63795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1.4  </a:t>
            </a:r>
            <a:r>
              <a:rPr lang="zh-CN" altLang="en-US" dirty="0">
                <a:solidFill>
                  <a:schemeClr val="bg1"/>
                </a:solidFill>
              </a:rPr>
              <a:t>网络工程设计分析</a:t>
            </a:r>
          </a:p>
        </p:txBody>
      </p:sp>
    </p:spTree>
  </p:cSld>
  <p:clrMapOvr>
    <a:masterClrMapping/>
  </p:clrMapOvr>
  <p:transition spd="slow">
    <p:zoom/>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747" name="Rectangle 3"/>
          <p:cNvSpPr>
            <a:spLocks noGrp="1"/>
          </p:cNvSpPr>
          <p:nvPr>
            <p:ph idx="1"/>
          </p:nvPr>
        </p:nvSpPr>
        <p:spPr>
          <a:xfrm>
            <a:off x="335360" y="908720"/>
            <a:ext cx="10515600" cy="4351338"/>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marL="0" indent="0">
              <a:buNone/>
            </a:pPr>
            <a:r>
              <a:rPr lang="en-US" altLang="zh-CN" b="0" dirty="0">
                <a:solidFill>
                  <a:schemeClr val="tx1"/>
                </a:solidFill>
              </a:rPr>
              <a:t>2</a:t>
            </a:r>
            <a:r>
              <a:rPr lang="zh-CN" altLang="zh-CN" b="0" dirty="0">
                <a:solidFill>
                  <a:schemeClr val="tx1"/>
                </a:solidFill>
              </a:rPr>
              <a:t>．安全性与易用性的矛盾</a:t>
            </a:r>
          </a:p>
          <a:p>
            <a:pPr marL="0" indent="0"/>
            <a:r>
              <a:rPr lang="zh-CN" altLang="zh-CN" b="0" dirty="0">
                <a:solidFill>
                  <a:schemeClr val="tx1"/>
                </a:solidFill>
              </a:rPr>
              <a:t>网络安全性与网络易用性存在冲突。</a:t>
            </a:r>
          </a:p>
          <a:p>
            <a:pPr lvl="1"/>
            <a:r>
              <a:rPr lang="zh-CN" altLang="zh-CN" dirty="0">
                <a:solidFill>
                  <a:schemeClr val="tx1"/>
                </a:solidFill>
              </a:rPr>
              <a:t>Windows易用性很好，但图形界面设计复杂，容易造成安全漏洞。</a:t>
            </a:r>
            <a:r>
              <a:rPr lang="en-US" altLang="zh-CN" dirty="0">
                <a:solidFill>
                  <a:schemeClr val="tx1"/>
                </a:solidFill>
              </a:rPr>
              <a:t>UNIX</a:t>
            </a:r>
            <a:r>
              <a:rPr lang="zh-CN" altLang="zh-CN" dirty="0">
                <a:solidFill>
                  <a:schemeClr val="tx1"/>
                </a:solidFill>
              </a:rPr>
              <a:t>采用字符工作界面，</a:t>
            </a:r>
            <a:r>
              <a:rPr lang="zh-CN" altLang="en-US" dirty="0">
                <a:solidFill>
                  <a:schemeClr val="tx1"/>
                </a:solidFill>
              </a:rPr>
              <a:t>使用麻烦</a:t>
            </a:r>
            <a:r>
              <a:rPr lang="zh-CN" altLang="zh-CN" dirty="0">
                <a:solidFill>
                  <a:schemeClr val="tx1"/>
                </a:solidFill>
              </a:rPr>
              <a:t>，</a:t>
            </a:r>
            <a:r>
              <a:rPr lang="zh-CN" altLang="en-US" dirty="0">
                <a:solidFill>
                  <a:schemeClr val="tx1"/>
                </a:solidFill>
              </a:rPr>
              <a:t>但</a:t>
            </a:r>
            <a:r>
              <a:rPr lang="zh-CN" altLang="zh-CN" dirty="0">
                <a:solidFill>
                  <a:schemeClr val="tx1"/>
                </a:solidFill>
              </a:rPr>
              <a:t>不容易造成安全漏洞。</a:t>
            </a:r>
          </a:p>
          <a:p>
            <a:pPr lvl="1"/>
            <a:endParaRPr lang="en-US" altLang="zh-CN" dirty="0">
              <a:solidFill>
                <a:schemeClr val="tx1"/>
              </a:solidFill>
            </a:endParaRPr>
          </a:p>
          <a:p>
            <a:pPr lvl="1"/>
            <a:r>
              <a:rPr lang="en-US" altLang="zh-CN" dirty="0">
                <a:solidFill>
                  <a:schemeClr val="tx1"/>
                </a:solidFill>
              </a:rPr>
              <a:t>Windows</a:t>
            </a:r>
            <a:r>
              <a:rPr lang="zh-CN" altLang="zh-CN" dirty="0">
                <a:solidFill>
                  <a:schemeClr val="tx1"/>
                </a:solidFill>
              </a:rPr>
              <a:t>权限管理简单，使用方便，但是安全性不好。</a:t>
            </a:r>
            <a:r>
              <a:rPr lang="en-US" altLang="zh-CN" dirty="0">
                <a:solidFill>
                  <a:schemeClr val="tx1"/>
                </a:solidFill>
              </a:rPr>
              <a:t>UNIX</a:t>
            </a:r>
            <a:r>
              <a:rPr lang="zh-CN" altLang="zh-CN" dirty="0">
                <a:solidFill>
                  <a:schemeClr val="tx1"/>
                </a:solidFill>
              </a:rPr>
              <a:t>权限管理复杂</a:t>
            </a:r>
            <a:r>
              <a:rPr lang="zh-CN" altLang="en-US" dirty="0">
                <a:solidFill>
                  <a:schemeClr val="tx1"/>
                </a:solidFill>
              </a:rPr>
              <a:t>，</a:t>
            </a:r>
            <a:r>
              <a:rPr lang="zh-CN" altLang="zh-CN" dirty="0">
                <a:solidFill>
                  <a:schemeClr val="tx1"/>
                </a:solidFill>
              </a:rPr>
              <a:t>系统易用性不好。</a:t>
            </a:r>
          </a:p>
        </p:txBody>
      </p:sp>
      <p:sp>
        <p:nvSpPr>
          <p:cNvPr id="1049746" name="Rectangle 2"/>
          <p:cNvSpPr>
            <a:spLocks noGrp="1"/>
          </p:cNvSpPr>
          <p:nvPr>
            <p:ph type="title"/>
          </p:nvPr>
        </p:nvSpPr>
        <p:spPr>
          <a:xfrm>
            <a:off x="0" y="116632"/>
            <a:ext cx="10515600" cy="709961"/>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1.4  </a:t>
            </a:r>
            <a:r>
              <a:rPr lang="zh-CN" altLang="en-US" dirty="0">
                <a:solidFill>
                  <a:schemeClr val="bg1"/>
                </a:solidFill>
              </a:rPr>
              <a:t>网络工程设计分析</a:t>
            </a:r>
          </a:p>
        </p:txBody>
      </p:sp>
    </p:spTree>
  </p:cSld>
  <p:clrMapOvr>
    <a:masterClrMapping/>
  </p:clrMapOvr>
  <p:transition spd="slow">
    <p:zoom/>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752" name="Rectangle 3"/>
          <p:cNvSpPr>
            <a:spLocks noGrp="1"/>
          </p:cNvSpPr>
          <p:nvPr>
            <p:ph idx="1"/>
          </p:nvPr>
        </p:nvSpPr>
        <p:spPr>
          <a:xfrm>
            <a:off x="479376" y="908720"/>
            <a:ext cx="10515600" cy="4351338"/>
          </a:xfrm>
          <a:prstGeom prst="rect">
            <a:avLst/>
          </a:prstGeom>
          <a:noFill/>
          <a:ln>
            <a:noFill/>
          </a:ln>
        </p:spPr>
        <p:txBody>
          <a:bodyPr vert="horz" lIns="91440" tIns="45720" rIns="91440" bIns="45720" anchor="t">
            <a:normAutofit lnSpcReduction="10000"/>
          </a:bodyPr>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marL="0" indent="0">
              <a:buNone/>
            </a:pPr>
            <a:r>
              <a:rPr lang="en-US" altLang="zh-CN" b="0" dirty="0">
                <a:solidFill>
                  <a:schemeClr val="tx1"/>
                </a:solidFill>
              </a:rPr>
              <a:t>3</a:t>
            </a:r>
            <a:r>
              <a:rPr lang="zh-CN" altLang="zh-CN" b="0" dirty="0">
                <a:solidFill>
                  <a:schemeClr val="tx1"/>
                </a:solidFill>
              </a:rPr>
              <a:t>．可靠性与经济性的矛盾</a:t>
            </a:r>
          </a:p>
          <a:p>
            <a:pPr marL="0" indent="0"/>
            <a:r>
              <a:rPr lang="zh-CN" altLang="zh-CN" b="0" dirty="0">
                <a:solidFill>
                  <a:schemeClr val="tx1"/>
                </a:solidFill>
              </a:rPr>
              <a:t>网络系统</a:t>
            </a:r>
            <a:r>
              <a:rPr lang="zh-CN" altLang="en-US" sz="2000" b="0" dirty="0">
                <a:solidFill>
                  <a:schemeClr val="tx1"/>
                </a:solidFill>
              </a:rPr>
              <a:t>（服务</a:t>
            </a:r>
            <a:r>
              <a:rPr lang="zh-CN" altLang="zh-CN" sz="2000" b="0" dirty="0">
                <a:solidFill>
                  <a:schemeClr val="tx1"/>
                </a:solidFill>
              </a:rPr>
              <a:t>端）</a:t>
            </a:r>
            <a:r>
              <a:rPr lang="zh-CN" altLang="zh-CN" b="0" dirty="0">
                <a:solidFill>
                  <a:schemeClr val="tx1"/>
                </a:solidFill>
              </a:rPr>
              <a:t>提供</a:t>
            </a:r>
            <a:r>
              <a:rPr lang="en-US" altLang="zh-CN" b="0" dirty="0">
                <a:solidFill>
                  <a:schemeClr val="tx1"/>
                </a:solidFill>
              </a:rPr>
              <a:t>24</a:t>
            </a:r>
            <a:r>
              <a:rPr lang="zh-CN" altLang="zh-CN" b="0" dirty="0">
                <a:solidFill>
                  <a:schemeClr val="tx1"/>
                </a:solidFill>
              </a:rPr>
              <a:t>小时不间断服务。</a:t>
            </a:r>
          </a:p>
          <a:p>
            <a:pPr marL="0" indent="0"/>
            <a:endParaRPr lang="en-US" altLang="zh-CN" b="0" dirty="0">
              <a:solidFill>
                <a:schemeClr val="tx1"/>
              </a:solidFill>
            </a:endParaRPr>
          </a:p>
          <a:p>
            <a:pPr marL="0" indent="0"/>
            <a:r>
              <a:rPr lang="zh-CN" altLang="zh-CN" b="0" dirty="0">
                <a:solidFill>
                  <a:schemeClr val="tx1"/>
                </a:solidFill>
              </a:rPr>
              <a:t>高可靠性网络设计可以通过链路冗余，设备冗余，数据远程备份冗余等技术实现。</a:t>
            </a:r>
          </a:p>
          <a:p>
            <a:pPr marL="0" indent="0"/>
            <a:r>
              <a:rPr lang="zh-CN" altLang="zh-CN" b="0" dirty="0">
                <a:solidFill>
                  <a:schemeClr val="tx1"/>
                </a:solidFill>
              </a:rPr>
              <a:t>网络系统可靠性设计以增加系统成本为代价。</a:t>
            </a:r>
          </a:p>
          <a:p>
            <a:pPr marL="0" indent="0"/>
            <a:endParaRPr lang="en-US" altLang="zh-CN" b="0" dirty="0">
              <a:solidFill>
                <a:schemeClr val="tx1"/>
              </a:solidFill>
            </a:endParaRPr>
          </a:p>
          <a:p>
            <a:pPr marL="0" indent="0"/>
            <a:r>
              <a:rPr lang="zh-CN" altLang="zh-CN" b="0" dirty="0">
                <a:solidFill>
                  <a:schemeClr val="tx1"/>
                </a:solidFill>
              </a:rPr>
              <a:t>经济性设计原则</a:t>
            </a:r>
            <a:r>
              <a:rPr lang="zh-CN" altLang="en-US" b="0" dirty="0">
                <a:solidFill>
                  <a:schemeClr val="tx1"/>
                </a:solidFill>
              </a:rPr>
              <a:t>：</a:t>
            </a:r>
          </a:p>
          <a:p>
            <a:pPr lvl="1"/>
            <a:r>
              <a:rPr lang="zh-CN" altLang="zh-CN" dirty="0">
                <a:solidFill>
                  <a:schemeClr val="tx1"/>
                </a:solidFill>
              </a:rPr>
              <a:t>在满足性能需求的前提下，尽可能设计出网络结构简单、网络设备利用率高的方案。</a:t>
            </a:r>
          </a:p>
        </p:txBody>
      </p:sp>
      <p:sp>
        <p:nvSpPr>
          <p:cNvPr id="1049751" name="Rectangle 2"/>
          <p:cNvSpPr>
            <a:spLocks noGrp="1"/>
          </p:cNvSpPr>
          <p:nvPr>
            <p:ph type="title"/>
          </p:nvPr>
        </p:nvSpPr>
        <p:spPr>
          <a:xfrm>
            <a:off x="1045" y="116632"/>
            <a:ext cx="10515600" cy="63795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1.4  </a:t>
            </a:r>
            <a:r>
              <a:rPr lang="zh-CN" altLang="en-US" dirty="0">
                <a:solidFill>
                  <a:schemeClr val="bg1"/>
                </a:solidFill>
              </a:rPr>
              <a:t>网络工程设计分析</a:t>
            </a:r>
          </a:p>
        </p:txBody>
      </p:sp>
    </p:spTree>
  </p:cSld>
  <p:clrMapOvr>
    <a:masterClrMapping/>
  </p:clrMapOvr>
  <p:transition spd="slow">
    <p:zoom/>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757" name="Rectangle 3"/>
          <p:cNvSpPr>
            <a:spLocks noGrp="1"/>
          </p:cNvSpPr>
          <p:nvPr>
            <p:ph idx="1"/>
          </p:nvPr>
        </p:nvSpPr>
        <p:spPr>
          <a:xfrm>
            <a:off x="479376" y="980728"/>
            <a:ext cx="10515600" cy="4351338"/>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marL="0" indent="0">
              <a:buNone/>
            </a:pPr>
            <a:r>
              <a:rPr lang="en-US" altLang="zh-CN" b="0" dirty="0">
                <a:solidFill>
                  <a:schemeClr val="tx1"/>
                </a:solidFill>
              </a:rPr>
              <a:t>4. </a:t>
            </a:r>
            <a:r>
              <a:rPr lang="zh-CN" altLang="zh-CN" b="0" dirty="0">
                <a:solidFill>
                  <a:schemeClr val="tx1"/>
                </a:solidFill>
              </a:rPr>
              <a:t>折中和结论</a:t>
            </a:r>
          </a:p>
          <a:p>
            <a:pPr marL="0" indent="0"/>
            <a:r>
              <a:rPr lang="zh-CN" altLang="zh-CN" b="0" dirty="0">
                <a:solidFill>
                  <a:schemeClr val="tx1"/>
                </a:solidFill>
              </a:rPr>
              <a:t>相互矛盾的设计要求</a:t>
            </a:r>
            <a:r>
              <a:rPr lang="zh-CN" altLang="en-US" b="0" dirty="0">
                <a:solidFill>
                  <a:schemeClr val="tx1"/>
                </a:solidFill>
              </a:rPr>
              <a:t>：</a:t>
            </a:r>
          </a:p>
          <a:p>
            <a:pPr lvl="1"/>
            <a:r>
              <a:rPr lang="zh-CN" altLang="zh-CN" dirty="0">
                <a:solidFill>
                  <a:schemeClr val="tx1"/>
                </a:solidFill>
              </a:rPr>
              <a:t>性能与价格、新技术与兼容性、软件实现与硬件实现、易用性与安全性等。</a:t>
            </a:r>
          </a:p>
          <a:p>
            <a:pPr marL="0" indent="0">
              <a:lnSpc>
                <a:spcPts val="1200"/>
              </a:lnSpc>
            </a:pPr>
            <a:endParaRPr lang="zh-CN" altLang="zh-CN" b="0" dirty="0">
              <a:solidFill>
                <a:schemeClr val="tx1"/>
              </a:solidFill>
            </a:endParaRPr>
          </a:p>
          <a:p>
            <a:pPr marL="0" indent="0"/>
            <a:r>
              <a:rPr lang="zh-CN" altLang="zh-CN" b="0" dirty="0">
                <a:solidFill>
                  <a:schemeClr val="tx1"/>
                </a:solidFill>
              </a:rPr>
              <a:t>没有最好的方案，只有最适合用户的方案。</a:t>
            </a:r>
          </a:p>
          <a:p>
            <a:pPr marL="0" indent="0"/>
            <a:endParaRPr lang="en-US" altLang="zh-CN" b="0" dirty="0">
              <a:solidFill>
                <a:schemeClr val="tx1"/>
              </a:solidFill>
            </a:endParaRPr>
          </a:p>
          <a:p>
            <a:pPr marL="0" indent="0">
              <a:buNone/>
            </a:pPr>
            <a:r>
              <a:rPr lang="zh-CN" altLang="zh-CN" b="0" dirty="0">
                <a:solidFill>
                  <a:schemeClr val="tx1"/>
                </a:solidFill>
              </a:rPr>
              <a:t>（</a:t>
            </a:r>
            <a:r>
              <a:rPr lang="en-US" altLang="zh-CN" b="0" dirty="0">
                <a:solidFill>
                  <a:schemeClr val="tx1"/>
                </a:solidFill>
              </a:rPr>
              <a:t>1</a:t>
            </a:r>
            <a:r>
              <a:rPr lang="zh-CN" altLang="zh-CN" b="0" dirty="0">
                <a:solidFill>
                  <a:schemeClr val="tx1"/>
                </a:solidFill>
              </a:rPr>
              <a:t>）多样性原则</a:t>
            </a:r>
          </a:p>
          <a:p>
            <a:pPr lvl="1"/>
            <a:r>
              <a:rPr lang="zh-CN" altLang="zh-CN" dirty="0">
                <a:solidFill>
                  <a:schemeClr val="tx1"/>
                </a:solidFill>
              </a:rPr>
              <a:t>不过分依赖某个厂商的产品。</a:t>
            </a:r>
          </a:p>
        </p:txBody>
      </p:sp>
      <p:sp>
        <p:nvSpPr>
          <p:cNvPr id="1049756" name="Rectangle 2"/>
          <p:cNvSpPr>
            <a:spLocks noGrp="1"/>
          </p:cNvSpPr>
          <p:nvPr>
            <p:ph type="title"/>
          </p:nvPr>
        </p:nvSpPr>
        <p:spPr>
          <a:xfrm>
            <a:off x="5812" y="163154"/>
            <a:ext cx="10515600" cy="565945"/>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1.4  </a:t>
            </a:r>
            <a:r>
              <a:rPr lang="zh-CN" altLang="en-US" dirty="0">
                <a:solidFill>
                  <a:schemeClr val="bg1"/>
                </a:solidFill>
              </a:rPr>
              <a:t>网络工程设计分析</a:t>
            </a:r>
          </a:p>
        </p:txBody>
      </p:sp>
    </p:spTree>
  </p:cSld>
  <p:clrMapOvr>
    <a:masterClrMapping/>
  </p:clrMapOvr>
  <p:transition spd="slow">
    <p:zoom/>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762" name="Rectangle 3"/>
          <p:cNvSpPr>
            <a:spLocks noGrp="1"/>
          </p:cNvSpPr>
          <p:nvPr>
            <p:ph idx="1"/>
          </p:nvPr>
        </p:nvSpPr>
        <p:spPr>
          <a:xfrm>
            <a:off x="407368" y="908720"/>
            <a:ext cx="10515600" cy="4351338"/>
          </a:xfrm>
          <a:prstGeom prst="rect">
            <a:avLst/>
          </a:prstGeom>
          <a:noFill/>
          <a:ln>
            <a:noFill/>
          </a:ln>
        </p:spPr>
        <p:txBody>
          <a:bodyPr vert="horz" lIns="91440" tIns="45720" rIns="91440" bIns="45720" anchor="t">
            <a:normAutofit lnSpcReduction="10000"/>
          </a:bodyPr>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pPr marL="0" indent="0">
              <a:buNone/>
            </a:pPr>
            <a:r>
              <a:rPr lang="zh-CN" altLang="zh-CN" b="0" dirty="0">
                <a:solidFill>
                  <a:schemeClr val="tx1"/>
                </a:solidFill>
              </a:rPr>
              <a:t>（</a:t>
            </a:r>
            <a:r>
              <a:rPr lang="en-US" altLang="zh-CN" b="0" dirty="0">
                <a:solidFill>
                  <a:schemeClr val="tx1"/>
                </a:solidFill>
              </a:rPr>
              <a:t>2</a:t>
            </a:r>
            <a:r>
              <a:rPr lang="zh-CN" altLang="zh-CN" b="0" dirty="0">
                <a:solidFill>
                  <a:schemeClr val="tx1"/>
                </a:solidFill>
              </a:rPr>
              <a:t>）需求决定方案原则</a:t>
            </a:r>
          </a:p>
          <a:p>
            <a:pPr lvl="1"/>
            <a:r>
              <a:rPr lang="zh-CN" altLang="zh-CN" dirty="0">
                <a:solidFill>
                  <a:schemeClr val="tx1"/>
                </a:solidFill>
                <a:effectLst>
                  <a:outerShdw blurRad="38100" dist="38100" dir="2700000" algn="tl">
                    <a:srgbClr val="C0C0C0"/>
                  </a:outerShdw>
                </a:effectLst>
              </a:rPr>
              <a:t>网络设计由</a:t>
            </a:r>
            <a:r>
              <a:rPr lang="zh-CN" altLang="en-US" dirty="0">
                <a:solidFill>
                  <a:schemeClr val="tx1"/>
                </a:solidFill>
                <a:effectLst>
                  <a:outerShdw blurRad="38100" dist="38100" dir="2700000" algn="tl">
                    <a:srgbClr val="C0C0C0"/>
                  </a:outerShdw>
                </a:effectLst>
              </a:rPr>
              <a:t>用户</a:t>
            </a:r>
            <a:r>
              <a:rPr lang="zh-CN" altLang="zh-CN" dirty="0">
                <a:solidFill>
                  <a:schemeClr val="tx1"/>
                </a:solidFill>
                <a:effectLst>
                  <a:outerShdw blurRad="38100" dist="38100" dir="2700000" algn="tl">
                    <a:srgbClr val="C0C0C0"/>
                  </a:outerShdw>
                </a:effectLst>
              </a:rPr>
              <a:t>需求推动</a:t>
            </a:r>
            <a:r>
              <a:rPr lang="zh-CN" altLang="zh-CN" dirty="0">
                <a:solidFill>
                  <a:schemeClr val="tx1"/>
                </a:solidFill>
              </a:rPr>
              <a:t>；而不应当由技术决定设计；更不应当由经验推动设计。</a:t>
            </a:r>
          </a:p>
          <a:p>
            <a:pPr lvl="1"/>
            <a:endParaRPr lang="en-US" altLang="zh-CN" b="1" dirty="0">
              <a:solidFill>
                <a:schemeClr val="tx1"/>
              </a:solidFill>
            </a:endParaRPr>
          </a:p>
          <a:p>
            <a:pPr marL="0" indent="0">
              <a:buNone/>
            </a:pPr>
            <a:r>
              <a:rPr lang="zh-CN" altLang="zh-CN" b="0" dirty="0">
                <a:solidFill>
                  <a:schemeClr val="tx1"/>
                </a:solidFill>
              </a:rPr>
              <a:t>（</a:t>
            </a:r>
            <a:r>
              <a:rPr lang="en-US" altLang="zh-CN" b="0" dirty="0">
                <a:solidFill>
                  <a:schemeClr val="tx1"/>
                </a:solidFill>
              </a:rPr>
              <a:t>3</a:t>
            </a:r>
            <a:r>
              <a:rPr lang="zh-CN" altLang="zh-CN" b="0" dirty="0">
                <a:solidFill>
                  <a:schemeClr val="tx1"/>
                </a:solidFill>
              </a:rPr>
              <a:t>）技术经济分析原则</a:t>
            </a:r>
          </a:p>
          <a:p>
            <a:pPr lvl="1"/>
            <a:r>
              <a:rPr lang="zh-CN" altLang="zh-CN" dirty="0">
                <a:solidFill>
                  <a:schemeClr val="tx1"/>
                </a:solidFill>
                <a:effectLst>
                  <a:outerShdw blurRad="38100" dist="38100" dir="2700000" algn="tl">
                    <a:srgbClr val="C0C0C0"/>
                  </a:outerShdw>
                </a:effectLst>
              </a:rPr>
              <a:t>成本与性能</a:t>
            </a:r>
            <a:r>
              <a:rPr lang="zh-CN" altLang="zh-CN" dirty="0">
                <a:solidFill>
                  <a:schemeClr val="tx1"/>
                </a:solidFill>
              </a:rPr>
              <a:t>是最基本的设计权衡因素。</a:t>
            </a:r>
          </a:p>
          <a:p>
            <a:pPr lvl="1"/>
            <a:endParaRPr lang="zh-CN" altLang="zh-CN" dirty="0">
              <a:solidFill>
                <a:schemeClr val="tx1"/>
              </a:solidFill>
            </a:endParaRPr>
          </a:p>
          <a:p>
            <a:pPr marL="0" indent="0">
              <a:buNone/>
            </a:pPr>
            <a:r>
              <a:rPr lang="en-US" altLang="zh-CN" b="0" dirty="0">
                <a:solidFill>
                  <a:schemeClr val="tx1"/>
                </a:solidFill>
              </a:rPr>
              <a:t>（4</a:t>
            </a:r>
            <a:r>
              <a:rPr lang="zh-CN" altLang="zh-CN" b="0" dirty="0">
                <a:solidFill>
                  <a:schemeClr val="tx1"/>
                </a:solidFill>
              </a:rPr>
              <a:t>）谨慎性原则</a:t>
            </a:r>
          </a:p>
          <a:p>
            <a:pPr lvl="1"/>
            <a:r>
              <a:rPr lang="zh-CN" altLang="zh-CN" dirty="0">
                <a:solidFill>
                  <a:schemeClr val="tx1"/>
                </a:solidFill>
              </a:rPr>
              <a:t>厂商的宣传和评测报告中商业因素较多。不能作为产品选型的全部依据。</a:t>
            </a:r>
          </a:p>
        </p:txBody>
      </p:sp>
      <p:sp>
        <p:nvSpPr>
          <p:cNvPr id="1049761" name="Rectangle 2"/>
          <p:cNvSpPr>
            <a:spLocks noGrp="1"/>
          </p:cNvSpPr>
          <p:nvPr>
            <p:ph type="title"/>
          </p:nvPr>
        </p:nvSpPr>
        <p:spPr>
          <a:xfrm>
            <a:off x="0" y="116632"/>
            <a:ext cx="10515600" cy="637953"/>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1.4  </a:t>
            </a:r>
            <a:r>
              <a:rPr lang="zh-CN" altLang="en-US" dirty="0">
                <a:solidFill>
                  <a:schemeClr val="bg1"/>
                </a:solidFill>
              </a:rPr>
              <a:t>网络工程设计分析</a:t>
            </a:r>
          </a:p>
        </p:txBody>
      </p:sp>
    </p:spTree>
  </p:cSld>
  <p:clrMapOvr>
    <a:masterClrMapping/>
  </p:clrMapOvr>
  <p:transition spd="slow">
    <p:zoom/>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767" name="Rectangle 3"/>
          <p:cNvSpPr>
            <a:spLocks noGrp="1"/>
          </p:cNvSpPr>
          <p:nvPr>
            <p:ph idx="1"/>
          </p:nvPr>
        </p:nvSpPr>
        <p:spPr>
          <a:xfrm>
            <a:off x="551384" y="1052736"/>
            <a:ext cx="10515600" cy="4351338"/>
          </a:xfrm>
          <a:prstGeom prst="rect">
            <a:avLst/>
          </a:prstGeom>
          <a:noFill/>
          <a:ln>
            <a:noFill/>
          </a:ln>
        </p:spPr>
        <p:txBody>
          <a:bodyPr vert="horz" lIns="91440" tIns="45720" rIns="91440" bIns="45720" anchor="t">
            <a:normAutofit/>
          </a:bodyPr>
          <a:lstStyle>
            <a:lvl1pPr marL="342900" indent="-342900" algn="l" rtl="0" fontAlgn="base" latinLnBrk="1">
              <a:lnSpc>
                <a:spcPct val="90000"/>
              </a:lnSpc>
              <a:spcBef>
                <a:spcPct val="0"/>
              </a:spcBef>
              <a:spcAft>
                <a:spcPct val="20000"/>
              </a:spcAft>
              <a:buSzPct val="100000"/>
              <a:buFontTx/>
              <a:buBlip>
                <a:blip r:embed="rId3"/>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4"/>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5"/>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5"/>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5"/>
              </a:buBlip>
              <a:defRPr sz="2000" b="1" i="0" u="none" baseline="0">
                <a:solidFill>
                  <a:srgbClr val="003399"/>
                </a:solidFill>
                <a:latin typeface="Arial" pitchFamily="34" charset="0"/>
                <a:ea typeface="楷体_GB2312" pitchFamily="49" charset="-122"/>
                <a:sym typeface="Times New Roman" pitchFamily="18" charset="0"/>
              </a:defRPr>
            </a:lvl5pPr>
          </a:lstStyle>
          <a:p>
            <a:pPr lvl="0" eaLnBrk="1" latinLnBrk="1" hangingPunct="1"/>
            <a:r>
              <a:rPr lang="zh-CN" altLang="en-US" dirty="0">
                <a:solidFill>
                  <a:schemeClr val="tx1"/>
                </a:solidFill>
              </a:rPr>
              <a:t>讨论：</a:t>
            </a:r>
          </a:p>
          <a:p>
            <a:pPr marL="457200" lvl="1" indent="-274320">
              <a:buNone/>
            </a:pPr>
            <a:r>
              <a:rPr lang="en-US" altLang="zh-CN" dirty="0">
                <a:solidFill>
                  <a:schemeClr val="tx1"/>
                </a:solidFill>
              </a:rPr>
              <a:t>（1</a:t>
            </a:r>
            <a:r>
              <a:rPr lang="zh-CN" altLang="en-US" dirty="0">
                <a:solidFill>
                  <a:schemeClr val="tx1"/>
                </a:solidFill>
              </a:rPr>
              <a:t>）网络工程师的专业知识结构，是广度优先好，还是深度优先好？</a:t>
            </a:r>
          </a:p>
          <a:p>
            <a:pPr marL="457200" lvl="1" indent="-274320">
              <a:buNone/>
            </a:pPr>
            <a:r>
              <a:rPr lang="zh-CN" altLang="en-US" dirty="0">
                <a:solidFill>
                  <a:schemeClr val="tx1"/>
                </a:solidFill>
              </a:rPr>
              <a:t>（</a:t>
            </a:r>
            <a:r>
              <a:rPr lang="en-US" altLang="zh-CN" dirty="0">
                <a:solidFill>
                  <a:schemeClr val="tx1"/>
                </a:solidFill>
              </a:rPr>
              <a:t>2</a:t>
            </a:r>
            <a:r>
              <a:rPr lang="zh-CN" altLang="en-US" dirty="0">
                <a:solidFill>
                  <a:schemeClr val="tx1"/>
                </a:solidFill>
              </a:rPr>
              <a:t>）网络标准的制定应当基于现有技术，还是应当超越现有技术？</a:t>
            </a:r>
          </a:p>
          <a:p>
            <a:pPr marL="457200" lvl="1" indent="-274320">
              <a:buNone/>
            </a:pPr>
            <a:r>
              <a:rPr lang="zh-CN" altLang="en-US" dirty="0">
                <a:solidFill>
                  <a:schemeClr val="tx1"/>
                </a:solidFill>
              </a:rPr>
              <a:t>（</a:t>
            </a:r>
            <a:r>
              <a:rPr lang="en-US" altLang="zh-CN" dirty="0">
                <a:solidFill>
                  <a:schemeClr val="tx1"/>
                </a:solidFill>
              </a:rPr>
              <a:t>3</a:t>
            </a:r>
            <a:r>
              <a:rPr lang="zh-CN" altLang="en-US" dirty="0">
                <a:solidFill>
                  <a:schemeClr val="tx1"/>
                </a:solidFill>
              </a:rPr>
              <a:t>）网络工程验收时合格，使用一段时间后网络性能下降很快，讨论原因何在？</a:t>
            </a:r>
          </a:p>
          <a:p>
            <a:pPr marL="457200" lvl="1" indent="-274320"/>
            <a:endParaRPr lang="en-US" altLang="zh-CN" dirty="0">
              <a:solidFill>
                <a:schemeClr val="tx1"/>
              </a:solidFill>
            </a:endParaRPr>
          </a:p>
          <a:p>
            <a:pPr marL="457200" lvl="1" indent="-274320"/>
            <a:endParaRPr lang="zh-CN" altLang="en-US" dirty="0">
              <a:solidFill>
                <a:schemeClr val="tx1"/>
              </a:solidFill>
            </a:endParaRPr>
          </a:p>
          <a:p>
            <a:pPr marL="457200" lvl="1" indent="-274320" algn="ctr">
              <a:buNone/>
            </a:pPr>
            <a:r>
              <a:rPr lang="en-US" altLang="zh-CN" b="1" dirty="0">
                <a:solidFill>
                  <a:schemeClr val="tx1"/>
                </a:solidFill>
                <a:effectLst>
                  <a:outerShdw blurRad="38100" dist="38100" dir="2700000" algn="tl">
                    <a:srgbClr val="C0C0C0"/>
                  </a:outerShdw>
                </a:effectLst>
                <a:ea typeface="黑体" pitchFamily="49" charset="-122"/>
              </a:rPr>
              <a:t>【</a:t>
            </a:r>
            <a:r>
              <a:rPr lang="zh-CN" altLang="en-US" b="1" dirty="0">
                <a:solidFill>
                  <a:schemeClr val="tx1"/>
                </a:solidFill>
                <a:effectLst>
                  <a:outerShdw blurRad="38100" dist="38100" dir="2700000" algn="tl">
                    <a:srgbClr val="C0C0C0"/>
                  </a:outerShdw>
                </a:effectLst>
                <a:ea typeface="黑体" pitchFamily="49" charset="-122"/>
              </a:rPr>
              <a:t>本章结束</a:t>
            </a:r>
            <a:r>
              <a:rPr lang="en-US" altLang="zh-CN" b="1" dirty="0">
                <a:solidFill>
                  <a:schemeClr val="tx1"/>
                </a:solidFill>
                <a:effectLst>
                  <a:outerShdw blurRad="38100" dist="38100" dir="2700000" algn="tl">
                    <a:srgbClr val="C0C0C0"/>
                  </a:outerShdw>
                </a:effectLst>
                <a:ea typeface="黑体" pitchFamily="49" charset="-122"/>
              </a:rPr>
              <a:t>】</a:t>
            </a:r>
          </a:p>
        </p:txBody>
      </p:sp>
      <p:sp>
        <p:nvSpPr>
          <p:cNvPr id="1049766" name="Rectangle 2"/>
          <p:cNvSpPr>
            <a:spLocks noGrp="1"/>
          </p:cNvSpPr>
          <p:nvPr>
            <p:ph type="title"/>
          </p:nvPr>
        </p:nvSpPr>
        <p:spPr>
          <a:xfrm>
            <a:off x="0" y="163154"/>
            <a:ext cx="10515600" cy="565945"/>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latinLnBrk="1" hangingPunct="1"/>
            <a:r>
              <a:rPr lang="en-US" altLang="zh-CN" dirty="0">
                <a:solidFill>
                  <a:schemeClr val="bg1"/>
                </a:solidFill>
              </a:rPr>
              <a:t> </a:t>
            </a:r>
            <a:r>
              <a:rPr lang="zh-CN" altLang="en-US" dirty="0">
                <a:solidFill>
                  <a:schemeClr val="bg1"/>
                </a:solidFill>
              </a:rPr>
              <a:t>课程作业与讨论 </a:t>
            </a:r>
          </a:p>
        </p:txBody>
      </p:sp>
    </p:spTree>
  </p:cSld>
  <p:clrMapOvr>
    <a:masterClrMapping/>
  </p:clrMapOvr>
  <p:transition spd="slow">
    <p:zoom/>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769" name="内容占位符 2"/>
          <p:cNvSpPr>
            <a:spLocks noGrp="1"/>
          </p:cNvSpPr>
          <p:nvPr>
            <p:ph idx="1"/>
          </p:nvPr>
        </p:nvSpPr>
        <p:spPr>
          <a:xfrm>
            <a:off x="623392" y="980728"/>
            <a:ext cx="10515600" cy="4351338"/>
          </a:xfrm>
          <a:prstGeom prst="rect">
            <a:avLst/>
          </a:prstGeom>
          <a:noFill/>
          <a:ln>
            <a:noFill/>
          </a:ln>
        </p:spPr>
        <p:txBody>
          <a:bodyPr vert="horz" lIns="91440" tIns="45720" rIns="91440" bIns="45720" anchor="t"/>
          <a:lstStyle>
            <a:lvl1pPr marL="342900" indent="-342900" algn="l" rtl="0" fontAlgn="base" latinLnBrk="1">
              <a:lnSpc>
                <a:spcPct val="90000"/>
              </a:lnSpc>
              <a:spcBef>
                <a:spcPct val="0"/>
              </a:spcBef>
              <a:spcAft>
                <a:spcPct val="20000"/>
              </a:spcAft>
              <a:buSzPct val="100000"/>
              <a:buFontTx/>
              <a:buBlip>
                <a:blip r:embed="rId2"/>
              </a:buBlip>
              <a:defRPr sz="2800" b="1" i="0" u="none" baseline="0">
                <a:solidFill>
                  <a:srgbClr val="0000FF"/>
                </a:solidFill>
                <a:latin typeface="Times New Roman" pitchFamily="18" charset="0"/>
                <a:ea typeface="黑体" pitchFamily="49" charset="-122"/>
                <a:sym typeface="Times New Roman" pitchFamily="18" charset="0"/>
              </a:defRPr>
            </a:lvl1pPr>
            <a:lvl2pPr marL="742950" indent="-285750" algn="l" rtl="0" fontAlgn="base" latinLnBrk="1">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fontAlgn="base" latinLnBrk="1">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fontAlgn="base" latinLnBrk="1">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fontAlgn="base" latinLnBrk="1">
              <a:lnSpc>
                <a:spcPct val="90000"/>
              </a:lnSpc>
              <a:spcBef>
                <a:spcPct val="0"/>
              </a:spcBef>
              <a:spcAft>
                <a:spcPct val="20000"/>
              </a:spcAft>
              <a:buSzPct val="100000"/>
              <a:buFontTx/>
              <a:buBlip>
                <a:blip r:embed="rId4"/>
              </a:buBlip>
              <a:defRPr sz="2000" b="1" i="0" u="none" baseline="0">
                <a:solidFill>
                  <a:srgbClr val="003399"/>
                </a:solidFill>
                <a:latin typeface="Arial" pitchFamily="34" charset="0"/>
                <a:ea typeface="楷体_GB2312" pitchFamily="49" charset="-122"/>
                <a:sym typeface="Times New Roman" pitchFamily="18" charset="0"/>
              </a:defRPr>
            </a:lvl5pPr>
          </a:lstStyle>
          <a:p>
            <a:r>
              <a:rPr lang="zh-CN" altLang="en-US" dirty="0">
                <a:solidFill>
                  <a:schemeClr val="tx1"/>
                </a:solidFill>
              </a:rPr>
              <a:t>习题</a:t>
            </a:r>
            <a:r>
              <a:rPr lang="en-US" altLang="zh-CN" dirty="0">
                <a:solidFill>
                  <a:schemeClr val="tx1"/>
                </a:solidFill>
              </a:rPr>
              <a:t>1.1</a:t>
            </a:r>
          </a:p>
          <a:p>
            <a:r>
              <a:rPr lang="zh-CN" altLang="en-US" dirty="0">
                <a:solidFill>
                  <a:schemeClr val="tx1"/>
                </a:solidFill>
              </a:rPr>
              <a:t>习题</a:t>
            </a:r>
            <a:r>
              <a:rPr lang="en-US" altLang="zh-CN" dirty="0">
                <a:solidFill>
                  <a:schemeClr val="tx1"/>
                </a:solidFill>
              </a:rPr>
              <a:t>1.2</a:t>
            </a:r>
          </a:p>
          <a:p>
            <a:r>
              <a:rPr lang="zh-CN" altLang="en-US" dirty="0">
                <a:solidFill>
                  <a:schemeClr val="tx1"/>
                </a:solidFill>
              </a:rPr>
              <a:t>习题</a:t>
            </a:r>
            <a:r>
              <a:rPr lang="en-US" altLang="zh-CN" dirty="0">
                <a:solidFill>
                  <a:schemeClr val="tx1"/>
                </a:solidFill>
              </a:rPr>
              <a:t>1.3</a:t>
            </a:r>
          </a:p>
          <a:p>
            <a:r>
              <a:rPr lang="zh-CN" altLang="en-US" dirty="0">
                <a:solidFill>
                  <a:schemeClr val="tx1"/>
                </a:solidFill>
              </a:rPr>
              <a:t>习题</a:t>
            </a:r>
            <a:r>
              <a:rPr lang="en-US" altLang="zh-CN" dirty="0">
                <a:solidFill>
                  <a:schemeClr val="tx1"/>
                </a:solidFill>
              </a:rPr>
              <a:t>1.4</a:t>
            </a:r>
          </a:p>
          <a:p>
            <a:r>
              <a:rPr lang="zh-CN" altLang="en-US" dirty="0">
                <a:solidFill>
                  <a:schemeClr val="tx1"/>
                </a:solidFill>
              </a:rPr>
              <a:t>习题</a:t>
            </a:r>
            <a:r>
              <a:rPr lang="en-US" altLang="zh-CN" dirty="0">
                <a:solidFill>
                  <a:schemeClr val="tx1"/>
                </a:solidFill>
              </a:rPr>
              <a:t>1.5</a:t>
            </a:r>
          </a:p>
          <a:p>
            <a:r>
              <a:rPr lang="zh-CN" altLang="en-US" dirty="0">
                <a:solidFill>
                  <a:schemeClr val="tx1"/>
                </a:solidFill>
              </a:rPr>
              <a:t>习题</a:t>
            </a:r>
            <a:r>
              <a:rPr lang="en-US" altLang="zh-CN" dirty="0">
                <a:solidFill>
                  <a:schemeClr val="tx1"/>
                </a:solidFill>
              </a:rPr>
              <a:t>1.11</a:t>
            </a:r>
            <a:r>
              <a:rPr lang="zh-CN" altLang="en-US" dirty="0">
                <a:solidFill>
                  <a:schemeClr val="tx1"/>
                </a:solidFill>
              </a:rPr>
              <a:t>系统工程理念如何应用到网络工程生命周期的</a:t>
            </a:r>
            <a:r>
              <a:rPr lang="en-US" altLang="zh-CN" dirty="0">
                <a:solidFill>
                  <a:schemeClr val="tx1"/>
                </a:solidFill>
              </a:rPr>
              <a:t>5</a:t>
            </a:r>
            <a:r>
              <a:rPr lang="zh-CN" altLang="en-US" dirty="0">
                <a:solidFill>
                  <a:schemeClr val="tx1"/>
                </a:solidFill>
              </a:rPr>
              <a:t>个阶段？</a:t>
            </a:r>
          </a:p>
        </p:txBody>
      </p:sp>
      <p:sp>
        <p:nvSpPr>
          <p:cNvPr id="1049768" name="标题 1"/>
          <p:cNvSpPr>
            <a:spLocks noGrp="1"/>
          </p:cNvSpPr>
          <p:nvPr>
            <p:ph type="title"/>
          </p:nvPr>
        </p:nvSpPr>
        <p:spPr>
          <a:xfrm>
            <a:off x="47328" y="139946"/>
            <a:ext cx="10515600" cy="565945"/>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r>
              <a:rPr lang="zh-CN" altLang="en-US" dirty="0">
                <a:solidFill>
                  <a:schemeClr val="bg1"/>
                </a:solidFill>
              </a:rPr>
              <a:t>作业</a:t>
            </a:r>
            <a:r>
              <a:rPr lang="en-US" altLang="zh-CN" dirty="0">
                <a:solidFill>
                  <a:schemeClr val="bg1"/>
                </a:solidFill>
              </a:rPr>
              <a:t>1</a:t>
            </a:r>
          </a:p>
        </p:txBody>
      </p:sp>
    </p:spTree>
  </p:cSld>
  <p:clrMapOvr>
    <a:masterClrMapping/>
  </p:clrMapOvr>
  <p:transition spd="slow">
    <p:zoom/>
  </p:transition>
</p:sld>
</file>

<file path=ppt/theme/theme1.xml><?xml version="1.0" encoding="utf-8"?>
<a:theme xmlns:a="http://schemas.openxmlformats.org/drawingml/2006/main" name="1_自定义设计方案">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E7E6E6"/>
      </a:dk2>
      <a:lt2>
        <a:srgbClr val="44546A"/>
      </a:lt2>
      <a:accent1>
        <a:srgbClr val="5B9BD5"/>
      </a:accent1>
      <a:accent2>
        <a:srgbClr val="ED7D31"/>
      </a:accent2>
      <a:accent3>
        <a:srgbClr val="FFFFFF"/>
      </a:accent3>
      <a:accent4>
        <a:srgbClr val="000000"/>
      </a:accent4>
      <a:accent5>
        <a:srgbClr val="B6CBE6"/>
      </a:accent5>
      <a:accent6>
        <a:srgbClr val="D4702B"/>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293</TotalTime>
  <Words>8182</Words>
  <Application>Microsoft Office PowerPoint</Application>
  <PresentationFormat>宽屏</PresentationFormat>
  <Paragraphs>1073</Paragraphs>
  <Slides>135</Slides>
  <Notes>3</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2</vt:i4>
      </vt:variant>
      <vt:variant>
        <vt:lpstr>幻灯片标题</vt:lpstr>
      </vt:variant>
      <vt:variant>
        <vt:i4>135</vt:i4>
      </vt:variant>
    </vt:vector>
  </HeadingPairs>
  <TitlesOfParts>
    <vt:vector size="156" baseType="lpstr">
      <vt:lpstr>MingLiU</vt:lpstr>
      <vt:lpstr>quote-cjk-patch</vt:lpstr>
      <vt:lpstr>冬青黑体简体中文 W3</vt:lpstr>
      <vt:lpstr>黑体</vt:lpstr>
      <vt:lpstr>华文楷体</vt:lpstr>
      <vt:lpstr>华文中宋</vt:lpstr>
      <vt:lpstr>楷体_GB2312</vt:lpstr>
      <vt:lpstr>宋体</vt:lpstr>
      <vt:lpstr>微软雅黑</vt:lpstr>
      <vt:lpstr>幼圆</vt:lpstr>
      <vt:lpstr>Arial</vt:lpstr>
      <vt:lpstr>Calibri</vt:lpstr>
      <vt:lpstr>Calibri Light</vt:lpstr>
      <vt:lpstr>Comic Sans MS</vt:lpstr>
      <vt:lpstr>Impact</vt:lpstr>
      <vt:lpstr>Tahoma</vt:lpstr>
      <vt:lpstr>Times New Roman</vt:lpstr>
      <vt:lpstr>Wingdings</vt:lpstr>
      <vt:lpstr>1_自定义设计方案</vt:lpstr>
      <vt:lpstr>Visio</vt:lpstr>
      <vt:lpstr>Microsoft Visio 2003-2010 Drawing</vt:lpstr>
      <vt:lpstr>PowerPoint 演示文稿</vt:lpstr>
      <vt:lpstr>课程说明</vt:lpstr>
      <vt:lpstr>课程目标（1，2，3，4，5）</vt:lpstr>
      <vt:lpstr>课程目标（1，2，3）</vt:lpstr>
      <vt:lpstr>课程目标（4，5）</vt:lpstr>
      <vt:lpstr>课程支撑的毕业要求指标点</vt:lpstr>
      <vt:lpstr>教学目的</vt:lpstr>
      <vt:lpstr>PowerPoint 演示文稿</vt:lpstr>
      <vt:lpstr>PowerPoint 演示文稿</vt:lpstr>
      <vt:lpstr>教材目录</vt:lpstr>
      <vt:lpstr>课程设计（待定）</vt:lpstr>
      <vt:lpstr>PowerPoint 演示文稿</vt:lpstr>
      <vt:lpstr>1.0 计算机网络工程概论</vt:lpstr>
      <vt:lpstr>1.0 计算机网络工程概论</vt:lpstr>
      <vt:lpstr>1.0 计算机网络工程概论</vt:lpstr>
      <vt:lpstr>1.0 计算机网络工程概论</vt:lpstr>
      <vt:lpstr>1.0 计算机网络工程概论</vt:lpstr>
      <vt:lpstr>1.0 计算机网络工程概论</vt:lpstr>
      <vt:lpstr>1.0 计算机网络工程概论</vt:lpstr>
      <vt:lpstr>1.0 计算机网络工程概论</vt:lpstr>
      <vt:lpstr>1.0 计算机网络工程概论</vt:lpstr>
      <vt:lpstr>1.0 计算机网络工程概论</vt:lpstr>
      <vt:lpstr>1.0 计算机网络工程概论</vt:lpstr>
      <vt:lpstr>1.0 计算机网络工程概论</vt:lpstr>
      <vt:lpstr>1.0 计算机网络工程概论</vt:lpstr>
      <vt:lpstr>1.0 计算机网络工程概论</vt:lpstr>
      <vt:lpstr>PowerPoint 演示文稿</vt:lpstr>
      <vt:lpstr>1.1  网络工程基本特征</vt:lpstr>
      <vt:lpstr>1.1  网络工程基本特征</vt:lpstr>
      <vt:lpstr>1.1  网络工程基本特征</vt:lpstr>
      <vt:lpstr>1.1  网络工程基本特征</vt:lpstr>
      <vt:lpstr>1.1  网络工程基本特征</vt:lpstr>
      <vt:lpstr>1.1  网络工程基本特征</vt:lpstr>
      <vt:lpstr>1.1  网络工程基本特征</vt:lpstr>
      <vt:lpstr>1.1  网络工程基本特征</vt:lpstr>
      <vt:lpstr>1.1  网络工程基本特征</vt:lpstr>
      <vt:lpstr>1.1  网络工程基本特征</vt:lpstr>
      <vt:lpstr>1.1  网络工程基本特征</vt:lpstr>
      <vt:lpstr>1.1  网络工程基本特征</vt:lpstr>
      <vt:lpstr>1.1  网络工程基本特征</vt:lpstr>
      <vt:lpstr>1.1  网络工程基本特征</vt:lpstr>
      <vt:lpstr>1.1  网络工程基本特征</vt:lpstr>
      <vt:lpstr>1.1  网络工程基本特征</vt:lpstr>
      <vt:lpstr>1.1  网络工程基本特征</vt:lpstr>
      <vt:lpstr>1.1  网络工程基本特征</vt:lpstr>
      <vt:lpstr>1.1  网络工程概述</vt:lpstr>
      <vt:lpstr>PowerPoint 演示文稿</vt:lpstr>
      <vt:lpstr>PowerPoint 演示文稿</vt:lpstr>
      <vt:lpstr>PowerPoint 演示文稿</vt:lpstr>
      <vt:lpstr>1.1  网络工程基本特征</vt:lpstr>
      <vt:lpstr>1.1  网络工程基本特征</vt:lpstr>
      <vt:lpstr>1.1  网络工程基本特征</vt:lpstr>
      <vt:lpstr>MRTG</vt:lpstr>
      <vt:lpstr>1.1  网络工程概述</vt:lpstr>
      <vt:lpstr>1.1  网络工程基本特征</vt:lpstr>
      <vt:lpstr>1.1  网络工程概述</vt:lpstr>
      <vt:lpstr>1.1  网络工程概述</vt:lpstr>
      <vt:lpstr>PowerPoint 演示文稿</vt:lpstr>
      <vt:lpstr>1.2  网络工程设计规范</vt:lpstr>
      <vt:lpstr>1.2  网络工程设计规范</vt:lpstr>
      <vt:lpstr>1.2  网络工程设计规范</vt:lpstr>
      <vt:lpstr>1.2  网络工程设计规范</vt:lpstr>
      <vt:lpstr>1.2  网络工程设计规范</vt:lpstr>
      <vt:lpstr>1.2  网络工程设计规范</vt:lpstr>
      <vt:lpstr>1.2  网络工程设计规范</vt:lpstr>
      <vt:lpstr>1.2  网络工程设计规范</vt:lpstr>
      <vt:lpstr>1.2  网络工程设计规范</vt:lpstr>
      <vt:lpstr>1.2  网络工程设计规范</vt:lpstr>
      <vt:lpstr>https://www.rfc-editor.org/rfc-index-100d.html</vt:lpstr>
      <vt:lpstr>PowerPoint 演示文稿</vt:lpstr>
      <vt:lpstr>1.2  网络工程设计规范</vt:lpstr>
      <vt:lpstr>1.2  网络工程设计规范</vt:lpstr>
      <vt:lpstr>1.3  网络体系结构</vt:lpstr>
      <vt:lpstr>1.3  网络体系结构</vt:lpstr>
      <vt:lpstr>PowerPoint 演示文稿</vt:lpstr>
      <vt:lpstr>1.3  网络通信体系结构</vt:lpstr>
      <vt:lpstr>1.3  网络通信体系结构</vt:lpstr>
      <vt:lpstr>1.3  网络通信体系结构</vt:lpstr>
      <vt:lpstr>1.3  网络通信体系结构</vt:lpstr>
      <vt:lpstr>1.3  网络通信体系结构</vt:lpstr>
      <vt:lpstr>1.3  网络通信体系结构</vt:lpstr>
      <vt:lpstr>1.3  网络通信体系结构</vt:lpstr>
      <vt:lpstr>1.3  网络通信体系结构</vt:lpstr>
      <vt:lpstr>1.3  网络通信体系结构</vt:lpstr>
      <vt:lpstr>1.3  网络通信体系结构</vt:lpstr>
      <vt:lpstr>1.3  网络通信体系结构</vt:lpstr>
      <vt:lpstr>1.3  网络通信体系结构</vt:lpstr>
      <vt:lpstr>1.3  网络通信体系结构</vt:lpstr>
      <vt:lpstr>1.3  网络通信体系结构</vt:lpstr>
      <vt:lpstr>1.3  网络通信体系结构</vt:lpstr>
      <vt:lpstr>1.3  网络通信体系结构</vt:lpstr>
      <vt:lpstr>1.3  网络通信体系结构</vt:lpstr>
      <vt:lpstr>1.3  网络通信体系结构</vt:lpstr>
      <vt:lpstr>1.3  网络通信体系结构</vt:lpstr>
      <vt:lpstr>1.3  网络通信体系结构</vt:lpstr>
      <vt:lpstr>1.3  网络通信体系结构</vt:lpstr>
      <vt:lpstr>1.3  网络通信体系结构</vt:lpstr>
      <vt:lpstr>1.3  网络通信体系结构</vt:lpstr>
      <vt:lpstr>1.3  网络通信体系结构</vt:lpstr>
      <vt:lpstr>1.3  网络通信体系结构</vt:lpstr>
      <vt:lpstr>1.3  网络通信体系结构</vt:lpstr>
      <vt:lpstr>1.3  网络通信体系结构</vt:lpstr>
      <vt:lpstr>1.3  网络通信体系结构</vt:lpstr>
      <vt:lpstr>1.3  网络通信体系结构</vt:lpstr>
      <vt:lpstr>1.3  网络通信体系结构</vt:lpstr>
      <vt:lpstr>1.3  网络通信体系结构</vt:lpstr>
      <vt:lpstr>1.3  网络通信体系结构</vt:lpstr>
      <vt:lpstr>1.3  网络通信体系结构</vt:lpstr>
      <vt:lpstr>1.3  网络通信体系结构</vt:lpstr>
      <vt:lpstr>1.3  网络通信体系结构</vt:lpstr>
      <vt:lpstr>1.3  网络通信体系结构</vt:lpstr>
      <vt:lpstr>1.3  网络通信体系结构</vt:lpstr>
      <vt:lpstr>1.3  网络通信体系结构</vt:lpstr>
      <vt:lpstr>1.3  网络通信体系结构</vt:lpstr>
      <vt:lpstr>1.3  网络通信体系结构</vt:lpstr>
      <vt:lpstr>1.3  网络通信体系结构</vt:lpstr>
      <vt:lpstr>1.3  网络通信体系结构</vt:lpstr>
      <vt:lpstr>PowerPoint 演示文稿</vt:lpstr>
      <vt:lpstr>1.4  网络工程设计分析</vt:lpstr>
      <vt:lpstr>1.4  网络工程设计分析</vt:lpstr>
      <vt:lpstr>1.4  网络工程设计分析</vt:lpstr>
      <vt:lpstr>1.4  网络工程设计分析</vt:lpstr>
      <vt:lpstr>1.4  网络工程设计分析</vt:lpstr>
      <vt:lpstr>1.4  网络工程设计分析</vt:lpstr>
      <vt:lpstr>1.4  网络工程设计分析</vt:lpstr>
      <vt:lpstr>1.4  网络工程设计分析</vt:lpstr>
      <vt:lpstr>1.4  网络工程设计分析</vt:lpstr>
      <vt:lpstr>1.4  网络工程设计分析</vt:lpstr>
      <vt:lpstr>1.4  网络工程设计分析</vt:lpstr>
      <vt:lpstr>1.4  网络工程设计分析</vt:lpstr>
      <vt:lpstr>1.4  网络工程设计分析</vt:lpstr>
      <vt:lpstr>1.4  网络工程设计分析</vt:lpstr>
      <vt:lpstr>1.4  网络工程设计分析</vt:lpstr>
      <vt:lpstr> 课程作业与讨论 </vt:lpstr>
      <vt:lpstr>作业1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网络工程与设计</dc:title>
  <dc:creator>窦军</dc:creator>
  <cp:lastModifiedBy>你的太阳</cp:lastModifiedBy>
  <cp:revision>55</cp:revision>
  <dcterms:created xsi:type="dcterms:W3CDTF">2004-12-08T17:28:05Z</dcterms:created>
  <dcterms:modified xsi:type="dcterms:W3CDTF">2025-12-27T07:09:00Z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2052-10.1.0.6206</vt:lpwstr>
  </property>
  <property fmtid="{D5CDD505-2E9C-101B-9397-08002B2CF9AE}" pid="3" name="ICV">
    <vt:lpwstr>6ef12fbbded54c99831338b6263171b3</vt:lpwstr>
  </property>
</Properties>
</file>