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0">
  <p:sldMasterIdLst>
    <p:sldMasterId id="2147483662" r:id="rId1"/>
  </p:sldMasterIdLst>
  <p:notesMasterIdLst>
    <p:notesMasterId r:id="rId53"/>
  </p:notesMasterIdLst>
  <p:sldIdLst>
    <p:sldId id="306" r:id="rId2"/>
    <p:sldId id="307" r:id="rId3"/>
    <p:sldId id="308" r:id="rId4"/>
    <p:sldId id="31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09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311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12192000" cy="6858000"/>
  <p:notesSz cx="6858000" cy="9144000"/>
  <p:defaultTextStyle>
    <a:lvl1pPr marL="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2800" b="0" i="0" u="none" baseline="0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1pPr>
    <a:lvl2pPr marL="4572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2800" b="0" i="0" u="none" baseline="0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2pPr>
    <a:lvl3pPr marL="9144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2800" b="0" i="0" u="none" baseline="0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3pPr>
    <a:lvl4pPr marL="13716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2800" b="0" i="0" u="none" baseline="0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4pPr>
    <a:lvl5pPr marL="18288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2800" b="0" i="0" u="none" baseline="0">
        <a:solidFill>
          <a:schemeClr val="dk1"/>
        </a:solidFill>
        <a:latin typeface="Times New Roman" pitchFamily="18" charset="0"/>
        <a:ea typeface="宋体" pitchFamily="2" charset="-122"/>
        <a:sym typeface="Times New Roman" pitchFamily="18" charset="0"/>
      </a:defRPr>
    </a:lvl5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86780" autoAdjust="0"/>
  </p:normalViewPr>
  <p:slideViewPr>
    <p:cSldViewPr>
      <p:cViewPr varScale="1">
        <p:scale>
          <a:sx n="95" d="100"/>
          <a:sy n="95" d="100"/>
        </p:scale>
        <p:origin x="107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/>
            <a:endParaRPr lang="en-US" altLang="zh-CN" sz="1200">
              <a:latin typeface="Arial" pitchFamily="34" charset="0"/>
            </a:endParaRPr>
          </a:p>
        </p:txBody>
      </p:sp>
      <p:sp>
        <p:nvSpPr>
          <p:cNvPr id="1048898" name="Rectangle 3"/>
          <p:cNvSpPr>
            <a:spLocks noGrp="1"/>
          </p:cNvSpPr>
          <p:nvPr>
            <p:ph type="dt" idx="1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 eaLnBrk="1" hangingPunct="1"/>
            <a:endParaRPr lang="en-US" altLang="zh-CN" sz="1200">
              <a:latin typeface="Arial" pitchFamily="34" charset="0"/>
            </a:endParaRPr>
          </a:p>
        </p:txBody>
      </p:sp>
      <p:sp>
        <p:nvSpPr>
          <p:cNvPr id="1048899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900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01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eaLnBrk="1" hangingPunct="1"/>
            <a:endParaRPr lang="en-US" altLang="zh-CN" sz="1200">
              <a:latin typeface="Arial" pitchFamily="34" charset="0"/>
            </a:endParaRPr>
          </a:p>
        </p:txBody>
      </p:sp>
      <p:sp>
        <p:nvSpPr>
          <p:cNvPr id="1048902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 eaLnBrk="1" hangingPunct="1"/>
            <a:fld id="{566ABCEB-ACFC-4714-9973-3DA970169C29}" type="slidenum">
              <a:rPr lang="en-US" altLang="zh-CN" sz="1200">
                <a:latin typeface="Arial" pitchFamily="34" charset="0"/>
              </a:rPr>
              <a:pPr lvl="0" algn="r" eaLnBrk="1" hangingPunct="1"/>
              <a:t>‹#›</a:t>
            </a:fld>
            <a:endParaRPr lang="en-US" altLang="zh-CN" sz="1200">
              <a:latin typeface="Arial" pitchFamily="34" charset="0"/>
            </a:endParaRPr>
          </a:p>
        </p:txBody>
      </p:sp>
    </p:spTree>
  </p:cSld>
  <p:clrMap bg1="dk1" tx1="dk1" bg2="dk1" tx2="dk1" accent1="dk1" accent2="dk1" accent3="dk1" accent4="dk1" accent5="dk1" accent6="dk1" hlink="dk1" folHlink="dk1"/>
  <p:notesStyle>
    <a:lvl1pPr marL="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1pPr>
    <a:lvl2pPr marL="4572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2pPr>
    <a:lvl3pPr marL="9144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3pPr>
    <a:lvl4pPr marL="13716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4pPr>
    <a:lvl5pPr marL="18288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ea typeface="宋体" pitchFamily="2" charset="-122"/>
        <a:sym typeface="Times New Roman" pitchFamily="18" charset="0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idu.com/link?url=aSdfvtxqiqMJwPvT3MSh8wNCjft6rtqj4hLKRzZAy8auSzfPQjnp5-1495TNPDPS5Hukk_7huxdFeLGGhZOma_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x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数字用户线（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x Digital Subscriber Line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，简称</a:t>
            </a:r>
            <a:r>
              <a:rPr lang="en-US" altLang="zh-CN" sz="1200" b="0" i="0" u="none" baseline="0" dirty="0" err="1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xDSL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）。</a:t>
            </a:r>
            <a:r>
              <a:rPr lang="en-US" altLang="zh-CN" sz="1200" b="0" i="0" u="none" baseline="0" dirty="0" err="1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xDSL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是各种类型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DSL(Digital Subscriber Line)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数字用户线路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)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的总称，包括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ADSL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、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RADSL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、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VDSL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、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SDSL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、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IDSL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和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HDSL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等</a:t>
            </a:r>
            <a:endParaRPr lang="en-US" altLang="zh-CN" sz="1200" b="0" i="0" u="none" baseline="0" dirty="0">
              <a:solidFill>
                <a:schemeClr val="dk1"/>
              </a:solidFill>
              <a:effectLst/>
              <a:latin typeface="Arial" pitchFamily="34" charset="0"/>
              <a:ea typeface="宋体" pitchFamily="2" charset="-122"/>
              <a:sym typeface="Times New Roman" pitchFamily="18" charset="0"/>
            </a:endParaRPr>
          </a:p>
          <a:p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电缆调制解调器（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Cable Modem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，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CM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），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Cable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是指有线电视网络，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Modem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是调制解调器。平常用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Modem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通过电话线上互联网，</a:t>
            </a:r>
            <a:endParaRPr lang="en-US" altLang="zh-CN" sz="1200" b="0" i="0" u="none" baseline="0" dirty="0">
              <a:solidFill>
                <a:schemeClr val="dk1"/>
              </a:solidFill>
              <a:effectLst/>
              <a:latin typeface="Arial" pitchFamily="34" charset="0"/>
              <a:ea typeface="宋体" pitchFamily="2" charset="-122"/>
              <a:sym typeface="Times New Roman" pitchFamily="18" charset="0"/>
            </a:endParaRPr>
          </a:p>
          <a:p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小区宽带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(FTTX LAN)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sng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  <a:hlinkClick r:id="rId3"/>
              </a:rPr>
              <a:t>LMDS(</a:t>
            </a:r>
            <a:r>
              <a:rPr lang="zh-CN" altLang="en-US" sz="1200" b="0" i="0" u="sng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  <a:hlinkClick r:id="rId3"/>
              </a:rPr>
              <a:t>微波的宽带业务</a:t>
            </a:r>
            <a:r>
              <a:rPr lang="en-US" altLang="zh-CN" sz="1200" b="0" i="0" u="sng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  <a:hlinkClick r:id="rId3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APON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是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ATM PON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的简称。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ATM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是一种基于信元的传输协议，近年来，被越来越广泛地应用于接入网上以提供视频广播、远程教学、以及数据通信等多种业务。</a:t>
            </a:r>
            <a:r>
              <a:rPr lang="en-US" altLang="zh-CN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ATM</a:t>
            </a:r>
            <a:r>
              <a:rPr lang="zh-CN" altLang="en-US" sz="1200" b="0" i="0" u="none" baseline="0" dirty="0">
                <a:solidFill>
                  <a:schemeClr val="dk1"/>
                </a:solidFill>
                <a:effectLst/>
                <a:latin typeface="Arial" pitchFamily="34" charset="0"/>
                <a:ea typeface="宋体" pitchFamily="2" charset="-122"/>
                <a:sym typeface="Times New Roman" pitchFamily="18" charset="0"/>
              </a:rPr>
              <a:t>技术能为接入网提供动态的带宽分配，从而更适合宽带数据业务的需要。</a:t>
            </a:r>
            <a:endParaRPr lang="en-US" altLang="zh-CN" sz="1200" b="0" i="0" u="sng" baseline="0" dirty="0">
              <a:solidFill>
                <a:schemeClr val="dk1"/>
              </a:solidFill>
              <a:effectLst/>
              <a:latin typeface="Arial" pitchFamily="34" charset="0"/>
              <a:ea typeface="宋体" pitchFamily="2" charset="-122"/>
              <a:sym typeface="Times New Roman" pitchFamily="18" charset="0"/>
              <a:hlinkClick r:id="rId3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eaLnBrk="1" hangingPunct="1"/>
            <a:fld id="{566ABCEB-ACFC-4714-9973-3DA970169C29}" type="slidenum">
              <a:rPr lang="en-US" altLang="zh-CN" sz="1200" smtClean="0">
                <a:latin typeface="Arial" pitchFamily="34" charset="0"/>
              </a:rPr>
              <a:pPr lvl="0" algn="r" eaLnBrk="1" hangingPunct="1"/>
              <a:t>32</a:t>
            </a:fld>
            <a:endParaRPr lang="en-US" altLang="zh-CN" sz="12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370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．如何对收集到的需求信息进行资料整理？</a:t>
            </a:r>
          </a:p>
          <a:p>
            <a:r>
              <a:rPr lang="zh-CN" altLang="en-US" dirty="0"/>
              <a:t>答：信息筛选、范围届定、选择那些合适的、能够实现的需求。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．需求分析说明书应当达到哪些基本要求。</a:t>
            </a:r>
          </a:p>
          <a:p>
            <a:r>
              <a:rPr lang="zh-CN" altLang="en-US" dirty="0"/>
              <a:t>答：指出系统应当达到的技术指标，在系统设计中应当遵循的规范，确定需求的优先级。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．在网络工程中用户有哪些基本业务需求。</a:t>
            </a:r>
          </a:p>
          <a:p>
            <a:r>
              <a:rPr lang="zh-CN" altLang="en-US" dirty="0"/>
              <a:t>答：数据业务、音频业务、视频业务、固定业务、无线业务等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．对网络应用环境进行需求分析时需要了解哪些内容？</a:t>
            </a:r>
          </a:p>
          <a:p>
            <a:r>
              <a:rPr lang="zh-CN" altLang="en-US" dirty="0"/>
              <a:t>答：了解用户建筑物布局情况，及建筑物之间的最大距离；</a:t>
            </a:r>
          </a:p>
          <a:p>
            <a:r>
              <a:rPr lang="zh-CN" altLang="en-US" dirty="0"/>
              <a:t>了解外部网络接入点位置；</a:t>
            </a:r>
          </a:p>
          <a:p>
            <a:r>
              <a:rPr lang="zh-CN" altLang="en-US" dirty="0"/>
              <a:t>用户确定的网络中心机房位置；</a:t>
            </a:r>
          </a:p>
          <a:p>
            <a:r>
              <a:rPr lang="zh-CN" altLang="en-US" dirty="0"/>
              <a:t>用户设备间的位置及电源供应情况；</a:t>
            </a:r>
          </a:p>
          <a:p>
            <a:r>
              <a:rPr lang="zh-CN" altLang="en-US" dirty="0"/>
              <a:t>用户信息点数量及位置；</a:t>
            </a:r>
          </a:p>
          <a:p>
            <a:r>
              <a:rPr lang="zh-CN" altLang="en-US" dirty="0"/>
              <a:t>任何两个用户之间的最大距离；</a:t>
            </a:r>
          </a:p>
          <a:p>
            <a:r>
              <a:rPr lang="zh-CN" altLang="en-US" dirty="0"/>
              <a:t>用户部门分布情况，尤其注意那些地理上分散，但是属于同一部门的用户；</a:t>
            </a:r>
          </a:p>
          <a:p>
            <a:r>
              <a:rPr lang="zh-CN" altLang="en-US" dirty="0"/>
              <a:t>特殊的需求或限制，如网络覆盖的地理范围内是否有道路、山岳；建筑物之间是否有阻挡物；电缆</a:t>
            </a:r>
          </a:p>
          <a:p>
            <a:r>
              <a:rPr lang="zh-CN" altLang="en-US" dirty="0"/>
              <a:t>布线是否有禁区；是否有已经存在的可利用的介质传输系统等。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．对用户网络服务进行需求分析时需要了解哪些情况？</a:t>
            </a:r>
          </a:p>
          <a:p>
            <a:r>
              <a:rPr lang="zh-CN" altLang="en-US" dirty="0"/>
              <a:t>答：数据库和应用软件的共享服务需求；</a:t>
            </a:r>
          </a:p>
          <a:p>
            <a:r>
              <a:rPr lang="zh-CN" altLang="en-US" dirty="0"/>
              <a:t>文件传输和存取的服务需求；</a:t>
            </a:r>
          </a:p>
          <a:p>
            <a:r>
              <a:rPr lang="zh-CN" altLang="en-US" dirty="0"/>
              <a:t>网站系统建设和应用的服务需求；</a:t>
            </a:r>
          </a:p>
          <a:p>
            <a:r>
              <a:rPr lang="zh-CN" altLang="en-US" dirty="0"/>
              <a:t>电子邮件系统的建设和应用需求；</a:t>
            </a:r>
          </a:p>
          <a:p>
            <a:r>
              <a:rPr lang="zh-CN" altLang="en-US" dirty="0"/>
              <a:t>网络远程登录服务的需求；</a:t>
            </a:r>
          </a:p>
          <a:p>
            <a:r>
              <a:rPr lang="zh-CN" altLang="en-US" dirty="0"/>
              <a:t>网络视频服务需求；</a:t>
            </a:r>
          </a:p>
          <a:p>
            <a:r>
              <a:rPr lang="zh-CN" altLang="en-US" dirty="0"/>
              <a:t>企业</a:t>
            </a:r>
            <a:r>
              <a:rPr lang="en-US" altLang="zh-CN" dirty="0"/>
              <a:t>IP</a:t>
            </a:r>
            <a:r>
              <a:rPr lang="zh-CN" altLang="en-US" dirty="0"/>
              <a:t>电话的需求。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．在哪些状态下会导致产生不合格的需求说明。</a:t>
            </a:r>
          </a:p>
          <a:p>
            <a:r>
              <a:rPr lang="zh-CN" altLang="en-US" dirty="0"/>
              <a:t>答：没有足够多的用户参与</a:t>
            </a:r>
          </a:p>
          <a:p>
            <a:r>
              <a:rPr lang="zh-CN" altLang="en-US" dirty="0"/>
              <a:t>用户的需求不断增加</a:t>
            </a:r>
          </a:p>
          <a:p>
            <a:r>
              <a:rPr lang="zh-CN" altLang="en-US" dirty="0"/>
              <a:t>模棱两可的需求</a:t>
            </a:r>
          </a:p>
          <a:p>
            <a:r>
              <a:rPr lang="zh-CN" altLang="en-US" dirty="0"/>
              <a:t>不必要的特性</a:t>
            </a:r>
          </a:p>
          <a:p>
            <a:r>
              <a:rPr lang="zh-CN" altLang="en-US" dirty="0"/>
              <a:t>过于精简的需求说明</a:t>
            </a:r>
          </a:p>
          <a:p>
            <a:r>
              <a:rPr lang="zh-CN" altLang="en-US" dirty="0"/>
              <a:t>忽略了用户分类</a:t>
            </a:r>
          </a:p>
          <a:p>
            <a:r>
              <a:rPr lang="zh-CN" altLang="en-US" dirty="0"/>
              <a:t>不准确的计划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网络扩展时应当满足哪些要求。</a:t>
            </a:r>
          </a:p>
          <a:p>
            <a:r>
              <a:rPr lang="zh-CN" altLang="en-US" dirty="0"/>
              <a:t>答：户或部门能够简单的接入现有网络；</a:t>
            </a:r>
          </a:p>
          <a:p>
            <a:r>
              <a:rPr lang="zh-CN" altLang="en-US" dirty="0"/>
              <a:t>新应用能够无缝地在现有网络上运行；</a:t>
            </a:r>
            <a:endParaRPr lang="en-US" altLang="zh-CN" dirty="0"/>
          </a:p>
          <a:p>
            <a:r>
              <a:rPr lang="zh-CN" altLang="en-US" dirty="0"/>
              <a:t>现有网络拓扑结构无需作大的更改；</a:t>
            </a:r>
          </a:p>
          <a:p>
            <a:r>
              <a:rPr lang="zh-CN" altLang="en-US" dirty="0"/>
              <a:t>原有设备能够得到很好的利用；</a:t>
            </a:r>
          </a:p>
          <a:p>
            <a:r>
              <a:rPr lang="zh-CN" altLang="en-US" dirty="0"/>
              <a:t>网络性能恶化在用户允许范围内。</a:t>
            </a:r>
            <a:endParaRPr lang="en-US" altLang="zh-CN" dirty="0"/>
          </a:p>
          <a:p>
            <a:r>
              <a:rPr lang="en-US" altLang="zh-CN" dirty="0"/>
              <a:t>8</a:t>
            </a:r>
            <a:r>
              <a:rPr lang="zh-CN" altLang="en-US" dirty="0"/>
              <a:t>．软件配置说明书应当详细描述哪些内容。</a:t>
            </a:r>
          </a:p>
          <a:p>
            <a:r>
              <a:rPr lang="zh-CN" altLang="en-US" dirty="0"/>
              <a:t>答：描述网络操作系统安装与配置方法、网络服务器软件安装与配置方法、数据库软件安装与配置方法、</a:t>
            </a:r>
          </a:p>
          <a:p>
            <a:r>
              <a:rPr lang="zh-CN" altLang="en-US" dirty="0"/>
              <a:t>用户定制软件安装与配置方法、网络管理软件安装与配置方法、</a:t>
            </a:r>
            <a:r>
              <a:rPr lang="en-US" altLang="zh-CN" dirty="0"/>
              <a:t>AAA</a:t>
            </a:r>
            <a:r>
              <a:rPr lang="zh-CN" altLang="en-US" dirty="0"/>
              <a:t>软件安装与配置方法、</a:t>
            </a:r>
            <a:r>
              <a:rPr lang="en-US" altLang="zh-CN" dirty="0"/>
              <a:t>Web</a:t>
            </a:r>
            <a:r>
              <a:rPr lang="zh-CN" altLang="en-US" dirty="0"/>
              <a:t>网站</a:t>
            </a:r>
          </a:p>
          <a:p>
            <a:r>
              <a:rPr lang="zh-CN" altLang="en-US" dirty="0"/>
              <a:t>系统结构等。</a:t>
            </a:r>
          </a:p>
          <a:p>
            <a:r>
              <a:rPr lang="en-US" altLang="zh-CN" dirty="0"/>
              <a:t>9</a:t>
            </a:r>
            <a:r>
              <a:rPr lang="zh-CN" altLang="en-US" dirty="0"/>
              <a:t>．配置说明书应当详细描述哪些内容。</a:t>
            </a:r>
          </a:p>
          <a:p>
            <a:r>
              <a:rPr lang="zh-CN" altLang="en-US" dirty="0"/>
              <a:t>答：详细说明交换机各种配置方法（如</a:t>
            </a:r>
            <a:r>
              <a:rPr lang="en-US" altLang="zh-CN" dirty="0"/>
              <a:t>VLAN</a:t>
            </a:r>
            <a:r>
              <a:rPr lang="zh-CN" altLang="en-US" dirty="0"/>
              <a:t>配置、链路聚合配置等）、路由器各种配置方法（如内网</a:t>
            </a:r>
          </a:p>
          <a:p>
            <a:r>
              <a:rPr lang="zh-CN" altLang="en-US" dirty="0"/>
              <a:t>静态路由配置、外网接入配置等）、防火墙配置方法（如访问控制列表）、</a:t>
            </a:r>
            <a:r>
              <a:rPr lang="en-US" altLang="zh-CN" dirty="0"/>
              <a:t>IP</a:t>
            </a:r>
            <a:r>
              <a:rPr lang="zh-CN" altLang="en-US" dirty="0"/>
              <a:t>地址规划方法、其他网络</a:t>
            </a:r>
          </a:p>
          <a:p>
            <a:r>
              <a:rPr lang="zh-CN" altLang="en-US" dirty="0"/>
              <a:t>设备配置方法（如</a:t>
            </a:r>
            <a:r>
              <a:rPr lang="en-US" altLang="zh-CN" dirty="0"/>
              <a:t>RAID</a:t>
            </a:r>
            <a:r>
              <a:rPr lang="zh-CN" altLang="en-US" dirty="0"/>
              <a:t>配置、集群配置等）等。</a:t>
            </a:r>
          </a:p>
          <a:p>
            <a:r>
              <a:rPr lang="en-US" altLang="zh-CN" dirty="0"/>
              <a:t>10</a:t>
            </a:r>
            <a:r>
              <a:rPr lang="zh-CN" altLang="en-US" dirty="0"/>
              <a:t>．构设计说明书应当详细描述哪些内容。</a:t>
            </a:r>
          </a:p>
          <a:p>
            <a:r>
              <a:rPr lang="zh-CN" altLang="en-US" dirty="0"/>
              <a:t>答：说明用户业务实现方法、网络系统总体结构设计、子网系统结构设计、网络</a:t>
            </a:r>
            <a:r>
              <a:rPr lang="en-US" altLang="zh-CN" dirty="0"/>
              <a:t>QoS</a:t>
            </a:r>
            <a:r>
              <a:rPr lang="zh-CN" altLang="en-US" dirty="0"/>
              <a:t>设计、网络安全</a:t>
            </a:r>
          </a:p>
          <a:p>
            <a:r>
              <a:rPr lang="zh-CN" altLang="en-US" dirty="0"/>
              <a:t>设计、网络可靠性设计、网络扩展性设计、网络接入设计、网络管理设计、网络硬件设备和系统软件一</a:t>
            </a:r>
          </a:p>
          <a:p>
            <a:r>
              <a:rPr lang="zh-CN" altLang="en-US" dirty="0"/>
              <a:t>览表等。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eaLnBrk="1" hangingPunct="1"/>
            <a:fld id="{566ABCEB-ACFC-4714-9973-3DA970169C29}" type="slidenum">
              <a:rPr lang="en-US" altLang="zh-CN" sz="1200" smtClean="0">
                <a:latin typeface="Arial" pitchFamily="34" charset="0"/>
              </a:rPr>
              <a:pPr lvl="0" algn="r" eaLnBrk="1" hangingPunct="1"/>
              <a:t>50</a:t>
            </a:fld>
            <a:endParaRPr lang="en-US" altLang="zh-CN" sz="12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769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7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71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603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48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531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0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88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37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265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520A38-C711-45E0-B602-910B77E12502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6DBB465-DEAA-4812-9C23-3B4F8DED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448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48600" name="标题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56829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C171E04D-9D71-4525-BEB8-E98668B4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E3CA720-81D7-407B-A2AB-240506153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FE4C5E72-E239-4272-B3EA-4CEB34999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90189-E352-4D4C-BEB5-CFAED1FC6F1F}" type="datetimeFigureOut">
              <a:rPr lang="zh-CN" altLang="en-US" smtClean="0"/>
              <a:t>2023-09-19</a:t>
            </a:fld>
            <a:endParaRPr lang="zh-CN" altLang="en-US"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6E6060E0-A213-4A17-BC6C-E4939A446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D753B2AC-20D6-4A23-B0BA-FEDC8B2C0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60AC0-AAD6-4DCA-ABB0-C92DF4BA6E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2036CF-7541-46C2-ABF0-0F43A5384878}"/>
              </a:ext>
            </a:extLst>
          </p:cNvPr>
          <p:cNvSpPr/>
          <p:nvPr userDrawn="1"/>
        </p:nvSpPr>
        <p:spPr>
          <a:xfrm>
            <a:off x="0" y="6721477"/>
            <a:ext cx="12192000" cy="1634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4" name="矩形 37">
            <a:extLst>
              <a:ext uri="{FF2B5EF4-FFF2-40B4-BE49-F238E27FC236}">
                <a16:creationId xmlns:a16="http://schemas.microsoft.com/office/drawing/2014/main" id="{8139A3A9-0E7C-4B37-AB5F-C628D7FA5892}"/>
              </a:ext>
            </a:extLst>
          </p:cNvPr>
          <p:cNvSpPr/>
          <p:nvPr userDrawn="1"/>
        </p:nvSpPr>
        <p:spPr>
          <a:xfrm>
            <a:off x="10414000" y="6607346"/>
            <a:ext cx="1778000" cy="267166"/>
          </a:xfrm>
          <a:custGeom>
            <a:avLst/>
            <a:gdLst>
              <a:gd name="connsiteX0" fmla="*/ 0 w 1689100"/>
              <a:gd name="connsiteY0" fmla="*/ 0 h 241300"/>
              <a:gd name="connsiteX1" fmla="*/ 1689100 w 1689100"/>
              <a:gd name="connsiteY1" fmla="*/ 0 h 241300"/>
              <a:gd name="connsiteX2" fmla="*/ 1689100 w 1689100"/>
              <a:gd name="connsiteY2" fmla="*/ 241300 h 241300"/>
              <a:gd name="connsiteX3" fmla="*/ 0 w 1689100"/>
              <a:gd name="connsiteY3" fmla="*/ 241300 h 241300"/>
              <a:gd name="connsiteX4" fmla="*/ 0 w 1689100"/>
              <a:gd name="connsiteY4" fmla="*/ 0 h 241300"/>
              <a:gd name="connsiteX0" fmla="*/ 88900 w 1778000"/>
              <a:gd name="connsiteY0" fmla="*/ 0 h 241300"/>
              <a:gd name="connsiteX1" fmla="*/ 1778000 w 1778000"/>
              <a:gd name="connsiteY1" fmla="*/ 0 h 241300"/>
              <a:gd name="connsiteX2" fmla="*/ 1778000 w 1778000"/>
              <a:gd name="connsiteY2" fmla="*/ 241300 h 241300"/>
              <a:gd name="connsiteX3" fmla="*/ 0 w 1778000"/>
              <a:gd name="connsiteY3" fmla="*/ 228600 h 241300"/>
              <a:gd name="connsiteX4" fmla="*/ 88900 w 1778000"/>
              <a:gd name="connsiteY4" fmla="*/ 0 h 241300"/>
              <a:gd name="connsiteX0" fmla="*/ 88900 w 1778000"/>
              <a:gd name="connsiteY0" fmla="*/ 0 h 248055"/>
              <a:gd name="connsiteX1" fmla="*/ 1778000 w 1778000"/>
              <a:gd name="connsiteY1" fmla="*/ 0 h 248055"/>
              <a:gd name="connsiteX2" fmla="*/ 1778000 w 1778000"/>
              <a:gd name="connsiteY2" fmla="*/ 241300 h 248055"/>
              <a:gd name="connsiteX3" fmla="*/ 0 w 1778000"/>
              <a:gd name="connsiteY3" fmla="*/ 248055 h 248055"/>
              <a:gd name="connsiteX4" fmla="*/ 88900 w 1778000"/>
              <a:gd name="connsiteY4" fmla="*/ 0 h 248055"/>
              <a:gd name="connsiteX0" fmla="*/ 88900 w 1778000"/>
              <a:gd name="connsiteY0" fmla="*/ 0 h 248055"/>
              <a:gd name="connsiteX1" fmla="*/ 1778000 w 1778000"/>
              <a:gd name="connsiteY1" fmla="*/ 0 h 248055"/>
              <a:gd name="connsiteX2" fmla="*/ 1778000 w 1778000"/>
              <a:gd name="connsiteY2" fmla="*/ 241300 h 248055"/>
              <a:gd name="connsiteX3" fmla="*/ 0 w 1778000"/>
              <a:gd name="connsiteY3" fmla="*/ 248055 h 248055"/>
              <a:gd name="connsiteX4" fmla="*/ 88900 w 1778000"/>
              <a:gd name="connsiteY4" fmla="*/ 0 h 248055"/>
              <a:gd name="connsiteX0" fmla="*/ 88900 w 1778000"/>
              <a:gd name="connsiteY0" fmla="*/ 0 h 255891"/>
              <a:gd name="connsiteX1" fmla="*/ 1778000 w 1778000"/>
              <a:gd name="connsiteY1" fmla="*/ 0 h 255891"/>
              <a:gd name="connsiteX2" fmla="*/ 1778000 w 1778000"/>
              <a:gd name="connsiteY2" fmla="*/ 255891 h 255891"/>
              <a:gd name="connsiteX3" fmla="*/ 0 w 1778000"/>
              <a:gd name="connsiteY3" fmla="*/ 248055 h 255891"/>
              <a:gd name="connsiteX4" fmla="*/ 88900 w 1778000"/>
              <a:gd name="connsiteY4" fmla="*/ 0 h 255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8000" h="255891">
                <a:moveTo>
                  <a:pt x="88900" y="0"/>
                </a:moveTo>
                <a:lnTo>
                  <a:pt x="1778000" y="0"/>
                </a:lnTo>
                <a:lnTo>
                  <a:pt x="1778000" y="255891"/>
                </a:lnTo>
                <a:lnTo>
                  <a:pt x="0" y="248055"/>
                </a:lnTo>
                <a:lnTo>
                  <a:pt x="889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3651621F-8E00-42D2-A721-855520BFF6C5}"/>
              </a:ext>
            </a:extLst>
          </p:cNvPr>
          <p:cNvSpPr txBox="1"/>
          <p:nvPr userDrawn="1"/>
        </p:nvSpPr>
        <p:spPr>
          <a:xfrm>
            <a:off x="11042001" y="6614706"/>
            <a:ext cx="611065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75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PAGE  </a:t>
            </a:r>
            <a:fld id="{80FBF818-38A7-4F77-93E6-B3A777432DD2}" type="slidenum">
              <a:rPr lang="zh-CN" altLang="en-US" sz="750" smtClean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t>‹#›</a:t>
            </a:fld>
            <a:endParaRPr lang="zh-CN" altLang="en-US" sz="75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5C168A-37EC-4439-90B8-20A7FE163CC5}"/>
              </a:ext>
            </a:extLst>
          </p:cNvPr>
          <p:cNvSpPr/>
          <p:nvPr userDrawn="1"/>
        </p:nvSpPr>
        <p:spPr>
          <a:xfrm>
            <a:off x="8336" y="116116"/>
            <a:ext cx="12183664" cy="6386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zh-CN" sz="1800" dirty="0">
              <a:solidFill>
                <a:schemeClr val="bg1"/>
              </a:solidFill>
            </a:endParaRPr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D6605D6D-69A3-43B2-AD2C-9C2D1B51206B}"/>
              </a:ext>
            </a:extLst>
          </p:cNvPr>
          <p:cNvSpPr/>
          <p:nvPr userDrawn="1"/>
        </p:nvSpPr>
        <p:spPr>
          <a:xfrm flipH="1">
            <a:off x="11066930" y="134831"/>
            <a:ext cx="1125071" cy="619913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F7498CC8-099C-457B-A6CB-52DF8C1ACF2F}"/>
              </a:ext>
            </a:extLst>
          </p:cNvPr>
          <p:cNvSpPr/>
          <p:nvPr userDrawn="1"/>
        </p:nvSpPr>
        <p:spPr>
          <a:xfrm flipH="1" flipV="1">
            <a:off x="11518858" y="125471"/>
            <a:ext cx="673143" cy="440586"/>
          </a:xfrm>
          <a:prstGeom prst="triangle">
            <a:avLst>
              <a:gd name="adj" fmla="val 0"/>
            </a:avLst>
          </a:prstGeom>
          <a:solidFill>
            <a:schemeClr val="accent5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DD9C6CB-3477-4CFD-BA22-FFAD230B2A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90" y="138090"/>
            <a:ext cx="571769" cy="58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0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>
            <a:extLst>
              <a:ext uri="{FF2B5EF4-FFF2-40B4-BE49-F238E27FC236}">
                <a16:creationId xmlns:a16="http://schemas.microsoft.com/office/drawing/2014/main" id="{8D08DF27-AE2E-4E8A-92F0-C97F8057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E31B45DD-FFEF-4B73-83B5-2CB40BF5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818024C7-5DF9-4E6F-8F54-8AE7EA4C1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90189-E352-4D4C-BEB5-CFAED1FC6F1F}" type="datetimeFigureOut">
              <a:rPr lang="zh-CN" altLang="en-US" smtClean="0"/>
              <a:t>2023-09-19</a:t>
            </a:fld>
            <a:endParaRPr lang="zh-CN" altLang="en-US" dirty="0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5CE7C21F-2A6E-4F05-A442-6D601FE3C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CC2D10E3-6B7A-410B-8247-F2D4727C8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60AC0-AAD6-4DCA-ABB0-C92DF4BA6E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8068E8-5BBF-4718-92E7-15C62D2390BC}"/>
              </a:ext>
            </a:extLst>
          </p:cNvPr>
          <p:cNvSpPr/>
          <p:nvPr userDrawn="1"/>
        </p:nvSpPr>
        <p:spPr>
          <a:xfrm>
            <a:off x="0" y="6721477"/>
            <a:ext cx="12192000" cy="1634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3" name="矩形 37">
            <a:extLst>
              <a:ext uri="{FF2B5EF4-FFF2-40B4-BE49-F238E27FC236}">
                <a16:creationId xmlns:a16="http://schemas.microsoft.com/office/drawing/2014/main" id="{E952C0F0-6E14-4ECB-820D-4BFD7F990CA1}"/>
              </a:ext>
            </a:extLst>
          </p:cNvPr>
          <p:cNvSpPr/>
          <p:nvPr userDrawn="1"/>
        </p:nvSpPr>
        <p:spPr>
          <a:xfrm>
            <a:off x="10414000" y="6607346"/>
            <a:ext cx="1778000" cy="267166"/>
          </a:xfrm>
          <a:custGeom>
            <a:avLst/>
            <a:gdLst>
              <a:gd name="connsiteX0" fmla="*/ 0 w 1689100"/>
              <a:gd name="connsiteY0" fmla="*/ 0 h 241300"/>
              <a:gd name="connsiteX1" fmla="*/ 1689100 w 1689100"/>
              <a:gd name="connsiteY1" fmla="*/ 0 h 241300"/>
              <a:gd name="connsiteX2" fmla="*/ 1689100 w 1689100"/>
              <a:gd name="connsiteY2" fmla="*/ 241300 h 241300"/>
              <a:gd name="connsiteX3" fmla="*/ 0 w 1689100"/>
              <a:gd name="connsiteY3" fmla="*/ 241300 h 241300"/>
              <a:gd name="connsiteX4" fmla="*/ 0 w 1689100"/>
              <a:gd name="connsiteY4" fmla="*/ 0 h 241300"/>
              <a:gd name="connsiteX0" fmla="*/ 88900 w 1778000"/>
              <a:gd name="connsiteY0" fmla="*/ 0 h 241300"/>
              <a:gd name="connsiteX1" fmla="*/ 1778000 w 1778000"/>
              <a:gd name="connsiteY1" fmla="*/ 0 h 241300"/>
              <a:gd name="connsiteX2" fmla="*/ 1778000 w 1778000"/>
              <a:gd name="connsiteY2" fmla="*/ 241300 h 241300"/>
              <a:gd name="connsiteX3" fmla="*/ 0 w 1778000"/>
              <a:gd name="connsiteY3" fmla="*/ 228600 h 241300"/>
              <a:gd name="connsiteX4" fmla="*/ 88900 w 1778000"/>
              <a:gd name="connsiteY4" fmla="*/ 0 h 241300"/>
              <a:gd name="connsiteX0" fmla="*/ 88900 w 1778000"/>
              <a:gd name="connsiteY0" fmla="*/ 0 h 248055"/>
              <a:gd name="connsiteX1" fmla="*/ 1778000 w 1778000"/>
              <a:gd name="connsiteY1" fmla="*/ 0 h 248055"/>
              <a:gd name="connsiteX2" fmla="*/ 1778000 w 1778000"/>
              <a:gd name="connsiteY2" fmla="*/ 241300 h 248055"/>
              <a:gd name="connsiteX3" fmla="*/ 0 w 1778000"/>
              <a:gd name="connsiteY3" fmla="*/ 248055 h 248055"/>
              <a:gd name="connsiteX4" fmla="*/ 88900 w 1778000"/>
              <a:gd name="connsiteY4" fmla="*/ 0 h 248055"/>
              <a:gd name="connsiteX0" fmla="*/ 88900 w 1778000"/>
              <a:gd name="connsiteY0" fmla="*/ 0 h 248055"/>
              <a:gd name="connsiteX1" fmla="*/ 1778000 w 1778000"/>
              <a:gd name="connsiteY1" fmla="*/ 0 h 248055"/>
              <a:gd name="connsiteX2" fmla="*/ 1778000 w 1778000"/>
              <a:gd name="connsiteY2" fmla="*/ 241300 h 248055"/>
              <a:gd name="connsiteX3" fmla="*/ 0 w 1778000"/>
              <a:gd name="connsiteY3" fmla="*/ 248055 h 248055"/>
              <a:gd name="connsiteX4" fmla="*/ 88900 w 1778000"/>
              <a:gd name="connsiteY4" fmla="*/ 0 h 248055"/>
              <a:gd name="connsiteX0" fmla="*/ 88900 w 1778000"/>
              <a:gd name="connsiteY0" fmla="*/ 0 h 255891"/>
              <a:gd name="connsiteX1" fmla="*/ 1778000 w 1778000"/>
              <a:gd name="connsiteY1" fmla="*/ 0 h 255891"/>
              <a:gd name="connsiteX2" fmla="*/ 1778000 w 1778000"/>
              <a:gd name="connsiteY2" fmla="*/ 255891 h 255891"/>
              <a:gd name="connsiteX3" fmla="*/ 0 w 1778000"/>
              <a:gd name="connsiteY3" fmla="*/ 248055 h 255891"/>
              <a:gd name="connsiteX4" fmla="*/ 88900 w 1778000"/>
              <a:gd name="connsiteY4" fmla="*/ 0 h 255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8000" h="255891">
                <a:moveTo>
                  <a:pt x="88900" y="0"/>
                </a:moveTo>
                <a:lnTo>
                  <a:pt x="1778000" y="0"/>
                </a:lnTo>
                <a:lnTo>
                  <a:pt x="1778000" y="255891"/>
                </a:lnTo>
                <a:lnTo>
                  <a:pt x="0" y="248055"/>
                </a:lnTo>
                <a:lnTo>
                  <a:pt x="889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5C2858C7-6B5F-4799-8901-49C3B3E29A3C}"/>
              </a:ext>
            </a:extLst>
          </p:cNvPr>
          <p:cNvSpPr txBox="1"/>
          <p:nvPr userDrawn="1"/>
        </p:nvSpPr>
        <p:spPr>
          <a:xfrm>
            <a:off x="11042001" y="6614706"/>
            <a:ext cx="611065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75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PAGE  </a:t>
            </a:r>
            <a:fld id="{80FBF818-38A7-4F77-93E6-B3A777432DD2}" type="slidenum">
              <a:rPr lang="zh-CN" altLang="en-US" sz="750" smtClean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t>‹#›</a:t>
            </a:fld>
            <a:endParaRPr lang="zh-CN" altLang="en-US" sz="75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24FA6B-D8EE-4631-A062-6E485C438459}"/>
              </a:ext>
            </a:extLst>
          </p:cNvPr>
          <p:cNvSpPr/>
          <p:nvPr userDrawn="1"/>
        </p:nvSpPr>
        <p:spPr>
          <a:xfrm>
            <a:off x="8336" y="116116"/>
            <a:ext cx="12183664" cy="6386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zh-CN" sz="1800" dirty="0">
              <a:solidFill>
                <a:schemeClr val="bg1"/>
              </a:solidFill>
            </a:endParaRPr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A6768CD8-306A-4BAB-A379-D2D5004D25D1}"/>
              </a:ext>
            </a:extLst>
          </p:cNvPr>
          <p:cNvSpPr/>
          <p:nvPr userDrawn="1"/>
        </p:nvSpPr>
        <p:spPr>
          <a:xfrm flipH="1">
            <a:off x="11066930" y="134831"/>
            <a:ext cx="1125071" cy="619913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CE577346-DDB9-40FF-BB8F-FDEF8191B10E}"/>
              </a:ext>
            </a:extLst>
          </p:cNvPr>
          <p:cNvSpPr/>
          <p:nvPr userDrawn="1"/>
        </p:nvSpPr>
        <p:spPr>
          <a:xfrm flipH="1" flipV="1">
            <a:off x="11518858" y="125471"/>
            <a:ext cx="673143" cy="440586"/>
          </a:xfrm>
          <a:prstGeom prst="triangle">
            <a:avLst>
              <a:gd name="adj" fmla="val 0"/>
            </a:avLst>
          </a:prstGeom>
          <a:solidFill>
            <a:schemeClr val="accent5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6A8A579-829C-4740-815B-F5E28F09C46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90" y="138090"/>
            <a:ext cx="571769" cy="58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3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jpe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jpe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6010" y="0"/>
            <a:ext cx="12192000" cy="6988629"/>
            <a:chOff x="0" y="0"/>
            <a:chExt cx="12206514" cy="6988629"/>
          </a:xfrm>
        </p:grpSpPr>
        <p:sp>
          <p:nvSpPr>
            <p:cNvPr id="9" name="矩形 8"/>
            <p:cNvSpPr/>
            <p:nvPr/>
          </p:nvSpPr>
          <p:spPr>
            <a:xfrm>
              <a:off x="0" y="0"/>
              <a:ext cx="12206514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0" y="2873828"/>
              <a:ext cx="12206514" cy="4114801"/>
              <a:chOff x="0" y="3771900"/>
              <a:chExt cx="9144000" cy="3086100"/>
            </a:xfrm>
          </p:grpSpPr>
          <p:pic>
            <p:nvPicPr>
              <p:cNvPr id="3" name="Picture 2" descr="C:\Users\SY\Desktop\JHW_4041.png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" y="3771900"/>
                <a:ext cx="3674996" cy="22878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4" name="组合 6"/>
              <p:cNvGrpSpPr>
                <a:grpSpLocks/>
              </p:cNvGrpSpPr>
              <p:nvPr/>
            </p:nvGrpSpPr>
            <p:grpSpPr bwMode="auto">
              <a:xfrm>
                <a:off x="0" y="4580500"/>
                <a:ext cx="9144000" cy="2277500"/>
                <a:chOff x="0" y="4289753"/>
                <a:chExt cx="12202851" cy="2568247"/>
              </a:xfrm>
            </p:grpSpPr>
            <p:sp>
              <p:nvSpPr>
                <p:cNvPr id="5" name="矩形 1"/>
                <p:cNvSpPr/>
                <p:nvPr/>
              </p:nvSpPr>
              <p:spPr>
                <a:xfrm>
                  <a:off x="0" y="4322581"/>
                  <a:ext cx="12202851" cy="2057389"/>
                </a:xfrm>
                <a:custGeom>
                  <a:avLst/>
                  <a:gdLst>
                    <a:gd name="connsiteX0" fmla="*/ 0 w 12192000"/>
                    <a:gd name="connsiteY0" fmla="*/ 0 h 2639291"/>
                    <a:gd name="connsiteX1" fmla="*/ 12192000 w 12192000"/>
                    <a:gd name="connsiteY1" fmla="*/ 0 h 2639291"/>
                    <a:gd name="connsiteX2" fmla="*/ 12192000 w 12192000"/>
                    <a:gd name="connsiteY2" fmla="*/ 2639291 h 2639291"/>
                    <a:gd name="connsiteX3" fmla="*/ 0 w 12192000"/>
                    <a:gd name="connsiteY3" fmla="*/ 2639291 h 2639291"/>
                    <a:gd name="connsiteX4" fmla="*/ 0 w 12192000"/>
                    <a:gd name="connsiteY4" fmla="*/ 0 h 2639291"/>
                    <a:gd name="connsiteX0-1" fmla="*/ 0 w 12192000"/>
                    <a:gd name="connsiteY0-2" fmla="*/ 0 h 2639291"/>
                    <a:gd name="connsiteX1-3" fmla="*/ 12192000 w 12192000"/>
                    <a:gd name="connsiteY1-4" fmla="*/ 0 h 2639291"/>
                    <a:gd name="connsiteX2-5" fmla="*/ 12192000 w 12192000"/>
                    <a:gd name="connsiteY2-6" fmla="*/ 2639291 h 2639291"/>
                    <a:gd name="connsiteX3-7" fmla="*/ 0 w 12192000"/>
                    <a:gd name="connsiteY3-8" fmla="*/ 2639291 h 2639291"/>
                    <a:gd name="connsiteX4-9" fmla="*/ 0 w 12192000"/>
                    <a:gd name="connsiteY4-10" fmla="*/ 0 h 2639291"/>
                    <a:gd name="connsiteX0-11" fmla="*/ 0 w 12192000"/>
                    <a:gd name="connsiteY0-12" fmla="*/ 0 h 2639291"/>
                    <a:gd name="connsiteX1-13" fmla="*/ 12192000 w 12192000"/>
                    <a:gd name="connsiteY1-14" fmla="*/ 0 h 2639291"/>
                    <a:gd name="connsiteX2-15" fmla="*/ 12192000 w 12192000"/>
                    <a:gd name="connsiteY2-16" fmla="*/ 2639291 h 2639291"/>
                    <a:gd name="connsiteX3-17" fmla="*/ 0 w 12192000"/>
                    <a:gd name="connsiteY3-18" fmla="*/ 2639291 h 2639291"/>
                    <a:gd name="connsiteX4-19" fmla="*/ 0 w 12192000"/>
                    <a:gd name="connsiteY4-20" fmla="*/ 0 h 2639291"/>
                    <a:gd name="connsiteX0-21" fmla="*/ 0 w 12192000"/>
                    <a:gd name="connsiteY0-22" fmla="*/ 0 h 2639291"/>
                    <a:gd name="connsiteX1-23" fmla="*/ 12192000 w 12192000"/>
                    <a:gd name="connsiteY1-24" fmla="*/ 0 h 2639291"/>
                    <a:gd name="connsiteX2-25" fmla="*/ 12192000 w 12192000"/>
                    <a:gd name="connsiteY2-26" fmla="*/ 2639291 h 2639291"/>
                    <a:gd name="connsiteX3-27" fmla="*/ 0 w 12192000"/>
                    <a:gd name="connsiteY3-28" fmla="*/ 2639291 h 2639291"/>
                    <a:gd name="connsiteX4-29" fmla="*/ 0 w 12192000"/>
                    <a:gd name="connsiteY4-30" fmla="*/ 0 h 2639291"/>
                    <a:gd name="connsiteX0-31" fmla="*/ 0 w 12192000"/>
                    <a:gd name="connsiteY0-32" fmla="*/ 0 h 2639291"/>
                    <a:gd name="connsiteX1-33" fmla="*/ 12181609 w 12192000"/>
                    <a:gd name="connsiteY1-34" fmla="*/ 1517073 h 2639291"/>
                    <a:gd name="connsiteX2-35" fmla="*/ 12192000 w 12192000"/>
                    <a:gd name="connsiteY2-36" fmla="*/ 2639291 h 2639291"/>
                    <a:gd name="connsiteX3-37" fmla="*/ 0 w 12192000"/>
                    <a:gd name="connsiteY3-38" fmla="*/ 2639291 h 2639291"/>
                    <a:gd name="connsiteX4-39" fmla="*/ 0 w 12192000"/>
                    <a:gd name="connsiteY4-40" fmla="*/ 0 h 2639291"/>
                    <a:gd name="connsiteX0-41" fmla="*/ 0 w 12202851"/>
                    <a:gd name="connsiteY0-42" fmla="*/ 0 h 2639291"/>
                    <a:gd name="connsiteX1-43" fmla="*/ 12202391 w 12202851"/>
                    <a:gd name="connsiteY1-44" fmla="*/ 1517073 h 2639291"/>
                    <a:gd name="connsiteX2-45" fmla="*/ 12192000 w 12202851"/>
                    <a:gd name="connsiteY2-46" fmla="*/ 2639291 h 2639291"/>
                    <a:gd name="connsiteX3-47" fmla="*/ 0 w 12202851"/>
                    <a:gd name="connsiteY3-48" fmla="*/ 2639291 h 2639291"/>
                    <a:gd name="connsiteX4-49" fmla="*/ 0 w 12202851"/>
                    <a:gd name="connsiteY4-50" fmla="*/ 0 h 2639291"/>
                    <a:gd name="connsiteX0-51" fmla="*/ 0 w 12202851"/>
                    <a:gd name="connsiteY0-52" fmla="*/ 0 h 2639291"/>
                    <a:gd name="connsiteX1-53" fmla="*/ 12202391 w 12202851"/>
                    <a:gd name="connsiteY1-54" fmla="*/ 1361209 h 2639291"/>
                    <a:gd name="connsiteX2-55" fmla="*/ 12192000 w 12202851"/>
                    <a:gd name="connsiteY2-56" fmla="*/ 2639291 h 2639291"/>
                    <a:gd name="connsiteX3-57" fmla="*/ 0 w 12202851"/>
                    <a:gd name="connsiteY3-58" fmla="*/ 2639291 h 2639291"/>
                    <a:gd name="connsiteX4-59" fmla="*/ 0 w 12202851"/>
                    <a:gd name="connsiteY4-60" fmla="*/ 0 h 2639291"/>
                    <a:gd name="connsiteX0-61" fmla="*/ 0 w 12202851"/>
                    <a:gd name="connsiteY0-62" fmla="*/ 0 h 2330681"/>
                    <a:gd name="connsiteX1-63" fmla="*/ 12202391 w 12202851"/>
                    <a:gd name="connsiteY1-64" fmla="*/ 1052599 h 2330681"/>
                    <a:gd name="connsiteX2-65" fmla="*/ 12192000 w 12202851"/>
                    <a:gd name="connsiteY2-66" fmla="*/ 2330681 h 2330681"/>
                    <a:gd name="connsiteX3-67" fmla="*/ 0 w 12202851"/>
                    <a:gd name="connsiteY3-68" fmla="*/ 2330681 h 2330681"/>
                    <a:gd name="connsiteX4-69" fmla="*/ 0 w 12202851"/>
                    <a:gd name="connsiteY4-70" fmla="*/ 0 h 2330681"/>
                    <a:gd name="connsiteX0-71" fmla="*/ 0 w 12202851"/>
                    <a:gd name="connsiteY0-72" fmla="*/ 0 h 2330681"/>
                    <a:gd name="connsiteX1-73" fmla="*/ 12202391 w 12202851"/>
                    <a:gd name="connsiteY1-74" fmla="*/ 1052599 h 2330681"/>
                    <a:gd name="connsiteX2-75" fmla="*/ 12192000 w 12202851"/>
                    <a:gd name="connsiteY2-76" fmla="*/ 2330681 h 2330681"/>
                    <a:gd name="connsiteX3-77" fmla="*/ 0 w 12202851"/>
                    <a:gd name="connsiteY3-78" fmla="*/ 2330681 h 2330681"/>
                    <a:gd name="connsiteX4-79" fmla="*/ 0 w 12202851"/>
                    <a:gd name="connsiteY4-80" fmla="*/ 0 h 2330681"/>
                    <a:gd name="connsiteX0-81" fmla="*/ 0 w 12202851"/>
                    <a:gd name="connsiteY0-82" fmla="*/ 0 h 2330681"/>
                    <a:gd name="connsiteX1-83" fmla="*/ 12202391 w 12202851"/>
                    <a:gd name="connsiteY1-84" fmla="*/ 1029739 h 2330681"/>
                    <a:gd name="connsiteX2-85" fmla="*/ 12192000 w 12202851"/>
                    <a:gd name="connsiteY2-86" fmla="*/ 2330681 h 2330681"/>
                    <a:gd name="connsiteX3-87" fmla="*/ 0 w 12202851"/>
                    <a:gd name="connsiteY3-88" fmla="*/ 2330681 h 2330681"/>
                    <a:gd name="connsiteX4-89" fmla="*/ 0 w 12202851"/>
                    <a:gd name="connsiteY4-90" fmla="*/ 0 h 233068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2202851" h="2330681">
                      <a:moveTo>
                        <a:pt x="0" y="0"/>
                      </a:moveTo>
                      <a:cubicBezTo>
                        <a:pt x="3502891" y="1818409"/>
                        <a:pt x="8046951" y="2097925"/>
                        <a:pt x="12202391" y="1029739"/>
                      </a:cubicBezTo>
                      <a:cubicBezTo>
                        <a:pt x="12205855" y="1403812"/>
                        <a:pt x="12188536" y="1956608"/>
                        <a:pt x="12192000" y="2330681"/>
                      </a:cubicBezTo>
                      <a:lnTo>
                        <a:pt x="0" y="23306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buFont typeface="Arial" pitchFamily="34" charset="0"/>
                    <a:buNone/>
                    <a:defRPr/>
                  </a:pPr>
                  <a:endParaRPr lang="zh-CN" altLang="en-US" sz="1585" noProof="1">
                    <a:ea typeface="微软雅黑" pitchFamily="34" charset="-122"/>
                  </a:endParaRPr>
                </a:p>
              </p:txBody>
            </p:sp>
            <p:sp>
              <p:nvSpPr>
                <p:cNvPr id="6" name="矩形 1"/>
                <p:cNvSpPr/>
                <p:nvPr/>
              </p:nvSpPr>
              <p:spPr>
                <a:xfrm>
                  <a:off x="0" y="4289753"/>
                  <a:ext cx="12202851" cy="2329231"/>
                </a:xfrm>
                <a:custGeom>
                  <a:avLst/>
                  <a:gdLst>
                    <a:gd name="connsiteX0" fmla="*/ 0 w 12192000"/>
                    <a:gd name="connsiteY0" fmla="*/ 0 h 2639291"/>
                    <a:gd name="connsiteX1" fmla="*/ 12192000 w 12192000"/>
                    <a:gd name="connsiteY1" fmla="*/ 0 h 2639291"/>
                    <a:gd name="connsiteX2" fmla="*/ 12192000 w 12192000"/>
                    <a:gd name="connsiteY2" fmla="*/ 2639291 h 2639291"/>
                    <a:gd name="connsiteX3" fmla="*/ 0 w 12192000"/>
                    <a:gd name="connsiteY3" fmla="*/ 2639291 h 2639291"/>
                    <a:gd name="connsiteX4" fmla="*/ 0 w 12192000"/>
                    <a:gd name="connsiteY4" fmla="*/ 0 h 2639291"/>
                    <a:gd name="connsiteX0-1" fmla="*/ 0 w 12192000"/>
                    <a:gd name="connsiteY0-2" fmla="*/ 0 h 2639291"/>
                    <a:gd name="connsiteX1-3" fmla="*/ 12192000 w 12192000"/>
                    <a:gd name="connsiteY1-4" fmla="*/ 0 h 2639291"/>
                    <a:gd name="connsiteX2-5" fmla="*/ 12192000 w 12192000"/>
                    <a:gd name="connsiteY2-6" fmla="*/ 2639291 h 2639291"/>
                    <a:gd name="connsiteX3-7" fmla="*/ 0 w 12192000"/>
                    <a:gd name="connsiteY3-8" fmla="*/ 2639291 h 2639291"/>
                    <a:gd name="connsiteX4-9" fmla="*/ 0 w 12192000"/>
                    <a:gd name="connsiteY4-10" fmla="*/ 0 h 2639291"/>
                    <a:gd name="connsiteX0-11" fmla="*/ 0 w 12192000"/>
                    <a:gd name="connsiteY0-12" fmla="*/ 0 h 2639291"/>
                    <a:gd name="connsiteX1-13" fmla="*/ 12192000 w 12192000"/>
                    <a:gd name="connsiteY1-14" fmla="*/ 0 h 2639291"/>
                    <a:gd name="connsiteX2-15" fmla="*/ 12192000 w 12192000"/>
                    <a:gd name="connsiteY2-16" fmla="*/ 2639291 h 2639291"/>
                    <a:gd name="connsiteX3-17" fmla="*/ 0 w 12192000"/>
                    <a:gd name="connsiteY3-18" fmla="*/ 2639291 h 2639291"/>
                    <a:gd name="connsiteX4-19" fmla="*/ 0 w 12192000"/>
                    <a:gd name="connsiteY4-20" fmla="*/ 0 h 2639291"/>
                    <a:gd name="connsiteX0-21" fmla="*/ 0 w 12192000"/>
                    <a:gd name="connsiteY0-22" fmla="*/ 0 h 2639291"/>
                    <a:gd name="connsiteX1-23" fmla="*/ 12192000 w 12192000"/>
                    <a:gd name="connsiteY1-24" fmla="*/ 0 h 2639291"/>
                    <a:gd name="connsiteX2-25" fmla="*/ 12192000 w 12192000"/>
                    <a:gd name="connsiteY2-26" fmla="*/ 2639291 h 2639291"/>
                    <a:gd name="connsiteX3-27" fmla="*/ 0 w 12192000"/>
                    <a:gd name="connsiteY3-28" fmla="*/ 2639291 h 2639291"/>
                    <a:gd name="connsiteX4-29" fmla="*/ 0 w 12192000"/>
                    <a:gd name="connsiteY4-30" fmla="*/ 0 h 2639291"/>
                    <a:gd name="connsiteX0-31" fmla="*/ 0 w 12192000"/>
                    <a:gd name="connsiteY0-32" fmla="*/ 0 h 2639291"/>
                    <a:gd name="connsiteX1-33" fmla="*/ 12181609 w 12192000"/>
                    <a:gd name="connsiteY1-34" fmla="*/ 1517073 h 2639291"/>
                    <a:gd name="connsiteX2-35" fmla="*/ 12192000 w 12192000"/>
                    <a:gd name="connsiteY2-36" fmla="*/ 2639291 h 2639291"/>
                    <a:gd name="connsiteX3-37" fmla="*/ 0 w 12192000"/>
                    <a:gd name="connsiteY3-38" fmla="*/ 2639291 h 2639291"/>
                    <a:gd name="connsiteX4-39" fmla="*/ 0 w 12192000"/>
                    <a:gd name="connsiteY4-40" fmla="*/ 0 h 2639291"/>
                    <a:gd name="connsiteX0-41" fmla="*/ 0 w 12202851"/>
                    <a:gd name="connsiteY0-42" fmla="*/ 0 h 2639291"/>
                    <a:gd name="connsiteX1-43" fmla="*/ 12202391 w 12202851"/>
                    <a:gd name="connsiteY1-44" fmla="*/ 1517073 h 2639291"/>
                    <a:gd name="connsiteX2-45" fmla="*/ 12192000 w 12202851"/>
                    <a:gd name="connsiteY2-46" fmla="*/ 2639291 h 2639291"/>
                    <a:gd name="connsiteX3-47" fmla="*/ 0 w 12202851"/>
                    <a:gd name="connsiteY3-48" fmla="*/ 2639291 h 2639291"/>
                    <a:gd name="connsiteX4-49" fmla="*/ 0 w 12202851"/>
                    <a:gd name="connsiteY4-50" fmla="*/ 0 h 2639291"/>
                    <a:gd name="connsiteX0-51" fmla="*/ 0 w 12202851"/>
                    <a:gd name="connsiteY0-52" fmla="*/ 0 h 2639291"/>
                    <a:gd name="connsiteX1-53" fmla="*/ 12202391 w 12202851"/>
                    <a:gd name="connsiteY1-54" fmla="*/ 1361209 h 2639291"/>
                    <a:gd name="connsiteX2-55" fmla="*/ 12192000 w 12202851"/>
                    <a:gd name="connsiteY2-56" fmla="*/ 2639291 h 2639291"/>
                    <a:gd name="connsiteX3-57" fmla="*/ 0 w 12202851"/>
                    <a:gd name="connsiteY3-58" fmla="*/ 2639291 h 2639291"/>
                    <a:gd name="connsiteX4-59" fmla="*/ 0 w 12202851"/>
                    <a:gd name="connsiteY4-60" fmla="*/ 0 h 2639291"/>
                    <a:gd name="connsiteX0-61" fmla="*/ 0 w 12202851"/>
                    <a:gd name="connsiteY0-62" fmla="*/ 0 h 2639291"/>
                    <a:gd name="connsiteX1-63" fmla="*/ 12202391 w 12202851"/>
                    <a:gd name="connsiteY1-64" fmla="*/ 1406929 h 2639291"/>
                    <a:gd name="connsiteX2-65" fmla="*/ 12192000 w 12202851"/>
                    <a:gd name="connsiteY2-66" fmla="*/ 2639291 h 2639291"/>
                    <a:gd name="connsiteX3-67" fmla="*/ 0 w 12202851"/>
                    <a:gd name="connsiteY3-68" fmla="*/ 2639291 h 2639291"/>
                    <a:gd name="connsiteX4-69" fmla="*/ 0 w 12202851"/>
                    <a:gd name="connsiteY4-70" fmla="*/ 0 h 263929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2202851" h="2639291">
                      <a:moveTo>
                        <a:pt x="0" y="0"/>
                      </a:moveTo>
                      <a:cubicBezTo>
                        <a:pt x="3502891" y="1818409"/>
                        <a:pt x="8024091" y="2726575"/>
                        <a:pt x="12202391" y="1406929"/>
                      </a:cubicBezTo>
                      <a:cubicBezTo>
                        <a:pt x="12205855" y="1781002"/>
                        <a:pt x="12188536" y="2265218"/>
                        <a:pt x="12192000" y="2639291"/>
                      </a:cubicBezTo>
                      <a:lnTo>
                        <a:pt x="0" y="26392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495D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buFont typeface="Arial" pitchFamily="34" charset="0"/>
                    <a:buNone/>
                    <a:defRPr/>
                  </a:pPr>
                  <a:endParaRPr lang="zh-CN" altLang="en-US" sz="1585" noProof="1">
                    <a:ea typeface="微软雅黑" pitchFamily="34" charset="-122"/>
                  </a:endParaRPr>
                </a:p>
              </p:txBody>
            </p:sp>
            <p:sp>
              <p:nvSpPr>
                <p:cNvPr id="7" name="矩形 1"/>
                <p:cNvSpPr/>
                <p:nvPr/>
              </p:nvSpPr>
              <p:spPr>
                <a:xfrm>
                  <a:off x="0" y="4326743"/>
                  <a:ext cx="12193318" cy="2531257"/>
                </a:xfrm>
                <a:custGeom>
                  <a:avLst/>
                  <a:gdLst>
                    <a:gd name="connsiteX0" fmla="*/ 0 w 12192000"/>
                    <a:gd name="connsiteY0" fmla="*/ 0 h 2639291"/>
                    <a:gd name="connsiteX1" fmla="*/ 12192000 w 12192000"/>
                    <a:gd name="connsiteY1" fmla="*/ 0 h 2639291"/>
                    <a:gd name="connsiteX2" fmla="*/ 12192000 w 12192000"/>
                    <a:gd name="connsiteY2" fmla="*/ 2639291 h 2639291"/>
                    <a:gd name="connsiteX3" fmla="*/ 0 w 12192000"/>
                    <a:gd name="connsiteY3" fmla="*/ 2639291 h 2639291"/>
                    <a:gd name="connsiteX4" fmla="*/ 0 w 12192000"/>
                    <a:gd name="connsiteY4" fmla="*/ 0 h 2639291"/>
                    <a:gd name="connsiteX0-1" fmla="*/ 0 w 12192000"/>
                    <a:gd name="connsiteY0-2" fmla="*/ 0 h 2639291"/>
                    <a:gd name="connsiteX1-3" fmla="*/ 12192000 w 12192000"/>
                    <a:gd name="connsiteY1-4" fmla="*/ 0 h 2639291"/>
                    <a:gd name="connsiteX2-5" fmla="*/ 12192000 w 12192000"/>
                    <a:gd name="connsiteY2-6" fmla="*/ 2639291 h 2639291"/>
                    <a:gd name="connsiteX3-7" fmla="*/ 0 w 12192000"/>
                    <a:gd name="connsiteY3-8" fmla="*/ 2639291 h 2639291"/>
                    <a:gd name="connsiteX4-9" fmla="*/ 0 w 12192000"/>
                    <a:gd name="connsiteY4-10" fmla="*/ 0 h 2639291"/>
                    <a:gd name="connsiteX0-11" fmla="*/ 0 w 12192000"/>
                    <a:gd name="connsiteY0-12" fmla="*/ 0 h 2639291"/>
                    <a:gd name="connsiteX1-13" fmla="*/ 12192000 w 12192000"/>
                    <a:gd name="connsiteY1-14" fmla="*/ 0 h 2639291"/>
                    <a:gd name="connsiteX2-15" fmla="*/ 12192000 w 12192000"/>
                    <a:gd name="connsiteY2-16" fmla="*/ 2639291 h 2639291"/>
                    <a:gd name="connsiteX3-17" fmla="*/ 0 w 12192000"/>
                    <a:gd name="connsiteY3-18" fmla="*/ 2639291 h 2639291"/>
                    <a:gd name="connsiteX4-19" fmla="*/ 0 w 12192000"/>
                    <a:gd name="connsiteY4-20" fmla="*/ 0 h 2639291"/>
                    <a:gd name="connsiteX0-21" fmla="*/ 0 w 12192000"/>
                    <a:gd name="connsiteY0-22" fmla="*/ 0 h 2639291"/>
                    <a:gd name="connsiteX1-23" fmla="*/ 12192000 w 12192000"/>
                    <a:gd name="connsiteY1-24" fmla="*/ 0 h 2639291"/>
                    <a:gd name="connsiteX2-25" fmla="*/ 12192000 w 12192000"/>
                    <a:gd name="connsiteY2-26" fmla="*/ 2639291 h 2639291"/>
                    <a:gd name="connsiteX3-27" fmla="*/ 0 w 12192000"/>
                    <a:gd name="connsiteY3-28" fmla="*/ 2639291 h 2639291"/>
                    <a:gd name="connsiteX4-29" fmla="*/ 0 w 12192000"/>
                    <a:gd name="connsiteY4-30" fmla="*/ 0 h 2639291"/>
                    <a:gd name="connsiteX0-31" fmla="*/ 0 w 12192000"/>
                    <a:gd name="connsiteY0-32" fmla="*/ 0 h 2639291"/>
                    <a:gd name="connsiteX1-33" fmla="*/ 12181609 w 12192000"/>
                    <a:gd name="connsiteY1-34" fmla="*/ 1517073 h 2639291"/>
                    <a:gd name="connsiteX2-35" fmla="*/ 12192000 w 12192000"/>
                    <a:gd name="connsiteY2-36" fmla="*/ 2639291 h 2639291"/>
                    <a:gd name="connsiteX3-37" fmla="*/ 0 w 12192000"/>
                    <a:gd name="connsiteY3-38" fmla="*/ 2639291 h 2639291"/>
                    <a:gd name="connsiteX4-39" fmla="*/ 0 w 12192000"/>
                    <a:gd name="connsiteY4-40" fmla="*/ 0 h 2639291"/>
                    <a:gd name="connsiteX0-41" fmla="*/ 0 w 12192999"/>
                    <a:gd name="connsiteY0-42" fmla="*/ 0 h 2639291"/>
                    <a:gd name="connsiteX1-43" fmla="*/ 12192000 w 12192999"/>
                    <a:gd name="connsiteY1-44" fmla="*/ 1506682 h 2639291"/>
                    <a:gd name="connsiteX2-45" fmla="*/ 12192000 w 12192999"/>
                    <a:gd name="connsiteY2-46" fmla="*/ 2639291 h 2639291"/>
                    <a:gd name="connsiteX3-47" fmla="*/ 0 w 12192999"/>
                    <a:gd name="connsiteY3-48" fmla="*/ 2639291 h 2639291"/>
                    <a:gd name="connsiteX4-49" fmla="*/ 0 w 12192999"/>
                    <a:gd name="connsiteY4-50" fmla="*/ 0 h 2639291"/>
                    <a:gd name="connsiteX0-51" fmla="*/ 0 w 12192999"/>
                    <a:gd name="connsiteY0-52" fmla="*/ 0 h 2857500"/>
                    <a:gd name="connsiteX1-53" fmla="*/ 12192000 w 12192999"/>
                    <a:gd name="connsiteY1-54" fmla="*/ 1724891 h 2857500"/>
                    <a:gd name="connsiteX2-55" fmla="*/ 12192000 w 12192999"/>
                    <a:gd name="connsiteY2-56" fmla="*/ 2857500 h 2857500"/>
                    <a:gd name="connsiteX3-57" fmla="*/ 0 w 12192999"/>
                    <a:gd name="connsiteY3-58" fmla="*/ 2857500 h 2857500"/>
                    <a:gd name="connsiteX4-59" fmla="*/ 0 w 12192999"/>
                    <a:gd name="connsiteY4-60" fmla="*/ 0 h 2857500"/>
                    <a:gd name="connsiteX0-61" fmla="*/ 0 w 12192999"/>
                    <a:gd name="connsiteY0-62" fmla="*/ 0 h 2857500"/>
                    <a:gd name="connsiteX1-63" fmla="*/ 12192000 w 12192999"/>
                    <a:gd name="connsiteY1-64" fmla="*/ 1724891 h 2857500"/>
                    <a:gd name="connsiteX2-65" fmla="*/ 12192000 w 12192999"/>
                    <a:gd name="connsiteY2-66" fmla="*/ 2857500 h 2857500"/>
                    <a:gd name="connsiteX3-67" fmla="*/ 0 w 12192999"/>
                    <a:gd name="connsiteY3-68" fmla="*/ 2857500 h 2857500"/>
                    <a:gd name="connsiteX4-69" fmla="*/ 0 w 12192999"/>
                    <a:gd name="connsiteY4-70" fmla="*/ 0 h 2857500"/>
                    <a:gd name="connsiteX0-71" fmla="*/ 0 w 12192999"/>
                    <a:gd name="connsiteY0-72" fmla="*/ 0 h 2867891"/>
                    <a:gd name="connsiteX1-73" fmla="*/ 12192000 w 12192999"/>
                    <a:gd name="connsiteY1-74" fmla="*/ 1735282 h 2867891"/>
                    <a:gd name="connsiteX2-75" fmla="*/ 12192000 w 12192999"/>
                    <a:gd name="connsiteY2-76" fmla="*/ 2867891 h 2867891"/>
                    <a:gd name="connsiteX3-77" fmla="*/ 0 w 12192999"/>
                    <a:gd name="connsiteY3-78" fmla="*/ 2867891 h 2867891"/>
                    <a:gd name="connsiteX4-79" fmla="*/ 0 w 12192999"/>
                    <a:gd name="connsiteY4-80" fmla="*/ 0 h 286789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2192999" h="2867891">
                      <a:moveTo>
                        <a:pt x="0" y="0"/>
                      </a:moveTo>
                      <a:cubicBezTo>
                        <a:pt x="3502891" y="1818409"/>
                        <a:pt x="8013700" y="3054928"/>
                        <a:pt x="12192000" y="1735282"/>
                      </a:cubicBezTo>
                      <a:cubicBezTo>
                        <a:pt x="12195464" y="2109355"/>
                        <a:pt x="12188536" y="2493818"/>
                        <a:pt x="12192000" y="2867891"/>
                      </a:cubicBezTo>
                      <a:lnTo>
                        <a:pt x="0" y="28678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buFont typeface="Arial" pitchFamily="34" charset="0"/>
                    <a:buNone/>
                    <a:defRPr/>
                  </a:pPr>
                  <a:endParaRPr lang="zh-CN" altLang="en-US" sz="1585" noProof="1">
                    <a:ea typeface="微软雅黑" pitchFamily="34" charset="-122"/>
                  </a:endParaRPr>
                </a:p>
              </p:txBody>
            </p:sp>
          </p:grpSp>
        </p:grpSp>
      </p:grpSp>
      <p:sp>
        <p:nvSpPr>
          <p:cNvPr id="11" name="文本框 10"/>
          <p:cNvSpPr txBox="1"/>
          <p:nvPr/>
        </p:nvSpPr>
        <p:spPr>
          <a:xfrm>
            <a:off x="0" y="1600238"/>
            <a:ext cx="1218247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网络工程与设计</a:t>
            </a:r>
          </a:p>
        </p:txBody>
      </p:sp>
      <p:pic>
        <p:nvPicPr>
          <p:cNvPr id="12" name="Picture 2" descr="C:\Users\SY\Desktop\1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8071" y="526825"/>
            <a:ext cx="3742500" cy="107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E99C92C-AF7B-45FF-B6B0-778EC4189054}"/>
              </a:ext>
            </a:extLst>
          </p:cNvPr>
          <p:cNvSpPr/>
          <p:nvPr/>
        </p:nvSpPr>
        <p:spPr>
          <a:xfrm>
            <a:off x="4763" y="2665904"/>
            <a:ext cx="12182474" cy="457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8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Network Engineering &amp; Design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BC0771-5C25-4330-B36B-6A26695EA02B}"/>
              </a:ext>
            </a:extLst>
          </p:cNvPr>
          <p:cNvSpPr/>
          <p:nvPr/>
        </p:nvSpPr>
        <p:spPr>
          <a:xfrm>
            <a:off x="-9526" y="336342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计算机与人工智能学院   朱石磊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7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CD748BD9-D565-486C-98D2-FADC8597EEA7}"/>
              </a:ext>
            </a:extLst>
          </p:cNvPr>
          <p:cNvGrpSpPr/>
          <p:nvPr/>
        </p:nvGrpSpPr>
        <p:grpSpPr>
          <a:xfrm>
            <a:off x="279471" y="2164991"/>
            <a:ext cx="2960721" cy="2350284"/>
            <a:chOff x="400216" y="1425650"/>
            <a:chExt cx="3711212" cy="2882853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1077B62-17CF-4B61-B4F9-BDB0314C4782}"/>
                </a:ext>
              </a:extLst>
            </p:cNvPr>
            <p:cNvGrpSpPr/>
            <p:nvPr/>
          </p:nvGrpSpPr>
          <p:grpSpPr>
            <a:xfrm>
              <a:off x="400216" y="1425650"/>
              <a:ext cx="3711212" cy="2882853"/>
              <a:chOff x="445935" y="809294"/>
              <a:chExt cx="6990119" cy="5470972"/>
            </a:xfrm>
          </p:grpSpPr>
          <p:sp>
            <p:nvSpPr>
              <p:cNvPr id="18" name="íśļïḋé">
                <a:extLst>
                  <a:ext uri="{FF2B5EF4-FFF2-40B4-BE49-F238E27FC236}">
                    <a16:creationId xmlns:a16="http://schemas.microsoft.com/office/drawing/2014/main" id="{976C2238-92B1-43CC-8A8D-718726B4C86F}"/>
                  </a:ext>
                </a:extLst>
              </p:cNvPr>
              <p:cNvSpPr/>
              <p:nvPr/>
            </p:nvSpPr>
            <p:spPr bwMode="auto">
              <a:xfrm rot="12330823">
                <a:off x="1684541" y="809294"/>
                <a:ext cx="5751513" cy="2876549"/>
              </a:xfrm>
              <a:custGeom>
                <a:avLst/>
                <a:gdLst>
                  <a:gd name="connsiteX0" fmla="*/ 842247 w 5751228"/>
                  <a:gd name="connsiteY0" fmla="*/ 2033366 h 2875614"/>
                  <a:gd name="connsiteX1" fmla="*/ 0 w 5751228"/>
                  <a:gd name="connsiteY1" fmla="*/ 0 h 2875614"/>
                  <a:gd name="connsiteX2" fmla="*/ 408346 w 5751228"/>
                  <a:gd name="connsiteY2" fmla="*/ 0 h 2875614"/>
                  <a:gd name="connsiteX3" fmla="*/ 407043 w 5751228"/>
                  <a:gd name="connsiteY3" fmla="*/ 74793 h 2875614"/>
                  <a:gd name="connsiteX4" fmla="*/ 1182959 w 5751228"/>
                  <a:gd name="connsiteY4" fmla="*/ 1798429 h 2875614"/>
                  <a:gd name="connsiteX5" fmla="*/ 4674044 w 5751228"/>
                  <a:gd name="connsiteY5" fmla="*/ 1692653 h 2875614"/>
                  <a:gd name="connsiteX6" fmla="*/ 5340056 w 5751228"/>
                  <a:gd name="connsiteY6" fmla="*/ 162164 h 2875614"/>
                  <a:gd name="connsiteX7" fmla="*/ 5342881 w 5751228"/>
                  <a:gd name="connsiteY7" fmla="*/ 0 h 2875614"/>
                  <a:gd name="connsiteX8" fmla="*/ 5751228 w 5751228"/>
                  <a:gd name="connsiteY8" fmla="*/ 0 h 2875614"/>
                  <a:gd name="connsiteX9" fmla="*/ 2875614 w 5751228"/>
                  <a:gd name="connsiteY9" fmla="*/ 2875614 h 2875614"/>
                  <a:gd name="connsiteX10" fmla="*/ 842247 w 5751228"/>
                  <a:gd name="connsiteY10" fmla="*/ 2033366 h 2875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1228" h="2875614">
                    <a:moveTo>
                      <a:pt x="842247" y="2033366"/>
                    </a:moveTo>
                    <a:cubicBezTo>
                      <a:pt x="321864" y="1512982"/>
                      <a:pt x="0" y="794078"/>
                      <a:pt x="0" y="0"/>
                    </a:cubicBezTo>
                    <a:lnTo>
                      <a:pt x="408346" y="0"/>
                    </a:lnTo>
                    <a:lnTo>
                      <a:pt x="407043" y="74793"/>
                    </a:lnTo>
                    <a:cubicBezTo>
                      <a:pt x="426185" y="706556"/>
                      <a:pt x="686336" y="1331016"/>
                      <a:pt x="1182959" y="1798429"/>
                    </a:cubicBezTo>
                    <a:cubicBezTo>
                      <a:pt x="2176205" y="2733256"/>
                      <a:pt x="3739217" y="2685899"/>
                      <a:pt x="4674044" y="1692653"/>
                    </a:cubicBezTo>
                    <a:cubicBezTo>
                      <a:pt x="5083031" y="1258108"/>
                      <a:pt x="5304022" y="714506"/>
                      <a:pt x="5340056" y="162164"/>
                    </a:cubicBezTo>
                    <a:lnTo>
                      <a:pt x="5342881" y="0"/>
                    </a:lnTo>
                    <a:lnTo>
                      <a:pt x="5751228" y="0"/>
                    </a:lnTo>
                    <a:cubicBezTo>
                      <a:pt x="5751228" y="1588157"/>
                      <a:pt x="4463771" y="2875614"/>
                      <a:pt x="2875614" y="2875614"/>
                    </a:cubicBezTo>
                    <a:cubicBezTo>
                      <a:pt x="2081535" y="2875614"/>
                      <a:pt x="1362632" y="2553750"/>
                      <a:pt x="842247" y="2033366"/>
                    </a:cubicBezTo>
                    <a:close/>
                  </a:path>
                </a:pathLst>
              </a:custGeom>
              <a:solidFill>
                <a:srgbClr val="0AA39D">
                  <a:alpha val="75000"/>
                </a:srgb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íSḷîďê">
                <a:extLst>
                  <a:ext uri="{FF2B5EF4-FFF2-40B4-BE49-F238E27FC236}">
                    <a16:creationId xmlns:a16="http://schemas.microsoft.com/office/drawing/2014/main" id="{7AB1AF71-AAC3-4B0C-8E29-199DDE974FCE}"/>
                  </a:ext>
                </a:extLst>
              </p:cNvPr>
              <p:cNvSpPr>
                <a:spLocks/>
              </p:cNvSpPr>
              <p:nvPr/>
            </p:nvSpPr>
            <p:spPr bwMode="auto">
              <a:xfrm rot="12330823">
                <a:off x="445935" y="3404681"/>
                <a:ext cx="5751328" cy="2875585"/>
              </a:xfrm>
              <a:custGeom>
                <a:avLst/>
                <a:gdLst>
                  <a:gd name="T0" fmla="*/ 0 w 5751227"/>
                  <a:gd name="T1" fmla="*/ 2875615 h 2875615"/>
                  <a:gd name="T2" fmla="*/ 2875628 w 5751227"/>
                  <a:gd name="T3" fmla="*/ 0 h 2875615"/>
                  <a:gd name="T4" fmla="*/ 5751227 w 5751227"/>
                  <a:gd name="T5" fmla="*/ 2875615 h 2875615"/>
                  <a:gd name="T6" fmla="*/ 5342883 w 5751227"/>
                  <a:gd name="T7" fmla="*/ 2875615 h 2875615"/>
                  <a:gd name="T8" fmla="*/ 5344183 w 5751227"/>
                  <a:gd name="T9" fmla="*/ 2800821 h 2875615"/>
                  <a:gd name="T10" fmla="*/ 4568267 w 5751227"/>
                  <a:gd name="T11" fmla="*/ 1077193 h 2875615"/>
                  <a:gd name="T12" fmla="*/ 1077190 w 5751227"/>
                  <a:gd name="T13" fmla="*/ 1182968 h 2875615"/>
                  <a:gd name="T14" fmla="*/ 411171 w 5751227"/>
                  <a:gd name="T15" fmla="*/ 2713449 h 2875615"/>
                  <a:gd name="T16" fmla="*/ 408345 w 5751227"/>
                  <a:gd name="T17" fmla="*/ 2875615 h 2875615"/>
                  <a:gd name="T18" fmla="*/ 0 w 5751227"/>
                  <a:gd name="T19" fmla="*/ 2875615 h 28756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751227"/>
                  <a:gd name="T31" fmla="*/ 0 h 2875615"/>
                  <a:gd name="T32" fmla="*/ 5751227 w 5751227"/>
                  <a:gd name="T33" fmla="*/ 2875615 h 287561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751227" h="2875615">
                    <a:moveTo>
                      <a:pt x="0" y="2875615"/>
                    </a:moveTo>
                    <a:cubicBezTo>
                      <a:pt x="0" y="1287457"/>
                      <a:pt x="1287456" y="0"/>
                      <a:pt x="2875613" y="0"/>
                    </a:cubicBezTo>
                    <a:cubicBezTo>
                      <a:pt x="4463770" y="0"/>
                      <a:pt x="5751227" y="1287457"/>
                      <a:pt x="5751227" y="2875614"/>
                    </a:cubicBezTo>
                    <a:lnTo>
                      <a:pt x="5342880" y="2875614"/>
                    </a:lnTo>
                    <a:lnTo>
                      <a:pt x="5344183" y="2800820"/>
                    </a:lnTo>
                    <a:cubicBezTo>
                      <a:pt x="5325041" y="2169058"/>
                      <a:pt x="5064890" y="1544598"/>
                      <a:pt x="4568267" y="1077185"/>
                    </a:cubicBezTo>
                    <a:cubicBezTo>
                      <a:pt x="3575022" y="142357"/>
                      <a:pt x="2012009" y="189715"/>
                      <a:pt x="1077182" y="1182960"/>
                    </a:cubicBezTo>
                    <a:cubicBezTo>
                      <a:pt x="668195" y="1617505"/>
                      <a:pt x="447204" y="2161107"/>
                      <a:pt x="411171" y="2713449"/>
                    </a:cubicBezTo>
                    <a:lnTo>
                      <a:pt x="408345" y="2875614"/>
                    </a:lnTo>
                    <a:lnTo>
                      <a:pt x="0" y="2875615"/>
                    </a:lnTo>
                    <a:close/>
                  </a:path>
                </a:pathLst>
              </a:custGeom>
              <a:solidFill>
                <a:srgbClr val="003F98">
                  <a:alpha val="73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iṧľiďe">
              <a:extLst>
                <a:ext uri="{FF2B5EF4-FFF2-40B4-BE49-F238E27FC236}">
                  <a16:creationId xmlns:a16="http://schemas.microsoft.com/office/drawing/2014/main" id="{891052D4-C542-414B-91C5-DB7B72CDD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7376" y="1987353"/>
              <a:ext cx="1391523" cy="1797372"/>
              <a:chOff x="1987251" y="3051050"/>
              <a:chExt cx="1826411" cy="2359035"/>
            </a:xfrm>
          </p:grpSpPr>
          <p:sp>
            <p:nvSpPr>
              <p:cNvPr id="16" name="iSlïḓé">
                <a:extLst>
                  <a:ext uri="{FF2B5EF4-FFF2-40B4-BE49-F238E27FC236}">
                    <a16:creationId xmlns:a16="http://schemas.microsoft.com/office/drawing/2014/main" id="{068C083D-D9FD-4334-828B-B06B75F897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494" y="3051050"/>
                <a:ext cx="1512168" cy="2308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目录</a:t>
                </a:r>
              </a:p>
            </p:txBody>
          </p:sp>
          <p:sp>
            <p:nvSpPr>
              <p:cNvPr id="17" name="îsļïdé">
                <a:extLst>
                  <a:ext uri="{FF2B5EF4-FFF2-40B4-BE49-F238E27FC236}">
                    <a16:creationId xmlns:a16="http://schemas.microsoft.com/office/drawing/2014/main" id="{53CBF4E9-5B09-4897-BB1F-C3B8F9B2F9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044712" y="4077375"/>
                <a:ext cx="2275249" cy="3901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CONTENT</a:t>
                </a:r>
              </a:p>
            </p:txBody>
          </p:sp>
        </p:grpSp>
      </p:grpSp>
      <p:sp>
        <p:nvSpPr>
          <p:cNvPr id="21" name="í$1iďê">
            <a:extLst>
              <a:ext uri="{FF2B5EF4-FFF2-40B4-BE49-F238E27FC236}">
                <a16:creationId xmlns:a16="http://schemas.microsoft.com/office/drawing/2014/main" id="{C541662A-52BD-4B26-B8C7-EF7AE024A9BF}"/>
              </a:ext>
            </a:extLst>
          </p:cNvPr>
          <p:cNvSpPr txBox="1"/>
          <p:nvPr/>
        </p:nvSpPr>
        <p:spPr bwMode="auto">
          <a:xfrm>
            <a:off x="3395191" y="2085470"/>
            <a:ext cx="7416824" cy="259228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2.1  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需求分析基本方法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2.2  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基本要求需求分析</a:t>
            </a: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重点</a:t>
            </a: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2.3  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高级要求需求分析</a:t>
            </a:r>
          </a:p>
        </p:txBody>
      </p:sp>
      <p:sp>
        <p:nvSpPr>
          <p:cNvPr id="10" name="Rectangle 2"/>
          <p:cNvSpPr/>
          <p:nvPr/>
        </p:nvSpPr>
        <p:spPr>
          <a:xfrm>
            <a:off x="10850" y="1084776"/>
            <a:ext cx="12192000" cy="777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 algn="ctr" eaLnBrk="1" hangingPunct="1"/>
            <a:r>
              <a:rPr lang="zh-CN" altLang="en-US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第</a:t>
            </a:r>
            <a:r>
              <a:rPr lang="en-US" altLang="zh-CN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2</a:t>
            </a:r>
            <a:r>
              <a:rPr lang="zh-CN" altLang="en-US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章  用户需求分析</a:t>
            </a:r>
          </a:p>
        </p:txBody>
      </p:sp>
    </p:spTree>
    <p:extLst>
      <p:ext uri="{BB962C8B-B14F-4D97-AF65-F5344CB8AC3E}">
        <p14:creationId xmlns:p14="http://schemas.microsoft.com/office/powerpoint/2010/main" val="304983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CD748BD9-D565-486C-98D2-FADC8597EEA7}"/>
              </a:ext>
            </a:extLst>
          </p:cNvPr>
          <p:cNvGrpSpPr/>
          <p:nvPr/>
        </p:nvGrpSpPr>
        <p:grpSpPr>
          <a:xfrm>
            <a:off x="279471" y="2164991"/>
            <a:ext cx="2960721" cy="2350284"/>
            <a:chOff x="400216" y="1425650"/>
            <a:chExt cx="3711212" cy="2882853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1077B62-17CF-4B61-B4F9-BDB0314C4782}"/>
                </a:ext>
              </a:extLst>
            </p:cNvPr>
            <p:cNvGrpSpPr/>
            <p:nvPr/>
          </p:nvGrpSpPr>
          <p:grpSpPr>
            <a:xfrm>
              <a:off x="400216" y="1425650"/>
              <a:ext cx="3711212" cy="2882853"/>
              <a:chOff x="445935" y="809294"/>
              <a:chExt cx="6990119" cy="5470972"/>
            </a:xfrm>
          </p:grpSpPr>
          <p:sp>
            <p:nvSpPr>
              <p:cNvPr id="18" name="íśļïḋé">
                <a:extLst>
                  <a:ext uri="{FF2B5EF4-FFF2-40B4-BE49-F238E27FC236}">
                    <a16:creationId xmlns:a16="http://schemas.microsoft.com/office/drawing/2014/main" id="{976C2238-92B1-43CC-8A8D-718726B4C86F}"/>
                  </a:ext>
                </a:extLst>
              </p:cNvPr>
              <p:cNvSpPr/>
              <p:nvPr/>
            </p:nvSpPr>
            <p:spPr bwMode="auto">
              <a:xfrm rot="12330823">
                <a:off x="1684541" y="809294"/>
                <a:ext cx="5751513" cy="2876549"/>
              </a:xfrm>
              <a:custGeom>
                <a:avLst/>
                <a:gdLst>
                  <a:gd name="connsiteX0" fmla="*/ 842247 w 5751228"/>
                  <a:gd name="connsiteY0" fmla="*/ 2033366 h 2875614"/>
                  <a:gd name="connsiteX1" fmla="*/ 0 w 5751228"/>
                  <a:gd name="connsiteY1" fmla="*/ 0 h 2875614"/>
                  <a:gd name="connsiteX2" fmla="*/ 408346 w 5751228"/>
                  <a:gd name="connsiteY2" fmla="*/ 0 h 2875614"/>
                  <a:gd name="connsiteX3" fmla="*/ 407043 w 5751228"/>
                  <a:gd name="connsiteY3" fmla="*/ 74793 h 2875614"/>
                  <a:gd name="connsiteX4" fmla="*/ 1182959 w 5751228"/>
                  <a:gd name="connsiteY4" fmla="*/ 1798429 h 2875614"/>
                  <a:gd name="connsiteX5" fmla="*/ 4674044 w 5751228"/>
                  <a:gd name="connsiteY5" fmla="*/ 1692653 h 2875614"/>
                  <a:gd name="connsiteX6" fmla="*/ 5340056 w 5751228"/>
                  <a:gd name="connsiteY6" fmla="*/ 162164 h 2875614"/>
                  <a:gd name="connsiteX7" fmla="*/ 5342881 w 5751228"/>
                  <a:gd name="connsiteY7" fmla="*/ 0 h 2875614"/>
                  <a:gd name="connsiteX8" fmla="*/ 5751228 w 5751228"/>
                  <a:gd name="connsiteY8" fmla="*/ 0 h 2875614"/>
                  <a:gd name="connsiteX9" fmla="*/ 2875614 w 5751228"/>
                  <a:gd name="connsiteY9" fmla="*/ 2875614 h 2875614"/>
                  <a:gd name="connsiteX10" fmla="*/ 842247 w 5751228"/>
                  <a:gd name="connsiteY10" fmla="*/ 2033366 h 2875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1228" h="2875614">
                    <a:moveTo>
                      <a:pt x="842247" y="2033366"/>
                    </a:moveTo>
                    <a:cubicBezTo>
                      <a:pt x="321864" y="1512982"/>
                      <a:pt x="0" y="794078"/>
                      <a:pt x="0" y="0"/>
                    </a:cubicBezTo>
                    <a:lnTo>
                      <a:pt x="408346" y="0"/>
                    </a:lnTo>
                    <a:lnTo>
                      <a:pt x="407043" y="74793"/>
                    </a:lnTo>
                    <a:cubicBezTo>
                      <a:pt x="426185" y="706556"/>
                      <a:pt x="686336" y="1331016"/>
                      <a:pt x="1182959" y="1798429"/>
                    </a:cubicBezTo>
                    <a:cubicBezTo>
                      <a:pt x="2176205" y="2733256"/>
                      <a:pt x="3739217" y="2685899"/>
                      <a:pt x="4674044" y="1692653"/>
                    </a:cubicBezTo>
                    <a:cubicBezTo>
                      <a:pt x="5083031" y="1258108"/>
                      <a:pt x="5304022" y="714506"/>
                      <a:pt x="5340056" y="162164"/>
                    </a:cubicBezTo>
                    <a:lnTo>
                      <a:pt x="5342881" y="0"/>
                    </a:lnTo>
                    <a:lnTo>
                      <a:pt x="5751228" y="0"/>
                    </a:lnTo>
                    <a:cubicBezTo>
                      <a:pt x="5751228" y="1588157"/>
                      <a:pt x="4463771" y="2875614"/>
                      <a:pt x="2875614" y="2875614"/>
                    </a:cubicBezTo>
                    <a:cubicBezTo>
                      <a:pt x="2081535" y="2875614"/>
                      <a:pt x="1362632" y="2553750"/>
                      <a:pt x="842247" y="2033366"/>
                    </a:cubicBezTo>
                    <a:close/>
                  </a:path>
                </a:pathLst>
              </a:custGeom>
              <a:solidFill>
                <a:srgbClr val="0AA39D">
                  <a:alpha val="75000"/>
                </a:srgb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íSḷîďê">
                <a:extLst>
                  <a:ext uri="{FF2B5EF4-FFF2-40B4-BE49-F238E27FC236}">
                    <a16:creationId xmlns:a16="http://schemas.microsoft.com/office/drawing/2014/main" id="{7AB1AF71-AAC3-4B0C-8E29-199DDE974FCE}"/>
                  </a:ext>
                </a:extLst>
              </p:cNvPr>
              <p:cNvSpPr>
                <a:spLocks/>
              </p:cNvSpPr>
              <p:nvPr/>
            </p:nvSpPr>
            <p:spPr bwMode="auto">
              <a:xfrm rot="12330823">
                <a:off x="445935" y="3404681"/>
                <a:ext cx="5751328" cy="2875585"/>
              </a:xfrm>
              <a:custGeom>
                <a:avLst/>
                <a:gdLst>
                  <a:gd name="T0" fmla="*/ 0 w 5751227"/>
                  <a:gd name="T1" fmla="*/ 2875615 h 2875615"/>
                  <a:gd name="T2" fmla="*/ 2875628 w 5751227"/>
                  <a:gd name="T3" fmla="*/ 0 h 2875615"/>
                  <a:gd name="T4" fmla="*/ 5751227 w 5751227"/>
                  <a:gd name="T5" fmla="*/ 2875615 h 2875615"/>
                  <a:gd name="T6" fmla="*/ 5342883 w 5751227"/>
                  <a:gd name="T7" fmla="*/ 2875615 h 2875615"/>
                  <a:gd name="T8" fmla="*/ 5344183 w 5751227"/>
                  <a:gd name="T9" fmla="*/ 2800821 h 2875615"/>
                  <a:gd name="T10" fmla="*/ 4568267 w 5751227"/>
                  <a:gd name="T11" fmla="*/ 1077193 h 2875615"/>
                  <a:gd name="T12" fmla="*/ 1077190 w 5751227"/>
                  <a:gd name="T13" fmla="*/ 1182968 h 2875615"/>
                  <a:gd name="T14" fmla="*/ 411171 w 5751227"/>
                  <a:gd name="T15" fmla="*/ 2713449 h 2875615"/>
                  <a:gd name="T16" fmla="*/ 408345 w 5751227"/>
                  <a:gd name="T17" fmla="*/ 2875615 h 2875615"/>
                  <a:gd name="T18" fmla="*/ 0 w 5751227"/>
                  <a:gd name="T19" fmla="*/ 2875615 h 28756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751227"/>
                  <a:gd name="T31" fmla="*/ 0 h 2875615"/>
                  <a:gd name="T32" fmla="*/ 5751227 w 5751227"/>
                  <a:gd name="T33" fmla="*/ 2875615 h 287561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751227" h="2875615">
                    <a:moveTo>
                      <a:pt x="0" y="2875615"/>
                    </a:moveTo>
                    <a:cubicBezTo>
                      <a:pt x="0" y="1287457"/>
                      <a:pt x="1287456" y="0"/>
                      <a:pt x="2875613" y="0"/>
                    </a:cubicBezTo>
                    <a:cubicBezTo>
                      <a:pt x="4463770" y="0"/>
                      <a:pt x="5751227" y="1287457"/>
                      <a:pt x="5751227" y="2875614"/>
                    </a:cubicBezTo>
                    <a:lnTo>
                      <a:pt x="5342880" y="2875614"/>
                    </a:lnTo>
                    <a:lnTo>
                      <a:pt x="5344183" y="2800820"/>
                    </a:lnTo>
                    <a:cubicBezTo>
                      <a:pt x="5325041" y="2169058"/>
                      <a:pt x="5064890" y="1544598"/>
                      <a:pt x="4568267" y="1077185"/>
                    </a:cubicBezTo>
                    <a:cubicBezTo>
                      <a:pt x="3575022" y="142357"/>
                      <a:pt x="2012009" y="189715"/>
                      <a:pt x="1077182" y="1182960"/>
                    </a:cubicBezTo>
                    <a:cubicBezTo>
                      <a:pt x="668195" y="1617505"/>
                      <a:pt x="447204" y="2161107"/>
                      <a:pt x="411171" y="2713449"/>
                    </a:cubicBezTo>
                    <a:lnTo>
                      <a:pt x="408345" y="2875614"/>
                    </a:lnTo>
                    <a:lnTo>
                      <a:pt x="0" y="2875615"/>
                    </a:lnTo>
                    <a:close/>
                  </a:path>
                </a:pathLst>
              </a:custGeom>
              <a:solidFill>
                <a:srgbClr val="003F98">
                  <a:alpha val="73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iṧľiďe">
              <a:extLst>
                <a:ext uri="{FF2B5EF4-FFF2-40B4-BE49-F238E27FC236}">
                  <a16:creationId xmlns:a16="http://schemas.microsoft.com/office/drawing/2014/main" id="{891052D4-C542-414B-91C5-DB7B72CDD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7376" y="1987353"/>
              <a:ext cx="1391523" cy="1797372"/>
              <a:chOff x="1987251" y="3051050"/>
              <a:chExt cx="1826411" cy="2359035"/>
            </a:xfrm>
          </p:grpSpPr>
          <p:sp>
            <p:nvSpPr>
              <p:cNvPr id="16" name="iSlïḓé">
                <a:extLst>
                  <a:ext uri="{FF2B5EF4-FFF2-40B4-BE49-F238E27FC236}">
                    <a16:creationId xmlns:a16="http://schemas.microsoft.com/office/drawing/2014/main" id="{068C083D-D9FD-4334-828B-B06B75F897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494" y="3051050"/>
                <a:ext cx="1512168" cy="2308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目录</a:t>
                </a:r>
              </a:p>
            </p:txBody>
          </p:sp>
          <p:sp>
            <p:nvSpPr>
              <p:cNvPr id="17" name="îsļïdé">
                <a:extLst>
                  <a:ext uri="{FF2B5EF4-FFF2-40B4-BE49-F238E27FC236}">
                    <a16:creationId xmlns:a16="http://schemas.microsoft.com/office/drawing/2014/main" id="{53CBF4E9-5B09-4897-BB1F-C3B8F9B2F9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044712" y="4077375"/>
                <a:ext cx="2275249" cy="3901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CONTENT</a:t>
                </a:r>
              </a:p>
            </p:txBody>
          </p:sp>
        </p:grpSp>
      </p:grpSp>
      <p:sp>
        <p:nvSpPr>
          <p:cNvPr id="21" name="í$1iďê">
            <a:extLst>
              <a:ext uri="{FF2B5EF4-FFF2-40B4-BE49-F238E27FC236}">
                <a16:creationId xmlns:a16="http://schemas.microsoft.com/office/drawing/2014/main" id="{C541662A-52BD-4B26-B8C7-EF7AE024A9BF}"/>
              </a:ext>
            </a:extLst>
          </p:cNvPr>
          <p:cNvSpPr txBox="1"/>
          <p:nvPr/>
        </p:nvSpPr>
        <p:spPr bwMode="auto">
          <a:xfrm>
            <a:off x="3395191" y="2085470"/>
            <a:ext cx="7416824" cy="259228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2.1  </a:t>
            </a:r>
            <a:r>
              <a:rPr lang="zh-CN" altLang="en-US" sz="3600" b="1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需求分析基本方法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2.2  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基本要求需求分析</a:t>
            </a: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重点</a:t>
            </a: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2.3  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高级要求需求分析</a:t>
            </a:r>
          </a:p>
        </p:txBody>
      </p:sp>
      <p:sp>
        <p:nvSpPr>
          <p:cNvPr id="10" name="Rectangle 2"/>
          <p:cNvSpPr/>
          <p:nvPr/>
        </p:nvSpPr>
        <p:spPr>
          <a:xfrm>
            <a:off x="10850" y="1084776"/>
            <a:ext cx="12192000" cy="777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 algn="ctr" eaLnBrk="1" hangingPunct="1"/>
            <a:r>
              <a:rPr lang="zh-CN" altLang="en-US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第</a:t>
            </a:r>
            <a:r>
              <a:rPr lang="en-US" altLang="zh-CN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2</a:t>
            </a:r>
            <a:r>
              <a:rPr lang="zh-CN" altLang="en-US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章  用户需求分析</a:t>
            </a:r>
          </a:p>
        </p:txBody>
      </p:sp>
    </p:spTree>
    <p:extLst>
      <p:ext uri="{BB962C8B-B14F-4D97-AF65-F5344CB8AC3E}">
        <p14:creationId xmlns:p14="http://schemas.microsoft.com/office/powerpoint/2010/main" val="306231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Rectangle 3"/>
          <p:cNvSpPr>
            <a:spLocks noGrp="1"/>
          </p:cNvSpPr>
          <p:nvPr>
            <p:ph idx="1"/>
          </p:nvPr>
        </p:nvSpPr>
        <p:spPr>
          <a:xfrm>
            <a:off x="695400" y="1052736"/>
            <a:ext cx="11377264" cy="496855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marL="182880" lvl="1" indent="0">
              <a:buNone/>
            </a:pP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用户需求分析，应该分析用户哪些方面的内容。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用户分析的基本方法，如何进行用户需求分析。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048610" name="Rectangle 2"/>
          <p:cNvSpPr>
            <a:spLocks noGrp="1"/>
          </p:cNvSpPr>
          <p:nvPr>
            <p:ph type="title"/>
          </p:nvPr>
        </p:nvSpPr>
        <p:spPr>
          <a:xfrm>
            <a:off x="47328" y="188640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9F07CBF-4433-42C0-A03D-991AC07F3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488" y="2919220"/>
            <a:ext cx="85248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7582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Rectangle 3"/>
          <p:cNvSpPr>
            <a:spLocks noGrp="1"/>
          </p:cNvSpPr>
          <p:nvPr>
            <p:ph idx="1"/>
          </p:nvPr>
        </p:nvSpPr>
        <p:spPr>
          <a:xfrm>
            <a:off x="695400" y="1052736"/>
            <a:ext cx="11377264" cy="316835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marL="0" indent="0">
              <a:buNone/>
            </a:pPr>
            <a:r>
              <a:rPr lang="en-US" altLang="zh-CN" dirty="0"/>
              <a:t>2.1.1  </a:t>
            </a:r>
            <a:r>
              <a:rPr lang="zh-CN" altLang="en-US" dirty="0"/>
              <a:t>需求分析基本内容</a:t>
            </a:r>
          </a:p>
          <a:p>
            <a:pPr marL="0" indent="0"/>
            <a:r>
              <a:rPr lang="en-US" altLang="zh-CN" dirty="0"/>
              <a:t>1.  IEEE</a:t>
            </a:r>
            <a:r>
              <a:rPr lang="zh-CN" altLang="en-US" dirty="0"/>
              <a:t>软件工程定义的需求</a:t>
            </a:r>
          </a:p>
          <a:p>
            <a:pPr marL="457200" lvl="1" indent="-274320">
              <a:buNone/>
            </a:pPr>
            <a:r>
              <a:rPr lang="en-US" altLang="zh-CN" dirty="0"/>
              <a:t>（1</a:t>
            </a:r>
            <a:r>
              <a:rPr lang="zh-CN" altLang="en-US" dirty="0"/>
              <a:t>）用户解决问题或达到目标所需要的条件或要求。</a:t>
            </a:r>
          </a:p>
          <a:p>
            <a:pPr marL="457200" lvl="1" indent="-27432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）系统满足合同、标准、规范或其它正式规定文档所需具有的条件或要求。</a:t>
            </a:r>
          </a:p>
          <a:p>
            <a:pPr marL="457200" lvl="1" indent="-27432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）反映上面</a:t>
            </a:r>
            <a:r>
              <a:rPr lang="en-US" altLang="zh-CN" dirty="0"/>
              <a:t>1</a:t>
            </a:r>
            <a:r>
              <a:rPr lang="zh-CN" altLang="en-US" dirty="0"/>
              <a:t>）或</a:t>
            </a:r>
            <a:r>
              <a:rPr lang="en-US" altLang="zh-CN" dirty="0"/>
              <a:t>2</a:t>
            </a:r>
            <a:r>
              <a:rPr lang="zh-CN" altLang="en-US" dirty="0"/>
              <a:t>）所描述的条件或要求的文档说明。</a:t>
            </a:r>
          </a:p>
          <a:p>
            <a:pPr marL="457200" lvl="1" indent="-274320"/>
            <a:endParaRPr lang="zh-CN" altLang="en-US" dirty="0"/>
          </a:p>
          <a:p>
            <a:pPr marL="0" indent="0"/>
            <a:r>
              <a:rPr lang="en-US" altLang="zh-CN" dirty="0"/>
              <a:t>IEEE</a:t>
            </a:r>
            <a:r>
              <a:rPr lang="zh-CN" altLang="en-US" dirty="0"/>
              <a:t>的定义包括了从用户角度，以及从设计者角度来阐述用户需求。</a:t>
            </a:r>
          </a:p>
        </p:txBody>
      </p:sp>
      <p:sp>
        <p:nvSpPr>
          <p:cNvPr id="1048610" name="Rectangle 2"/>
          <p:cNvSpPr>
            <a:spLocks noGrp="1"/>
          </p:cNvSpPr>
          <p:nvPr>
            <p:ph type="title"/>
          </p:nvPr>
        </p:nvSpPr>
        <p:spPr>
          <a:xfrm>
            <a:off x="47328" y="188640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F930C0-D215-4062-B628-1189C49F2FA4}"/>
              </a:ext>
            </a:extLst>
          </p:cNvPr>
          <p:cNvSpPr/>
          <p:nvPr/>
        </p:nvSpPr>
        <p:spPr>
          <a:xfrm>
            <a:off x="1271464" y="4221088"/>
            <a:ext cx="9073008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用户网络应用环境</a:t>
            </a:r>
            <a:endParaRPr lang="en-US" altLang="zh-CN" sz="24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用户网络设备状态</a:t>
            </a:r>
            <a:endParaRPr lang="en-US" altLang="zh-CN" sz="24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用户业务对网络服务的需求</a:t>
            </a:r>
            <a:endParaRPr lang="en-US" altLang="zh-CN" sz="24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用户业务对网络容量和性能的需求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Rectangle 2"/>
          <p:cNvSpPr>
            <a:spLocks noGrp="1"/>
          </p:cNvSpPr>
          <p:nvPr>
            <p:ph type="title"/>
          </p:nvPr>
        </p:nvSpPr>
        <p:spPr>
          <a:xfrm>
            <a:off x="-4933" y="112132"/>
            <a:ext cx="10515600" cy="7099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  <p:graphicFrame>
        <p:nvGraphicFramePr>
          <p:cNvPr id="4194304" name="表格 419430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4690667"/>
              </p:ext>
            </p:extLst>
          </p:nvPr>
        </p:nvGraphicFramePr>
        <p:xfrm>
          <a:off x="1199456" y="1196752"/>
          <a:ext cx="10009112" cy="3888430"/>
        </p:xfrm>
        <a:graphic>
          <a:graphicData uri="http://schemas.openxmlformats.org/drawingml/2006/table">
            <a:tbl>
              <a:tblPr/>
              <a:tblGrid>
                <a:gridCol w="2239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9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632">
                <a:tc>
                  <a:txBody>
                    <a:bodyPr/>
                    <a:lstStyle/>
                    <a:p>
                      <a:pPr lvl="0" algn="ctr" eaLnBrk="1" hangingPunct="1">
                        <a:spcAft>
                          <a:spcPct val="20000"/>
                        </a:spcAft>
                      </a:pPr>
                      <a:r>
                        <a:rPr lang="zh-CN" altLang="en-US" sz="2000" b="1">
                          <a:solidFill>
                            <a:srgbClr val="0000FF"/>
                          </a:solidFill>
                          <a:latin typeface="黑体" pitchFamily="49" charset="-122"/>
                          <a:ea typeface="黑体" pitchFamily="49" charset="-122"/>
                        </a:rPr>
                        <a:t>需求类型</a:t>
                      </a:r>
                    </a:p>
                  </a:txBody>
                  <a:tcPr marL="92988" marR="92988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Aft>
                          <a:spcPct val="20000"/>
                        </a:spcAft>
                      </a:pPr>
                      <a:r>
                        <a:rPr lang="zh-CN" altLang="en-US" sz="2000" b="1">
                          <a:solidFill>
                            <a:srgbClr val="0000FF"/>
                          </a:solidFill>
                          <a:latin typeface="黑体" pitchFamily="49" charset="-122"/>
                          <a:ea typeface="黑体" pitchFamily="49" charset="-122"/>
                        </a:rPr>
                        <a:t>需 求 分 析 内 容</a:t>
                      </a:r>
                    </a:p>
                  </a:txBody>
                  <a:tcPr marL="92988" marR="92988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951">
                <a:tc>
                  <a:txBody>
                    <a:bodyPr/>
                    <a:lstStyle/>
                    <a:p>
                      <a:pPr lvl="0" algn="ctr" eaLnBrk="1" hangingPunct="1">
                        <a:spcAft>
                          <a:spcPct val="20000"/>
                        </a:spcAft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用户业务</a:t>
                      </a:r>
                    </a:p>
                  </a:txBody>
                  <a:tcPr marL="92988" marR="92988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eaLnBrk="1" hangingPunct="1">
                        <a:spcAft>
                          <a:spcPct val="20000"/>
                        </a:spcAft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数据业务、音频业务、视频业务、安全业务、无线业务等</a:t>
                      </a:r>
                    </a:p>
                  </a:txBody>
                  <a:tcPr marL="92988" marR="92988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632">
                <a:tc>
                  <a:txBody>
                    <a:bodyPr/>
                    <a:lstStyle/>
                    <a:p>
                      <a:pPr lvl="0" algn="ctr" eaLnBrk="1" hangingPunct="1">
                        <a:spcAft>
                          <a:spcPct val="20000"/>
                        </a:spcAft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应用软件</a:t>
                      </a:r>
                    </a:p>
                  </a:txBody>
                  <a:tcPr marL="92988" marR="92988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eaLnBrk="1" hangingPunct="1">
                        <a:spcAft>
                          <a:spcPct val="20000"/>
                        </a:spcAft>
                      </a:pP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OA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系统、</a:t>
                      </a: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MIS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系统、</a:t>
                      </a: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CAI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系统、</a:t>
                      </a: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ERP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系统、</a:t>
                      </a: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CAD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系统等</a:t>
                      </a:r>
                    </a:p>
                  </a:txBody>
                  <a:tcPr marL="92988" marR="92988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632">
                <a:tc>
                  <a:txBody>
                    <a:bodyPr/>
                    <a:lstStyle/>
                    <a:p>
                      <a:pPr lvl="0" algn="ctr" eaLnBrk="1" hangingPunct="1">
                        <a:spcAft>
                          <a:spcPct val="20000"/>
                        </a:spcAft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网络服务</a:t>
                      </a:r>
                    </a:p>
                  </a:txBody>
                  <a:tcPr marL="92988" marR="92988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eaLnBrk="1" hangingPunct="1">
                        <a:spcAft>
                          <a:spcPct val="20000"/>
                        </a:spcAft>
                      </a:pP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DNS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服务、</a:t>
                      </a: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Web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服务、</a:t>
                      </a: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FTP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服务、</a:t>
                      </a: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E-mail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服务等</a:t>
                      </a:r>
                    </a:p>
                  </a:txBody>
                  <a:tcPr marL="92988" marR="92988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951">
                <a:tc>
                  <a:txBody>
                    <a:bodyPr/>
                    <a:lstStyle/>
                    <a:p>
                      <a:pPr lvl="0" algn="ctr" eaLnBrk="1" hangingPunct="1">
                        <a:spcAft>
                          <a:spcPct val="20000"/>
                        </a:spcAft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硬件设备</a:t>
                      </a:r>
                    </a:p>
                  </a:txBody>
                  <a:tcPr marL="92988" marR="92988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eaLnBrk="1" hangingPunct="1">
                        <a:spcAft>
                          <a:spcPct val="20000"/>
                        </a:spcAft>
                      </a:pPr>
                      <a:r>
                        <a:rPr lang="en-US" altLang="zh-CN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PC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、服务器、交换机、路由器、防火墙、传输介质等</a:t>
                      </a:r>
                    </a:p>
                  </a:txBody>
                  <a:tcPr marL="92988" marR="92988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632">
                <a:tc>
                  <a:txBody>
                    <a:bodyPr/>
                    <a:lstStyle/>
                    <a:p>
                      <a:pPr lvl="0" algn="ctr" eaLnBrk="1" hangingPunct="1">
                        <a:spcAft>
                          <a:spcPct val="20000"/>
                        </a:spcAft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网络结构</a:t>
                      </a:r>
                    </a:p>
                  </a:txBody>
                  <a:tcPr marL="92988" marR="92988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eaLnBrk="1" hangingPunct="1">
                        <a:spcAft>
                          <a:spcPct val="20000"/>
                        </a:spcAft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a typeface="黑体" pitchFamily="49" charset="-122"/>
                        </a:rPr>
                        <a:t>逻辑结构、物理结构、网络互连、网络接入等</a:t>
                      </a:r>
                    </a:p>
                  </a:txBody>
                  <a:tcPr marL="92988" marR="92988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Rectangle 3"/>
          <p:cNvSpPr>
            <a:spLocks noGrp="1"/>
          </p:cNvSpPr>
          <p:nvPr>
            <p:ph idx="1"/>
          </p:nvPr>
        </p:nvSpPr>
        <p:spPr>
          <a:xfrm>
            <a:off x="623392" y="98072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b="0" dirty="0"/>
              <a:t>用户网络应用环境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用户建筑物布局情况，建筑物之间的最大距离；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用户确定的网外部网络接入点位置；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络中心机房位置；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用户设备间的位置及电源供应情况；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用户信息点数量及位置；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任何两个用户之间的最大距离；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用户部门分布情况；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特殊需求或限制条件：如道路、河流、建筑物之间的阻挡物；电缆布线是否有禁区等。</a:t>
            </a:r>
          </a:p>
        </p:txBody>
      </p:sp>
      <p:sp>
        <p:nvSpPr>
          <p:cNvPr id="1048642" name="Rectangle 2"/>
          <p:cNvSpPr>
            <a:spLocks noGrp="1"/>
          </p:cNvSpPr>
          <p:nvPr>
            <p:ph type="title"/>
          </p:nvPr>
        </p:nvSpPr>
        <p:spPr>
          <a:xfrm>
            <a:off x="31565" y="116632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</p:spTree>
  </p:cSld>
  <p:clrMapOvr>
    <a:masterClrMapping/>
  </p:clrMapOvr>
  <p:transition spd="slow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Rectangle 3"/>
          <p:cNvSpPr>
            <a:spLocks noGrp="1"/>
          </p:cNvSpPr>
          <p:nvPr>
            <p:ph idx="1"/>
          </p:nvPr>
        </p:nvSpPr>
        <p:spPr>
          <a:xfrm>
            <a:off x="695400" y="857250"/>
            <a:ext cx="10515600" cy="285978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dirty="0"/>
              <a:t>用户网络设备状态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用户现有计算机数量及分布情况；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今后几年中，用户信息点可能增长情况；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现有网络通信设备性能、技术参数和数量；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用户模拟通信设备，如电话、广播和视频设备；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用户现有网络设备之间的物理连接等。</a:t>
            </a:r>
          </a:p>
        </p:txBody>
      </p:sp>
      <p:sp>
        <p:nvSpPr>
          <p:cNvPr id="1048647" name="Rectangle 2"/>
          <p:cNvSpPr>
            <a:spLocks noGrp="1"/>
          </p:cNvSpPr>
          <p:nvPr>
            <p:ph type="title"/>
          </p:nvPr>
        </p:nvSpPr>
        <p:spPr>
          <a:xfrm>
            <a:off x="0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  <p:pic>
        <p:nvPicPr>
          <p:cNvPr id="2097154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314700" y="4195238"/>
            <a:ext cx="5562600" cy="223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Rectangle 3"/>
          <p:cNvSpPr>
            <a:spLocks noGrp="1"/>
          </p:cNvSpPr>
          <p:nvPr>
            <p:ph idx="1"/>
          </p:nvPr>
        </p:nvSpPr>
        <p:spPr>
          <a:xfrm>
            <a:off x="623392" y="8367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dirty="0"/>
              <a:t>用户业务对网络服务的需求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zh-CN" sz="2800" b="0" dirty="0">
                <a:solidFill>
                  <a:schemeClr val="accent1">
                    <a:lumMod val="50000"/>
                  </a:schemeClr>
                </a:solidFill>
              </a:rPr>
              <a:t>数据库和应用软件的共享服务需求；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zh-CN" sz="2800" b="0" dirty="0">
                <a:solidFill>
                  <a:schemeClr val="accent1">
                    <a:lumMod val="50000"/>
                  </a:schemeClr>
                </a:solidFill>
              </a:rPr>
              <a:t>文件传输和存取的服务需求；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zh-CN" sz="2800" b="0" dirty="0">
                <a:solidFill>
                  <a:schemeClr val="accent1">
                    <a:lumMod val="50000"/>
                  </a:schemeClr>
                </a:solidFill>
              </a:rPr>
              <a:t>Web</a:t>
            </a: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网站系统建设和应用的需求；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电子邮件系统的建设和应用需求；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网络远程登录服务的需求；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网络视频服务的需求；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企业</a:t>
            </a:r>
            <a:r>
              <a:rPr lang="en-US" altLang="zh-CN" sz="2800" b="0" dirty="0">
                <a:solidFill>
                  <a:schemeClr val="accent1">
                    <a:lumMod val="50000"/>
                  </a:schemeClr>
                </a:solidFill>
              </a:rPr>
              <a:t>IP</a:t>
            </a: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电话的需求等。</a:t>
            </a:r>
          </a:p>
        </p:txBody>
      </p:sp>
      <p:sp>
        <p:nvSpPr>
          <p:cNvPr id="1048652" name="Rectangle 2"/>
          <p:cNvSpPr>
            <a:spLocks noGrp="1"/>
          </p:cNvSpPr>
          <p:nvPr>
            <p:ph type="title"/>
          </p:nvPr>
        </p:nvSpPr>
        <p:spPr>
          <a:xfrm>
            <a:off x="0" y="116632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</p:spTree>
  </p:cSld>
  <p:clrMapOvr>
    <a:masterClrMapping/>
  </p:clrMapOvr>
  <p:transition spd="slow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Rectangle 3"/>
          <p:cNvSpPr>
            <a:spLocks noGrp="1"/>
          </p:cNvSpPr>
          <p:nvPr>
            <p:ph idx="1"/>
          </p:nvPr>
        </p:nvSpPr>
        <p:spPr>
          <a:xfrm>
            <a:off x="695400" y="98072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dirty="0"/>
              <a:t>用户业务对网络容量和性能的需求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用户业务的时间规律；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用户业务流量的规律；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用户业务对安全</a:t>
            </a:r>
            <a:r>
              <a:rPr lang="en-US" altLang="en-US" sz="2800" b="0" dirty="0">
                <a:solidFill>
                  <a:schemeClr val="accent1">
                    <a:lumMod val="50000"/>
                  </a:schemeClr>
                </a:solidFill>
              </a:rPr>
              <a:t>的</a:t>
            </a: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需求；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用户业务对可靠性</a:t>
            </a:r>
            <a:r>
              <a:rPr lang="en-US" altLang="en-US" sz="2800" b="0" dirty="0">
                <a:solidFill>
                  <a:schemeClr val="accent1">
                    <a:lumMod val="50000"/>
                  </a:schemeClr>
                </a:solidFill>
              </a:rPr>
              <a:t>的</a:t>
            </a: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需求；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用户业务对最低带宽的需求；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</a:rPr>
              <a:t>用户业务对最低响应时间的需求。</a:t>
            </a:r>
          </a:p>
        </p:txBody>
      </p:sp>
      <p:sp>
        <p:nvSpPr>
          <p:cNvPr id="1048657" name="Rectangle 2"/>
          <p:cNvSpPr>
            <a:spLocks noGrp="1"/>
          </p:cNvSpPr>
          <p:nvPr>
            <p:ph type="title"/>
          </p:nvPr>
        </p:nvSpPr>
        <p:spPr>
          <a:xfrm>
            <a:off x="2959" y="116632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</p:spTree>
  </p:cSld>
  <p:clrMapOvr>
    <a:masterClrMapping/>
  </p:clrMapOvr>
  <p:transition spd="slow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Rectangle 3"/>
          <p:cNvSpPr>
            <a:spLocks noGrp="1"/>
          </p:cNvSpPr>
          <p:nvPr>
            <p:ph idx="1"/>
          </p:nvPr>
        </p:nvSpPr>
        <p:spPr>
          <a:xfrm>
            <a:off x="695400" y="98072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2.1.2  </a:t>
            </a:r>
            <a:r>
              <a:rPr lang="zh-CN" altLang="en-US" sz="3200" dirty="0"/>
              <a:t>用户的权利与义务</a:t>
            </a:r>
          </a:p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1</a:t>
            </a:r>
            <a:r>
              <a:rPr lang="zh-CN" altLang="en-US" dirty="0">
                <a:solidFill>
                  <a:srgbClr val="000099"/>
                </a:solidFill>
              </a:rPr>
              <a:t>．用户的特点</a:t>
            </a:r>
          </a:p>
          <a:p>
            <a:pPr lvl="1" eaLnBrk="1" hangingPunct="1"/>
            <a:r>
              <a:rPr lang="zh-CN" altLang="en-US" sz="2800" dirty="0"/>
              <a:t>用户是经过筛选的。</a:t>
            </a:r>
          </a:p>
          <a:p>
            <a:pPr lvl="2" eaLnBrk="1" hangingPunct="1"/>
            <a:r>
              <a:rPr lang="zh-CN" altLang="en-US" dirty="0"/>
              <a:t>用户的需求存在千差万别，有些需求甚至相互矛盾。</a:t>
            </a:r>
          </a:p>
          <a:p>
            <a:pPr lvl="2" eaLnBrk="1" hangingPunct="1"/>
            <a:r>
              <a:rPr lang="zh-CN" altLang="en-US" dirty="0"/>
              <a:t>网络工程师应当筛选出真正的用户。</a:t>
            </a:r>
          </a:p>
          <a:p>
            <a:pPr lvl="1" eaLnBrk="1" hangingPunct="1"/>
            <a:endParaRPr lang="en-US" altLang="zh-CN" sz="2800" dirty="0"/>
          </a:p>
          <a:p>
            <a:pPr lvl="1" eaLnBrk="1" hangingPunct="1"/>
            <a:r>
              <a:rPr lang="zh-CN" altLang="en-US" sz="2800" dirty="0"/>
              <a:t>用户是沉默的。</a:t>
            </a:r>
          </a:p>
          <a:p>
            <a:pPr lvl="2" eaLnBrk="1" hangingPunct="1"/>
            <a:r>
              <a:rPr lang="zh-CN" altLang="en-US" dirty="0"/>
              <a:t>用户往往难以清楚地描述具体需求。</a:t>
            </a:r>
          </a:p>
          <a:p>
            <a:pPr lvl="2" eaLnBrk="1" hangingPunct="1"/>
            <a:r>
              <a:rPr lang="zh-CN" altLang="en-US" dirty="0"/>
              <a:t>用户的需求常常隐藏在企业工作流程或企业文化中。</a:t>
            </a:r>
          </a:p>
          <a:p>
            <a:pPr lvl="2" eaLnBrk="1" hangingPunct="1"/>
            <a:r>
              <a:rPr lang="zh-CN" altLang="en-US" dirty="0"/>
              <a:t>用户不易通过口头或书面的形式表述清楚。</a:t>
            </a:r>
          </a:p>
        </p:txBody>
      </p:sp>
      <p:sp>
        <p:nvSpPr>
          <p:cNvPr id="1048662" name="Rectangle 2"/>
          <p:cNvSpPr>
            <a:spLocks noGrp="1"/>
          </p:cNvSpPr>
          <p:nvPr>
            <p:ph type="title"/>
          </p:nvPr>
        </p:nvSpPr>
        <p:spPr>
          <a:xfrm>
            <a:off x="47328" y="188640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</p:spTree>
  </p:cSld>
  <p:clrMapOvr>
    <a:masterClrMapping/>
  </p:clrMapOvr>
  <p:transition spd="slow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Rectangle 3"/>
          <p:cNvSpPr>
            <a:spLocks noGrp="1"/>
          </p:cNvSpPr>
          <p:nvPr>
            <p:ph idx="1"/>
          </p:nvPr>
        </p:nvSpPr>
        <p:spPr>
          <a:xfrm>
            <a:off x="623392" y="90872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1" eaLnBrk="1" hangingPunct="1"/>
            <a:r>
              <a:rPr lang="zh-CN" altLang="en-US" sz="2800" dirty="0"/>
              <a:t>用户是难以满足的。</a:t>
            </a:r>
          </a:p>
          <a:p>
            <a:pPr lvl="2" eaLnBrk="1" hangingPunct="1"/>
            <a:r>
              <a:rPr lang="en-US" altLang="zh-CN" dirty="0" err="1"/>
              <a:t>如果双方对需求的理解不一致，强势的用户会提出一些过高要求</a:t>
            </a:r>
            <a:r>
              <a:rPr lang="en-US" altLang="zh-CN" dirty="0"/>
              <a:t>。</a:t>
            </a:r>
          </a:p>
          <a:p>
            <a:pPr lvl="2" eaLnBrk="1" hangingPunct="1"/>
            <a:endParaRPr lang="zh-CN" altLang="en-US" dirty="0"/>
          </a:p>
          <a:p>
            <a:pPr lvl="1" eaLnBrk="1" hangingPunct="1"/>
            <a:r>
              <a:rPr lang="zh-CN" altLang="en-US" sz="2800" dirty="0"/>
              <a:t>用户是可引导的。</a:t>
            </a:r>
          </a:p>
          <a:p>
            <a:pPr lvl="2" eaLnBrk="1" hangingPunct="1"/>
            <a:r>
              <a:rPr lang="zh-CN" altLang="en-US" dirty="0"/>
              <a:t>行业网络系统通常有较多的用户应用案例，有成熟的网络应用经验。</a:t>
            </a:r>
          </a:p>
        </p:txBody>
      </p:sp>
      <p:sp>
        <p:nvSpPr>
          <p:cNvPr id="1048667" name="Rectangle 2"/>
          <p:cNvSpPr>
            <a:spLocks noGrp="1"/>
          </p:cNvSpPr>
          <p:nvPr>
            <p:ph type="title"/>
          </p:nvPr>
        </p:nvSpPr>
        <p:spPr>
          <a:xfrm>
            <a:off x="0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</p:spTree>
  </p:cSld>
  <p:clrMapOvr>
    <a:masterClrMapping/>
  </p:clrMapOvr>
  <p:transition spd="slow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Rectangle 3"/>
          <p:cNvSpPr>
            <a:spLocks noGrp="1"/>
          </p:cNvSpPr>
          <p:nvPr>
            <p:ph idx="1"/>
          </p:nvPr>
        </p:nvSpPr>
        <p:spPr>
          <a:xfrm>
            <a:off x="767408" y="98072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2</a:t>
            </a:r>
            <a:r>
              <a:rPr lang="zh-CN" altLang="en-US" dirty="0">
                <a:solidFill>
                  <a:srgbClr val="000099"/>
                </a:solidFill>
              </a:rPr>
              <a:t>．用户的权利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网络工程师应使用符合用户习惯的表达方式。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应当了解用户的业务及目标。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应当对工作结果进行解释和说明。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与用户交流中，应保持合作的职业态度。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应当对系统需求提供合理化建议。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应当描述网络系统的基本特性。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对需求进行变更时，网络工程师应当对成本、影响和得失做出真实可信的评估。</a:t>
            </a:r>
          </a:p>
        </p:txBody>
      </p:sp>
      <p:sp>
        <p:nvSpPr>
          <p:cNvPr id="1048672" name="Rectangle 2"/>
          <p:cNvSpPr>
            <a:spLocks noGrp="1"/>
          </p:cNvSpPr>
          <p:nvPr>
            <p:ph type="title"/>
          </p:nvPr>
        </p:nvSpPr>
        <p:spPr>
          <a:xfrm>
            <a:off x="19727" y="44624"/>
            <a:ext cx="10515600" cy="7099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</p:spTree>
  </p:cSld>
  <p:clrMapOvr>
    <a:masterClrMapping/>
  </p:clrMapOvr>
  <p:transition spd="slow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Rectangle 3"/>
          <p:cNvSpPr>
            <a:spLocks noGrp="1"/>
          </p:cNvSpPr>
          <p:nvPr>
            <p:ph idx="1"/>
          </p:nvPr>
        </p:nvSpPr>
        <p:spPr>
          <a:xfrm>
            <a:off x="695400" y="105273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3</a:t>
            </a:r>
            <a:r>
              <a:rPr lang="zh-CN" altLang="en-US" dirty="0">
                <a:solidFill>
                  <a:srgbClr val="000099"/>
                </a:solidFill>
              </a:rPr>
              <a:t>．用户的义务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讲解用户的业务特征，说明专业术语和要求。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提出需求时，应当力求准确详细。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对最终需求做决策时，不要使用含糊不清的表态。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对复杂的工程项目，提出子项目的优先实现等级。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评审网络工程师提出的用户需求分析文档。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对需求变更时，应遵重网络工程师确定的处理流程。</a:t>
            </a:r>
          </a:p>
        </p:txBody>
      </p:sp>
      <p:sp>
        <p:nvSpPr>
          <p:cNvPr id="1048677" name="Rectangle 2"/>
          <p:cNvSpPr>
            <a:spLocks noGrp="1"/>
          </p:cNvSpPr>
          <p:nvPr>
            <p:ph type="title"/>
          </p:nvPr>
        </p:nvSpPr>
        <p:spPr>
          <a:xfrm>
            <a:off x="0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</p:spTree>
  </p:cSld>
  <p:clrMapOvr>
    <a:masterClrMapping/>
  </p:clrMapOvr>
  <p:transition spd="slow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Rectangle 3"/>
          <p:cNvSpPr>
            <a:spLocks noGrp="1"/>
          </p:cNvSpPr>
          <p:nvPr>
            <p:ph idx="1"/>
          </p:nvPr>
        </p:nvSpPr>
        <p:spPr>
          <a:xfrm>
            <a:off x="767408" y="98072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2.1.3  </a:t>
            </a:r>
            <a:r>
              <a:rPr lang="zh-CN" altLang="en-US" sz="3200" dirty="0"/>
              <a:t>用户需求获取方法</a:t>
            </a:r>
          </a:p>
          <a:p>
            <a:pPr lvl="0" eaLnBrk="1" hangingPunct="1"/>
            <a:r>
              <a:rPr lang="zh-CN" altLang="en-US" dirty="0">
                <a:solidFill>
                  <a:schemeClr val="hlink"/>
                </a:solidFill>
              </a:rPr>
              <a:t>基本原则：</a:t>
            </a:r>
            <a:r>
              <a:rPr lang="zh-CN" altLang="en-US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需求源于用户的需要</a:t>
            </a:r>
            <a:r>
              <a:rPr lang="zh-CN" altLang="en-US" dirty="0">
                <a:solidFill>
                  <a:schemeClr val="hlink"/>
                </a:solidFill>
              </a:rPr>
              <a:t>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在合作过程中培养用户提出需求的能力。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与用户共同开发需求。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一个网络工程不可能面面俱到，系统集成商应当主动选择用户，细分市场，定位目标。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最终用户是最好的专家。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可以通过调查来获取用户需求。</a:t>
            </a:r>
          </a:p>
          <a:p>
            <a:pPr lvl="1" eaLnBrk="1" hangingPunct="1"/>
            <a:r>
              <a:rPr lang="zh-CN" altLang="en-US" sz="2800" b="0" dirty="0">
                <a:solidFill>
                  <a:schemeClr val="hlink"/>
                </a:solidFill>
              </a:rPr>
              <a:t>网络工程师应当通过调查，并从服务意识出发，与用户一起将需求清晰化。</a:t>
            </a:r>
          </a:p>
        </p:txBody>
      </p:sp>
      <p:sp>
        <p:nvSpPr>
          <p:cNvPr id="1048682" name="Rectangle 2"/>
          <p:cNvSpPr>
            <a:spLocks noGrp="1"/>
          </p:cNvSpPr>
          <p:nvPr>
            <p:ph type="title"/>
          </p:nvPr>
        </p:nvSpPr>
        <p:spPr>
          <a:xfrm>
            <a:off x="30578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</p:spTree>
  </p:cSld>
  <p:clrMapOvr>
    <a:masterClrMapping/>
  </p:clrMapOvr>
  <p:transition spd="slow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Rectangle 3"/>
          <p:cNvSpPr>
            <a:spLocks noGrp="1"/>
          </p:cNvSpPr>
          <p:nvPr>
            <p:ph idx="1"/>
          </p:nvPr>
        </p:nvSpPr>
        <p:spPr>
          <a:xfrm>
            <a:off x="767408" y="83105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marL="533400" indent="-533400" eaLnBrk="1" hangingPunct="1">
              <a:buNone/>
            </a:pPr>
            <a:r>
              <a:rPr lang="en-US" altLang="zh-CN" sz="3200" dirty="0"/>
              <a:t>2.1.4  </a:t>
            </a:r>
            <a:r>
              <a:rPr lang="zh-CN" altLang="en-US" sz="3200" dirty="0"/>
              <a:t>分析中存在的问题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0" dirty="0">
                <a:solidFill>
                  <a:schemeClr val="hlink"/>
                </a:solidFill>
              </a:rPr>
              <a:t>没有足够多的用户参与</a:t>
            </a:r>
          </a:p>
          <a:p>
            <a:pPr marL="533400" indent="-533400" eaLnBrk="1" hangingPunct="1">
              <a:buNone/>
            </a:pPr>
            <a:r>
              <a:rPr lang="en-US" altLang="zh-CN" b="0" dirty="0">
                <a:solidFill>
                  <a:schemeClr val="hlink"/>
                </a:solidFill>
              </a:rPr>
              <a:t>2</a:t>
            </a:r>
            <a:r>
              <a:rPr lang="zh-CN" altLang="en-US" b="0" dirty="0">
                <a:solidFill>
                  <a:schemeClr val="hlink"/>
                </a:solidFill>
              </a:rPr>
              <a:t>．用户需求不断增加</a:t>
            </a:r>
          </a:p>
          <a:p>
            <a:pPr marL="533400" indent="-533400" eaLnBrk="1" hangingPunct="1">
              <a:buNone/>
            </a:pPr>
            <a:r>
              <a:rPr lang="en-US" altLang="zh-CN" b="0" dirty="0">
                <a:solidFill>
                  <a:schemeClr val="hlink"/>
                </a:solidFill>
              </a:rPr>
              <a:t>3</a:t>
            </a:r>
            <a:r>
              <a:rPr lang="zh-CN" altLang="en-US" b="0" dirty="0">
                <a:solidFill>
                  <a:schemeClr val="hlink"/>
                </a:solidFill>
              </a:rPr>
              <a:t>．模棱两可的用户需求</a:t>
            </a:r>
          </a:p>
          <a:p>
            <a:pPr marL="533400" indent="-533400" eaLnBrk="1" hangingPunct="1">
              <a:buNone/>
            </a:pPr>
            <a:r>
              <a:rPr lang="en-US" altLang="zh-CN" b="0" dirty="0">
                <a:solidFill>
                  <a:schemeClr val="hlink"/>
                </a:solidFill>
              </a:rPr>
              <a:t>4</a:t>
            </a:r>
            <a:r>
              <a:rPr lang="zh-CN" altLang="en-US" b="0" dirty="0">
                <a:solidFill>
                  <a:schemeClr val="hlink"/>
                </a:solidFill>
              </a:rPr>
              <a:t>．不必要的特性</a:t>
            </a:r>
          </a:p>
          <a:p>
            <a:pPr marL="533400" indent="-533400" eaLnBrk="1" hangingPunct="1">
              <a:buNone/>
            </a:pPr>
            <a:r>
              <a:rPr lang="en-US" altLang="zh-CN" b="0" dirty="0">
                <a:solidFill>
                  <a:schemeClr val="hlink"/>
                </a:solidFill>
              </a:rPr>
              <a:t>5</a:t>
            </a:r>
            <a:r>
              <a:rPr lang="zh-CN" altLang="en-US" b="0" dirty="0">
                <a:solidFill>
                  <a:schemeClr val="hlink"/>
                </a:solidFill>
              </a:rPr>
              <a:t>．过于精简的需求说明</a:t>
            </a:r>
          </a:p>
          <a:p>
            <a:pPr marL="533400" indent="-533400" eaLnBrk="1" hangingPunct="1">
              <a:buNone/>
            </a:pPr>
            <a:r>
              <a:rPr lang="en-US" altLang="zh-CN" b="0" dirty="0">
                <a:solidFill>
                  <a:schemeClr val="hlink"/>
                </a:solidFill>
              </a:rPr>
              <a:t>6</a:t>
            </a:r>
            <a:r>
              <a:rPr lang="zh-CN" altLang="en-US" b="0" dirty="0">
                <a:solidFill>
                  <a:schemeClr val="hlink"/>
                </a:solidFill>
              </a:rPr>
              <a:t>．不准确的用户计划</a:t>
            </a:r>
          </a:p>
        </p:txBody>
      </p:sp>
      <p:sp>
        <p:nvSpPr>
          <p:cNvPr id="1048687" name="Rectangle 2"/>
          <p:cNvSpPr>
            <a:spLocks noGrp="1"/>
          </p:cNvSpPr>
          <p:nvPr>
            <p:ph type="title"/>
          </p:nvPr>
        </p:nvSpPr>
        <p:spPr>
          <a:xfrm>
            <a:off x="19727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2.1  </a:t>
            </a:r>
            <a:r>
              <a:rPr lang="zh-CN" altLang="en-US" dirty="0">
                <a:solidFill>
                  <a:schemeClr val="bg1"/>
                </a:solidFill>
              </a:rPr>
              <a:t>需求分析基本方法</a:t>
            </a:r>
          </a:p>
        </p:txBody>
      </p:sp>
      <p:pic>
        <p:nvPicPr>
          <p:cNvPr id="2097155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28048" y="1567261"/>
            <a:ext cx="5199062" cy="2697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CD748BD9-D565-486C-98D2-FADC8597EEA7}"/>
              </a:ext>
            </a:extLst>
          </p:cNvPr>
          <p:cNvGrpSpPr/>
          <p:nvPr/>
        </p:nvGrpSpPr>
        <p:grpSpPr>
          <a:xfrm>
            <a:off x="279471" y="2164991"/>
            <a:ext cx="2960721" cy="2350284"/>
            <a:chOff x="400216" y="1425650"/>
            <a:chExt cx="3711212" cy="2882853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1077B62-17CF-4B61-B4F9-BDB0314C4782}"/>
                </a:ext>
              </a:extLst>
            </p:cNvPr>
            <p:cNvGrpSpPr/>
            <p:nvPr/>
          </p:nvGrpSpPr>
          <p:grpSpPr>
            <a:xfrm>
              <a:off x="400216" y="1425650"/>
              <a:ext cx="3711212" cy="2882853"/>
              <a:chOff x="445935" y="809294"/>
              <a:chExt cx="6990119" cy="5470972"/>
            </a:xfrm>
          </p:grpSpPr>
          <p:sp>
            <p:nvSpPr>
              <p:cNvPr id="18" name="íśļïḋé">
                <a:extLst>
                  <a:ext uri="{FF2B5EF4-FFF2-40B4-BE49-F238E27FC236}">
                    <a16:creationId xmlns:a16="http://schemas.microsoft.com/office/drawing/2014/main" id="{976C2238-92B1-43CC-8A8D-718726B4C86F}"/>
                  </a:ext>
                </a:extLst>
              </p:cNvPr>
              <p:cNvSpPr/>
              <p:nvPr/>
            </p:nvSpPr>
            <p:spPr bwMode="auto">
              <a:xfrm rot="12330823">
                <a:off x="1684541" y="809294"/>
                <a:ext cx="5751513" cy="2876549"/>
              </a:xfrm>
              <a:custGeom>
                <a:avLst/>
                <a:gdLst>
                  <a:gd name="connsiteX0" fmla="*/ 842247 w 5751228"/>
                  <a:gd name="connsiteY0" fmla="*/ 2033366 h 2875614"/>
                  <a:gd name="connsiteX1" fmla="*/ 0 w 5751228"/>
                  <a:gd name="connsiteY1" fmla="*/ 0 h 2875614"/>
                  <a:gd name="connsiteX2" fmla="*/ 408346 w 5751228"/>
                  <a:gd name="connsiteY2" fmla="*/ 0 h 2875614"/>
                  <a:gd name="connsiteX3" fmla="*/ 407043 w 5751228"/>
                  <a:gd name="connsiteY3" fmla="*/ 74793 h 2875614"/>
                  <a:gd name="connsiteX4" fmla="*/ 1182959 w 5751228"/>
                  <a:gd name="connsiteY4" fmla="*/ 1798429 h 2875614"/>
                  <a:gd name="connsiteX5" fmla="*/ 4674044 w 5751228"/>
                  <a:gd name="connsiteY5" fmla="*/ 1692653 h 2875614"/>
                  <a:gd name="connsiteX6" fmla="*/ 5340056 w 5751228"/>
                  <a:gd name="connsiteY6" fmla="*/ 162164 h 2875614"/>
                  <a:gd name="connsiteX7" fmla="*/ 5342881 w 5751228"/>
                  <a:gd name="connsiteY7" fmla="*/ 0 h 2875614"/>
                  <a:gd name="connsiteX8" fmla="*/ 5751228 w 5751228"/>
                  <a:gd name="connsiteY8" fmla="*/ 0 h 2875614"/>
                  <a:gd name="connsiteX9" fmla="*/ 2875614 w 5751228"/>
                  <a:gd name="connsiteY9" fmla="*/ 2875614 h 2875614"/>
                  <a:gd name="connsiteX10" fmla="*/ 842247 w 5751228"/>
                  <a:gd name="connsiteY10" fmla="*/ 2033366 h 2875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1228" h="2875614">
                    <a:moveTo>
                      <a:pt x="842247" y="2033366"/>
                    </a:moveTo>
                    <a:cubicBezTo>
                      <a:pt x="321864" y="1512982"/>
                      <a:pt x="0" y="794078"/>
                      <a:pt x="0" y="0"/>
                    </a:cubicBezTo>
                    <a:lnTo>
                      <a:pt x="408346" y="0"/>
                    </a:lnTo>
                    <a:lnTo>
                      <a:pt x="407043" y="74793"/>
                    </a:lnTo>
                    <a:cubicBezTo>
                      <a:pt x="426185" y="706556"/>
                      <a:pt x="686336" y="1331016"/>
                      <a:pt x="1182959" y="1798429"/>
                    </a:cubicBezTo>
                    <a:cubicBezTo>
                      <a:pt x="2176205" y="2733256"/>
                      <a:pt x="3739217" y="2685899"/>
                      <a:pt x="4674044" y="1692653"/>
                    </a:cubicBezTo>
                    <a:cubicBezTo>
                      <a:pt x="5083031" y="1258108"/>
                      <a:pt x="5304022" y="714506"/>
                      <a:pt x="5340056" y="162164"/>
                    </a:cubicBezTo>
                    <a:lnTo>
                      <a:pt x="5342881" y="0"/>
                    </a:lnTo>
                    <a:lnTo>
                      <a:pt x="5751228" y="0"/>
                    </a:lnTo>
                    <a:cubicBezTo>
                      <a:pt x="5751228" y="1588157"/>
                      <a:pt x="4463771" y="2875614"/>
                      <a:pt x="2875614" y="2875614"/>
                    </a:cubicBezTo>
                    <a:cubicBezTo>
                      <a:pt x="2081535" y="2875614"/>
                      <a:pt x="1362632" y="2553750"/>
                      <a:pt x="842247" y="2033366"/>
                    </a:cubicBezTo>
                    <a:close/>
                  </a:path>
                </a:pathLst>
              </a:custGeom>
              <a:solidFill>
                <a:srgbClr val="0AA39D">
                  <a:alpha val="75000"/>
                </a:srgb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íSḷîďê">
                <a:extLst>
                  <a:ext uri="{FF2B5EF4-FFF2-40B4-BE49-F238E27FC236}">
                    <a16:creationId xmlns:a16="http://schemas.microsoft.com/office/drawing/2014/main" id="{7AB1AF71-AAC3-4B0C-8E29-199DDE974FCE}"/>
                  </a:ext>
                </a:extLst>
              </p:cNvPr>
              <p:cNvSpPr>
                <a:spLocks/>
              </p:cNvSpPr>
              <p:nvPr/>
            </p:nvSpPr>
            <p:spPr bwMode="auto">
              <a:xfrm rot="12330823">
                <a:off x="445935" y="3404681"/>
                <a:ext cx="5751328" cy="2875585"/>
              </a:xfrm>
              <a:custGeom>
                <a:avLst/>
                <a:gdLst>
                  <a:gd name="T0" fmla="*/ 0 w 5751227"/>
                  <a:gd name="T1" fmla="*/ 2875615 h 2875615"/>
                  <a:gd name="T2" fmla="*/ 2875628 w 5751227"/>
                  <a:gd name="T3" fmla="*/ 0 h 2875615"/>
                  <a:gd name="T4" fmla="*/ 5751227 w 5751227"/>
                  <a:gd name="T5" fmla="*/ 2875615 h 2875615"/>
                  <a:gd name="T6" fmla="*/ 5342883 w 5751227"/>
                  <a:gd name="T7" fmla="*/ 2875615 h 2875615"/>
                  <a:gd name="T8" fmla="*/ 5344183 w 5751227"/>
                  <a:gd name="T9" fmla="*/ 2800821 h 2875615"/>
                  <a:gd name="T10" fmla="*/ 4568267 w 5751227"/>
                  <a:gd name="T11" fmla="*/ 1077193 h 2875615"/>
                  <a:gd name="T12" fmla="*/ 1077190 w 5751227"/>
                  <a:gd name="T13" fmla="*/ 1182968 h 2875615"/>
                  <a:gd name="T14" fmla="*/ 411171 w 5751227"/>
                  <a:gd name="T15" fmla="*/ 2713449 h 2875615"/>
                  <a:gd name="T16" fmla="*/ 408345 w 5751227"/>
                  <a:gd name="T17" fmla="*/ 2875615 h 2875615"/>
                  <a:gd name="T18" fmla="*/ 0 w 5751227"/>
                  <a:gd name="T19" fmla="*/ 2875615 h 28756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751227"/>
                  <a:gd name="T31" fmla="*/ 0 h 2875615"/>
                  <a:gd name="T32" fmla="*/ 5751227 w 5751227"/>
                  <a:gd name="T33" fmla="*/ 2875615 h 287561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751227" h="2875615">
                    <a:moveTo>
                      <a:pt x="0" y="2875615"/>
                    </a:moveTo>
                    <a:cubicBezTo>
                      <a:pt x="0" y="1287457"/>
                      <a:pt x="1287456" y="0"/>
                      <a:pt x="2875613" y="0"/>
                    </a:cubicBezTo>
                    <a:cubicBezTo>
                      <a:pt x="4463770" y="0"/>
                      <a:pt x="5751227" y="1287457"/>
                      <a:pt x="5751227" y="2875614"/>
                    </a:cubicBezTo>
                    <a:lnTo>
                      <a:pt x="5342880" y="2875614"/>
                    </a:lnTo>
                    <a:lnTo>
                      <a:pt x="5344183" y="2800820"/>
                    </a:lnTo>
                    <a:cubicBezTo>
                      <a:pt x="5325041" y="2169058"/>
                      <a:pt x="5064890" y="1544598"/>
                      <a:pt x="4568267" y="1077185"/>
                    </a:cubicBezTo>
                    <a:cubicBezTo>
                      <a:pt x="3575022" y="142357"/>
                      <a:pt x="2012009" y="189715"/>
                      <a:pt x="1077182" y="1182960"/>
                    </a:cubicBezTo>
                    <a:cubicBezTo>
                      <a:pt x="668195" y="1617505"/>
                      <a:pt x="447204" y="2161107"/>
                      <a:pt x="411171" y="2713449"/>
                    </a:cubicBezTo>
                    <a:lnTo>
                      <a:pt x="408345" y="2875614"/>
                    </a:lnTo>
                    <a:lnTo>
                      <a:pt x="0" y="2875615"/>
                    </a:lnTo>
                    <a:close/>
                  </a:path>
                </a:pathLst>
              </a:custGeom>
              <a:solidFill>
                <a:srgbClr val="003F98">
                  <a:alpha val="73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iṧľiďe">
              <a:extLst>
                <a:ext uri="{FF2B5EF4-FFF2-40B4-BE49-F238E27FC236}">
                  <a16:creationId xmlns:a16="http://schemas.microsoft.com/office/drawing/2014/main" id="{891052D4-C542-414B-91C5-DB7B72CDD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7376" y="1987353"/>
              <a:ext cx="1391523" cy="1797372"/>
              <a:chOff x="1987251" y="3051050"/>
              <a:chExt cx="1826411" cy="2359035"/>
            </a:xfrm>
          </p:grpSpPr>
          <p:sp>
            <p:nvSpPr>
              <p:cNvPr id="16" name="iSlïḓé">
                <a:extLst>
                  <a:ext uri="{FF2B5EF4-FFF2-40B4-BE49-F238E27FC236}">
                    <a16:creationId xmlns:a16="http://schemas.microsoft.com/office/drawing/2014/main" id="{068C083D-D9FD-4334-828B-B06B75F897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494" y="3051050"/>
                <a:ext cx="1512168" cy="2308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目录</a:t>
                </a:r>
              </a:p>
            </p:txBody>
          </p:sp>
          <p:sp>
            <p:nvSpPr>
              <p:cNvPr id="17" name="îsļïdé">
                <a:extLst>
                  <a:ext uri="{FF2B5EF4-FFF2-40B4-BE49-F238E27FC236}">
                    <a16:creationId xmlns:a16="http://schemas.microsoft.com/office/drawing/2014/main" id="{53CBF4E9-5B09-4897-BB1F-C3B8F9B2F9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044712" y="4077375"/>
                <a:ext cx="2275249" cy="3901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CONTENT</a:t>
                </a:r>
              </a:p>
            </p:txBody>
          </p:sp>
        </p:grpSp>
      </p:grpSp>
      <p:sp>
        <p:nvSpPr>
          <p:cNvPr id="21" name="í$1iďê">
            <a:extLst>
              <a:ext uri="{FF2B5EF4-FFF2-40B4-BE49-F238E27FC236}">
                <a16:creationId xmlns:a16="http://schemas.microsoft.com/office/drawing/2014/main" id="{C541662A-52BD-4B26-B8C7-EF7AE024A9BF}"/>
              </a:ext>
            </a:extLst>
          </p:cNvPr>
          <p:cNvSpPr txBox="1"/>
          <p:nvPr/>
        </p:nvSpPr>
        <p:spPr bwMode="auto">
          <a:xfrm>
            <a:off x="3395191" y="2085470"/>
            <a:ext cx="7416824" cy="259228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2.1  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需求分析基本方法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2.2  </a:t>
            </a:r>
            <a:r>
              <a:rPr lang="zh-CN" altLang="en-US" sz="3600" b="1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基本要求需求分析</a:t>
            </a:r>
            <a:r>
              <a:rPr lang="en-US" altLang="zh-CN" sz="3600" b="1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重点</a:t>
            </a:r>
            <a:r>
              <a:rPr lang="en-US" altLang="zh-CN" sz="3600" b="1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2.3  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高级要求需求分析</a:t>
            </a:r>
          </a:p>
        </p:txBody>
      </p:sp>
      <p:sp>
        <p:nvSpPr>
          <p:cNvPr id="10" name="Rectangle 2"/>
          <p:cNvSpPr/>
          <p:nvPr/>
        </p:nvSpPr>
        <p:spPr>
          <a:xfrm>
            <a:off x="10850" y="1084776"/>
            <a:ext cx="12192000" cy="777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 algn="ctr" eaLnBrk="1" hangingPunct="1"/>
            <a:r>
              <a:rPr lang="zh-CN" altLang="en-US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第</a:t>
            </a:r>
            <a:r>
              <a:rPr lang="en-US" altLang="zh-CN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2</a:t>
            </a:r>
            <a:r>
              <a:rPr lang="zh-CN" altLang="en-US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章  用户需求分析</a:t>
            </a:r>
          </a:p>
        </p:txBody>
      </p:sp>
    </p:spTree>
    <p:extLst>
      <p:ext uri="{BB962C8B-B14F-4D97-AF65-F5344CB8AC3E}">
        <p14:creationId xmlns:p14="http://schemas.microsoft.com/office/powerpoint/2010/main" val="40046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Rectangle 3"/>
          <p:cNvSpPr>
            <a:spLocks noGrp="1"/>
          </p:cNvSpPr>
          <p:nvPr>
            <p:ph idx="1"/>
          </p:nvPr>
        </p:nvSpPr>
        <p:spPr>
          <a:xfrm>
            <a:off x="695400" y="90872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2.2.1  </a:t>
            </a:r>
            <a:r>
              <a:rPr lang="zh-CN" altLang="en-US" sz="3200" dirty="0"/>
              <a:t>用户类型基本特征</a:t>
            </a:r>
          </a:p>
          <a:p>
            <a:pPr lvl="0" eaLnBrk="1" hangingPunct="1"/>
            <a:r>
              <a:rPr lang="zh-CN" altLang="en-US" b="0" dirty="0">
                <a:ea typeface="华文楷体" pitchFamily="2" charset="-122"/>
              </a:rPr>
              <a:t>不同行业对网络系统的需求存在很大差异，行业性在一定程度上决定了网络设计的技术选型，拓扑结构，设备性能等技术要求。</a:t>
            </a:r>
          </a:p>
          <a:p>
            <a:pPr lvl="0" eaLnBrk="1" hangingPunct="1">
              <a:buFontTx/>
              <a:buNone/>
            </a:pPr>
            <a:endParaRPr lang="zh-CN" altLang="en-US" dirty="0">
              <a:ea typeface="华文楷体" pitchFamily="2" charset="-122"/>
            </a:endParaRPr>
          </a:p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1</a:t>
            </a:r>
            <a:r>
              <a:rPr lang="zh-CN" altLang="en-US" dirty="0">
                <a:solidFill>
                  <a:srgbClr val="000099"/>
                </a:solidFill>
              </a:rPr>
              <a:t>．个人用户</a:t>
            </a:r>
          </a:p>
          <a:p>
            <a:pPr lvl="1" eaLnBrk="1" hangingPunct="1"/>
            <a:r>
              <a:rPr lang="en-US" altLang="zh-CN" sz="2800" b="0" dirty="0"/>
              <a:t>主要是因特网业务。</a:t>
            </a:r>
          </a:p>
          <a:p>
            <a:pPr lvl="1" eaLnBrk="1" hangingPunct="1"/>
            <a:r>
              <a:rPr lang="en-US" altLang="zh-CN" sz="2800" b="0" dirty="0"/>
              <a:t>512kb/s</a:t>
            </a:r>
            <a:r>
              <a:rPr lang="zh-CN" altLang="en-US" sz="2800" b="0" dirty="0"/>
              <a:t>的带宽能满足大部分用户的最低需求。</a:t>
            </a:r>
          </a:p>
          <a:p>
            <a:pPr lvl="1" eaLnBrk="1" hangingPunct="1"/>
            <a:r>
              <a:rPr lang="zh-CN" altLang="en-US" sz="2800" b="0" dirty="0"/>
              <a:t>数据安全的需求大大低于企业。</a:t>
            </a:r>
          </a:p>
          <a:p>
            <a:pPr lvl="1" eaLnBrk="1" hangingPunct="1"/>
            <a:r>
              <a:rPr lang="zh-CN" altLang="en-US" sz="2800" b="0" dirty="0"/>
              <a:t>使用时间集中在</a:t>
            </a:r>
            <a:r>
              <a:rPr lang="en-US" altLang="zh-CN" sz="2800" b="0" dirty="0"/>
              <a:t>20</a:t>
            </a:r>
            <a:r>
              <a:rPr lang="zh-CN" altLang="en-US" sz="2800" b="0" dirty="0"/>
              <a:t>：</a:t>
            </a:r>
            <a:r>
              <a:rPr lang="en-US" altLang="zh-CN" sz="2800" b="0" dirty="0"/>
              <a:t>00</a:t>
            </a:r>
            <a:r>
              <a:rPr lang="zh-CN" altLang="en-US" sz="2800" b="0" dirty="0"/>
              <a:t>～</a:t>
            </a:r>
            <a:r>
              <a:rPr lang="en-US" altLang="zh-CN" sz="2800" b="0" dirty="0"/>
              <a:t>24</a:t>
            </a:r>
            <a:r>
              <a:rPr lang="zh-CN" altLang="en-US" sz="2800" b="0" dirty="0"/>
              <a:t>：</a:t>
            </a:r>
            <a:r>
              <a:rPr lang="en-US" altLang="zh-CN" sz="2800" b="0" dirty="0"/>
              <a:t>00</a:t>
            </a:r>
            <a:r>
              <a:rPr lang="zh-CN" altLang="en-US" sz="2800" b="0" dirty="0"/>
              <a:t>之间。</a:t>
            </a:r>
          </a:p>
          <a:p>
            <a:pPr lvl="0" eaLnBrk="1" hangingPunct="1"/>
            <a:endParaRPr lang="en-US" altLang="zh-CN" dirty="0"/>
          </a:p>
        </p:txBody>
      </p:sp>
      <p:sp>
        <p:nvSpPr>
          <p:cNvPr id="1048699" name="Rectangle 2"/>
          <p:cNvSpPr>
            <a:spLocks noGrp="1"/>
          </p:cNvSpPr>
          <p:nvPr>
            <p:ph type="title"/>
          </p:nvPr>
        </p:nvSpPr>
        <p:spPr>
          <a:xfrm>
            <a:off x="30578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Rectangle 3"/>
          <p:cNvSpPr>
            <a:spLocks noGrp="1"/>
          </p:cNvSpPr>
          <p:nvPr>
            <p:ph idx="1"/>
          </p:nvPr>
        </p:nvSpPr>
        <p:spPr>
          <a:xfrm>
            <a:off x="695400" y="8469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2.  </a:t>
            </a:r>
            <a:r>
              <a:rPr lang="zh-CN" altLang="en-US" dirty="0">
                <a:solidFill>
                  <a:srgbClr val="000099"/>
                </a:solidFill>
              </a:rPr>
              <a:t>企业用户</a:t>
            </a:r>
          </a:p>
          <a:p>
            <a:pPr lvl="0" eaLnBrk="1" hangingPunct="1"/>
            <a:r>
              <a:rPr lang="zh-CN" altLang="en-US" dirty="0"/>
              <a:t>小型企业网络</a:t>
            </a:r>
          </a:p>
          <a:p>
            <a:pPr lvl="1" eaLnBrk="1" hangingPunct="1"/>
            <a:r>
              <a:rPr lang="en-US" altLang="zh-CN" dirty="0" err="1"/>
              <a:t>网络节点较少，地理分布范围较小</a:t>
            </a:r>
            <a:r>
              <a:rPr lang="en-US" altLang="zh-CN" dirty="0"/>
              <a:t>。</a:t>
            </a:r>
          </a:p>
          <a:p>
            <a:pPr lvl="1" eaLnBrk="1" hangingPunct="1"/>
            <a:r>
              <a:rPr lang="en-US" altLang="zh-CN" dirty="0" err="1"/>
              <a:t>主要利用因特网进行用户业务</a:t>
            </a:r>
            <a:r>
              <a:rPr lang="en-US" altLang="zh-CN" dirty="0"/>
              <a:t>。</a:t>
            </a:r>
          </a:p>
          <a:p>
            <a:pPr lvl="1" eaLnBrk="1" hangingPunct="1"/>
            <a:r>
              <a:rPr lang="en-US" altLang="zh-CN" dirty="0"/>
              <a:t>接入带宽一般10Mb/s</a:t>
            </a:r>
            <a:r>
              <a:rPr lang="zh-CN" altLang="en-US" dirty="0"/>
              <a:t>以下。</a:t>
            </a:r>
          </a:p>
          <a:p>
            <a:pPr lvl="1" eaLnBrk="1" hangingPunct="1"/>
            <a:r>
              <a:rPr lang="zh-CN" altLang="en-US" dirty="0"/>
              <a:t>通常采用以太网技术。</a:t>
            </a:r>
          </a:p>
        </p:txBody>
      </p:sp>
      <p:sp>
        <p:nvSpPr>
          <p:cNvPr id="1048704" name="Rectangle 2"/>
          <p:cNvSpPr>
            <a:spLocks noGrp="1"/>
          </p:cNvSpPr>
          <p:nvPr>
            <p:ph type="title"/>
          </p:nvPr>
        </p:nvSpPr>
        <p:spPr>
          <a:xfrm>
            <a:off x="0" y="44624"/>
            <a:ext cx="10515600" cy="7099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3A5D869-316A-49C0-9BEB-8DA817693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288" y="837321"/>
            <a:ext cx="5718712" cy="3579490"/>
          </a:xfrm>
          <a:prstGeom prst="rect">
            <a:avLst/>
          </a:prstGeom>
        </p:spPr>
      </p:pic>
    </p:spTree>
  </p:cSld>
  <p:clrMapOvr>
    <a:masterClrMapping/>
  </p:clrMapOvr>
  <p:transition spd="slow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Rectangle 3"/>
          <p:cNvSpPr>
            <a:spLocks noGrp="1"/>
          </p:cNvSpPr>
          <p:nvPr>
            <p:ph idx="1"/>
          </p:nvPr>
        </p:nvSpPr>
        <p:spPr>
          <a:xfrm>
            <a:off x="479376" y="98504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dirty="0"/>
              <a:t>中型企业网络</a:t>
            </a:r>
          </a:p>
          <a:p>
            <a:pPr lvl="1" eaLnBrk="1" hangingPunct="1"/>
            <a:r>
              <a:rPr lang="en-US" altLang="zh-CN" dirty="0" err="1"/>
              <a:t>地理分布范围在一个区域内</a:t>
            </a:r>
            <a:r>
              <a:rPr lang="en-US" altLang="zh-CN" dirty="0"/>
              <a:t>。</a:t>
            </a:r>
          </a:p>
          <a:p>
            <a:pPr lvl="1" eaLnBrk="1" hangingPunct="1"/>
            <a:r>
              <a:rPr lang="en-US" altLang="zh-CN" dirty="0" err="1"/>
              <a:t>主要用于企业内部网络通信</a:t>
            </a:r>
            <a:r>
              <a:rPr lang="en-US" altLang="zh-CN" dirty="0"/>
              <a:t>。</a:t>
            </a:r>
          </a:p>
          <a:p>
            <a:pPr lvl="1" eaLnBrk="1" hangingPunct="1"/>
            <a:r>
              <a:rPr lang="en-US" altLang="zh-CN" dirty="0"/>
              <a:t>接入带宽在10</a:t>
            </a:r>
            <a:r>
              <a:rPr lang="zh-CN" altLang="en-US" dirty="0"/>
              <a:t>～</a:t>
            </a:r>
            <a:r>
              <a:rPr lang="en-US" altLang="zh-CN" dirty="0"/>
              <a:t>100Mb/s</a:t>
            </a:r>
            <a:r>
              <a:rPr lang="zh-CN" altLang="en-US" dirty="0"/>
              <a:t>之间。</a:t>
            </a:r>
          </a:p>
          <a:p>
            <a:pPr lvl="1" eaLnBrk="1" hangingPunct="1"/>
            <a:r>
              <a:rPr lang="zh-CN" altLang="en-US" dirty="0"/>
              <a:t>对数据安全性要求较高。</a:t>
            </a:r>
          </a:p>
          <a:p>
            <a:pPr lvl="1" eaLnBrk="1" hangingPunct="1"/>
            <a:r>
              <a:rPr lang="zh-CN" altLang="en-US" dirty="0"/>
              <a:t>通常采用以太网技术设计网络。</a:t>
            </a:r>
          </a:p>
          <a:p>
            <a:pPr lvl="2" eaLnBrk="1" hangingPunct="1"/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1048709" name="Rectangle 2"/>
          <p:cNvSpPr>
            <a:spLocks noGrp="1"/>
          </p:cNvSpPr>
          <p:nvPr>
            <p:ph type="title"/>
          </p:nvPr>
        </p:nvSpPr>
        <p:spPr>
          <a:xfrm>
            <a:off x="12823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EA5F49A-5D4C-439A-816E-5AAEA8A73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904" y="1052736"/>
            <a:ext cx="6837020" cy="3845824"/>
          </a:xfrm>
          <a:prstGeom prst="rect">
            <a:avLst/>
          </a:prstGeom>
        </p:spPr>
      </p:pic>
    </p:spTree>
  </p:cSld>
  <p:clrMapOvr>
    <a:masterClrMapping/>
  </p:clrMapOvr>
  <p:transition spd="slow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Rectangle 3"/>
          <p:cNvSpPr>
            <a:spLocks noGrp="1"/>
          </p:cNvSpPr>
          <p:nvPr>
            <p:ph idx="1"/>
          </p:nvPr>
        </p:nvSpPr>
        <p:spPr>
          <a:xfrm>
            <a:off x="263352" y="908720"/>
            <a:ext cx="10515600" cy="208823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dirty="0"/>
              <a:t>大型企业网络</a:t>
            </a:r>
          </a:p>
          <a:p>
            <a:pPr lvl="1" eaLnBrk="1" hangingPunct="1"/>
            <a:r>
              <a:rPr lang="en-US" altLang="zh-CN" dirty="0"/>
              <a:t>往往以企业总部为中心。</a:t>
            </a:r>
          </a:p>
          <a:p>
            <a:pPr lvl="1" eaLnBrk="1" hangingPunct="1"/>
            <a:r>
              <a:rPr lang="en-US" altLang="zh-CN" dirty="0"/>
              <a:t>总部使用高端路由器并做冗余备份。</a:t>
            </a:r>
          </a:p>
          <a:p>
            <a:pPr lvl="1" eaLnBrk="1" hangingPunct="1"/>
            <a:r>
              <a:rPr lang="en-US" altLang="zh-CN" dirty="0"/>
              <a:t>分支机构采用中低端路由器做接入。</a:t>
            </a:r>
          </a:p>
          <a:p>
            <a:pPr lvl="1" eaLnBrk="1" hangingPunct="1"/>
            <a:r>
              <a:rPr lang="en-US" altLang="zh-CN" dirty="0"/>
              <a:t>线路采用租用专线，也可采用VPN</a:t>
            </a:r>
            <a:r>
              <a:rPr lang="zh-CN" altLang="en-US" dirty="0"/>
              <a:t>。</a:t>
            </a:r>
          </a:p>
        </p:txBody>
      </p:sp>
      <p:sp>
        <p:nvSpPr>
          <p:cNvPr id="1048714" name="Rectangle 2"/>
          <p:cNvSpPr>
            <a:spLocks noGrp="1"/>
          </p:cNvSpPr>
          <p:nvPr>
            <p:ph type="title"/>
          </p:nvPr>
        </p:nvSpPr>
        <p:spPr>
          <a:xfrm>
            <a:off x="119336" y="152400"/>
            <a:ext cx="10515600" cy="54610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097159" name="图片 2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15680" y="3068960"/>
            <a:ext cx="5953125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Rectangle 3"/>
          <p:cNvSpPr>
            <a:spLocks noGrp="1"/>
          </p:cNvSpPr>
          <p:nvPr>
            <p:ph idx="1"/>
          </p:nvPr>
        </p:nvSpPr>
        <p:spPr>
          <a:xfrm>
            <a:off x="623392" y="90872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3.  </a:t>
            </a:r>
            <a:r>
              <a:rPr lang="zh-CN" altLang="en-US" dirty="0">
                <a:solidFill>
                  <a:srgbClr val="000099"/>
                </a:solidFill>
              </a:rPr>
              <a:t>行业用户</a:t>
            </a:r>
          </a:p>
          <a:p>
            <a:pPr lvl="0" eaLnBrk="1" hangingPunct="1"/>
            <a:r>
              <a:rPr lang="zh-CN" altLang="en-US" dirty="0"/>
              <a:t>电信行业网络</a:t>
            </a:r>
          </a:p>
          <a:p>
            <a:pPr lvl="1" eaLnBrk="1" hangingPunct="1"/>
            <a:r>
              <a:rPr lang="en-US" altLang="zh-CN" dirty="0" err="1"/>
              <a:t>拥有庞大的接入网、传输网、交换网等</a:t>
            </a:r>
            <a:r>
              <a:rPr lang="en-US" altLang="zh-CN" dirty="0"/>
              <a:t>。</a:t>
            </a:r>
          </a:p>
          <a:p>
            <a:pPr lvl="1" eaLnBrk="1" hangingPunct="1"/>
            <a:r>
              <a:rPr lang="en-US" altLang="zh-CN" dirty="0" err="1"/>
              <a:t>业务类型多，如数据、话音、视频等业务</a:t>
            </a:r>
            <a:r>
              <a:rPr lang="en-US" altLang="zh-CN" dirty="0"/>
              <a:t>。</a:t>
            </a:r>
          </a:p>
          <a:p>
            <a:pPr lvl="1" eaLnBrk="1" hangingPunct="1"/>
            <a:r>
              <a:rPr lang="en-US" altLang="zh-CN" dirty="0" err="1"/>
              <a:t>网络类型复杂，如SDH</a:t>
            </a:r>
            <a:r>
              <a:rPr lang="zh-CN" altLang="en-US" dirty="0"/>
              <a:t>、</a:t>
            </a:r>
            <a:r>
              <a:rPr lang="en-US" altLang="zh-CN" dirty="0"/>
              <a:t>DDN</a:t>
            </a:r>
            <a:r>
              <a:rPr lang="zh-CN" altLang="en-US" dirty="0"/>
              <a:t>、</a:t>
            </a:r>
            <a:r>
              <a:rPr lang="en-US" altLang="zh-CN" dirty="0"/>
              <a:t>Ethernet</a:t>
            </a:r>
            <a:r>
              <a:rPr lang="zh-CN" altLang="en-US" dirty="0"/>
              <a:t>等。</a:t>
            </a:r>
          </a:p>
          <a:p>
            <a:pPr lvl="1" eaLnBrk="1" hangingPunct="1"/>
            <a:r>
              <a:rPr lang="zh-CN" altLang="en-US" dirty="0"/>
              <a:t>交换技术多样化，如电路交换、分组交换等。</a:t>
            </a:r>
          </a:p>
          <a:p>
            <a:pPr lvl="1" eaLnBrk="1" hangingPunct="1"/>
            <a:r>
              <a:rPr lang="zh-CN" altLang="en-US" dirty="0"/>
              <a:t>应考虑原有网络与新建网络的互联性。</a:t>
            </a:r>
          </a:p>
          <a:p>
            <a:pPr lvl="1" eaLnBrk="1" hangingPunct="1"/>
            <a:r>
              <a:rPr lang="zh-CN" altLang="en-US" dirty="0"/>
              <a:t>网络设备要求支持多业务，以及较强的</a:t>
            </a:r>
            <a:r>
              <a:rPr lang="en-US" altLang="zh-CN" dirty="0"/>
              <a:t>QoS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zh-CN" altLang="en-US" dirty="0"/>
              <a:t>主干链路一般采用</a:t>
            </a:r>
            <a:r>
              <a:rPr lang="en-US" altLang="zh-CN" dirty="0"/>
              <a:t>SDH</a:t>
            </a:r>
            <a:r>
              <a:rPr lang="zh-CN" altLang="en-US" dirty="0"/>
              <a:t>、</a:t>
            </a:r>
            <a:r>
              <a:rPr lang="en-US" altLang="zh-CN" dirty="0"/>
              <a:t>DWDM</a:t>
            </a:r>
            <a:r>
              <a:rPr lang="zh-CN" altLang="en-US" dirty="0"/>
              <a:t>技术。</a:t>
            </a:r>
          </a:p>
          <a:p>
            <a:pPr lvl="1" eaLnBrk="1" hangingPunct="1"/>
            <a:r>
              <a:rPr lang="zh-CN" altLang="en-US" dirty="0"/>
              <a:t>网络设备要有较高的性能和可靠性。</a:t>
            </a:r>
          </a:p>
        </p:txBody>
      </p:sp>
      <p:sp>
        <p:nvSpPr>
          <p:cNvPr id="1048719" name="Rectangle 2"/>
          <p:cNvSpPr>
            <a:spLocks noGrp="1"/>
          </p:cNvSpPr>
          <p:nvPr>
            <p:ph type="title"/>
          </p:nvPr>
        </p:nvSpPr>
        <p:spPr>
          <a:xfrm>
            <a:off x="47328" y="258320"/>
            <a:ext cx="10515600" cy="42193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Rectangle 3"/>
          <p:cNvSpPr>
            <a:spLocks noGrp="1"/>
          </p:cNvSpPr>
          <p:nvPr>
            <p:ph idx="1"/>
          </p:nvPr>
        </p:nvSpPr>
        <p:spPr>
          <a:xfrm>
            <a:off x="263352" y="78942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dirty="0"/>
              <a:t>电信行业网络</a:t>
            </a:r>
          </a:p>
        </p:txBody>
      </p:sp>
      <p:sp>
        <p:nvSpPr>
          <p:cNvPr id="1048724" name="Rectangle 2"/>
          <p:cNvSpPr>
            <a:spLocks noGrp="1"/>
          </p:cNvSpPr>
          <p:nvPr>
            <p:ph type="title"/>
          </p:nvPr>
        </p:nvSpPr>
        <p:spPr>
          <a:xfrm>
            <a:off x="46037" y="192085"/>
            <a:ext cx="10515600" cy="52070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097160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770437" y="784226"/>
            <a:ext cx="5791200" cy="60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Rectangle 3"/>
          <p:cNvSpPr>
            <a:spLocks noGrp="1"/>
          </p:cNvSpPr>
          <p:nvPr>
            <p:ph idx="1"/>
          </p:nvPr>
        </p:nvSpPr>
        <p:spPr>
          <a:xfrm>
            <a:off x="623392" y="908720"/>
            <a:ext cx="10515600" cy="216024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en-US" altLang="zh-CN" dirty="0"/>
              <a:t>ISP</a:t>
            </a:r>
            <a:r>
              <a:rPr lang="zh-CN" altLang="en-US" dirty="0"/>
              <a:t>行业网络</a:t>
            </a:r>
          </a:p>
          <a:p>
            <a:pPr lvl="1" eaLnBrk="1" hangingPunct="1"/>
            <a:r>
              <a:rPr lang="en-US" altLang="zh-CN" dirty="0" err="1"/>
              <a:t>有统一IP</a:t>
            </a:r>
            <a:r>
              <a:rPr lang="zh-CN" altLang="en-US" dirty="0"/>
              <a:t>平台需求。</a:t>
            </a:r>
          </a:p>
          <a:p>
            <a:pPr lvl="1" eaLnBrk="1" hangingPunct="1"/>
            <a:r>
              <a:rPr lang="zh-CN" altLang="en-US" dirty="0"/>
              <a:t>对网络设计要求提供多种业务。</a:t>
            </a:r>
          </a:p>
          <a:p>
            <a:pPr lvl="1" eaLnBrk="1" hangingPunct="1"/>
            <a:r>
              <a:rPr lang="zh-CN" altLang="en-US" dirty="0"/>
              <a:t>要求良好的</a:t>
            </a:r>
            <a:r>
              <a:rPr lang="en-US" altLang="zh-CN" dirty="0"/>
              <a:t>QoS</a:t>
            </a:r>
            <a:r>
              <a:rPr lang="zh-CN" altLang="en-US" dirty="0"/>
              <a:t>保障能力。</a:t>
            </a:r>
          </a:p>
          <a:p>
            <a:pPr lvl="1" eaLnBrk="1" hangingPunct="1"/>
            <a:r>
              <a:rPr lang="zh-CN" altLang="en-US" dirty="0"/>
              <a:t>多种接入方式。</a:t>
            </a:r>
          </a:p>
        </p:txBody>
      </p:sp>
      <p:sp>
        <p:nvSpPr>
          <p:cNvPr id="1048729" name="Rectangle 2"/>
          <p:cNvSpPr>
            <a:spLocks noGrp="1"/>
          </p:cNvSpPr>
          <p:nvPr>
            <p:ph type="title"/>
          </p:nvPr>
        </p:nvSpPr>
        <p:spPr>
          <a:xfrm>
            <a:off x="23901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B2893D9-3515-49C1-9F34-114EAD38B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944" y="1772816"/>
            <a:ext cx="6353175" cy="4762500"/>
          </a:xfrm>
          <a:prstGeom prst="rect">
            <a:avLst/>
          </a:prstGeom>
        </p:spPr>
      </p:pic>
    </p:spTree>
  </p:cSld>
  <p:clrMapOvr>
    <a:masterClrMapping/>
  </p:clrMapOvr>
  <p:transition spd="slow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Rectangle 3"/>
          <p:cNvSpPr>
            <a:spLocks noGrp="1"/>
          </p:cNvSpPr>
          <p:nvPr>
            <p:ph idx="1"/>
          </p:nvPr>
        </p:nvSpPr>
        <p:spPr>
          <a:xfrm>
            <a:off x="695400" y="92789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dirty="0"/>
              <a:t>银行行业网络</a:t>
            </a:r>
          </a:p>
          <a:p>
            <a:pPr lvl="1" eaLnBrk="1" hangingPunct="1"/>
            <a:r>
              <a:rPr lang="zh-CN" altLang="en-US" dirty="0"/>
              <a:t>对网络的稳定性和响应时间有较高要求。</a:t>
            </a:r>
          </a:p>
          <a:p>
            <a:pPr lvl="1" eaLnBrk="1" hangingPunct="1"/>
            <a:r>
              <a:rPr lang="zh-CN" altLang="en-US" dirty="0"/>
              <a:t>银行网络对数据可靠性要求高。</a:t>
            </a:r>
          </a:p>
          <a:p>
            <a:pPr lvl="1" eaLnBrk="1" hangingPunct="1"/>
            <a:r>
              <a:rPr lang="zh-CN" altLang="en-US" dirty="0"/>
              <a:t>银行系统对网络安全性要求较高。</a:t>
            </a:r>
          </a:p>
        </p:txBody>
      </p:sp>
      <p:sp>
        <p:nvSpPr>
          <p:cNvPr id="1048734" name="Rectangle 2"/>
          <p:cNvSpPr>
            <a:spLocks noGrp="1"/>
          </p:cNvSpPr>
          <p:nvPr>
            <p:ph type="title"/>
          </p:nvPr>
        </p:nvSpPr>
        <p:spPr>
          <a:xfrm>
            <a:off x="0" y="142308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097162" name="图片 2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33028" y="2154634"/>
            <a:ext cx="5738812" cy="37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Rectangle 3"/>
          <p:cNvSpPr>
            <a:spLocks noGrp="1"/>
          </p:cNvSpPr>
          <p:nvPr>
            <p:ph idx="1"/>
          </p:nvPr>
        </p:nvSpPr>
        <p:spPr>
          <a:xfrm>
            <a:off x="263352" y="836712"/>
            <a:ext cx="10515600" cy="208823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dirty="0"/>
              <a:t>教育行业网络</a:t>
            </a:r>
          </a:p>
          <a:p>
            <a:pPr lvl="1" eaLnBrk="1" hangingPunct="1"/>
            <a:r>
              <a:rPr lang="zh-CN" altLang="en-US" dirty="0"/>
              <a:t>对数据可靠性要求较低，但对带宽要求较高。</a:t>
            </a:r>
          </a:p>
          <a:p>
            <a:pPr lvl="1" eaLnBrk="1" hangingPunct="1"/>
            <a:r>
              <a:rPr lang="zh-CN" altLang="en-US" dirty="0"/>
              <a:t>大型校园网往往为三层网络结构。</a:t>
            </a:r>
          </a:p>
          <a:p>
            <a:pPr lvl="1" eaLnBrk="1" hangingPunct="1"/>
            <a:r>
              <a:rPr lang="zh-CN" altLang="en-US" dirty="0"/>
              <a:t>网络外部一般采用双出口。</a:t>
            </a:r>
          </a:p>
          <a:p>
            <a:pPr lvl="1" eaLnBrk="1" hangingPunct="1"/>
            <a:r>
              <a:rPr lang="zh-CN" altLang="en-US" dirty="0"/>
              <a:t>往往采用宽带以太网技术。</a:t>
            </a:r>
          </a:p>
        </p:txBody>
      </p:sp>
      <p:sp>
        <p:nvSpPr>
          <p:cNvPr id="1048739" name="Rectangle 2"/>
          <p:cNvSpPr>
            <a:spLocks noGrp="1"/>
          </p:cNvSpPr>
          <p:nvPr>
            <p:ph type="title"/>
          </p:nvPr>
        </p:nvSpPr>
        <p:spPr>
          <a:xfrm>
            <a:off x="47328" y="115090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097163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638800" y="3140968"/>
            <a:ext cx="655320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09500B2-3EBF-44BD-9559-33014FD50E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60" y="2714099"/>
            <a:ext cx="5553097" cy="4111338"/>
          </a:xfrm>
          <a:prstGeom prst="rect">
            <a:avLst/>
          </a:prstGeom>
        </p:spPr>
      </p:pic>
    </p:spTree>
  </p:cSld>
  <p:clrMapOvr>
    <a:masterClrMapping/>
  </p:clrMapOvr>
  <p:transition spd="slow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Rectangle 3"/>
          <p:cNvSpPr>
            <a:spLocks noGrp="1"/>
          </p:cNvSpPr>
          <p:nvPr>
            <p:ph idx="1"/>
          </p:nvPr>
        </p:nvSpPr>
        <p:spPr>
          <a:xfrm>
            <a:off x="551384" y="8367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2.2.2  </a:t>
            </a:r>
            <a:r>
              <a:rPr lang="zh-CN" altLang="en-US" sz="3200" dirty="0"/>
              <a:t>网络功能需求分析</a:t>
            </a:r>
          </a:p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1</a:t>
            </a:r>
            <a:r>
              <a:rPr lang="zh-CN" altLang="en-US" dirty="0">
                <a:solidFill>
                  <a:srgbClr val="000099"/>
                </a:solidFill>
              </a:rPr>
              <a:t>．因特网功能</a:t>
            </a:r>
          </a:p>
          <a:p>
            <a:pPr lvl="1" eaLnBrk="1" hangingPunct="1"/>
            <a:r>
              <a:rPr lang="en-US" altLang="zh-CN" dirty="0" err="1"/>
              <a:t>域名系统（DNS</a:t>
            </a:r>
            <a:r>
              <a:rPr lang="zh-CN" altLang="en-US" dirty="0"/>
              <a:t>）：</a:t>
            </a:r>
          </a:p>
          <a:p>
            <a:pPr lvl="1" eaLnBrk="1" hangingPunct="1"/>
            <a:r>
              <a:rPr lang="zh-CN" altLang="en-US" dirty="0"/>
              <a:t>网页浏览（</a:t>
            </a:r>
            <a:r>
              <a:rPr lang="en-US" altLang="zh-CN" dirty="0"/>
              <a:t>Web</a:t>
            </a:r>
            <a:r>
              <a:rPr lang="zh-CN" altLang="en-US" dirty="0"/>
              <a:t>）：占上网人数的</a:t>
            </a:r>
            <a:r>
              <a:rPr lang="en-US" altLang="zh-CN" dirty="0"/>
              <a:t>81%</a:t>
            </a:r>
            <a:r>
              <a:rPr lang="zh-CN" altLang="en-US" dirty="0"/>
              <a:t>（</a:t>
            </a:r>
            <a:r>
              <a:rPr lang="en-US" altLang="zh-CN" dirty="0"/>
              <a:t>2010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邮件收发（</a:t>
            </a:r>
            <a:r>
              <a:rPr lang="en-US" altLang="zh-CN" dirty="0"/>
              <a:t>Email</a:t>
            </a:r>
            <a:r>
              <a:rPr lang="zh-CN" altLang="en-US" dirty="0"/>
              <a:t>）：占上网人数的</a:t>
            </a:r>
            <a:r>
              <a:rPr lang="en-US" altLang="zh-CN" dirty="0"/>
              <a:t>56%</a:t>
            </a:r>
          </a:p>
          <a:p>
            <a:pPr lvl="1" eaLnBrk="1" hangingPunct="1"/>
            <a:r>
              <a:rPr lang="zh-CN" altLang="en-US" dirty="0"/>
              <a:t>文件传输（</a:t>
            </a:r>
            <a:r>
              <a:rPr lang="en-US" altLang="zh-CN" dirty="0"/>
              <a:t>FTP</a:t>
            </a:r>
            <a:r>
              <a:rPr lang="zh-CN" altLang="en-US" dirty="0"/>
              <a:t>）：</a:t>
            </a:r>
          </a:p>
          <a:p>
            <a:pPr lvl="1" eaLnBrk="1" hangingPunct="1"/>
            <a:r>
              <a:rPr lang="zh-CN" altLang="en-US" dirty="0"/>
              <a:t>网络论坛（</a:t>
            </a:r>
            <a:r>
              <a:rPr lang="en-US" altLang="zh-CN" dirty="0"/>
              <a:t>BBS</a:t>
            </a:r>
            <a:r>
              <a:rPr lang="zh-CN" altLang="en-US" dirty="0"/>
              <a:t>）：占上网人数的</a:t>
            </a:r>
            <a:r>
              <a:rPr lang="en-US" altLang="zh-CN" dirty="0"/>
              <a:t>30%</a:t>
            </a:r>
          </a:p>
          <a:p>
            <a:pPr lvl="1" eaLnBrk="1" hangingPunct="1"/>
            <a:r>
              <a:rPr lang="zh-CN" altLang="en-US" dirty="0"/>
              <a:t>网络聊天（</a:t>
            </a:r>
            <a:r>
              <a:rPr lang="en-US" altLang="zh-CN" dirty="0"/>
              <a:t>IM</a:t>
            </a:r>
            <a:r>
              <a:rPr lang="zh-CN" altLang="en-US" dirty="0"/>
              <a:t>）：占上网人数的</a:t>
            </a:r>
            <a:r>
              <a:rPr lang="en-US" altLang="zh-CN" dirty="0"/>
              <a:t>71%</a:t>
            </a:r>
          </a:p>
          <a:p>
            <a:pPr lvl="1" eaLnBrk="1" hangingPunct="1"/>
            <a:r>
              <a:rPr lang="zh-CN" altLang="en-US" dirty="0"/>
              <a:t>视频点播（</a:t>
            </a:r>
            <a:r>
              <a:rPr lang="en-US" altLang="zh-CN" dirty="0"/>
              <a:t>VOD</a:t>
            </a:r>
            <a:r>
              <a:rPr lang="zh-CN" altLang="en-US" dirty="0"/>
              <a:t>）：占上网人数的</a:t>
            </a:r>
            <a:r>
              <a:rPr lang="en-US" altLang="zh-CN" dirty="0"/>
              <a:t>62%</a:t>
            </a:r>
          </a:p>
          <a:p>
            <a:pPr lvl="0" eaLnBrk="1" hangingPunct="1"/>
            <a:endParaRPr lang="zh-CN" altLang="en-US" b="0" dirty="0"/>
          </a:p>
          <a:p>
            <a:pPr lvl="0" eaLnBrk="1" hangingPunct="1"/>
            <a:r>
              <a:rPr lang="zh-CN" altLang="en-US" b="0" dirty="0"/>
              <a:t>四大基本服务：</a:t>
            </a:r>
            <a:r>
              <a:rPr lang="en-US" altLang="zh-CN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DNS</a:t>
            </a:r>
            <a:r>
              <a:rPr lang="zh-CN" altLang="en-US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Web</a:t>
            </a:r>
            <a:r>
              <a:rPr lang="zh-CN" altLang="en-US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Email</a:t>
            </a:r>
            <a:r>
              <a:rPr lang="zh-CN" altLang="en-US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FTP</a:t>
            </a:r>
            <a:r>
              <a:rPr lang="zh-CN" altLang="en-US" dirty="0"/>
              <a:t>。</a:t>
            </a:r>
          </a:p>
        </p:txBody>
      </p:sp>
      <p:sp>
        <p:nvSpPr>
          <p:cNvPr id="1048744" name="Rectangle 2"/>
          <p:cNvSpPr>
            <a:spLocks noGrp="1"/>
          </p:cNvSpPr>
          <p:nvPr>
            <p:ph type="title"/>
          </p:nvPr>
        </p:nvSpPr>
        <p:spPr>
          <a:xfrm>
            <a:off x="0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Rectangle 3"/>
          <p:cNvSpPr>
            <a:spLocks noGrp="1"/>
          </p:cNvSpPr>
          <p:nvPr>
            <p:ph idx="1"/>
          </p:nvPr>
        </p:nvSpPr>
        <p:spPr>
          <a:xfrm>
            <a:off x="551384" y="8367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>
                <a:solidFill>
                  <a:srgbClr val="000099"/>
                </a:solidFill>
              </a:rPr>
              <a:t>2.  </a:t>
            </a:r>
            <a:r>
              <a:rPr lang="zh-CN" altLang="en-US">
                <a:solidFill>
                  <a:srgbClr val="000099"/>
                </a:solidFill>
              </a:rPr>
              <a:t>内部网（</a:t>
            </a:r>
            <a:r>
              <a:rPr lang="en-US" altLang="zh-CN">
                <a:solidFill>
                  <a:srgbClr val="000099"/>
                </a:solidFill>
              </a:rPr>
              <a:t>Intranet</a:t>
            </a:r>
            <a:r>
              <a:rPr lang="zh-CN" altLang="en-US">
                <a:solidFill>
                  <a:srgbClr val="000099"/>
                </a:solidFill>
              </a:rPr>
              <a:t>）功能</a:t>
            </a:r>
          </a:p>
          <a:p>
            <a:pPr lvl="1" eaLnBrk="1" hangingPunct="1"/>
            <a:r>
              <a:rPr lang="zh-CN" altLang="en-US" sz="2800" b="0"/>
              <a:t>资源共享</a:t>
            </a:r>
          </a:p>
          <a:p>
            <a:pPr lvl="1" eaLnBrk="1" hangingPunct="1"/>
            <a:r>
              <a:rPr lang="zh-CN" altLang="en-US" sz="2800" b="0"/>
              <a:t>数据管理</a:t>
            </a:r>
          </a:p>
          <a:p>
            <a:pPr lvl="1" eaLnBrk="1" hangingPunct="1"/>
            <a:r>
              <a:rPr lang="zh-CN" altLang="en-US" sz="2800" b="0"/>
              <a:t>文件管理</a:t>
            </a:r>
          </a:p>
          <a:p>
            <a:pPr lvl="1" eaLnBrk="1" hangingPunct="1"/>
            <a:r>
              <a:rPr lang="zh-CN" altLang="en-US" sz="2800" b="0"/>
              <a:t>信息发布</a:t>
            </a:r>
          </a:p>
          <a:p>
            <a:pPr lvl="1" eaLnBrk="1" hangingPunct="1"/>
            <a:r>
              <a:rPr lang="zh-CN" altLang="en-US" sz="2800" b="0"/>
              <a:t>协同工作</a:t>
            </a:r>
          </a:p>
          <a:p>
            <a:pPr lvl="1" eaLnBrk="1" hangingPunct="1"/>
            <a:r>
              <a:rPr lang="en-US" altLang="zh-CN" b="0"/>
              <a:t>OA</a:t>
            </a:r>
            <a:r>
              <a:rPr lang="zh-CN" altLang="en-US" b="0"/>
              <a:t>系统</a:t>
            </a:r>
          </a:p>
        </p:txBody>
      </p:sp>
      <p:sp>
        <p:nvSpPr>
          <p:cNvPr id="1048749" name="Rectangle 2"/>
          <p:cNvSpPr>
            <a:spLocks noGrp="1"/>
          </p:cNvSpPr>
          <p:nvPr>
            <p:ph type="title"/>
          </p:nvPr>
        </p:nvSpPr>
        <p:spPr>
          <a:xfrm>
            <a:off x="47328" y="165331"/>
            <a:ext cx="10515600" cy="49393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sp>
        <p:nvSpPr>
          <p:cNvPr id="1048751" name="Rectangle 4"/>
          <p:cNvSpPr/>
          <p:nvPr/>
        </p:nvSpPr>
        <p:spPr>
          <a:xfrm>
            <a:off x="5304359" y="855763"/>
            <a:ext cx="4572000" cy="23760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1" eaLnBrk="1" hangingPunct="1">
              <a:lnSpc>
                <a:spcPct val="90000"/>
              </a:lnSpc>
              <a:spcAft>
                <a:spcPct val="20000"/>
              </a:spcAft>
              <a:buFontTx/>
              <a:buChar char="–"/>
            </a:pPr>
            <a:r>
              <a:rPr lang="en-US" altLang="zh-CN" dirty="0">
                <a:solidFill>
                  <a:srgbClr val="A50021"/>
                </a:solidFill>
                <a:ea typeface="华文楷体" pitchFamily="2" charset="-122"/>
              </a:rPr>
              <a:t>MIS</a:t>
            </a:r>
            <a:r>
              <a:rPr lang="zh-CN" altLang="en-US" dirty="0">
                <a:solidFill>
                  <a:srgbClr val="A50021"/>
                </a:solidFill>
                <a:ea typeface="华文楷体" pitchFamily="2" charset="-122"/>
              </a:rPr>
              <a:t>系统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  <a:buFontTx/>
              <a:buChar char="–"/>
            </a:pPr>
            <a:r>
              <a:rPr lang="en-US" altLang="zh-CN" dirty="0">
                <a:solidFill>
                  <a:srgbClr val="A50021"/>
                </a:solidFill>
                <a:ea typeface="华文楷体" pitchFamily="2" charset="-122"/>
              </a:rPr>
              <a:t>ERP</a:t>
            </a:r>
            <a:r>
              <a:rPr lang="zh-CN" altLang="en-US" dirty="0">
                <a:solidFill>
                  <a:srgbClr val="A50021"/>
                </a:solidFill>
                <a:ea typeface="华文楷体" pitchFamily="2" charset="-122"/>
              </a:rPr>
              <a:t>系统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  <a:buFontTx/>
              <a:buChar char="–"/>
            </a:pPr>
            <a:r>
              <a:rPr lang="zh-CN" altLang="en-US" dirty="0">
                <a:solidFill>
                  <a:srgbClr val="A50021"/>
                </a:solidFill>
                <a:ea typeface="华文楷体" pitchFamily="2" charset="-122"/>
              </a:rPr>
              <a:t>一卡通系统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  <a:buFontTx/>
              <a:buChar char="–"/>
            </a:pPr>
            <a:r>
              <a:rPr lang="en-US" altLang="zh-CN" dirty="0">
                <a:solidFill>
                  <a:srgbClr val="A50021"/>
                </a:solidFill>
                <a:ea typeface="华文楷体" pitchFamily="2" charset="-122"/>
              </a:rPr>
              <a:t>CAD</a:t>
            </a:r>
            <a:r>
              <a:rPr lang="zh-CN" altLang="en-US" dirty="0">
                <a:solidFill>
                  <a:srgbClr val="A50021"/>
                </a:solidFill>
                <a:ea typeface="华文楷体" pitchFamily="2" charset="-122"/>
              </a:rPr>
              <a:t>系统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  <a:buFontTx/>
              <a:buChar char="–"/>
            </a:pPr>
            <a:r>
              <a:rPr lang="zh-CN" altLang="en-US" dirty="0">
                <a:solidFill>
                  <a:srgbClr val="A50021"/>
                </a:solidFill>
                <a:ea typeface="华文楷体" pitchFamily="2" charset="-122"/>
              </a:rPr>
              <a:t>视频监控</a:t>
            </a:r>
          </a:p>
        </p:txBody>
      </p:sp>
    </p:spTree>
  </p:cSld>
  <p:clrMapOvr>
    <a:masterClrMapping/>
  </p:clrMapOvr>
  <p:transition spd="slow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Rectangle 3"/>
          <p:cNvSpPr>
            <a:spLocks noGrp="1"/>
          </p:cNvSpPr>
          <p:nvPr>
            <p:ph idx="1"/>
          </p:nvPr>
        </p:nvSpPr>
        <p:spPr>
          <a:xfrm>
            <a:off x="623392" y="8367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2.2.3  </a:t>
            </a:r>
            <a:r>
              <a:rPr lang="zh-CN" altLang="en-US" sz="3200" dirty="0"/>
              <a:t>网络结构需求分析</a:t>
            </a:r>
          </a:p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1.  </a:t>
            </a:r>
            <a:r>
              <a:rPr lang="zh-CN" altLang="en-US" dirty="0">
                <a:solidFill>
                  <a:srgbClr val="000099"/>
                </a:solidFill>
              </a:rPr>
              <a:t>拓扑结构需求分析</a:t>
            </a:r>
          </a:p>
          <a:p>
            <a:pPr lvl="1" eaLnBrk="1" hangingPunct="1"/>
            <a:r>
              <a:rPr lang="zh-CN" altLang="en-US" sz="2800" b="0" dirty="0"/>
              <a:t>网络层数越多，建设和运维成本会越高。</a:t>
            </a:r>
          </a:p>
          <a:p>
            <a:pPr lvl="1" eaLnBrk="1" hangingPunct="1"/>
            <a:r>
              <a:rPr lang="zh-CN" altLang="en-US" sz="2800" b="0" dirty="0"/>
              <a:t>拓扑结构与网络类型：</a:t>
            </a:r>
          </a:p>
          <a:p>
            <a:pPr lvl="2" eaLnBrk="1" hangingPunct="1"/>
            <a:r>
              <a:rPr lang="zh-CN" altLang="en-US" dirty="0"/>
              <a:t>小型局域网一般采用星形拓扑结</a:t>
            </a:r>
          </a:p>
          <a:p>
            <a:pPr lvl="2" eaLnBrk="1" hangingPunct="1"/>
            <a:r>
              <a:rPr lang="zh-CN" altLang="en-US" dirty="0"/>
              <a:t>园区网一般采用树形结构加网状结构</a:t>
            </a:r>
          </a:p>
          <a:p>
            <a:pPr lvl="2" eaLnBrk="1" hangingPunct="1"/>
            <a:r>
              <a:rPr lang="zh-CN" altLang="en-US" dirty="0"/>
              <a:t>城域网一般采用环形、树形等结构</a:t>
            </a:r>
          </a:p>
          <a:p>
            <a:pPr lvl="1" eaLnBrk="1" hangingPunct="1"/>
            <a:r>
              <a:rPr lang="en-US" altLang="zh-CN" sz="2800" b="0" dirty="0" err="1"/>
              <a:t>是否需要采用VLAN</a:t>
            </a:r>
            <a:r>
              <a:rPr lang="zh-CN" altLang="en-US" sz="2800" b="0" dirty="0"/>
              <a:t>进行工作组划分。</a:t>
            </a:r>
          </a:p>
          <a:p>
            <a:pPr lvl="1" eaLnBrk="1" hangingPunct="1"/>
            <a:r>
              <a:rPr lang="zh-CN" altLang="en-US" sz="2800" b="0" dirty="0"/>
              <a:t>否需要采用无线通信。</a:t>
            </a:r>
          </a:p>
          <a:p>
            <a:pPr lvl="1" eaLnBrk="1" hangingPunct="1"/>
            <a:r>
              <a:rPr lang="zh-CN" altLang="en-US" sz="2800" b="0" dirty="0"/>
              <a:t>是否需要与其他远程网络互连。</a:t>
            </a:r>
          </a:p>
        </p:txBody>
      </p:sp>
      <p:sp>
        <p:nvSpPr>
          <p:cNvPr id="1048755" name="Rectangle 2"/>
          <p:cNvSpPr>
            <a:spLocks noGrp="1"/>
          </p:cNvSpPr>
          <p:nvPr>
            <p:ph type="title"/>
          </p:nvPr>
        </p:nvSpPr>
        <p:spPr>
          <a:xfrm>
            <a:off x="0" y="152400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Rectangle 3"/>
          <p:cNvSpPr>
            <a:spLocks noGrp="1"/>
          </p:cNvSpPr>
          <p:nvPr>
            <p:ph idx="1"/>
          </p:nvPr>
        </p:nvSpPr>
        <p:spPr>
          <a:xfrm>
            <a:off x="767408" y="980728"/>
            <a:ext cx="10515600" cy="309634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2.  </a:t>
            </a:r>
            <a:r>
              <a:rPr lang="zh-CN" altLang="en-US" dirty="0">
                <a:solidFill>
                  <a:srgbClr val="000099"/>
                </a:solidFill>
              </a:rPr>
              <a:t>网络节点需求分析</a:t>
            </a:r>
          </a:p>
          <a:p>
            <a:pPr lvl="1" eaLnBrk="1" hangingPunct="1"/>
            <a:r>
              <a:rPr lang="en-US" altLang="zh-CN" sz="2800" b="0" dirty="0" err="1"/>
              <a:t>网络节点位置的地理分布情况</a:t>
            </a:r>
            <a:endParaRPr lang="en-US" altLang="zh-CN" sz="2800" b="0" dirty="0"/>
          </a:p>
          <a:p>
            <a:pPr lvl="1" eaLnBrk="1" hangingPunct="1"/>
            <a:r>
              <a:rPr lang="en-US" altLang="zh-CN" sz="2800" b="0" dirty="0" err="1"/>
              <a:t>网络节点的设备处理能力是否满足要求</a:t>
            </a:r>
            <a:endParaRPr lang="en-US" altLang="zh-CN" sz="2800" b="0" dirty="0"/>
          </a:p>
          <a:p>
            <a:pPr lvl="1" eaLnBrk="1" hangingPunct="1"/>
            <a:r>
              <a:rPr lang="en-US" altLang="zh-CN" sz="2800" b="0" dirty="0" err="1"/>
              <a:t>终端设备（如PC</a:t>
            </a:r>
            <a:r>
              <a:rPr lang="zh-CN" altLang="en-US" sz="2800" b="0" dirty="0"/>
              <a:t>）的分布情况</a:t>
            </a:r>
          </a:p>
          <a:p>
            <a:pPr lvl="1" eaLnBrk="1" hangingPunct="1"/>
            <a:r>
              <a:rPr lang="zh-CN" altLang="en-US" sz="2800" b="0" dirty="0"/>
              <a:t>传输介质转接点的位置分布情况</a:t>
            </a:r>
          </a:p>
          <a:p>
            <a:pPr lvl="1" eaLnBrk="1" hangingPunct="1"/>
            <a:r>
              <a:rPr lang="zh-CN" altLang="en-US" sz="2800" b="0" dirty="0"/>
              <a:t>综合布线设备间的位置等</a:t>
            </a:r>
          </a:p>
        </p:txBody>
      </p:sp>
      <p:sp>
        <p:nvSpPr>
          <p:cNvPr id="1048760" name="Rectangle 2"/>
          <p:cNvSpPr>
            <a:spLocks noGrp="1"/>
          </p:cNvSpPr>
          <p:nvPr>
            <p:ph type="title"/>
          </p:nvPr>
        </p:nvSpPr>
        <p:spPr>
          <a:xfrm>
            <a:off x="0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CF48CAF-1371-4532-97F9-C188763A3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099" y="2348880"/>
            <a:ext cx="5686425" cy="4210050"/>
          </a:xfrm>
          <a:prstGeom prst="rect">
            <a:avLst/>
          </a:prstGeom>
        </p:spPr>
      </p:pic>
    </p:spTree>
  </p:cSld>
  <p:clrMapOvr>
    <a:masterClrMapping/>
  </p:clrMapOvr>
  <p:transition spd="slow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Rectangle 3"/>
          <p:cNvSpPr>
            <a:spLocks noGrp="1"/>
          </p:cNvSpPr>
          <p:nvPr>
            <p:ph idx="1"/>
          </p:nvPr>
        </p:nvSpPr>
        <p:spPr>
          <a:xfrm>
            <a:off x="335360" y="90872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3.  </a:t>
            </a:r>
            <a:r>
              <a:rPr lang="zh-CN" altLang="en-US" dirty="0">
                <a:solidFill>
                  <a:srgbClr val="000099"/>
                </a:solidFill>
              </a:rPr>
              <a:t>网络链路需求分析</a:t>
            </a:r>
          </a:p>
          <a:p>
            <a:pPr lvl="1" eaLnBrk="1" hangingPunct="1"/>
            <a:r>
              <a:rPr lang="zh-CN" altLang="en-US" sz="2800" b="0" dirty="0"/>
              <a:t>主干链路采用的传输介质</a:t>
            </a:r>
          </a:p>
          <a:p>
            <a:pPr lvl="1" eaLnBrk="1" hangingPunct="1"/>
            <a:r>
              <a:rPr lang="zh-CN" altLang="en-US" sz="2800" b="0" dirty="0"/>
              <a:t>主干链路最大连接距离是否满足要求</a:t>
            </a:r>
          </a:p>
          <a:p>
            <a:pPr lvl="1" eaLnBrk="1" hangingPunct="1"/>
            <a:r>
              <a:rPr lang="zh-CN" altLang="en-US" sz="2800" b="0" dirty="0"/>
              <a:t>无线通信时，对其设备有电磁干扰吗</a:t>
            </a:r>
          </a:p>
          <a:p>
            <a:pPr lvl="1" eaLnBrk="1" hangingPunct="1"/>
            <a:r>
              <a:rPr lang="zh-CN" altLang="en-US" sz="2800" b="0" dirty="0"/>
              <a:t>设备间的位置、电源、干扰、接地等</a:t>
            </a:r>
          </a:p>
          <a:p>
            <a:pPr lvl="1" eaLnBrk="1" hangingPunct="1"/>
            <a:r>
              <a:rPr lang="zh-CN" altLang="en-US" sz="2800" b="0" dirty="0"/>
              <a:t>网络链路的维护管理是否方便</a:t>
            </a:r>
          </a:p>
        </p:txBody>
      </p:sp>
      <p:sp>
        <p:nvSpPr>
          <p:cNvPr id="1048765" name="Rectangle 2"/>
          <p:cNvSpPr>
            <a:spLocks noGrp="1"/>
          </p:cNvSpPr>
          <p:nvPr>
            <p:ph type="title"/>
          </p:nvPr>
        </p:nvSpPr>
        <p:spPr>
          <a:xfrm>
            <a:off x="0" y="147861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097164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703512" y="3861048"/>
            <a:ext cx="8893175" cy="1960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Rectangle 3"/>
          <p:cNvSpPr>
            <a:spLocks noGrp="1"/>
          </p:cNvSpPr>
          <p:nvPr>
            <p:ph idx="1"/>
          </p:nvPr>
        </p:nvSpPr>
        <p:spPr>
          <a:xfrm>
            <a:off x="695400" y="8982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5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5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5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b="0" dirty="0"/>
              <a:t>[</a:t>
            </a:r>
            <a:r>
              <a:rPr lang="zh-CN" altLang="en-US" b="0" dirty="0"/>
              <a:t>案例</a:t>
            </a:r>
            <a:r>
              <a:rPr lang="en-US" altLang="zh-CN" b="0" dirty="0"/>
              <a:t>] </a:t>
            </a:r>
            <a:r>
              <a:rPr lang="zh-CN" altLang="en-US" b="0" dirty="0"/>
              <a:t>对多种网络技术的评估</a:t>
            </a:r>
          </a:p>
        </p:txBody>
      </p:sp>
      <p:sp>
        <p:nvSpPr>
          <p:cNvPr id="1048770" name="Rectangle 2"/>
          <p:cNvSpPr>
            <a:spLocks noGrp="1"/>
          </p:cNvSpPr>
          <p:nvPr>
            <p:ph type="title"/>
          </p:nvPr>
        </p:nvSpPr>
        <p:spPr>
          <a:xfrm>
            <a:off x="0" y="116632"/>
            <a:ext cx="10515600" cy="7099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  <p:pic>
        <p:nvPicPr>
          <p:cNvPr id="2097165" name="Picture 4" descr="WL28"/>
          <p:cNvPicPr>
            <a:picLocks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245466" y="1484784"/>
            <a:ext cx="8424862" cy="3976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Rectangle 3"/>
          <p:cNvSpPr>
            <a:spLocks noGrp="1"/>
          </p:cNvSpPr>
          <p:nvPr>
            <p:ph idx="1"/>
          </p:nvPr>
        </p:nvSpPr>
        <p:spPr>
          <a:xfrm>
            <a:off x="623392" y="8367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2.2.4  </a:t>
            </a:r>
            <a:r>
              <a:rPr lang="zh-CN" altLang="en-US" sz="3200" dirty="0"/>
              <a:t>网络约束条件分析</a:t>
            </a:r>
          </a:p>
          <a:p>
            <a:pPr lvl="0" eaLnBrk="1" hangingPunct="1"/>
            <a:r>
              <a:rPr lang="en-US" altLang="zh-CN" b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任何资本的投入都期望得到回报</a:t>
            </a:r>
            <a:r>
              <a:rPr lang="en-US" altLang="zh-CN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lvl="0" eaLnBrk="1" hangingPunct="1"/>
            <a:endParaRPr lang="zh-CN" altLang="en-US" b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0" eaLnBrk="1" hangingPunct="1"/>
            <a:r>
              <a:rPr lang="en-US" altLang="zh-CN" b="0" dirty="0"/>
              <a:t>网络系统生命周期中，前期网络工程费用占30%</a:t>
            </a:r>
            <a:r>
              <a:rPr lang="zh-CN" altLang="en-US" b="0" dirty="0"/>
              <a:t>左右，大部分费用发生在网络运行管理和维护中。</a:t>
            </a:r>
          </a:p>
          <a:p>
            <a:pPr lvl="0" eaLnBrk="1" hangingPunct="1">
              <a:buFontTx/>
              <a:buNone/>
            </a:pPr>
            <a:endParaRPr lang="zh-CN" altLang="en-US" b="0" dirty="0"/>
          </a:p>
          <a:p>
            <a:pPr lvl="0" eaLnBrk="1" hangingPunct="1"/>
            <a:r>
              <a:rPr lang="zh-CN" altLang="en-US" b="0" dirty="0"/>
              <a:t>网络系统的收益类型</a:t>
            </a:r>
            <a:r>
              <a:rPr lang="zh-CN" altLang="en-US" dirty="0"/>
              <a:t>：</a:t>
            </a:r>
          </a:p>
          <a:p>
            <a:pPr lvl="1" eaLnBrk="1" hangingPunct="1"/>
            <a:r>
              <a:rPr lang="zh-CN" altLang="en-US" sz="2800" b="0" dirty="0"/>
              <a:t>一次性收益。</a:t>
            </a:r>
          </a:p>
          <a:p>
            <a:pPr lvl="1" eaLnBrk="1" hangingPunct="1"/>
            <a:r>
              <a:rPr lang="zh-CN" altLang="en-US" sz="2800" b="0" dirty="0"/>
              <a:t>非一次性收益。</a:t>
            </a:r>
          </a:p>
          <a:p>
            <a:pPr lvl="1" eaLnBrk="1" hangingPunct="1"/>
            <a:r>
              <a:rPr lang="zh-CN" altLang="en-US" sz="2800" b="0" dirty="0"/>
              <a:t>不可定量的收益。</a:t>
            </a:r>
          </a:p>
        </p:txBody>
      </p:sp>
      <p:sp>
        <p:nvSpPr>
          <p:cNvPr id="1048775" name="Rectangle 2"/>
          <p:cNvSpPr>
            <a:spLocks noGrp="1"/>
          </p:cNvSpPr>
          <p:nvPr>
            <p:ph type="title"/>
          </p:nvPr>
        </p:nvSpPr>
        <p:spPr>
          <a:xfrm>
            <a:off x="47328" y="116632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2.2  </a:t>
            </a:r>
            <a:r>
              <a:rPr lang="zh-CN" altLang="en-US" dirty="0">
                <a:solidFill>
                  <a:schemeClr val="bg1"/>
                </a:solidFill>
              </a:rPr>
              <a:t>基本要求需求分析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CD748BD9-D565-486C-98D2-FADC8597EEA7}"/>
              </a:ext>
            </a:extLst>
          </p:cNvPr>
          <p:cNvGrpSpPr/>
          <p:nvPr/>
        </p:nvGrpSpPr>
        <p:grpSpPr>
          <a:xfrm>
            <a:off x="279471" y="2164991"/>
            <a:ext cx="2960721" cy="2350284"/>
            <a:chOff x="400216" y="1425650"/>
            <a:chExt cx="3711212" cy="2882853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1077B62-17CF-4B61-B4F9-BDB0314C4782}"/>
                </a:ext>
              </a:extLst>
            </p:cNvPr>
            <p:cNvGrpSpPr/>
            <p:nvPr/>
          </p:nvGrpSpPr>
          <p:grpSpPr>
            <a:xfrm>
              <a:off x="400216" y="1425650"/>
              <a:ext cx="3711212" cy="2882853"/>
              <a:chOff x="445935" y="809294"/>
              <a:chExt cx="6990119" cy="5470972"/>
            </a:xfrm>
          </p:grpSpPr>
          <p:sp>
            <p:nvSpPr>
              <p:cNvPr id="18" name="íśļïḋé">
                <a:extLst>
                  <a:ext uri="{FF2B5EF4-FFF2-40B4-BE49-F238E27FC236}">
                    <a16:creationId xmlns:a16="http://schemas.microsoft.com/office/drawing/2014/main" id="{976C2238-92B1-43CC-8A8D-718726B4C86F}"/>
                  </a:ext>
                </a:extLst>
              </p:cNvPr>
              <p:cNvSpPr/>
              <p:nvPr/>
            </p:nvSpPr>
            <p:spPr bwMode="auto">
              <a:xfrm rot="12330823">
                <a:off x="1684541" y="809294"/>
                <a:ext cx="5751513" cy="2876549"/>
              </a:xfrm>
              <a:custGeom>
                <a:avLst/>
                <a:gdLst>
                  <a:gd name="connsiteX0" fmla="*/ 842247 w 5751228"/>
                  <a:gd name="connsiteY0" fmla="*/ 2033366 h 2875614"/>
                  <a:gd name="connsiteX1" fmla="*/ 0 w 5751228"/>
                  <a:gd name="connsiteY1" fmla="*/ 0 h 2875614"/>
                  <a:gd name="connsiteX2" fmla="*/ 408346 w 5751228"/>
                  <a:gd name="connsiteY2" fmla="*/ 0 h 2875614"/>
                  <a:gd name="connsiteX3" fmla="*/ 407043 w 5751228"/>
                  <a:gd name="connsiteY3" fmla="*/ 74793 h 2875614"/>
                  <a:gd name="connsiteX4" fmla="*/ 1182959 w 5751228"/>
                  <a:gd name="connsiteY4" fmla="*/ 1798429 h 2875614"/>
                  <a:gd name="connsiteX5" fmla="*/ 4674044 w 5751228"/>
                  <a:gd name="connsiteY5" fmla="*/ 1692653 h 2875614"/>
                  <a:gd name="connsiteX6" fmla="*/ 5340056 w 5751228"/>
                  <a:gd name="connsiteY6" fmla="*/ 162164 h 2875614"/>
                  <a:gd name="connsiteX7" fmla="*/ 5342881 w 5751228"/>
                  <a:gd name="connsiteY7" fmla="*/ 0 h 2875614"/>
                  <a:gd name="connsiteX8" fmla="*/ 5751228 w 5751228"/>
                  <a:gd name="connsiteY8" fmla="*/ 0 h 2875614"/>
                  <a:gd name="connsiteX9" fmla="*/ 2875614 w 5751228"/>
                  <a:gd name="connsiteY9" fmla="*/ 2875614 h 2875614"/>
                  <a:gd name="connsiteX10" fmla="*/ 842247 w 5751228"/>
                  <a:gd name="connsiteY10" fmla="*/ 2033366 h 2875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51228" h="2875614">
                    <a:moveTo>
                      <a:pt x="842247" y="2033366"/>
                    </a:moveTo>
                    <a:cubicBezTo>
                      <a:pt x="321864" y="1512982"/>
                      <a:pt x="0" y="794078"/>
                      <a:pt x="0" y="0"/>
                    </a:cubicBezTo>
                    <a:lnTo>
                      <a:pt x="408346" y="0"/>
                    </a:lnTo>
                    <a:lnTo>
                      <a:pt x="407043" y="74793"/>
                    </a:lnTo>
                    <a:cubicBezTo>
                      <a:pt x="426185" y="706556"/>
                      <a:pt x="686336" y="1331016"/>
                      <a:pt x="1182959" y="1798429"/>
                    </a:cubicBezTo>
                    <a:cubicBezTo>
                      <a:pt x="2176205" y="2733256"/>
                      <a:pt x="3739217" y="2685899"/>
                      <a:pt x="4674044" y="1692653"/>
                    </a:cubicBezTo>
                    <a:cubicBezTo>
                      <a:pt x="5083031" y="1258108"/>
                      <a:pt x="5304022" y="714506"/>
                      <a:pt x="5340056" y="162164"/>
                    </a:cubicBezTo>
                    <a:lnTo>
                      <a:pt x="5342881" y="0"/>
                    </a:lnTo>
                    <a:lnTo>
                      <a:pt x="5751228" y="0"/>
                    </a:lnTo>
                    <a:cubicBezTo>
                      <a:pt x="5751228" y="1588157"/>
                      <a:pt x="4463771" y="2875614"/>
                      <a:pt x="2875614" y="2875614"/>
                    </a:cubicBezTo>
                    <a:cubicBezTo>
                      <a:pt x="2081535" y="2875614"/>
                      <a:pt x="1362632" y="2553750"/>
                      <a:pt x="842247" y="2033366"/>
                    </a:cubicBezTo>
                    <a:close/>
                  </a:path>
                </a:pathLst>
              </a:custGeom>
              <a:solidFill>
                <a:srgbClr val="0AA39D">
                  <a:alpha val="75000"/>
                </a:srgb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íSḷîďê">
                <a:extLst>
                  <a:ext uri="{FF2B5EF4-FFF2-40B4-BE49-F238E27FC236}">
                    <a16:creationId xmlns:a16="http://schemas.microsoft.com/office/drawing/2014/main" id="{7AB1AF71-AAC3-4B0C-8E29-199DDE974FCE}"/>
                  </a:ext>
                </a:extLst>
              </p:cNvPr>
              <p:cNvSpPr>
                <a:spLocks/>
              </p:cNvSpPr>
              <p:nvPr/>
            </p:nvSpPr>
            <p:spPr bwMode="auto">
              <a:xfrm rot="12330823">
                <a:off x="445935" y="3404681"/>
                <a:ext cx="5751328" cy="2875585"/>
              </a:xfrm>
              <a:custGeom>
                <a:avLst/>
                <a:gdLst>
                  <a:gd name="T0" fmla="*/ 0 w 5751227"/>
                  <a:gd name="T1" fmla="*/ 2875615 h 2875615"/>
                  <a:gd name="T2" fmla="*/ 2875628 w 5751227"/>
                  <a:gd name="T3" fmla="*/ 0 h 2875615"/>
                  <a:gd name="T4" fmla="*/ 5751227 w 5751227"/>
                  <a:gd name="T5" fmla="*/ 2875615 h 2875615"/>
                  <a:gd name="T6" fmla="*/ 5342883 w 5751227"/>
                  <a:gd name="T7" fmla="*/ 2875615 h 2875615"/>
                  <a:gd name="T8" fmla="*/ 5344183 w 5751227"/>
                  <a:gd name="T9" fmla="*/ 2800821 h 2875615"/>
                  <a:gd name="T10" fmla="*/ 4568267 w 5751227"/>
                  <a:gd name="T11" fmla="*/ 1077193 h 2875615"/>
                  <a:gd name="T12" fmla="*/ 1077190 w 5751227"/>
                  <a:gd name="T13" fmla="*/ 1182968 h 2875615"/>
                  <a:gd name="T14" fmla="*/ 411171 w 5751227"/>
                  <a:gd name="T15" fmla="*/ 2713449 h 2875615"/>
                  <a:gd name="T16" fmla="*/ 408345 w 5751227"/>
                  <a:gd name="T17" fmla="*/ 2875615 h 2875615"/>
                  <a:gd name="T18" fmla="*/ 0 w 5751227"/>
                  <a:gd name="T19" fmla="*/ 2875615 h 28756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751227"/>
                  <a:gd name="T31" fmla="*/ 0 h 2875615"/>
                  <a:gd name="T32" fmla="*/ 5751227 w 5751227"/>
                  <a:gd name="T33" fmla="*/ 2875615 h 287561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751227" h="2875615">
                    <a:moveTo>
                      <a:pt x="0" y="2875615"/>
                    </a:moveTo>
                    <a:cubicBezTo>
                      <a:pt x="0" y="1287457"/>
                      <a:pt x="1287456" y="0"/>
                      <a:pt x="2875613" y="0"/>
                    </a:cubicBezTo>
                    <a:cubicBezTo>
                      <a:pt x="4463770" y="0"/>
                      <a:pt x="5751227" y="1287457"/>
                      <a:pt x="5751227" y="2875614"/>
                    </a:cubicBezTo>
                    <a:lnTo>
                      <a:pt x="5342880" y="2875614"/>
                    </a:lnTo>
                    <a:lnTo>
                      <a:pt x="5344183" y="2800820"/>
                    </a:lnTo>
                    <a:cubicBezTo>
                      <a:pt x="5325041" y="2169058"/>
                      <a:pt x="5064890" y="1544598"/>
                      <a:pt x="4568267" y="1077185"/>
                    </a:cubicBezTo>
                    <a:cubicBezTo>
                      <a:pt x="3575022" y="142357"/>
                      <a:pt x="2012009" y="189715"/>
                      <a:pt x="1077182" y="1182960"/>
                    </a:cubicBezTo>
                    <a:cubicBezTo>
                      <a:pt x="668195" y="1617505"/>
                      <a:pt x="447204" y="2161107"/>
                      <a:pt x="411171" y="2713449"/>
                    </a:cubicBezTo>
                    <a:lnTo>
                      <a:pt x="408345" y="2875614"/>
                    </a:lnTo>
                    <a:lnTo>
                      <a:pt x="0" y="2875615"/>
                    </a:lnTo>
                    <a:close/>
                  </a:path>
                </a:pathLst>
              </a:custGeom>
              <a:solidFill>
                <a:srgbClr val="003F98">
                  <a:alpha val="73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iṧľiďe">
              <a:extLst>
                <a:ext uri="{FF2B5EF4-FFF2-40B4-BE49-F238E27FC236}">
                  <a16:creationId xmlns:a16="http://schemas.microsoft.com/office/drawing/2014/main" id="{891052D4-C542-414B-91C5-DB7B72CDD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7376" y="1987353"/>
              <a:ext cx="1391523" cy="1797372"/>
              <a:chOff x="1987251" y="3051050"/>
              <a:chExt cx="1826411" cy="2359035"/>
            </a:xfrm>
          </p:grpSpPr>
          <p:sp>
            <p:nvSpPr>
              <p:cNvPr id="16" name="iSlïḓé">
                <a:extLst>
                  <a:ext uri="{FF2B5EF4-FFF2-40B4-BE49-F238E27FC236}">
                    <a16:creationId xmlns:a16="http://schemas.microsoft.com/office/drawing/2014/main" id="{068C083D-D9FD-4334-828B-B06B75F897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494" y="3051050"/>
                <a:ext cx="1512168" cy="2308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目录</a:t>
                </a:r>
              </a:p>
            </p:txBody>
          </p:sp>
          <p:sp>
            <p:nvSpPr>
              <p:cNvPr id="17" name="îsļïdé">
                <a:extLst>
                  <a:ext uri="{FF2B5EF4-FFF2-40B4-BE49-F238E27FC236}">
                    <a16:creationId xmlns:a16="http://schemas.microsoft.com/office/drawing/2014/main" id="{53CBF4E9-5B09-4897-BB1F-C3B8F9B2F9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044712" y="4077375"/>
                <a:ext cx="2275249" cy="3901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CONTENT</a:t>
                </a:r>
              </a:p>
            </p:txBody>
          </p:sp>
        </p:grpSp>
      </p:grpSp>
      <p:sp>
        <p:nvSpPr>
          <p:cNvPr id="21" name="í$1iďê">
            <a:extLst>
              <a:ext uri="{FF2B5EF4-FFF2-40B4-BE49-F238E27FC236}">
                <a16:creationId xmlns:a16="http://schemas.microsoft.com/office/drawing/2014/main" id="{C541662A-52BD-4B26-B8C7-EF7AE024A9BF}"/>
              </a:ext>
            </a:extLst>
          </p:cNvPr>
          <p:cNvSpPr txBox="1"/>
          <p:nvPr/>
        </p:nvSpPr>
        <p:spPr bwMode="auto">
          <a:xfrm>
            <a:off x="3395191" y="2085470"/>
            <a:ext cx="7416824" cy="259228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2.1  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需求分析基本方法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2.2  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基本要求需求分析</a:t>
            </a: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重点</a:t>
            </a:r>
            <a:r>
              <a:rPr lang="en-US" altLang="zh-CN" sz="3600" b="1" dirty="0">
                <a:solidFill>
                  <a:srgbClr val="11406C">
                    <a:lumMod val="100000"/>
                  </a:srgb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C0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2.3  </a:t>
            </a:r>
            <a:r>
              <a:rPr lang="zh-CN" altLang="en-US" sz="3600" b="1" dirty="0">
                <a:solidFill>
                  <a:srgbClr val="C0000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高级要求需求分析</a:t>
            </a:r>
          </a:p>
        </p:txBody>
      </p:sp>
      <p:sp>
        <p:nvSpPr>
          <p:cNvPr id="10" name="Rectangle 2"/>
          <p:cNvSpPr/>
          <p:nvPr/>
        </p:nvSpPr>
        <p:spPr>
          <a:xfrm>
            <a:off x="10850" y="1084776"/>
            <a:ext cx="12192000" cy="777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dk1"/>
                </a:solidFill>
                <a:latin typeface="Times New Roman" pitchFamily="18" charset="0"/>
                <a:ea typeface="宋体" pitchFamily="2" charset="-122"/>
                <a:sym typeface="Times New Roman" pitchFamily="18" charset="0"/>
              </a:defRPr>
            </a:lvl5pPr>
          </a:lstStyle>
          <a:p>
            <a:pPr lvl="0" algn="ctr" eaLnBrk="1" hangingPunct="1"/>
            <a:r>
              <a:rPr lang="zh-CN" altLang="en-US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第</a:t>
            </a:r>
            <a:r>
              <a:rPr lang="en-US" altLang="zh-CN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2</a:t>
            </a:r>
            <a:r>
              <a:rPr lang="zh-CN" altLang="en-US" sz="4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章  用户需求分析</a:t>
            </a:r>
          </a:p>
        </p:txBody>
      </p:sp>
    </p:spTree>
    <p:extLst>
      <p:ext uri="{BB962C8B-B14F-4D97-AF65-F5344CB8AC3E}">
        <p14:creationId xmlns:p14="http://schemas.microsoft.com/office/powerpoint/2010/main" val="328924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Rectangle 3"/>
          <p:cNvSpPr>
            <a:spLocks noGrp="1"/>
          </p:cNvSpPr>
          <p:nvPr>
            <p:ph idx="1"/>
          </p:nvPr>
        </p:nvSpPr>
        <p:spPr>
          <a:xfrm>
            <a:off x="407368" y="822325"/>
            <a:ext cx="10515600" cy="303872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2.3.1  </a:t>
            </a:r>
            <a:r>
              <a:rPr lang="zh-CN" altLang="en-US" sz="3200" dirty="0"/>
              <a:t>网络扩展需求分析</a:t>
            </a:r>
          </a:p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1.  </a:t>
            </a:r>
            <a:r>
              <a:rPr lang="zh-CN" altLang="en-US" dirty="0">
                <a:solidFill>
                  <a:srgbClr val="000099"/>
                </a:solidFill>
              </a:rPr>
              <a:t>用户业务的扩展性</a:t>
            </a:r>
          </a:p>
          <a:p>
            <a:pPr lvl="1" eaLnBrk="1" hangingPunct="1"/>
            <a:r>
              <a:rPr lang="zh-CN" altLang="en-US" sz="2800" b="0" dirty="0"/>
              <a:t>用户业务的新增长点有哪些？</a:t>
            </a:r>
          </a:p>
          <a:p>
            <a:pPr lvl="1" eaLnBrk="1" hangingPunct="1"/>
            <a:r>
              <a:rPr lang="zh-CN" altLang="en-US" sz="2800" b="0" dirty="0"/>
              <a:t>用户业务的增长速度有多快？</a:t>
            </a:r>
          </a:p>
          <a:p>
            <a:pPr lvl="1" eaLnBrk="1" hangingPunct="1"/>
            <a:r>
              <a:rPr lang="zh-CN" altLang="en-US" sz="2800" b="0" dirty="0"/>
              <a:t>对网络端口数量的增长有哪些要求？</a:t>
            </a:r>
          </a:p>
          <a:p>
            <a:pPr lvl="1" eaLnBrk="1" hangingPunct="1"/>
            <a:r>
              <a:rPr lang="zh-CN" altLang="en-US" sz="2800" b="0" dirty="0"/>
              <a:t>用户部门调整对网络结构的影响有多大？</a:t>
            </a:r>
          </a:p>
        </p:txBody>
      </p:sp>
      <p:sp>
        <p:nvSpPr>
          <p:cNvPr id="1048787" name="Rectangle 2"/>
          <p:cNvSpPr>
            <a:spLocks noGrp="1"/>
          </p:cNvSpPr>
          <p:nvPr>
            <p:ph type="title"/>
          </p:nvPr>
        </p:nvSpPr>
        <p:spPr>
          <a:xfrm>
            <a:off x="21949" y="187098"/>
            <a:ext cx="10515600" cy="49393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  <p:pic>
        <p:nvPicPr>
          <p:cNvPr id="2097168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968208" y="3356992"/>
            <a:ext cx="3357562" cy="25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Rectangle 3"/>
          <p:cNvSpPr>
            <a:spLocks noGrp="1"/>
          </p:cNvSpPr>
          <p:nvPr>
            <p:ph idx="1"/>
          </p:nvPr>
        </p:nvSpPr>
        <p:spPr>
          <a:xfrm>
            <a:off x="551384" y="908720"/>
            <a:ext cx="10153128" cy="201622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2</a:t>
            </a:r>
            <a:r>
              <a:rPr lang="zh-CN" altLang="en-US" dirty="0">
                <a:solidFill>
                  <a:srgbClr val="000099"/>
                </a:solidFill>
              </a:rPr>
              <a:t>．网络性能的扩展性</a:t>
            </a:r>
          </a:p>
          <a:p>
            <a:pPr lvl="1" eaLnBrk="1" hangingPunct="1"/>
            <a:r>
              <a:rPr lang="zh-CN" altLang="en-US" sz="2800" b="0" dirty="0"/>
              <a:t>网络带宽增长速率对网络性能的影响有多大？</a:t>
            </a:r>
          </a:p>
          <a:p>
            <a:pPr lvl="1" eaLnBrk="1" hangingPunct="1"/>
            <a:r>
              <a:rPr lang="zh-CN" altLang="en-US" sz="2800" b="0" dirty="0"/>
              <a:t>网络交换机端口的预留比例是多少？</a:t>
            </a:r>
          </a:p>
          <a:p>
            <a:pPr lvl="1" eaLnBrk="1" hangingPunct="1"/>
            <a:r>
              <a:rPr lang="zh-CN" altLang="en-US" sz="2800" b="0" dirty="0"/>
              <a:t>主要网络设备的处理性能预留是多少？</a:t>
            </a:r>
          </a:p>
        </p:txBody>
      </p:sp>
      <p:sp>
        <p:nvSpPr>
          <p:cNvPr id="1048792" name="Rectangle 2"/>
          <p:cNvSpPr>
            <a:spLocks noGrp="1"/>
          </p:cNvSpPr>
          <p:nvPr>
            <p:ph type="title"/>
          </p:nvPr>
        </p:nvSpPr>
        <p:spPr>
          <a:xfrm>
            <a:off x="20960" y="188640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  <p:pic>
        <p:nvPicPr>
          <p:cNvPr id="2097169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28048" y="2663056"/>
            <a:ext cx="4968875" cy="331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Rectangle 3"/>
          <p:cNvSpPr>
            <a:spLocks noGrp="1"/>
          </p:cNvSpPr>
          <p:nvPr>
            <p:ph idx="1"/>
          </p:nvPr>
        </p:nvSpPr>
        <p:spPr>
          <a:xfrm>
            <a:off x="551384" y="8367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3</a:t>
            </a:r>
            <a:r>
              <a:rPr lang="zh-CN" altLang="en-US" dirty="0">
                <a:solidFill>
                  <a:srgbClr val="000099"/>
                </a:solidFill>
              </a:rPr>
              <a:t>．网络结构的扩展性</a:t>
            </a:r>
          </a:p>
          <a:p>
            <a:pPr lvl="1" eaLnBrk="1" hangingPunct="1"/>
            <a:r>
              <a:rPr lang="zh-CN" altLang="en-US" sz="2800" b="0" dirty="0"/>
              <a:t>用户环境变化</a:t>
            </a:r>
            <a:r>
              <a:rPr lang="zh-CN" altLang="en-US" sz="2000" b="0" dirty="0"/>
              <a:t>（如增加建筑物）</a:t>
            </a:r>
            <a:r>
              <a:rPr lang="zh-CN" altLang="en-US" sz="2800" b="0" dirty="0"/>
              <a:t>时，对现有网络结构的影响有多大？</a:t>
            </a:r>
          </a:p>
          <a:p>
            <a:pPr lvl="1" eaLnBrk="1" hangingPunct="1"/>
            <a:r>
              <a:rPr lang="zh-CN" altLang="en-US" sz="2800" b="0" dirty="0"/>
              <a:t>可以采用哪些方式</a:t>
            </a:r>
            <a:r>
              <a:rPr lang="zh-CN" altLang="en-US" sz="2000" b="0" dirty="0"/>
              <a:t>（如级联或堆叠）</a:t>
            </a:r>
            <a:r>
              <a:rPr lang="zh-CN" altLang="en-US" sz="2800" b="0" dirty="0"/>
              <a:t>扩展网络端口？</a:t>
            </a:r>
          </a:p>
          <a:p>
            <a:pPr lvl="1" eaLnBrk="1" hangingPunct="1"/>
            <a:r>
              <a:rPr lang="zh-CN" altLang="en-US" sz="2800" b="0" dirty="0"/>
              <a:t>用户今后增加新子网时，对现有网络影响有多大？</a:t>
            </a:r>
          </a:p>
          <a:p>
            <a:pPr lvl="1" eaLnBrk="1" hangingPunct="1"/>
            <a:r>
              <a:rPr lang="zh-CN" altLang="en-US" sz="2800" b="0" dirty="0"/>
              <a:t>网络改变接入方式时，对网络结构影响有多大？</a:t>
            </a:r>
          </a:p>
        </p:txBody>
      </p:sp>
      <p:sp>
        <p:nvSpPr>
          <p:cNvPr id="1048797" name="Rectangle 2"/>
          <p:cNvSpPr>
            <a:spLocks noGrp="1"/>
          </p:cNvSpPr>
          <p:nvPr>
            <p:ph type="title"/>
          </p:nvPr>
        </p:nvSpPr>
        <p:spPr>
          <a:xfrm>
            <a:off x="20301" y="152400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Rectangle 3"/>
          <p:cNvSpPr>
            <a:spLocks noGrp="1"/>
          </p:cNvSpPr>
          <p:nvPr>
            <p:ph idx="1"/>
          </p:nvPr>
        </p:nvSpPr>
        <p:spPr>
          <a:xfrm>
            <a:off x="551384" y="836712"/>
            <a:ext cx="10515600" cy="273630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4</a:t>
            </a:r>
            <a:r>
              <a:rPr lang="zh-CN" altLang="en-US" dirty="0">
                <a:solidFill>
                  <a:srgbClr val="000099"/>
                </a:solidFill>
              </a:rPr>
              <a:t>．网络设备的扩展性</a:t>
            </a:r>
          </a:p>
          <a:p>
            <a:pPr lvl="1" eaLnBrk="1" hangingPunct="1"/>
            <a:r>
              <a:rPr lang="zh-CN" altLang="en-US" sz="2800" b="0" dirty="0"/>
              <a:t>哪些网络设备</a:t>
            </a:r>
            <a:r>
              <a:rPr lang="zh-CN" altLang="en-US" sz="2000" b="0" dirty="0"/>
              <a:t>（私有云）</a:t>
            </a:r>
            <a:r>
              <a:rPr lang="zh-CN" altLang="en-US" sz="2800" b="0" dirty="0"/>
              <a:t>便于网络扩展？</a:t>
            </a:r>
          </a:p>
          <a:p>
            <a:pPr lvl="1" eaLnBrk="1" hangingPunct="1"/>
            <a:r>
              <a:rPr lang="zh-CN" altLang="en-US" sz="2800" b="0" dirty="0"/>
              <a:t>哪些网络设备</a:t>
            </a:r>
            <a:r>
              <a:rPr lang="zh-CN" altLang="en-US" sz="2000" b="0" dirty="0"/>
              <a:t>（如固定式交换机）</a:t>
            </a:r>
            <a:r>
              <a:rPr lang="zh-CN" altLang="en-US" sz="2800" b="0" dirty="0"/>
              <a:t>不利于设备升级？</a:t>
            </a:r>
          </a:p>
          <a:p>
            <a:pPr lvl="1" eaLnBrk="1" hangingPunct="1"/>
            <a:r>
              <a:rPr lang="zh-CN" altLang="en-US" sz="2800" b="0" dirty="0"/>
              <a:t>网络设备扩展时，设备电源功率和外部电源</a:t>
            </a:r>
            <a:r>
              <a:rPr lang="en-US" altLang="zh-CN" sz="2000" b="0" dirty="0"/>
              <a:t>（</a:t>
            </a:r>
            <a:r>
              <a:rPr lang="en-US" altLang="zh-CN" sz="2000" b="0" dirty="0" err="1"/>
              <a:t>如UPS</a:t>
            </a:r>
            <a:r>
              <a:rPr lang="zh-CN" altLang="en-US" sz="2000" b="0" dirty="0"/>
              <a:t>）</a:t>
            </a:r>
            <a:r>
              <a:rPr lang="zh-CN" altLang="en-US" sz="2800" b="0" dirty="0"/>
              <a:t>功率是否满足要求？</a:t>
            </a:r>
          </a:p>
          <a:p>
            <a:pPr lvl="1" eaLnBrk="1" hangingPunct="1"/>
            <a:r>
              <a:rPr lang="zh-CN" altLang="en-US" sz="2800" b="0" dirty="0"/>
              <a:t>哪些网络设备在今后的升级中存在兼容性</a:t>
            </a:r>
            <a:r>
              <a:rPr lang="en-US" altLang="zh-CN" sz="2000" b="0" dirty="0"/>
              <a:t>（</a:t>
            </a:r>
            <a:r>
              <a:rPr lang="en-US" altLang="zh-CN" sz="2000" b="0" dirty="0" err="1"/>
              <a:t>如PCI</a:t>
            </a:r>
            <a:r>
              <a:rPr lang="zh-CN" altLang="en-US" sz="2000" b="0" dirty="0"/>
              <a:t>网卡）</a:t>
            </a:r>
            <a:r>
              <a:rPr lang="zh-CN" altLang="en-US" sz="2800" b="0" dirty="0"/>
              <a:t>问题？</a:t>
            </a:r>
          </a:p>
        </p:txBody>
      </p:sp>
      <p:sp>
        <p:nvSpPr>
          <p:cNvPr id="1048802" name="Rectangle 2"/>
          <p:cNvSpPr>
            <a:spLocks noGrp="1"/>
          </p:cNvSpPr>
          <p:nvPr>
            <p:ph type="title"/>
          </p:nvPr>
        </p:nvSpPr>
        <p:spPr>
          <a:xfrm>
            <a:off x="0" y="187782"/>
            <a:ext cx="10515600" cy="49393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Rectangle 3"/>
          <p:cNvSpPr>
            <a:spLocks noGrp="1"/>
          </p:cNvSpPr>
          <p:nvPr>
            <p:ph idx="1"/>
          </p:nvPr>
        </p:nvSpPr>
        <p:spPr>
          <a:xfrm>
            <a:off x="551384" y="77765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en-US" altLang="zh-CN" b="0" dirty="0"/>
              <a:t>[</a:t>
            </a:r>
            <a:r>
              <a:rPr lang="zh-CN" altLang="en-US" b="0" dirty="0"/>
              <a:t>案例</a:t>
            </a:r>
            <a:r>
              <a:rPr lang="en-US" altLang="zh-CN" b="0" dirty="0"/>
              <a:t>] </a:t>
            </a:r>
            <a:r>
              <a:rPr lang="zh-CN" altLang="en-US" b="0" dirty="0"/>
              <a:t>不同厂商方案的比较方法</a:t>
            </a:r>
          </a:p>
        </p:txBody>
      </p:sp>
      <p:sp>
        <p:nvSpPr>
          <p:cNvPr id="1048807" name="Rectangle 2"/>
          <p:cNvSpPr>
            <a:spLocks noGrp="1"/>
          </p:cNvSpPr>
          <p:nvPr>
            <p:ph type="title"/>
          </p:nvPr>
        </p:nvSpPr>
        <p:spPr>
          <a:xfrm>
            <a:off x="0" y="139697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  <p:pic>
        <p:nvPicPr>
          <p:cNvPr id="2097170" name="Picture 4" descr="0408170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351881" y="1415607"/>
            <a:ext cx="7488237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Rectangle 3"/>
          <p:cNvSpPr>
            <a:spLocks noGrp="1"/>
          </p:cNvSpPr>
          <p:nvPr>
            <p:ph idx="1"/>
          </p:nvPr>
        </p:nvSpPr>
        <p:spPr>
          <a:xfrm>
            <a:off x="407368" y="8367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5</a:t>
            </a:r>
            <a:r>
              <a:rPr lang="zh-CN" altLang="en-US" dirty="0">
                <a:solidFill>
                  <a:srgbClr val="000099"/>
                </a:solidFill>
              </a:rPr>
              <a:t>．网络软件的扩展性</a:t>
            </a:r>
          </a:p>
          <a:p>
            <a:pPr lvl="1" eaLnBrk="1" hangingPunct="1"/>
            <a:r>
              <a:rPr lang="zh-CN" altLang="en-US" sz="2800" b="0" dirty="0"/>
              <a:t>服务器软件</a:t>
            </a:r>
            <a:r>
              <a:rPr lang="zh-CN" altLang="en-US" sz="2000" b="0" dirty="0"/>
              <a:t>（如邮件服务器）</a:t>
            </a:r>
            <a:r>
              <a:rPr lang="zh-CN" altLang="en-US" sz="2800" b="0" dirty="0"/>
              <a:t>性能能够满足扩展性要求吗？</a:t>
            </a:r>
          </a:p>
          <a:p>
            <a:pPr lvl="1" eaLnBrk="1" hangingPunct="1"/>
            <a:r>
              <a:rPr lang="zh-CN" altLang="en-US" sz="2800" b="0" dirty="0"/>
              <a:t>系统软件升级</a:t>
            </a:r>
            <a:r>
              <a:rPr lang="en-US" altLang="zh-CN" sz="2000" b="0" dirty="0"/>
              <a:t>（如网络操作系统由32</a:t>
            </a:r>
            <a:r>
              <a:rPr lang="zh-CN" altLang="en-US" sz="2000" b="0" dirty="0"/>
              <a:t>位升级为</a:t>
            </a:r>
            <a:r>
              <a:rPr lang="en-US" altLang="zh-CN" sz="2000" b="0" dirty="0"/>
              <a:t>64</a:t>
            </a:r>
            <a:r>
              <a:rPr lang="zh-CN" altLang="en-US" sz="2000" b="0" dirty="0"/>
              <a:t>位）</a:t>
            </a:r>
            <a:r>
              <a:rPr lang="zh-CN" altLang="en-US" sz="2800" b="0" dirty="0"/>
              <a:t>对服务器性能影响有多大？</a:t>
            </a:r>
          </a:p>
          <a:p>
            <a:pPr lvl="1" eaLnBrk="1" hangingPunct="1"/>
            <a:r>
              <a:rPr lang="zh-CN" altLang="en-US" sz="2800" b="0" dirty="0"/>
              <a:t>服务器操作系统变更</a:t>
            </a:r>
            <a:r>
              <a:rPr lang="en-US" altLang="zh-CN" sz="2000" b="0" dirty="0"/>
              <a:t>（</a:t>
            </a:r>
            <a:r>
              <a:rPr lang="en-US" altLang="zh-CN" sz="2000" b="0" dirty="0" err="1"/>
              <a:t>如Windows</a:t>
            </a:r>
            <a:r>
              <a:rPr lang="zh-CN" altLang="en-US" sz="2000" b="0" dirty="0"/>
              <a:t>更改为</a:t>
            </a:r>
            <a:r>
              <a:rPr lang="en-US" altLang="zh-CN" sz="2000" b="0" dirty="0"/>
              <a:t>Linux</a:t>
            </a:r>
            <a:r>
              <a:rPr lang="zh-CN" altLang="en-US" sz="2000" b="0" dirty="0"/>
              <a:t>）</a:t>
            </a:r>
            <a:r>
              <a:rPr lang="zh-CN" altLang="en-US" sz="2800" b="0" dirty="0"/>
              <a:t>对网络设备影响有多大？</a:t>
            </a:r>
          </a:p>
          <a:p>
            <a:pPr lvl="1" eaLnBrk="1" hangingPunct="1"/>
            <a:r>
              <a:rPr lang="zh-CN" altLang="en-US" sz="2800" b="0" dirty="0"/>
              <a:t>服务器操作系统变更对网络软件影响有多大？</a:t>
            </a:r>
          </a:p>
        </p:txBody>
      </p:sp>
      <p:sp>
        <p:nvSpPr>
          <p:cNvPr id="1048812" name="Rectangle 2"/>
          <p:cNvSpPr>
            <a:spLocks noGrp="1"/>
          </p:cNvSpPr>
          <p:nvPr>
            <p:ph type="title"/>
          </p:nvPr>
        </p:nvSpPr>
        <p:spPr>
          <a:xfrm>
            <a:off x="0" y="154555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Rectangle 3"/>
          <p:cNvSpPr>
            <a:spLocks noGrp="1"/>
          </p:cNvSpPr>
          <p:nvPr>
            <p:ph idx="1"/>
          </p:nvPr>
        </p:nvSpPr>
        <p:spPr>
          <a:xfrm>
            <a:off x="407368" y="8367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2.3.2  </a:t>
            </a:r>
            <a:r>
              <a:rPr lang="zh-CN" altLang="en-US" sz="3200" dirty="0"/>
              <a:t>网络性能需求分析</a:t>
            </a:r>
          </a:p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1</a:t>
            </a:r>
            <a:r>
              <a:rPr lang="zh-CN" altLang="en-US" dirty="0">
                <a:solidFill>
                  <a:srgbClr val="000099"/>
                </a:solidFill>
              </a:rPr>
              <a:t>．网络服务最低带宽</a:t>
            </a:r>
          </a:p>
          <a:p>
            <a:pPr lvl="1" eaLnBrk="1" hangingPunct="1"/>
            <a:r>
              <a:rPr lang="zh-CN" altLang="en-US" sz="2800" b="0" dirty="0"/>
              <a:t>带宽需求会随通信能力的增强而无限增加。</a:t>
            </a:r>
          </a:p>
          <a:p>
            <a:pPr lvl="1" eaLnBrk="1" hangingPunct="1"/>
            <a:r>
              <a:rPr lang="zh-CN" altLang="en-US" sz="2800" b="0" dirty="0"/>
              <a:t>理想状态：“</a:t>
            </a:r>
            <a:r>
              <a:rPr lang="zh-CN" altLang="en-US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带宽无极限</a:t>
            </a:r>
            <a:r>
              <a:rPr lang="zh-CN" altLang="en-US" sz="2800" b="0" dirty="0"/>
              <a:t>” </a:t>
            </a:r>
          </a:p>
          <a:p>
            <a:pPr lvl="1" eaLnBrk="1" hangingPunct="1"/>
            <a:r>
              <a:rPr lang="zh-CN" altLang="en-US" sz="2800" b="0" dirty="0"/>
              <a:t>网络性能与投资成本成比例增加。</a:t>
            </a:r>
          </a:p>
          <a:p>
            <a:pPr lvl="1" eaLnBrk="1" hangingPunct="1"/>
            <a:r>
              <a:rPr lang="zh-CN" altLang="en-US" sz="2800" b="0" dirty="0"/>
              <a:t>最终用户的</a:t>
            </a:r>
            <a:r>
              <a:rPr lang="zh-CN" altLang="en-US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平均最低接入带宽为</a:t>
            </a:r>
            <a:r>
              <a:rPr lang="en-US" altLang="zh-CN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256kbit/s</a:t>
            </a:r>
            <a:r>
              <a:rPr lang="zh-CN" altLang="en-US" sz="2800" b="0" dirty="0"/>
              <a:t>。</a:t>
            </a:r>
          </a:p>
          <a:p>
            <a:pPr lvl="1" eaLnBrk="1" hangingPunct="1"/>
            <a:r>
              <a:rPr lang="zh-CN" altLang="en-US" sz="2800" b="0" dirty="0"/>
              <a:t>随着网络技术的发展，网络带宽会不断增加；</a:t>
            </a:r>
          </a:p>
          <a:p>
            <a:pPr lvl="1" eaLnBrk="1" hangingPunct="1"/>
            <a:r>
              <a:rPr lang="zh-CN" altLang="en-US" sz="2800" b="0" dirty="0"/>
              <a:t>随着编码技术的发展，传输信息需要的带宽越来越小。</a:t>
            </a:r>
          </a:p>
        </p:txBody>
      </p:sp>
      <p:sp>
        <p:nvSpPr>
          <p:cNvPr id="1048817" name="Rectangle 2"/>
          <p:cNvSpPr>
            <a:spLocks noGrp="1"/>
          </p:cNvSpPr>
          <p:nvPr>
            <p:ph type="title"/>
          </p:nvPr>
        </p:nvSpPr>
        <p:spPr>
          <a:xfrm>
            <a:off x="0" y="154555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Rectangle 3"/>
          <p:cNvSpPr>
            <a:spLocks noGrp="1"/>
          </p:cNvSpPr>
          <p:nvPr>
            <p:ph idx="1"/>
          </p:nvPr>
        </p:nvSpPr>
        <p:spPr>
          <a:xfrm>
            <a:off x="695400" y="90872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2</a:t>
            </a:r>
            <a:r>
              <a:rPr lang="zh-CN" altLang="en-US" dirty="0">
                <a:solidFill>
                  <a:srgbClr val="000099"/>
                </a:solidFill>
              </a:rPr>
              <a:t>．用户网络通信流量的特点</a:t>
            </a:r>
          </a:p>
          <a:p>
            <a:pPr lvl="0" eaLnBrk="1" hangingPunct="1"/>
            <a:r>
              <a:rPr lang="zh-CN" altLang="en-US" sz="3200" b="0" dirty="0"/>
              <a:t>带宽是否足够取决于三方面的因素：</a:t>
            </a:r>
          </a:p>
          <a:p>
            <a:pPr lvl="1" eaLnBrk="1" hangingPunct="1"/>
            <a:r>
              <a:rPr lang="en-US" altLang="zh-CN" dirty="0"/>
              <a:t>提供给用户服务的类型（如Web</a:t>
            </a:r>
            <a:r>
              <a:rPr lang="zh-CN" altLang="en-US" dirty="0"/>
              <a:t>、</a:t>
            </a:r>
            <a:r>
              <a:rPr lang="en-US" altLang="zh-CN" dirty="0"/>
              <a:t>OA</a:t>
            </a:r>
            <a:r>
              <a:rPr lang="zh-CN" altLang="en-US" dirty="0"/>
              <a:t>等）；</a:t>
            </a:r>
          </a:p>
          <a:p>
            <a:pPr lvl="1" eaLnBrk="1" hangingPunct="1"/>
            <a:r>
              <a:rPr lang="zh-CN" altLang="en-US" dirty="0"/>
              <a:t>接入层用户访问的速度；</a:t>
            </a:r>
          </a:p>
          <a:p>
            <a:pPr lvl="1" eaLnBrk="1" hangingPunct="1"/>
            <a:r>
              <a:rPr lang="zh-CN" altLang="en-US" dirty="0"/>
              <a:t>用户和服务器之间的连接质量。</a:t>
            </a:r>
          </a:p>
          <a:p>
            <a:pPr lvl="1" eaLnBrk="1" hangingPunct="1"/>
            <a:endParaRPr lang="zh-CN" altLang="en-US" dirty="0"/>
          </a:p>
          <a:p>
            <a:pPr lvl="0" eaLnBrk="1" hangingPunct="1"/>
            <a:r>
              <a:rPr lang="en-US" altLang="zh-CN" sz="3200" b="0" dirty="0"/>
              <a:t>网络服务的通信流量主要有以下4</a:t>
            </a:r>
            <a:r>
              <a:rPr lang="zh-CN" altLang="en-US" sz="3200" b="0" dirty="0"/>
              <a:t>种情况：</a:t>
            </a:r>
          </a:p>
          <a:p>
            <a:pPr lvl="1" eaLnBrk="1" hangingPunct="1"/>
            <a:r>
              <a:rPr lang="zh-CN" altLang="en-US" dirty="0"/>
              <a:t>偶尔少量的通信。</a:t>
            </a:r>
          </a:p>
          <a:p>
            <a:pPr lvl="1" eaLnBrk="1" hangingPunct="1"/>
            <a:r>
              <a:rPr lang="zh-CN" altLang="en-US" dirty="0"/>
              <a:t>突发性通信。</a:t>
            </a:r>
          </a:p>
          <a:p>
            <a:pPr lvl="1" eaLnBrk="1" hangingPunct="1"/>
            <a:r>
              <a:rPr lang="zh-CN" altLang="en-US" dirty="0"/>
              <a:t>固定带宽的流式传输。</a:t>
            </a:r>
          </a:p>
          <a:p>
            <a:pPr lvl="1" eaLnBrk="1" hangingPunct="1"/>
            <a:r>
              <a:rPr lang="zh-CN" altLang="en-US" dirty="0"/>
              <a:t>不定带宽的数据传输应用。</a:t>
            </a:r>
          </a:p>
        </p:txBody>
      </p:sp>
      <p:sp>
        <p:nvSpPr>
          <p:cNvPr id="1048822" name="Rectangle 2"/>
          <p:cNvSpPr>
            <a:spLocks noGrp="1"/>
          </p:cNvSpPr>
          <p:nvPr>
            <p:ph type="title"/>
          </p:nvPr>
        </p:nvSpPr>
        <p:spPr>
          <a:xfrm>
            <a:off x="47328" y="152400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>
                <a:solidFill>
                  <a:schemeClr val="bg1"/>
                </a:solidFill>
              </a:rPr>
              <a:t>2.3  </a:t>
            </a:r>
            <a:r>
              <a:rPr lang="zh-CN" altLang="en-US">
                <a:solidFill>
                  <a:schemeClr val="bg1"/>
                </a:solidFill>
              </a:rPr>
              <a:t>高级要求需求分析</a:t>
            </a: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Rectangle 3"/>
          <p:cNvSpPr>
            <a:spLocks noGrp="1"/>
          </p:cNvSpPr>
          <p:nvPr>
            <p:ph idx="1"/>
          </p:nvPr>
        </p:nvSpPr>
        <p:spPr>
          <a:xfrm>
            <a:off x="551384" y="8367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2.3.4  </a:t>
            </a:r>
            <a:r>
              <a:rPr lang="zh-CN" altLang="en-US" sz="3200" dirty="0"/>
              <a:t>网络安全需求分析</a:t>
            </a:r>
          </a:p>
          <a:p>
            <a:pPr lvl="1" eaLnBrk="1" hangingPunct="1"/>
            <a:r>
              <a:rPr lang="zh-CN" altLang="en-US" sz="2800" b="0" dirty="0"/>
              <a:t>网络安全目标是使用户网络资源损失最小化。</a:t>
            </a:r>
          </a:p>
          <a:p>
            <a:pPr lvl="1" eaLnBrk="1" hangingPunct="1">
              <a:buFontTx/>
              <a:buNone/>
            </a:pPr>
            <a:endParaRPr lang="zh-CN" altLang="en-US" dirty="0"/>
          </a:p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1</a:t>
            </a:r>
            <a:r>
              <a:rPr lang="zh-CN" altLang="en-US" dirty="0">
                <a:solidFill>
                  <a:srgbClr val="000099"/>
                </a:solidFill>
              </a:rPr>
              <a:t>．系统软件和硬件的安全需求</a:t>
            </a:r>
          </a:p>
          <a:p>
            <a:pPr lvl="1" eaLnBrk="1" hangingPunct="1"/>
            <a:r>
              <a:rPr lang="zh-CN" altLang="en-US" sz="2800" b="0" dirty="0"/>
              <a:t>网络设备安全功能的需求分析，如服务器，交换机，路由器，传输介质等。</a:t>
            </a:r>
          </a:p>
          <a:p>
            <a:pPr lvl="1" eaLnBrk="1" hangingPunct="1"/>
            <a:r>
              <a:rPr lang="zh-CN" altLang="en-US" sz="2800" b="0" dirty="0"/>
              <a:t>网络传输介质的保护。</a:t>
            </a:r>
          </a:p>
          <a:p>
            <a:pPr lvl="1" eaLnBrk="1" hangingPunct="1"/>
            <a:r>
              <a:rPr lang="zh-CN" altLang="en-US" sz="2800" b="0" dirty="0"/>
              <a:t>对存放机密商务数据的机房应当构建屏蔽室。</a:t>
            </a:r>
          </a:p>
          <a:p>
            <a:pPr lvl="1" eaLnBrk="1" hangingPunct="1"/>
            <a:r>
              <a:rPr lang="zh-CN" altLang="en-US" sz="2800" b="0" dirty="0"/>
              <a:t>对网络操作系统进行安全配置。</a:t>
            </a:r>
          </a:p>
          <a:p>
            <a:pPr lvl="1" eaLnBrk="1" hangingPunct="1"/>
            <a:r>
              <a:rPr lang="zh-CN" altLang="en-US" sz="2800" b="0" dirty="0"/>
              <a:t>及时对系统进行补丁程序升级。</a:t>
            </a:r>
          </a:p>
        </p:txBody>
      </p:sp>
      <p:sp>
        <p:nvSpPr>
          <p:cNvPr id="1048827" name="Rectangle 2"/>
          <p:cNvSpPr>
            <a:spLocks noGrp="1"/>
          </p:cNvSpPr>
          <p:nvPr>
            <p:ph type="title"/>
          </p:nvPr>
        </p:nvSpPr>
        <p:spPr>
          <a:xfrm>
            <a:off x="0" y="138226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3" name="Rectangle 3"/>
          <p:cNvSpPr>
            <a:spLocks noGrp="1"/>
          </p:cNvSpPr>
          <p:nvPr>
            <p:ph idx="1"/>
          </p:nvPr>
        </p:nvSpPr>
        <p:spPr>
          <a:xfrm>
            <a:off x="551384" y="87709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2</a:t>
            </a:r>
            <a:r>
              <a:rPr lang="zh-CN" altLang="en-US" dirty="0">
                <a:solidFill>
                  <a:srgbClr val="000099"/>
                </a:solidFill>
              </a:rPr>
              <a:t>．数据安全需求</a:t>
            </a:r>
          </a:p>
          <a:p>
            <a:pPr lvl="1" eaLnBrk="1" hangingPunct="1"/>
            <a:r>
              <a:rPr lang="zh-CN" altLang="en-US" sz="2800" b="0" dirty="0"/>
              <a:t>保护数据不遭到网络的非法访问和恶意破坏。</a:t>
            </a:r>
          </a:p>
          <a:p>
            <a:pPr lvl="1" eaLnBrk="1" hangingPunct="1"/>
            <a:r>
              <a:rPr lang="zh-CN" altLang="en-US" sz="2800" b="0" dirty="0"/>
              <a:t>保证内网机密信息在存储与传输时的保密。</a:t>
            </a:r>
          </a:p>
          <a:p>
            <a:pPr lvl="1" eaLnBrk="1" hangingPunct="1"/>
            <a:r>
              <a:rPr lang="zh-CN" altLang="en-US" sz="2800" b="0" dirty="0"/>
              <a:t>允许用户访问外网数据，不允许访问内网数据。</a:t>
            </a:r>
          </a:p>
          <a:p>
            <a:pPr lvl="1" eaLnBrk="1" hangingPunct="1"/>
            <a:r>
              <a:rPr lang="zh-CN" altLang="en-US" sz="2800" b="0" dirty="0"/>
              <a:t>对敏感性数据的分布情况及管理方法。</a:t>
            </a:r>
          </a:p>
        </p:txBody>
      </p:sp>
      <p:sp>
        <p:nvSpPr>
          <p:cNvPr id="1048832" name="Rectangle 2"/>
          <p:cNvSpPr>
            <a:spLocks noGrp="1"/>
          </p:cNvSpPr>
          <p:nvPr>
            <p:ph type="title"/>
          </p:nvPr>
        </p:nvSpPr>
        <p:spPr>
          <a:xfrm>
            <a:off x="0" y="150473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  <p:pic>
        <p:nvPicPr>
          <p:cNvPr id="2097171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320136" y="3212976"/>
            <a:ext cx="3282950" cy="2820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Rectangle 3"/>
          <p:cNvSpPr>
            <a:spLocks noGrp="1"/>
          </p:cNvSpPr>
          <p:nvPr>
            <p:ph idx="1"/>
          </p:nvPr>
        </p:nvSpPr>
        <p:spPr>
          <a:xfrm>
            <a:off x="623392" y="800893"/>
            <a:ext cx="10515600" cy="241208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3</a:t>
            </a:r>
            <a:r>
              <a:rPr lang="zh-CN" altLang="en-US" dirty="0">
                <a:solidFill>
                  <a:srgbClr val="000099"/>
                </a:solidFill>
              </a:rPr>
              <a:t>．用户认证需求</a:t>
            </a:r>
          </a:p>
          <a:p>
            <a:pPr lvl="1" eaLnBrk="1" hangingPunct="1"/>
            <a:r>
              <a:rPr lang="zh-CN" altLang="en-US" sz="2800" b="0" dirty="0"/>
              <a:t>建立确认访问者身份的认证系统。</a:t>
            </a:r>
          </a:p>
          <a:p>
            <a:pPr lvl="1" eaLnBrk="1" hangingPunct="1"/>
            <a:r>
              <a:rPr lang="zh-CN" altLang="en-US" sz="2800" b="0" dirty="0"/>
              <a:t>遵循最小授权原则，严格限制登录者的操作权限。</a:t>
            </a:r>
          </a:p>
          <a:p>
            <a:pPr lvl="1" eaLnBrk="1" hangingPunct="1"/>
            <a:r>
              <a:rPr lang="zh-CN" altLang="en-US" sz="2800" b="0" dirty="0"/>
              <a:t>消除弱口令现象，确保用户使用的合法性。</a:t>
            </a:r>
          </a:p>
          <a:p>
            <a:pPr lvl="1" eaLnBrk="1" hangingPunct="1"/>
            <a:r>
              <a:rPr lang="zh-CN" altLang="en-US" sz="2800" b="0" dirty="0"/>
              <a:t>利用日志对用户访问的信息进行记录。</a:t>
            </a:r>
          </a:p>
        </p:txBody>
      </p:sp>
      <p:sp>
        <p:nvSpPr>
          <p:cNvPr id="1048837" name="Rectangle 2"/>
          <p:cNvSpPr>
            <a:spLocks noGrp="1"/>
          </p:cNvSpPr>
          <p:nvPr>
            <p:ph type="title"/>
          </p:nvPr>
        </p:nvSpPr>
        <p:spPr>
          <a:xfrm>
            <a:off x="21290" y="162719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  <p:pic>
        <p:nvPicPr>
          <p:cNvPr id="2097172" name="图片 2"/>
          <p:cNvPicPr>
            <a:picLocks/>
          </p:cNvPicPr>
          <p:nvPr/>
        </p:nvPicPr>
        <p:blipFill>
          <a:blip r:embed="rId5"/>
          <a:srcRect t="10101" b="16400"/>
          <a:stretch>
            <a:fillRect/>
          </a:stretch>
        </p:blipFill>
        <p:spPr>
          <a:xfrm>
            <a:off x="2567608" y="3429000"/>
            <a:ext cx="6913562" cy="296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Rectangle 3"/>
          <p:cNvSpPr>
            <a:spLocks noGrp="1"/>
          </p:cNvSpPr>
          <p:nvPr>
            <p:ph idx="1"/>
          </p:nvPr>
        </p:nvSpPr>
        <p:spPr>
          <a:xfrm>
            <a:off x="551384" y="85645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dirty="0">
                <a:solidFill>
                  <a:srgbClr val="000099"/>
                </a:solidFill>
              </a:rPr>
              <a:t>4</a:t>
            </a:r>
            <a:r>
              <a:rPr lang="zh-CN" altLang="en-US" dirty="0">
                <a:solidFill>
                  <a:srgbClr val="000099"/>
                </a:solidFill>
              </a:rPr>
              <a:t>．入侵防护安全需求分析</a:t>
            </a:r>
          </a:p>
          <a:p>
            <a:pPr lvl="1" eaLnBrk="1" hangingPunct="1"/>
            <a:r>
              <a:rPr lang="en-US" altLang="zh-CN" sz="2800" b="0" dirty="0" err="1"/>
              <a:t>防火墙是实现网络安全最基本，最经济的措施</a:t>
            </a:r>
            <a:r>
              <a:rPr lang="en-US" altLang="zh-CN" sz="2800" b="0" dirty="0"/>
              <a:t>。</a:t>
            </a:r>
          </a:p>
          <a:p>
            <a:pPr lvl="1" eaLnBrk="1" hangingPunct="1"/>
            <a:r>
              <a:rPr lang="en-US" altLang="zh-CN" sz="2800" b="0" dirty="0"/>
              <a:t>IDS</a:t>
            </a:r>
            <a:r>
              <a:rPr lang="zh-CN" altLang="en-US" sz="2800" b="0" dirty="0"/>
              <a:t>可以对穿透防火墙的攻击进行检测。</a:t>
            </a:r>
          </a:p>
          <a:p>
            <a:pPr lvl="1" eaLnBrk="1" hangingPunct="1"/>
            <a:r>
              <a:rPr lang="zh-CN" altLang="en-US" sz="2800" b="0" dirty="0"/>
              <a:t>安全系统必须保证内部网络的有效运行。</a:t>
            </a:r>
          </a:p>
          <a:p>
            <a:pPr lvl="1" eaLnBrk="1" hangingPunct="1"/>
            <a:r>
              <a:rPr lang="zh-CN" altLang="en-US" sz="2800" b="0" dirty="0"/>
              <a:t>防止通过消耗带宽等方式破坏网络的可用性。</a:t>
            </a:r>
          </a:p>
        </p:txBody>
      </p:sp>
      <p:sp>
        <p:nvSpPr>
          <p:cNvPr id="1048842" name="Rectangle 2"/>
          <p:cNvSpPr>
            <a:spLocks noGrp="1"/>
          </p:cNvSpPr>
          <p:nvPr>
            <p:ph type="title"/>
          </p:nvPr>
        </p:nvSpPr>
        <p:spPr>
          <a:xfrm>
            <a:off x="47328" y="192083"/>
            <a:ext cx="10515600" cy="48895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  <p:pic>
        <p:nvPicPr>
          <p:cNvPr id="2097173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55640" y="3645024"/>
            <a:ext cx="5041900" cy="297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Rectangle 3"/>
          <p:cNvSpPr>
            <a:spLocks noGrp="1"/>
          </p:cNvSpPr>
          <p:nvPr>
            <p:ph idx="1"/>
          </p:nvPr>
        </p:nvSpPr>
        <p:spPr>
          <a:xfrm>
            <a:off x="546101" y="84390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>
              <a:buFontTx/>
              <a:buNone/>
            </a:pPr>
            <a:r>
              <a:rPr lang="en-US" altLang="zh-CN" sz="3200" dirty="0"/>
              <a:t>2.3.4  </a:t>
            </a:r>
            <a:r>
              <a:rPr lang="zh-CN" altLang="en-US" sz="3200" dirty="0"/>
              <a:t>网络管理需求分析</a:t>
            </a:r>
          </a:p>
          <a:p>
            <a:pPr lvl="0" eaLnBrk="1" hangingPunct="1"/>
            <a:r>
              <a:rPr lang="zh-CN" altLang="en-US" sz="3200" b="0" dirty="0"/>
              <a:t>网络管理内容：</a:t>
            </a:r>
          </a:p>
          <a:p>
            <a:pPr lvl="1" eaLnBrk="1" hangingPunct="1"/>
            <a:r>
              <a:rPr lang="zh-CN" altLang="en-US" sz="2800" b="0" dirty="0"/>
              <a:t>性能管理</a:t>
            </a:r>
          </a:p>
          <a:p>
            <a:pPr lvl="1" eaLnBrk="1" hangingPunct="1"/>
            <a:r>
              <a:rPr lang="zh-CN" altLang="en-US" sz="2800" b="0" dirty="0"/>
              <a:t>配置管理</a:t>
            </a:r>
          </a:p>
          <a:p>
            <a:pPr lvl="1" eaLnBrk="1" hangingPunct="1"/>
            <a:r>
              <a:rPr lang="zh-CN" altLang="en-US" sz="2800" b="0" dirty="0"/>
              <a:t>安全管理</a:t>
            </a:r>
          </a:p>
          <a:p>
            <a:pPr lvl="1" eaLnBrk="1" hangingPunct="1"/>
            <a:r>
              <a:rPr lang="zh-CN" altLang="en-US" sz="2800" b="0" dirty="0"/>
              <a:t>故障管理</a:t>
            </a:r>
          </a:p>
          <a:p>
            <a:pPr lvl="1" eaLnBrk="1" hangingPunct="1"/>
            <a:r>
              <a:rPr lang="zh-CN" altLang="en-US" sz="2800" b="0" dirty="0"/>
              <a:t>计费管理等。</a:t>
            </a:r>
          </a:p>
        </p:txBody>
      </p:sp>
      <p:sp>
        <p:nvSpPr>
          <p:cNvPr id="1048847" name="Rectangle 2"/>
          <p:cNvSpPr>
            <a:spLocks noGrp="1"/>
          </p:cNvSpPr>
          <p:nvPr>
            <p:ph type="title"/>
          </p:nvPr>
        </p:nvSpPr>
        <p:spPr>
          <a:xfrm>
            <a:off x="0" y="158071"/>
            <a:ext cx="10515600" cy="546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  <p:pic>
        <p:nvPicPr>
          <p:cNvPr id="2097174" name="图片 1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19936" y="2348880"/>
            <a:ext cx="4791075" cy="335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Rectangle 3"/>
          <p:cNvSpPr>
            <a:spLocks noGrp="1"/>
          </p:cNvSpPr>
          <p:nvPr>
            <p:ph idx="1"/>
          </p:nvPr>
        </p:nvSpPr>
        <p:spPr>
          <a:xfrm>
            <a:off x="623392" y="908720"/>
            <a:ext cx="10515600" cy="302433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b="0" dirty="0"/>
              <a:t>网络管理需求分析包括以下问题：</a:t>
            </a:r>
          </a:p>
          <a:p>
            <a:pPr lvl="1" eaLnBrk="1" hangingPunct="1"/>
            <a:r>
              <a:rPr lang="en-US" altLang="zh-CN" sz="2800" b="0" dirty="0"/>
              <a:t>是否需要对网络进行远程管理；</a:t>
            </a:r>
          </a:p>
          <a:p>
            <a:pPr lvl="1" eaLnBrk="1" hangingPunct="1"/>
            <a:r>
              <a:rPr lang="en-US" altLang="zh-CN" sz="2800" b="0" dirty="0"/>
              <a:t>网管软件是否支持现有网络设备；</a:t>
            </a:r>
          </a:p>
          <a:p>
            <a:pPr lvl="1" eaLnBrk="1" hangingPunct="1"/>
            <a:r>
              <a:rPr lang="en-US" altLang="zh-CN" sz="2800" b="0" dirty="0"/>
              <a:t>网络AAA</a:t>
            </a:r>
            <a:r>
              <a:rPr lang="zh-CN" altLang="en-US" sz="2800" b="0" dirty="0"/>
              <a:t>服务支持哪些协议，如</a:t>
            </a:r>
            <a:r>
              <a:rPr lang="en-US" altLang="zh-CN" sz="2800" b="0" dirty="0"/>
              <a:t>RADIUS</a:t>
            </a:r>
            <a:r>
              <a:rPr lang="zh-CN" altLang="en-US" sz="2800" b="0" dirty="0"/>
              <a:t>等；</a:t>
            </a:r>
          </a:p>
          <a:p>
            <a:pPr lvl="1" eaLnBrk="1" hangingPunct="1"/>
            <a:r>
              <a:rPr lang="zh-CN" altLang="en-US" sz="2800" b="0" dirty="0"/>
              <a:t>网络设备支持哪些网络管理软件；</a:t>
            </a:r>
          </a:p>
          <a:p>
            <a:pPr lvl="1" eaLnBrk="1" hangingPunct="1"/>
            <a:r>
              <a:rPr lang="zh-CN" altLang="en-US" sz="2800" b="0" dirty="0"/>
              <a:t>如何设计和更新网络管理策略。</a:t>
            </a:r>
          </a:p>
        </p:txBody>
      </p:sp>
      <p:sp>
        <p:nvSpPr>
          <p:cNvPr id="1048852" name="Rectangle 2"/>
          <p:cNvSpPr>
            <a:spLocks noGrp="1"/>
          </p:cNvSpPr>
          <p:nvPr>
            <p:ph type="title"/>
          </p:nvPr>
        </p:nvSpPr>
        <p:spPr>
          <a:xfrm>
            <a:off x="22278" y="152400"/>
            <a:ext cx="10515600" cy="56594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2.3  </a:t>
            </a:r>
            <a:r>
              <a:rPr lang="zh-CN" altLang="en-US" dirty="0">
                <a:solidFill>
                  <a:schemeClr val="bg1"/>
                </a:solidFill>
              </a:rPr>
              <a:t>高级要求需求分析</a:t>
            </a:r>
          </a:p>
        </p:txBody>
      </p:sp>
    </p:spTree>
  </p:cSld>
  <p:clrMapOvr>
    <a:masterClrMapping/>
  </p:clrMapOvr>
  <p:transition spd="slow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Rectangle 3"/>
          <p:cNvSpPr>
            <a:spLocks noGrp="1"/>
          </p:cNvSpPr>
          <p:nvPr>
            <p:ph idx="1"/>
          </p:nvPr>
        </p:nvSpPr>
        <p:spPr>
          <a:xfrm>
            <a:off x="623392" y="90872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 eaLnBrk="1" hangingPunct="1"/>
            <a:r>
              <a:rPr lang="zh-CN" altLang="en-US" dirty="0">
                <a:solidFill>
                  <a:srgbClr val="A50021"/>
                </a:solidFill>
              </a:rPr>
              <a:t>讨论：</a:t>
            </a:r>
          </a:p>
          <a:p>
            <a:pPr marL="457200" lvl="1" indent="-274320" eaLnBrk="1" hangingPunct="1">
              <a:buNone/>
            </a:pPr>
            <a:r>
              <a:rPr lang="en-US" altLang="zh-CN" sz="2800" b="0" dirty="0"/>
              <a:t>（1</a:t>
            </a:r>
            <a:r>
              <a:rPr lang="zh-CN" altLang="en-US" sz="2800" b="0" dirty="0"/>
              <a:t>）如果用户没有，甚至不肯履行“用户的义务”，应当如何进行处理？</a:t>
            </a:r>
          </a:p>
          <a:p>
            <a:pPr marL="457200" lvl="1" indent="-274320" eaLnBrk="1" hangingPunct="1">
              <a:buNone/>
            </a:pPr>
            <a:r>
              <a:rPr lang="zh-CN" altLang="en-US" sz="2800" b="0" dirty="0"/>
              <a:t>（</a:t>
            </a:r>
            <a:r>
              <a:rPr lang="en-US" altLang="zh-CN" sz="2800" b="0" dirty="0"/>
              <a:t>2</a:t>
            </a:r>
            <a:r>
              <a:rPr lang="zh-CN" altLang="en-US" sz="2800" b="0" dirty="0"/>
              <a:t>）如果用户对网络工程师精心设计的需求分析报告不满意怎样处理？</a:t>
            </a:r>
          </a:p>
          <a:p>
            <a:pPr marL="457200" lvl="1" indent="-274320" eaLnBrk="1" hangingPunct="1"/>
            <a:endParaRPr lang="zh-CN" altLang="en-US" sz="2800" dirty="0"/>
          </a:p>
          <a:p>
            <a:pPr marL="457200" lvl="1" indent="-274320" eaLnBrk="1" hangingPunct="1"/>
            <a:endParaRPr lang="zh-CN" altLang="en-US" dirty="0"/>
          </a:p>
        </p:txBody>
      </p:sp>
      <p:sp>
        <p:nvSpPr>
          <p:cNvPr id="1048857" name="Rectangle 2"/>
          <p:cNvSpPr>
            <a:spLocks noGrp="1"/>
          </p:cNvSpPr>
          <p:nvPr>
            <p:ph type="title"/>
          </p:nvPr>
        </p:nvSpPr>
        <p:spPr>
          <a:xfrm>
            <a:off x="0" y="135615"/>
            <a:ext cx="10515600" cy="6379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pPr lvl="0" eaLnBrk="1" hangingPunct="1"/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课程作业与讨论 </a:t>
            </a:r>
          </a:p>
        </p:txBody>
      </p:sp>
    </p:spTree>
  </p:cSld>
  <p:clrMapOvr>
    <a:masterClrMapping/>
  </p:clrMapOvr>
  <p:transition spd="slow"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5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5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5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pPr lvl="0"/>
            <a:r>
              <a:rPr lang="zh-CN" altLang="en-US"/>
              <a:t>习题</a:t>
            </a:r>
            <a:r>
              <a:rPr lang="en-US" altLang="zh-CN"/>
              <a:t>2.1</a:t>
            </a:r>
          </a:p>
          <a:p>
            <a:pPr lvl="0"/>
            <a:r>
              <a:rPr lang="zh-CN" altLang="en-US"/>
              <a:t>习题</a:t>
            </a:r>
            <a:r>
              <a:rPr lang="en-US" altLang="zh-CN"/>
              <a:t>2.2</a:t>
            </a:r>
          </a:p>
          <a:p>
            <a:pPr lvl="0"/>
            <a:r>
              <a:rPr lang="zh-CN" altLang="en-US"/>
              <a:t>习题</a:t>
            </a:r>
            <a:r>
              <a:rPr lang="en-US" altLang="zh-CN"/>
              <a:t>2.3</a:t>
            </a:r>
          </a:p>
          <a:p>
            <a:pPr lvl="0"/>
            <a:r>
              <a:rPr lang="zh-CN" altLang="en-US"/>
              <a:t>习题</a:t>
            </a:r>
            <a:r>
              <a:rPr lang="en-US" altLang="zh-CN"/>
              <a:t>2.4</a:t>
            </a:r>
          </a:p>
          <a:p>
            <a:pPr lvl="0"/>
            <a:r>
              <a:rPr lang="zh-CN" altLang="en-US"/>
              <a:t>习题</a:t>
            </a:r>
            <a:r>
              <a:rPr lang="en-US" altLang="zh-CN"/>
              <a:t>2.5</a:t>
            </a:r>
          </a:p>
          <a:p>
            <a:pPr lvl="0"/>
            <a:r>
              <a:rPr lang="zh-CN" altLang="en-US"/>
              <a:t>习题</a:t>
            </a:r>
            <a:r>
              <a:rPr lang="en-US" altLang="zh-CN"/>
              <a:t>2.7</a:t>
            </a:r>
          </a:p>
          <a:p>
            <a:pPr lvl="0">
              <a:buFontTx/>
              <a:buNone/>
            </a:pPr>
            <a:endParaRPr lang="zh-CN" altLang="en-US"/>
          </a:p>
        </p:txBody>
      </p:sp>
      <p:sp>
        <p:nvSpPr>
          <p:cNvPr id="104886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r>
              <a:rPr lang="zh-CN" altLang="en-US"/>
              <a:t>作业</a:t>
            </a:r>
            <a:r>
              <a:rPr lang="en-US" altLang="zh-CN"/>
              <a:t>2</a:t>
            </a:r>
          </a:p>
        </p:txBody>
      </p:sp>
    </p:spTree>
  </p:cSld>
  <p:clrMapOvr>
    <a:masterClrMapping/>
  </p:clrMapOvr>
  <p:transition spd="slow"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2"/>
              </a:buBlip>
              <a:defRPr sz="2800" b="1" i="0" u="none" baseline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3"/>
              </a:buBlip>
              <a:defRPr sz="2400" b="1" i="0" u="none" baseline="0">
                <a:solidFill>
                  <a:srgbClr val="000099"/>
                </a:solidFill>
                <a:latin typeface="Times New Roman" pitchFamily="18" charset="0"/>
                <a:ea typeface="华文楷体" pitchFamily="2" charset="-122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400" b="1" i="0" u="none" baseline="0">
                <a:solidFill>
                  <a:srgbClr val="008000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2000" b="1" i="0" u="none" baseline="0">
                <a:solidFill>
                  <a:schemeClr val="hlink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Tx/>
              <a:buBlip>
                <a:blip r:embed="rId4"/>
              </a:buBlip>
              <a:defRPr sz="1800" b="1" i="0" u="none" baseline="0">
                <a:solidFill>
                  <a:srgbClr val="003399"/>
                </a:solidFill>
                <a:latin typeface="Arial" pitchFamily="34" charset="0"/>
                <a:ea typeface="楷体_GB2312" pitchFamily="49" charset="-122"/>
                <a:sym typeface="Times New Roman" pitchFamily="18" charset="0"/>
              </a:defRPr>
            </a:lvl5pPr>
          </a:lstStyle>
          <a:p>
            <a:endParaRPr lang="zh-CN" altLang="en-US" dirty="0"/>
          </a:p>
        </p:txBody>
      </p:sp>
      <p:sp>
        <p:nvSpPr>
          <p:cNvPr id="104886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1" i="0" u="none" baseline="0">
                <a:solidFill>
                  <a:srgbClr val="9900FF"/>
                </a:solidFill>
                <a:latin typeface="Times New Roman" pitchFamily="18" charset="0"/>
                <a:ea typeface="幼圆" pitchFamily="49" charset="-122"/>
                <a:sym typeface="Times New Roman" pitchFamily="18" charset="0"/>
              </a:defRPr>
            </a:lvl1pPr>
          </a:lstStyle>
          <a:p>
            <a:endParaRPr lang="zh-CN" altLang="en-US"/>
          </a:p>
        </p:txBody>
      </p:sp>
      <p:pic>
        <p:nvPicPr>
          <p:cNvPr id="2097175" name="Picture 2"/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703512" y="1304925"/>
            <a:ext cx="8578850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zoom/>
  </p:transition>
</p:sld>
</file>

<file path=ppt/theme/theme1.xml><?xml version="1.0" encoding="utf-8"?>
<a:theme xmlns:a="http://schemas.openxmlformats.org/drawingml/2006/main" name="1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1079</TotalTime>
  <Words>3231</Words>
  <Application>Microsoft Office PowerPoint</Application>
  <PresentationFormat>宽屏</PresentationFormat>
  <Paragraphs>426</Paragraphs>
  <Slides>51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2" baseType="lpstr">
      <vt:lpstr>冬青黑体简体中文 W3</vt:lpstr>
      <vt:lpstr>黑体</vt:lpstr>
      <vt:lpstr>楷体_GB2312</vt:lpstr>
      <vt:lpstr>微软雅黑</vt:lpstr>
      <vt:lpstr>Arial</vt:lpstr>
      <vt:lpstr>Calibri</vt:lpstr>
      <vt:lpstr>Calibri Light</vt:lpstr>
      <vt:lpstr>Comic Sans MS</vt:lpstr>
      <vt:lpstr>Impact</vt:lpstr>
      <vt:lpstr>Times New Roman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2.1  需求分析基本方法</vt:lpstr>
      <vt:lpstr>2.1  需求分析基本方法</vt:lpstr>
      <vt:lpstr>2.1  需求分析基本方法</vt:lpstr>
      <vt:lpstr>2.1  需求分析基本方法</vt:lpstr>
      <vt:lpstr>2.1  需求分析基本方法</vt:lpstr>
      <vt:lpstr>2.1  需求分析基本方法</vt:lpstr>
      <vt:lpstr>2.1  需求分析基本方法</vt:lpstr>
      <vt:lpstr>2.1  需求分析基本方法</vt:lpstr>
      <vt:lpstr>2.1  需求分析基本方法</vt:lpstr>
      <vt:lpstr>2.1  需求分析基本方法</vt:lpstr>
      <vt:lpstr>2.1  需求分析基本方法</vt:lpstr>
      <vt:lpstr>2.1  需求分析基本方法</vt:lpstr>
      <vt:lpstr>PowerPoint 演示文稿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2.2  基本要求需求分析</vt:lpstr>
      <vt:lpstr>PowerPoint 演示文稿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2.3  高级要求需求分析</vt:lpstr>
      <vt:lpstr> 课程作业与讨论 </vt:lpstr>
      <vt:lpstr>作业2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网络工程与设计</dc:title>
  <dc:creator>窦军</dc:creator>
  <cp:lastModifiedBy>SHILEI ZHU</cp:lastModifiedBy>
  <cp:revision>31</cp:revision>
  <dcterms:created xsi:type="dcterms:W3CDTF">2004-12-08T17:28:05Z</dcterms:created>
  <dcterms:modified xsi:type="dcterms:W3CDTF">2023-09-19T10:55:38Z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a99a380b9d0443bbb16a7ab217bb24e8</vt:lpwstr>
  </property>
</Properties>
</file>